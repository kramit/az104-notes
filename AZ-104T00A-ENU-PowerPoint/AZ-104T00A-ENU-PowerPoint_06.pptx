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4637" r:id="rId1"/>
  </p:sldMasterIdLst>
  <p:notesMasterIdLst>
    <p:notesMasterId r:id="rId33"/>
  </p:notesMasterIdLst>
  <p:handoutMasterIdLst>
    <p:handoutMasterId r:id="rId34"/>
  </p:handoutMasterIdLst>
  <p:sldIdLst>
    <p:sldId id="1719" r:id="rId2"/>
    <p:sldId id="2495" r:id="rId3"/>
    <p:sldId id="2076138220" r:id="rId4"/>
    <p:sldId id="2010" r:id="rId5"/>
    <p:sldId id="2487" r:id="rId6"/>
    <p:sldId id="2535" r:id="rId7"/>
    <p:sldId id="2457" r:id="rId8"/>
    <p:sldId id="2458" r:id="rId9"/>
    <p:sldId id="2530" r:id="rId10"/>
    <p:sldId id="2076138221" r:id="rId11"/>
    <p:sldId id="2076138223" r:id="rId12"/>
    <p:sldId id="2461" r:id="rId13"/>
    <p:sldId id="2532" r:id="rId14"/>
    <p:sldId id="2011" r:id="rId15"/>
    <p:sldId id="2520" r:id="rId16"/>
    <p:sldId id="2488" r:id="rId17"/>
    <p:sldId id="2519" r:id="rId18"/>
    <p:sldId id="2076138224" r:id="rId19"/>
    <p:sldId id="2531" r:id="rId20"/>
    <p:sldId id="2544" r:id="rId21"/>
    <p:sldId id="2547" r:id="rId22"/>
    <p:sldId id="2511" r:id="rId23"/>
    <p:sldId id="2545" r:id="rId24"/>
    <p:sldId id="2512" r:id="rId25"/>
    <p:sldId id="2546" r:id="rId26"/>
    <p:sldId id="2555" r:id="rId27"/>
    <p:sldId id="2522" r:id="rId28"/>
    <p:sldId id="2076138225" r:id="rId29"/>
    <p:sldId id="2076138226" r:id="rId30"/>
    <p:sldId id="2599" r:id="rId31"/>
    <p:sldId id="2529" r:id="rId32"/>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Network Traffic Management" id="{5C8335FD-ABE1-4532-A57F-09675EA2EF07}">
          <p14:sldIdLst>
            <p14:sldId id="1719"/>
            <p14:sldId id="2495"/>
            <p14:sldId id="2076138220"/>
          </p14:sldIdLst>
        </p14:section>
        <p14:section name="Load Balancer" id="{A5A2CF0F-0DE0-4121-B032-B8983578C3FE}">
          <p14:sldIdLst>
            <p14:sldId id="2010"/>
            <p14:sldId id="2487"/>
            <p14:sldId id="2535"/>
            <p14:sldId id="2457"/>
            <p14:sldId id="2458"/>
            <p14:sldId id="2530"/>
            <p14:sldId id="2076138221"/>
            <p14:sldId id="2076138223"/>
            <p14:sldId id="2461"/>
            <p14:sldId id="2532"/>
          </p14:sldIdLst>
        </p14:section>
        <p14:section name="App Gateway" id="{99B49270-E829-49EE-B686-630700DA5AE3}">
          <p14:sldIdLst>
            <p14:sldId id="2011"/>
            <p14:sldId id="2520"/>
            <p14:sldId id="2488"/>
            <p14:sldId id="2519"/>
            <p14:sldId id="2076138224"/>
            <p14:sldId id="2531"/>
            <p14:sldId id="2544"/>
            <p14:sldId id="2547"/>
            <p14:sldId id="2511"/>
            <p14:sldId id="2545"/>
            <p14:sldId id="2512"/>
            <p14:sldId id="2546"/>
            <p14:sldId id="2555"/>
          </p14:sldIdLst>
        </p14:section>
        <p14:section name="Labs" id="{7F5A2C29-A914-4B06-B5AD-B2EF27B283C8}">
          <p14:sldIdLst>
            <p14:sldId id="2522"/>
            <p14:sldId id="2076138225"/>
            <p14:sldId id="2076138226"/>
            <p14:sldId id="2599"/>
            <p14:sldId id="2529"/>
          </p14:sldIdLst>
        </p14:section>
        <p14:section name="Extra slides" id="{0E559FAC-FCBB-44A7-B25C-53DBA20F62FF}">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EBF7"/>
    <a:srgbClr val="FFA38B"/>
    <a:srgbClr val="898989"/>
    <a:srgbClr val="0078D4"/>
    <a:srgbClr val="FFFF00"/>
    <a:srgbClr val="EBEBEB"/>
    <a:srgbClr val="243A5E"/>
    <a:srgbClr val="59B4D9"/>
    <a:srgbClr val="FFFFFF"/>
    <a:srgbClr val="FFF100"/>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488" autoAdjust="0"/>
    <p:restoredTop sz="96498" autoAdjust="0"/>
  </p:normalViewPr>
  <p:slideViewPr>
    <p:cSldViewPr snapToGrid="0">
      <p:cViewPr varScale="1">
        <p:scale>
          <a:sx n="103" d="100"/>
          <a:sy n="103" d="100"/>
        </p:scale>
        <p:origin x="350" y="30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80" d="100"/>
          <a:sy n="80" d="100"/>
        </p:scale>
        <p:origin x="3096" y="34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A5FDB7B-8DB8-4A3A-95C8-7102BBC9A9E1}" type="datetime8">
              <a:rPr lang="en-US" smtClean="0">
                <a:latin typeface="Segoe UI" pitchFamily="34" charset="0"/>
              </a:rPr>
              <a:t>3/4/2026 9:05 AM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000">
                <a:latin typeface="+mj-lt"/>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dt="0"/>
  <p:notesStyle>
    <a:lvl1pPr marL="0" algn="l" defTabSz="932742" rtl="0" eaLnBrk="1" latinLnBrk="0" hangingPunct="1">
      <a:lnSpc>
        <a:spcPct val="90000"/>
      </a:lnSpc>
      <a:spcAft>
        <a:spcPts val="340"/>
      </a:spcAft>
      <a:defRPr sz="1100" kern="1200">
        <a:solidFill>
          <a:schemeClr val="tx1"/>
        </a:solidFill>
        <a:latin typeface="+mn-lt"/>
        <a:ea typeface="+mn-ea"/>
        <a:cs typeface="+mn-cs"/>
      </a:defRPr>
    </a:lvl1pPr>
    <a:lvl2pPr marL="217262" indent="-107956"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2pPr>
    <a:lvl3pPr marL="334664" indent="-117403"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3pPr>
    <a:lvl4pPr marL="492551" indent="-149789"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4pPr>
    <a:lvl5pPr marL="627496" indent="-117403"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These Learn modules are part of the AZ-104: Configure and manage virtual networks for Azure administrators (https://learn.microsoft.com/learn/paths/az-104-manage-virtual-networks/) learning path. </a:t>
            </a:r>
          </a:p>
          <a:p>
            <a:endParaRPr lang="en-US" dirty="0"/>
          </a:p>
        </p:txBody>
      </p:sp>
      <p:sp>
        <p:nvSpPr>
          <p:cNvPr id="7" name="Slide Number Placeholder 6"/>
          <p:cNvSpPr>
            <a:spLocks noGrp="1"/>
          </p:cNvSpPr>
          <p:nvPr>
            <p:ph type="sldNum" sz="quarter" idx="13"/>
          </p:nvPr>
        </p:nvSpPr>
        <p:spPr/>
        <p:txBody>
          <a:bodyPr/>
          <a:lstStyle/>
          <a:p>
            <a:pPr lvl="0"/>
            <a:fld id="{B4008EB6-D09E-4580-8CD6-DDB14511944F}" type="slidenum">
              <a:rPr lang="en-US" noProof="0" smtClean="0"/>
              <a:pPr lvl="0"/>
              <a:t>1</a:t>
            </a:fld>
            <a:endParaRPr lang="en-US" noProof="0" dirty="0"/>
          </a:p>
        </p:txBody>
      </p:sp>
      <p:sp>
        <p:nvSpPr>
          <p:cNvPr id="10" name="Slide Image Placeholder 9">
            <a:extLst>
              <a:ext uri="{FF2B5EF4-FFF2-40B4-BE49-F238E27FC236}">
                <a16:creationId xmlns:a16="http://schemas.microsoft.com/office/drawing/2014/main" id="{4FECE762-900F-2359-C89F-C6AFF2F13119}"/>
              </a:ext>
            </a:extLst>
          </p:cNvPr>
          <p:cNvSpPr>
            <a:spLocks noGrp="1" noRot="1" noChangeAspect="1"/>
          </p:cNvSpPr>
          <p:nvPr>
            <p:ph type="sldImg"/>
          </p:nvPr>
        </p:nvSpPr>
        <p:spPr/>
      </p:sp>
    </p:spTree>
    <p:extLst>
      <p:ext uri="{BB962C8B-B14F-4D97-AF65-F5344CB8AC3E}">
        <p14:creationId xmlns:p14="http://schemas.microsoft.com/office/powerpoint/2010/main" val="2080395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Reminder for the Microsoft Applied Skills: Configure secure access to your workloads using Azure networking</a:t>
            </a:r>
          </a:p>
          <a:p>
            <a:r>
              <a:rPr lang="en-US" dirty="0"/>
              <a:t>https://learn.microsoft.com/credentials/applied-skills/secure-storage-azure-files-azure-blob-storage/</a:t>
            </a:r>
          </a:p>
        </p:txBody>
      </p:sp>
      <p:sp>
        <p:nvSpPr>
          <p:cNvPr id="4" name="Slide Number Placeholder 3"/>
          <p:cNvSpPr>
            <a:spLocks noGrp="1"/>
          </p:cNvSpPr>
          <p:nvPr>
            <p:ph type="sldNum" sz="quarter" idx="5"/>
          </p:nvPr>
        </p:nvSpPr>
        <p:spPr/>
        <p:txBody>
          <a:bodyPr/>
          <a:lstStyle/>
          <a:p>
            <a:fld id="{8507DC7E-BC41-4478-BA30-CBCC3A644F0A}" type="slidenum">
              <a:rPr lang="en-US" smtClean="0"/>
              <a:t>2</a:t>
            </a:fld>
            <a:endParaRPr lang="en-US" dirty="0"/>
          </a:p>
        </p:txBody>
      </p:sp>
    </p:spTree>
    <p:extLst>
      <p:ext uri="{BB962C8B-B14F-4D97-AF65-F5344CB8AC3E}">
        <p14:creationId xmlns:p14="http://schemas.microsoft.com/office/powerpoint/2010/main" val="12455153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Optional whiteboard slide to introduce the module or review the content. Use the whiteboard diagram directly or recreate the image during the class. </a:t>
            </a:r>
          </a:p>
          <a:p>
            <a:endParaRPr lang="en-US" dirty="0"/>
          </a:p>
          <a:p>
            <a:r>
              <a:rPr lang="en-US" dirty="0"/>
              <a:t>The Azure portal has a Help me Choose section for load balancers. Take a few minutes to walk through the choices showing the different combinations that are suggested. Global balancers, like Traffic Manager and Front Door, are not covered in the course. </a:t>
            </a:r>
          </a:p>
          <a:p>
            <a:endParaRPr lang="en-US" dirty="0"/>
          </a:p>
          <a:p>
            <a:r>
              <a:rPr lang="en-US" dirty="0"/>
              <a:t>Load balancing options</a:t>
            </a:r>
          </a:p>
          <a:p>
            <a:r>
              <a:rPr lang="en-US" dirty="0"/>
              <a:t>https://learn.microsoft.com/azure/architecture/guide/technology-choices/load-balancing-overview</a:t>
            </a:r>
          </a:p>
          <a:p>
            <a:endParaRPr lang="en-US" dirty="0"/>
          </a:p>
        </p:txBody>
      </p:sp>
      <p:sp>
        <p:nvSpPr>
          <p:cNvPr id="4" name="Slide Number Placeholder 3"/>
          <p:cNvSpPr>
            <a:spLocks noGrp="1"/>
          </p:cNvSpPr>
          <p:nvPr>
            <p:ph type="sldNum" sz="quarter" idx="5"/>
          </p:nvPr>
        </p:nvSpPr>
        <p:spPr/>
        <p:txBody>
          <a:bodyPr/>
          <a:lstStyle/>
          <a:p>
            <a:pPr lvl="0"/>
            <a:fld id="{FA5AD710-EC89-4888-BD15-6B04A0D5F96B}" type="slidenum">
              <a:rPr lang="en-US" noProof="0" smtClean="0"/>
              <a:pPr lvl="0"/>
              <a:t>3</a:t>
            </a:fld>
            <a:endParaRPr lang="en-US" noProof="0" dirty="0"/>
          </a:p>
        </p:txBody>
      </p:sp>
      <p:sp>
        <p:nvSpPr>
          <p:cNvPr id="6" name="Slide Image Placeholder 5">
            <a:extLst>
              <a:ext uri="{FF2B5EF4-FFF2-40B4-BE49-F238E27FC236}">
                <a16:creationId xmlns:a16="http://schemas.microsoft.com/office/drawing/2014/main" id="{4A0E9A61-9B9F-5ACC-9CFD-778ED04CDD3F}"/>
              </a:ext>
            </a:extLst>
          </p:cNvPr>
          <p:cNvSpPr>
            <a:spLocks noGrp="1" noRot="1" noChangeAspect="1"/>
          </p:cNvSpPr>
          <p:nvPr>
            <p:ph type="sldImg"/>
          </p:nvPr>
        </p:nvSpPr>
        <p:spPr/>
      </p:sp>
    </p:spTree>
    <p:extLst>
      <p:ext uri="{BB962C8B-B14F-4D97-AF65-F5344CB8AC3E}">
        <p14:creationId xmlns:p14="http://schemas.microsoft.com/office/powerpoint/2010/main" val="322757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1507041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8507DC7E-BC41-4478-BA30-CBCC3A644F0A}" type="slidenum">
              <a:rPr lang="en-US" smtClean="0"/>
              <a:pPr/>
              <a:t>5</a:t>
            </a:fld>
            <a:endParaRPr lang="en-US" dirty="0"/>
          </a:p>
        </p:txBody>
      </p:sp>
      <p:sp>
        <p:nvSpPr>
          <p:cNvPr id="6" name="Slide Image Placeholder 5">
            <a:extLst>
              <a:ext uri="{FF2B5EF4-FFF2-40B4-BE49-F238E27FC236}">
                <a16:creationId xmlns:a16="http://schemas.microsoft.com/office/drawing/2014/main" id="{AC866E89-5EE3-914F-BB31-5B575E2487EE}"/>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D05342C5-922D-6F8B-DFC8-35F988EB20C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373433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portal and the “Load Balancing – help me choose” page to review the options.  Application Gateway is Layer 7. Load Balancer is Layer 4. </a:t>
            </a:r>
          </a:p>
          <a:p>
            <a:endParaRPr lang="en-US" dirty="0"/>
          </a:p>
          <a:p>
            <a:pPr marL="217262" lvl="1" indent="-107956"/>
            <a:r>
              <a:rPr lang="en-US" dirty="0"/>
              <a:t>Does your application use HTTP/HTTPS?</a:t>
            </a:r>
          </a:p>
          <a:p>
            <a:pPr marL="217262" lvl="1" indent="-107956"/>
            <a:r>
              <a:rPr lang="en-US" dirty="0"/>
              <a:t>Is your application public (internet facing)? </a:t>
            </a:r>
          </a:p>
          <a:p>
            <a:pPr marL="217262" lvl="1" indent="-107956"/>
            <a:r>
              <a:rPr lang="en-US" dirty="0"/>
              <a:t>Is your application deployed in multiple regions?</a:t>
            </a:r>
          </a:p>
          <a:p>
            <a:pPr marL="217262" lvl="1" indent="-107956"/>
            <a:endParaRPr lang="en-US" dirty="0"/>
          </a:p>
          <a:p>
            <a:endParaRPr lang="en-US" dirty="0"/>
          </a:p>
          <a:p>
            <a:endParaRPr lang="en-US" dirty="0"/>
          </a:p>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4819685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37281646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Can you see how a public load balancer could be placed in front of the internal load balancer to create a multi-tier application.</a:t>
            </a:r>
          </a:p>
          <a:p>
            <a:endParaRPr lang="en-US" dirty="0"/>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41312890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 balancer SKUs</a:t>
            </a:r>
          </a:p>
          <a:p>
            <a:r>
              <a:rPr lang="en-US" dirty="0"/>
              <a:t>https://learn.microsoft.com/azure/load-balancer/skus </a:t>
            </a:r>
          </a:p>
          <a:p>
            <a:endParaRPr lang="en-US" dirty="0"/>
          </a:p>
          <a:p>
            <a:r>
              <a:rPr lang="en-US" dirty="0"/>
              <a:t>Upgrading from Basic Load Balancer – Guidance</a:t>
            </a:r>
          </a:p>
          <a:p>
            <a:r>
              <a:rPr lang="en-US" dirty="0"/>
              <a:t>https://learn.microsoft.com/azure/load-balancer/load-balancer-basic-upgrade-guidance</a:t>
            </a:r>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38039695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Tutorial: Load balance internet traffic to VMs using the Azure portal https://learn.microsoft.com/azure/load-balancer/tutorial-load-balancer-standard-manage-portal</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r>
              <a:rPr lang="en-US" dirty="0"/>
              <a:t>✔ Can you see the difference between load balancing rules and NAT rules? Remember, this approach should only be used when you need connectivity from the Internet. Most normal communications would occur from on-premises to Azure connections such as site-to-site VPN and ExpressRoute.</a:t>
            </a:r>
          </a:p>
          <a:p>
            <a:endParaRPr lang="en-US" dirty="0"/>
          </a:p>
          <a:p>
            <a:endParaRPr lang="en-US" dirty="0"/>
          </a:p>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10</a:t>
            </a:fld>
            <a:endParaRPr lang="en-US" dirty="0"/>
          </a:p>
        </p:txBody>
      </p:sp>
    </p:spTree>
    <p:extLst>
      <p:ext uri="{BB962C8B-B14F-4D97-AF65-F5344CB8AC3E}">
        <p14:creationId xmlns:p14="http://schemas.microsoft.com/office/powerpoint/2010/main" val="33900049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Configure Azure Load Balancer - https://microsoftlearning.github.io/AZ-104-MicrosoftAzureAdministrator/Instructions/Demos/06%20-%20Administer%20Network%20Traffic%20Management.html#configure-azure-load-balancer</a:t>
            </a:r>
          </a:p>
        </p:txBody>
      </p:sp>
      <p:sp>
        <p:nvSpPr>
          <p:cNvPr id="6" name="Slide Number Placeholder 5"/>
          <p:cNvSpPr>
            <a:spLocks noGrp="1"/>
          </p:cNvSpPr>
          <p:nvPr>
            <p:ph type="sldNum" sz="quarter" idx="5"/>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18378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student materials have a Health Probes topic. The slide is at the end if you need it. </a:t>
            </a:r>
          </a:p>
          <a:p>
            <a:endParaRPr lang="en-US" dirty="0"/>
          </a:p>
          <a:p>
            <a:r>
              <a:rPr lang="en-US" dirty="0"/>
              <a:t>✔ Keeping session persistence information is very important in applications that use a shopping cart. Can you think of any other applications?</a:t>
            </a:r>
          </a:p>
          <a:p>
            <a:endParaRPr lang="en-US" dirty="0"/>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876608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Additional questions are available in Office Forms - https://forms.office.com/Pages/ShareFormPage.aspx?id=v4j5cvGGr0GRqy180BHbR5NEFZBpuAZBgxPOGXi_gX5UN1VVTDREM0FOUDcxQTdZRlFOR1RCTzMxMS4u&amp;sharetoken=blrWAZ4rnYRSz191Zgjh&amp;wdLOR=cAAA24E7A-D106-4FDF-9BB8-39C184E5BD4A</a:t>
            </a:r>
          </a:p>
          <a:p>
            <a:endParaRPr lang="en-US" dirty="0"/>
          </a:p>
          <a:p>
            <a:pPr lvl="0"/>
            <a:r>
              <a:rPr lang="en-US" dirty="0"/>
              <a:t>What is a load balancer and what two types of load balancer does Azure provide? Give an example of where each type of load balancer would be used. </a:t>
            </a:r>
            <a:r>
              <a:rPr lang="en-US" b="1" dirty="0"/>
              <a:t>Answer</a:t>
            </a:r>
            <a:r>
              <a:rPr lang="en-US" dirty="0"/>
              <a:t>: A load balancer distributes inbound and outbound traffic using load-balancing rules and health probes. There are two types of load balancers: public and internal. Public facing load balancers maps external IP addresses to internal IP addresses, and vice versa. Public load balancers handle external requests to backend resources, like SQL servers. Internal load balancers direct traffic only to resources inside a virtual network or that use a VPN. </a:t>
            </a:r>
          </a:p>
          <a:p>
            <a:pPr lvl="0"/>
            <a:r>
              <a:rPr lang="en-US" dirty="0"/>
              <a:t>List at least three types of Azure load balancers. For each load balance describe the usage scenarios. </a:t>
            </a:r>
            <a:r>
              <a:rPr lang="en-US" b="1" dirty="0"/>
              <a:t>Answer</a:t>
            </a:r>
            <a:r>
              <a:rPr lang="en-US" dirty="0"/>
              <a:t>: The Application Gateway can optimize delivery from application server farms while increasing application security with web application firewall. Front Door  is a scalable, security-enhanced delivery point for global, micro service-based web applications. The Azure Load Balancer balances inbound and outbound connections and requests to your applications or server endpoints. Traffic Manager distributes traffic services across global Azure regions, providing high availability and responsiveness.</a:t>
            </a:r>
          </a:p>
          <a:p>
            <a:pPr lvl="0"/>
            <a:r>
              <a:rPr lang="en-US" dirty="0"/>
              <a:t>Your retail application allows customers to select and save items for purchase. It is important if the customer returns to the website that they are connected to the same virtual machine they previously used. What distribution methods does the Load Balancer have to handle these requests? </a:t>
            </a:r>
            <a:r>
              <a:rPr lang="en-US" b="1" dirty="0"/>
              <a:t>Answer</a:t>
            </a:r>
            <a:r>
              <a:rPr lang="en-US" dirty="0"/>
              <a:t>: Session persistence specifies how client traffic is handled. The default is that requests are handled by any machine. The Client IP requests will be handled by the same virtual machine. Client IP and protocol specifies that successive requests from the same address and protocol will be handled by the same virtual machine. </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pPr/>
              <a:t>13</a:t>
            </a:fld>
            <a:endParaRPr lang="en-US" dirty="0"/>
          </a:p>
        </p:txBody>
      </p:sp>
      <p:sp>
        <p:nvSpPr>
          <p:cNvPr id="7" name="Slide Image Placeholder 6">
            <a:extLst>
              <a:ext uri="{FF2B5EF4-FFF2-40B4-BE49-F238E27FC236}">
                <a16:creationId xmlns:a16="http://schemas.microsoft.com/office/drawing/2014/main" id="{2187D415-6FA8-2BA7-E33E-71ED3A0053BB}"/>
              </a:ext>
            </a:extLst>
          </p:cNvPr>
          <p:cNvSpPr>
            <a:spLocks noGrp="1" noRot="1" noChangeAspect="1"/>
          </p:cNvSpPr>
          <p:nvPr>
            <p:ph type="sldImg"/>
          </p:nvPr>
        </p:nvSpPr>
        <p:spPr/>
      </p:sp>
    </p:spTree>
    <p:extLst>
      <p:ext uri="{BB962C8B-B14F-4D97-AF65-F5344CB8AC3E}">
        <p14:creationId xmlns:p14="http://schemas.microsoft.com/office/powerpoint/2010/main" val="29526231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14</a:t>
            </a:fld>
            <a:endParaRPr lang="en-US" dirty="0"/>
          </a:p>
        </p:txBody>
      </p:sp>
    </p:spTree>
    <p:extLst>
      <p:ext uri="{BB962C8B-B14F-4D97-AF65-F5344CB8AC3E}">
        <p14:creationId xmlns:p14="http://schemas.microsoft.com/office/powerpoint/2010/main" val="25045375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15</a:t>
            </a:fld>
            <a:endParaRPr lang="en-US" dirty="0"/>
          </a:p>
        </p:txBody>
      </p:sp>
    </p:spTree>
    <p:extLst>
      <p:ext uri="{BB962C8B-B14F-4D97-AF65-F5344CB8AC3E}">
        <p14:creationId xmlns:p14="http://schemas.microsoft.com/office/powerpoint/2010/main" val="1802162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Application Gateway configuration overview </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https://learn.microsoft.com/azure/application-gateway/configuration-overview</a:t>
            </a: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16</a:t>
            </a:fld>
            <a:endParaRPr lang="en-US" dirty="0"/>
          </a:p>
        </p:txBody>
      </p:sp>
    </p:spTree>
    <p:extLst>
      <p:ext uri="{BB962C8B-B14F-4D97-AF65-F5344CB8AC3E}">
        <p14:creationId xmlns:p14="http://schemas.microsoft.com/office/powerpoint/2010/main" val="38995037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Application Gateway multi-site hosting</a:t>
            </a:r>
          </a:p>
          <a:p>
            <a:r>
              <a:rPr lang="en-US" dirty="0"/>
              <a:t>https://learn.microsoft.com/azure/application-gateway/multiple-site-overview</a:t>
            </a:r>
          </a:p>
        </p:txBody>
      </p:sp>
      <p:sp>
        <p:nvSpPr>
          <p:cNvPr id="6" name="Slide Number Placeholder 5"/>
          <p:cNvSpPr>
            <a:spLocks noGrp="1"/>
          </p:cNvSpPr>
          <p:nvPr>
            <p:ph type="sldNum" sz="quarter" idx="5"/>
          </p:nvPr>
        </p:nvSpPr>
        <p:spPr/>
        <p:txBody>
          <a:bodyPr/>
          <a:lstStyle/>
          <a:p>
            <a:fld id="{B4008EB6-D09E-4580-8CD6-DDB14511944F}" type="slidenum">
              <a:rPr lang="en-US" smtClean="0"/>
              <a:pPr/>
              <a:t>17</a:t>
            </a:fld>
            <a:endParaRPr lang="en-US" dirty="0"/>
          </a:p>
        </p:txBody>
      </p:sp>
    </p:spTree>
    <p:extLst>
      <p:ext uri="{BB962C8B-B14F-4D97-AF65-F5344CB8AC3E}">
        <p14:creationId xmlns:p14="http://schemas.microsoft.com/office/powerpoint/2010/main" val="15003837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Quickstart: Direct web traffic with Azure Application Gateway - Azure portal - https://learn.microsoft.com/azure/application-gateway/quick-create-portal</a:t>
            </a:r>
          </a:p>
        </p:txBody>
      </p:sp>
      <p:sp>
        <p:nvSpPr>
          <p:cNvPr id="6" name="Slide Number Placeholder 5"/>
          <p:cNvSpPr>
            <a:spLocks noGrp="1"/>
          </p:cNvSpPr>
          <p:nvPr>
            <p:ph type="sldNum" sz="quarter" idx="5"/>
          </p:nvPr>
        </p:nvSpPr>
        <p:spPr/>
        <p:txBody>
          <a:bodyPr/>
          <a:lstStyle/>
          <a:p>
            <a:fld id="{B4008EB6-D09E-4580-8CD6-DDB14511944F}" type="slidenum">
              <a:rPr lang="en-US" smtClean="0"/>
              <a:pPr/>
              <a:t>18</a:t>
            </a:fld>
            <a:endParaRPr lang="en-US" dirty="0"/>
          </a:p>
        </p:txBody>
      </p:sp>
    </p:spTree>
    <p:extLst>
      <p:ext uri="{BB962C8B-B14F-4D97-AF65-F5344CB8AC3E}">
        <p14:creationId xmlns:p14="http://schemas.microsoft.com/office/powerpoint/2010/main" val="24457322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Additional questions are available in Office Forms - https://forms.office.com/Pages/ShareFormPage.aspx?id=v4j5cvGGr0GRqy180BHbR5NEFZBpuAZBgxPOGXi_gX5UN1VVTDREM0FOUDcxQTdZRlFOR1RCTzMxMS4u&amp;sharetoken=blrWAZ4rnYRSz191Zgjh&amp;wdLOR=cAAA24E7A-D106-4FDF-9BB8-39C184E5BD4A</a:t>
            </a:r>
          </a:p>
          <a:p>
            <a:pPr lvl="0"/>
            <a:endParaRPr lang="en-US" dirty="0"/>
          </a:p>
          <a:p>
            <a:pPr lvl="0"/>
            <a:r>
              <a:rPr lang="en-US" dirty="0"/>
              <a:t>Your website uses static image and video. The images and video are located on different backend servers. What solution would you put in place to handle the requests?</a:t>
            </a:r>
          </a:p>
          <a:p>
            <a:pPr lvl="0"/>
            <a:r>
              <a:rPr lang="en-US" b="1" dirty="0"/>
              <a:t>Answer</a:t>
            </a:r>
            <a:r>
              <a:rPr lang="en-US" dirty="0"/>
              <a:t>: An Application Gateway manages web app requests. The Application Gateway can route traffic to a pool of web servers based on the URL of a request. In this case path-based routing can send URL images to one server and URL videos to another server. Multiple-site routing is also available. For example, one set of servers for one organization and another set of servers for a different organization. </a:t>
            </a: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pPr/>
              <a:t>19</a:t>
            </a:fld>
            <a:endParaRPr lang="en-US" dirty="0"/>
          </a:p>
        </p:txBody>
      </p:sp>
      <p:sp>
        <p:nvSpPr>
          <p:cNvPr id="7" name="Slide Image Placeholder 6">
            <a:extLst>
              <a:ext uri="{FF2B5EF4-FFF2-40B4-BE49-F238E27FC236}">
                <a16:creationId xmlns:a16="http://schemas.microsoft.com/office/drawing/2014/main" id="{50846175-A844-83D5-93A7-24EA68032C4C}"/>
              </a:ext>
            </a:extLst>
          </p:cNvPr>
          <p:cNvSpPr>
            <a:spLocks noGrp="1" noRot="1" noChangeAspect="1"/>
          </p:cNvSpPr>
          <p:nvPr>
            <p:ph type="sldImg"/>
          </p:nvPr>
        </p:nvSpPr>
        <p:spPr/>
      </p:sp>
    </p:spTree>
    <p:extLst>
      <p:ext uri="{BB962C8B-B14F-4D97-AF65-F5344CB8AC3E}">
        <p14:creationId xmlns:p14="http://schemas.microsoft.com/office/powerpoint/2010/main" val="29526231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20</a:t>
            </a:fld>
            <a:endParaRPr lang="en-US" dirty="0"/>
          </a:p>
        </p:txBody>
      </p:sp>
    </p:spTree>
    <p:extLst>
      <p:ext uri="{BB962C8B-B14F-4D97-AF65-F5344CB8AC3E}">
        <p14:creationId xmlns:p14="http://schemas.microsoft.com/office/powerpoint/2010/main" val="16018856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b="0" i="0" dirty="0">
                <a:solidFill>
                  <a:srgbClr val="161616"/>
                </a:solidFill>
                <a:effectLst/>
                <a:latin typeface="Segoe UI" panose="020B0502040204020203" pitchFamily="34" charset="0"/>
              </a:rPr>
            </a:br>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21</a:t>
            </a:fld>
            <a:endParaRPr lang="en-US" dirty="0"/>
          </a:p>
        </p:txBody>
      </p:sp>
    </p:spTree>
    <p:extLst>
      <p:ext uri="{BB962C8B-B14F-4D97-AF65-F5344CB8AC3E}">
        <p14:creationId xmlns:p14="http://schemas.microsoft.com/office/powerpoint/2010/main" val="22463390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Network Watcher documentation</a:t>
            </a:r>
          </a:p>
          <a:p>
            <a:r>
              <a:rPr lang="en-US" dirty="0"/>
              <a:t>https://learn.microsoft.com/azure/network-watcher/network-watcher-overview</a:t>
            </a:r>
          </a:p>
          <a:p>
            <a:pPr marL="171450" indent="-171450">
              <a:buFont typeface="Arial" panose="020B0604020202020204" pitchFamily="34" charset="0"/>
              <a:buChar char="•"/>
            </a:pPr>
            <a:r>
              <a:rPr lang="en-US" dirty="0"/>
              <a:t>IP Flow Verify diagnoses connectivity issues</a:t>
            </a:r>
          </a:p>
          <a:p>
            <a:pPr marL="171450" indent="-171450">
              <a:buFont typeface="Arial" panose="020B0604020202020204" pitchFamily="34" charset="0"/>
              <a:buChar char="•"/>
            </a:pPr>
            <a:r>
              <a:rPr lang="en-US" dirty="0"/>
              <a:t>Next Hop determines if traffic is being</a:t>
            </a:r>
            <a:br>
              <a:rPr lang="en-US" dirty="0"/>
            </a:br>
            <a:r>
              <a:rPr lang="en-US" dirty="0"/>
              <a:t>correctly routed and monitoring tools​</a:t>
            </a:r>
          </a:p>
          <a:p>
            <a:pPr marL="171450" indent="-171450">
              <a:buFont typeface="Arial" panose="020B0604020202020204" pitchFamily="34" charset="0"/>
              <a:buChar char="•"/>
            </a:pPr>
            <a:r>
              <a:rPr lang="en-US" dirty="0"/>
              <a:t>Flow Logs maps IP traffic through a network security group</a:t>
            </a:r>
          </a:p>
          <a:p>
            <a:pPr marL="171450" indent="-171450">
              <a:buFont typeface="Arial" panose="020B0604020202020204" pitchFamily="34" charset="0"/>
              <a:buChar char="•"/>
            </a:pPr>
            <a:r>
              <a:rPr lang="en-US" dirty="0"/>
              <a:t>Connection troubleshoot shows connectivity between source VM and destination</a:t>
            </a:r>
          </a:p>
          <a:p>
            <a:pPr marL="171450" indent="-171450">
              <a:buFont typeface="Arial" panose="020B0604020202020204" pitchFamily="34" charset="0"/>
              <a:buChar char="•"/>
            </a:pPr>
            <a:r>
              <a:rPr lang="en-US" dirty="0"/>
              <a:t>Topology generates a visual diagram of resources</a:t>
            </a:r>
          </a:p>
          <a:p>
            <a:endParaRPr lang="en-US" dirty="0"/>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22</a:t>
            </a:fld>
            <a:endParaRPr lang="en-US" dirty="0"/>
          </a:p>
        </p:txBody>
      </p:sp>
      <p:sp>
        <p:nvSpPr>
          <p:cNvPr id="6" name="Slide Image Placeholder 5">
            <a:extLst>
              <a:ext uri="{FF2B5EF4-FFF2-40B4-BE49-F238E27FC236}">
                <a16:creationId xmlns:a16="http://schemas.microsoft.com/office/drawing/2014/main" id="{44090171-9DBA-26C7-9645-A1925A54E4C7}"/>
              </a:ext>
            </a:extLst>
          </p:cNvPr>
          <p:cNvSpPr>
            <a:spLocks noGrp="1" noRot="1" noChangeAspect="1"/>
          </p:cNvSpPr>
          <p:nvPr>
            <p:ph type="sldImg"/>
          </p:nvPr>
        </p:nvSpPr>
        <p:spPr/>
      </p:sp>
    </p:spTree>
    <p:extLst>
      <p:ext uri="{BB962C8B-B14F-4D97-AF65-F5344CB8AC3E}">
        <p14:creationId xmlns:p14="http://schemas.microsoft.com/office/powerpoint/2010/main" val="6941873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to IP flow verify in Azure Network Watcher  https://learn.microsoft.com/azure/network-watcher/network-watcher-ip-flow-verify-overview</a:t>
            </a:r>
          </a:p>
          <a:p>
            <a:endParaRPr lang="en-US" dirty="0"/>
          </a:p>
          <a:p>
            <a:r>
              <a:rPr lang="en-US" dirty="0"/>
              <a:t>Command line equivalent might be </a:t>
            </a:r>
            <a:r>
              <a:rPr lang="en-US" i="1" dirty="0"/>
              <a:t>ping. </a:t>
            </a:r>
            <a:endParaRPr lang="en-US" dirty="0"/>
          </a:p>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23</a:t>
            </a:fld>
            <a:endParaRPr lang="en-US" dirty="0"/>
          </a:p>
        </p:txBody>
      </p:sp>
    </p:spTree>
    <p:extLst>
      <p:ext uri="{BB962C8B-B14F-4D97-AF65-F5344CB8AC3E}">
        <p14:creationId xmlns:p14="http://schemas.microsoft.com/office/powerpoint/2010/main" val="38534927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next hop to diagnose virtual machine routing problems - https://learn.microsoft.com/azure/network-watcher/network-watcher-next-hop-overview</a:t>
            </a:r>
          </a:p>
          <a:p>
            <a:endParaRPr lang="en-US" dirty="0"/>
          </a:p>
          <a:p>
            <a:r>
              <a:rPr lang="en-US" dirty="0"/>
              <a:t>Command line equivalent might be </a:t>
            </a:r>
            <a:r>
              <a:rPr lang="en-US" i="1" dirty="0"/>
              <a:t>traceroute. (</a:t>
            </a:r>
            <a:r>
              <a:rPr lang="en-US" i="1" dirty="0" err="1"/>
              <a:t>tracert</a:t>
            </a:r>
            <a:r>
              <a:rPr lang="en-US" i="1" dirty="0"/>
              <a:t>). </a:t>
            </a:r>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24</a:t>
            </a:fld>
            <a:endParaRPr lang="en-US" dirty="0"/>
          </a:p>
        </p:txBody>
      </p:sp>
    </p:spTree>
    <p:extLst>
      <p:ext uri="{BB962C8B-B14F-4D97-AF65-F5344CB8AC3E}">
        <p14:creationId xmlns:p14="http://schemas.microsoft.com/office/powerpoint/2010/main" val="11662032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View the topology of an Azure virtual network </a:t>
            </a:r>
          </a:p>
          <a:p>
            <a:r>
              <a:rPr lang="en-US" dirty="0"/>
              <a:t>https://learn.microsoft.com/azure/network-watcher/view-network-topology</a:t>
            </a:r>
          </a:p>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25</a:t>
            </a:fld>
            <a:endParaRPr lang="en-US" dirty="0"/>
          </a:p>
        </p:txBody>
      </p:sp>
    </p:spTree>
    <p:extLst>
      <p:ext uri="{BB962C8B-B14F-4D97-AF65-F5344CB8AC3E}">
        <p14:creationId xmlns:p14="http://schemas.microsoft.com/office/powerpoint/2010/main" val="14886074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Additional questions are available in Office Forms - https://forms.office.com/Pages/ShareFormPage.aspx?id=v4j5cvGGr0GRqy180BHbR5NEFZBpuAZBgxPOGXi_gX5UN1VVTDREM0FOUDcxQTdZRlFOR1RCTzMxMS4u&amp;sharetoken=blrWAZ4rnYRSz191Zgjh&amp;wdLOR=cAAA24E7A-D106-4FDF-9BB8-39C184E5BD4A</a:t>
            </a:r>
          </a:p>
          <a:p>
            <a:endParaRPr lang="en-US" dirty="0"/>
          </a:p>
          <a:p>
            <a:pPr lvl="0"/>
            <a:r>
              <a:rPr lang="en-US" dirty="0"/>
              <a:t>Name at least three ways to use Network Watcher to troubleshoot and diagnose network problems. </a:t>
            </a:r>
          </a:p>
          <a:p>
            <a:pPr lvl="0"/>
            <a:r>
              <a:rPr lang="en-US" b="1" dirty="0"/>
              <a:t>Answer</a:t>
            </a:r>
            <a:r>
              <a:rPr lang="en-US" dirty="0"/>
              <a:t>: Network Watcher is a regional service that provides various network diagnostic and monitoring tools​. IP Flow Verify diagnoses connectivity issues. Next Hop determines if traffic is being correctly routed. VPN Diagnostics troubleshoots gateways and connections. NSG Flow Logs maps IP traffic through a network security group. Connection Troubleshoot shows connectivity between source VM and destination. Topology generates a visual diagram of resources that might be helpful. </a:t>
            </a: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pPr/>
              <a:t>26</a:t>
            </a:fld>
            <a:endParaRPr lang="en-US" dirty="0"/>
          </a:p>
        </p:txBody>
      </p:sp>
      <p:sp>
        <p:nvSpPr>
          <p:cNvPr id="7" name="Slide Image Placeholder 6">
            <a:extLst>
              <a:ext uri="{FF2B5EF4-FFF2-40B4-BE49-F238E27FC236}">
                <a16:creationId xmlns:a16="http://schemas.microsoft.com/office/drawing/2014/main" id="{92361B4A-AAE4-6BA1-DA36-8224F03F6C7C}"/>
              </a:ext>
            </a:extLst>
          </p:cNvPr>
          <p:cNvSpPr>
            <a:spLocks noGrp="1" noRot="1" noChangeAspect="1"/>
          </p:cNvSpPr>
          <p:nvPr>
            <p:ph type="sldImg"/>
          </p:nvPr>
        </p:nvSpPr>
        <p:spPr/>
      </p:sp>
    </p:spTree>
    <p:extLst>
      <p:ext uri="{BB962C8B-B14F-4D97-AF65-F5344CB8AC3E}">
        <p14:creationId xmlns:p14="http://schemas.microsoft.com/office/powerpoint/2010/main" val="29526231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27</a:t>
            </a:fld>
            <a:endParaRPr lang="en-US" dirty="0"/>
          </a:p>
        </p:txBody>
      </p:sp>
    </p:spTree>
    <p:extLst>
      <p:ext uri="{BB962C8B-B14F-4D97-AF65-F5344CB8AC3E}">
        <p14:creationId xmlns:p14="http://schemas.microsoft.com/office/powerpoint/2010/main" val="15591787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This is a good lab to review public and private IP addressing. There are two architecture diagrams, one for the Load Balancer and one for the Application Gateway. </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Lab 06 - https://microsoftlearning.github.io/AZ-104-MicrosoftAzureAdministrator/Instructions/Labs/LAB_06-Implement_Network_Traffic_Management.html</a:t>
            </a:r>
          </a:p>
          <a:p>
            <a:endParaRPr lang="en-US" dirty="0"/>
          </a:p>
        </p:txBody>
      </p:sp>
      <p:sp>
        <p:nvSpPr>
          <p:cNvPr id="4" name="Slide Number Placeholder 3"/>
          <p:cNvSpPr>
            <a:spLocks noGrp="1"/>
          </p:cNvSpPr>
          <p:nvPr>
            <p:ph type="sldNum" sz="quarter" idx="5"/>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8507DC7E-BC41-4478-BA30-CBCC3A644F0A}"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1437879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8507DC7E-BC41-4478-BA30-CBCC3A644F0A}"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1655290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of the lab implements path-based (images and video) routing. </a:t>
            </a:r>
          </a:p>
        </p:txBody>
      </p:sp>
      <p:sp>
        <p:nvSpPr>
          <p:cNvPr id="4" name="Slide Number Placeholder 3"/>
          <p:cNvSpPr>
            <a:spLocks noGrp="1"/>
          </p:cNvSpPr>
          <p:nvPr>
            <p:ph type="sldNum" sz="quarter" idx="5"/>
          </p:nvPr>
        </p:nvSpPr>
        <p:spPr/>
        <p:txBody>
          <a:bodyPr/>
          <a:lstStyle/>
          <a:p>
            <a:fld id="{4FA29704-A69D-4576-B453-E69B7F7C98C8}" type="slidenum">
              <a:rPr lang="de-DE" smtClean="0"/>
              <a:t>30</a:t>
            </a:fld>
            <a:endParaRPr lang="de-DE"/>
          </a:p>
        </p:txBody>
      </p:sp>
    </p:spTree>
    <p:extLst>
      <p:ext uri="{BB962C8B-B14F-4D97-AF65-F5344CB8AC3E}">
        <p14:creationId xmlns:p14="http://schemas.microsoft.com/office/powerpoint/2010/main" val="31307436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31</a:t>
            </a:fld>
            <a:endParaRPr lang="en-US" dirty="0"/>
          </a:p>
        </p:txBody>
      </p:sp>
    </p:spTree>
    <p:extLst>
      <p:ext uri="{BB962C8B-B14F-4D97-AF65-F5344CB8AC3E}">
        <p14:creationId xmlns:p14="http://schemas.microsoft.com/office/powerpoint/2010/main" val="22956571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2E9348E-FA16-FE20-38FB-EDD806C9464D}"/>
              </a:ext>
            </a:extLst>
          </p:cNvPr>
          <p:cNvPicPr>
            <a:picLocks noChangeAspect="1"/>
          </p:cNvPicPr>
          <p:nvPr userDrawn="1"/>
        </p:nvPicPr>
        <p:blipFill>
          <a:blip r:embed="rId2"/>
          <a:stretch>
            <a:fillRect/>
          </a:stretch>
        </p:blipFill>
        <p:spPr>
          <a:xfrm>
            <a:off x="-1" y="11112"/>
            <a:ext cx="12436475" cy="69723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95914" y="597450"/>
            <a:ext cx="1393840" cy="298433"/>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81341" y="3622696"/>
            <a:ext cx="5800990" cy="1130181"/>
          </a:xfrm>
          <a:noFill/>
        </p:spPr>
        <p:txBody>
          <a:bodyPr wrap="square" lIns="0" tIns="0" rIns="0" bIns="0" anchor="ctr" anchorCtr="0">
            <a:spAutoFit/>
          </a:bodyPr>
          <a:lstStyle>
            <a:lvl1pPr>
              <a:defRPr sz="4080" b="0" i="0" spc="-51" baseline="0">
                <a:solidFill>
                  <a:schemeClr val="tx1"/>
                </a:solidFill>
                <a:latin typeface="+mn-lt"/>
                <a:cs typeface="Segoe UI" panose="020B0502040204020203" pitchFamily="34" charset="0"/>
              </a:defRPr>
            </a:lvl1pPr>
          </a:lstStyle>
          <a:p>
            <a:r>
              <a:rPr lang="en-US" dirty="0"/>
              <a:t>Event name or </a:t>
            </a:r>
            <a:br>
              <a:rPr lang="en-US" dirty="0"/>
            </a:br>
            <a:r>
              <a:rPr lang="en-US" dirty="0"/>
              <a:t>presentation title </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91057" y="6548910"/>
            <a:ext cx="4234554" cy="201917"/>
          </a:xfrm>
          <a:prstGeom prst="rect">
            <a:avLst/>
          </a:prstGeom>
        </p:spPr>
        <p:txBody>
          <a:bodyPr vert="horz" lIns="0" tIns="0" rIns="0" bIns="0" rtlCol="0" anchor="ctr"/>
          <a:lstStyle>
            <a:lvl1pPr marL="0" algn="l" defTabSz="932597" rtl="0" eaLnBrk="1" latinLnBrk="0" hangingPunct="1">
              <a:defRPr lang="en-US" sz="1020" kern="1200" dirty="0">
                <a:solidFill>
                  <a:schemeClr val="tx1"/>
                </a:solidFill>
                <a:latin typeface="+mn-lt"/>
                <a:ea typeface="+mn-ea"/>
                <a:cs typeface="+mn-cs"/>
              </a:defRPr>
            </a:lvl1pPr>
            <a:lvl5pPr>
              <a:defRPr lang="en-US" sz="765" kern="100" cap="all" spc="0" baseline="0" dirty="0">
                <a:solidFill>
                  <a:schemeClr val="tx1"/>
                </a:solidFill>
                <a:latin typeface="Arial" panose="020B0604020202020204" pitchFamily="34" charset="0"/>
                <a:ea typeface="+mn-ea"/>
                <a:cs typeface="Arial" panose="020B0604020202020204" pitchFamily="34" charset="0"/>
              </a:defRPr>
            </a:lvl5pPr>
          </a:lstStyle>
          <a:p>
            <a:pPr defTabSz="932563">
              <a:defRPr/>
            </a:pPr>
            <a:r>
              <a:rPr lang="en-US">
                <a:solidFill>
                  <a:srgbClr val="000000"/>
                </a:solidFill>
              </a:rPr>
              <a:t>© Copyright Microsoft Corporation. All rights reserved.</a:t>
            </a:r>
          </a:p>
        </p:txBody>
      </p:sp>
      <p:sp>
        <p:nvSpPr>
          <p:cNvPr id="2" name="Footer Placeholder 10">
            <a:extLst>
              <a:ext uri="{FF2B5EF4-FFF2-40B4-BE49-F238E27FC236}">
                <a16:creationId xmlns:a16="http://schemas.microsoft.com/office/drawing/2014/main" id="{A2E85BCA-8C5F-EFAA-DEF3-E5518406532B}"/>
              </a:ext>
            </a:extLst>
          </p:cNvPr>
          <p:cNvSpPr txBox="1">
            <a:spLocks/>
          </p:cNvSpPr>
          <p:nvPr userDrawn="1"/>
        </p:nvSpPr>
        <p:spPr>
          <a:xfrm>
            <a:off x="591057" y="6548910"/>
            <a:ext cx="4234554" cy="201917"/>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32563">
              <a:defRPr/>
            </a:pPr>
            <a:r>
              <a:rPr lang="en-US" sz="1020" dirty="0">
                <a:solidFill>
                  <a:srgbClr val="000000"/>
                </a:solidFill>
              </a:rPr>
              <a:t>© Copyright Microsoft Corporation. All rights reserved.</a:t>
            </a:r>
          </a:p>
        </p:txBody>
      </p:sp>
    </p:spTree>
    <p:extLst>
      <p:ext uri="{BB962C8B-B14F-4D97-AF65-F5344CB8AC3E}">
        <p14:creationId xmlns:p14="http://schemas.microsoft.com/office/powerpoint/2010/main" val="1879653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4707CDC-9BD2-0073-85EB-939160E4C7CC}"/>
              </a:ext>
            </a:extLst>
          </p:cNvPr>
          <p:cNvPicPr>
            <a:picLocks noChangeAspect="1"/>
          </p:cNvPicPr>
          <p:nvPr userDrawn="1"/>
        </p:nvPicPr>
        <p:blipFill>
          <a:blip r:embed="rId2"/>
          <a:stretch>
            <a:fillRect/>
          </a:stretch>
        </p:blipFill>
        <p:spPr>
          <a:xfrm>
            <a:off x="0" y="1587"/>
            <a:ext cx="12436475" cy="699135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81340" y="3514705"/>
            <a:ext cx="6472474" cy="565091"/>
          </a:xfrm>
          <a:noFill/>
        </p:spPr>
        <p:txBody>
          <a:bodyPr wrap="square" lIns="0" tIns="0" rIns="0" bIns="0" anchor="ctr" anchorCtr="0">
            <a:spAutoFit/>
          </a:bodyPr>
          <a:lstStyle>
            <a:lvl1pPr>
              <a:defRPr sz="4080" b="0" i="0" spc="-51" baseline="0">
                <a:solidFill>
                  <a:schemeClr val="tx1"/>
                </a:solidFill>
                <a:latin typeface="+mn-lt"/>
                <a:cs typeface="Segoe UI" panose="020B0502040204020203" pitchFamily="34" charset="0"/>
              </a:defRPr>
            </a:lvl1pPr>
          </a:lstStyle>
          <a:p>
            <a:r>
              <a:rPr lang="en-US" dirty="0"/>
              <a:t>Section divider title</a:t>
            </a:r>
          </a:p>
        </p:txBody>
      </p:sp>
      <p:sp>
        <p:nvSpPr>
          <p:cNvPr id="7" name="TextBox 6">
            <a:extLst>
              <a:ext uri="{FF2B5EF4-FFF2-40B4-BE49-F238E27FC236}">
                <a16:creationId xmlns:a16="http://schemas.microsoft.com/office/drawing/2014/main" id="{49AE7960-A7FE-D692-112F-471C560CCA67}"/>
              </a:ext>
            </a:extLst>
          </p:cNvPr>
          <p:cNvSpPr txBox="1"/>
          <p:nvPr userDrawn="1"/>
        </p:nvSpPr>
        <p:spPr>
          <a:xfrm>
            <a:off x="427038" y="6411853"/>
            <a:ext cx="6216728" cy="270285"/>
          </a:xfrm>
          <a:prstGeom prst="rect">
            <a:avLst/>
          </a:prstGeom>
          <a:noFill/>
        </p:spPr>
        <p:txBody>
          <a:bodyPr wrap="square">
            <a:spAutoFit/>
          </a:bodyPr>
          <a:lstStyle/>
          <a:p>
            <a:pPr defTabSz="932563">
              <a:defRPr/>
            </a:pPr>
            <a:r>
              <a:rPr lang="en-US" sz="1122" dirty="0">
                <a:solidFill>
                  <a:srgbClr val="000000"/>
                </a:solidFill>
              </a:rPr>
              <a:t>© Copyright Microsoft Corporation. All rights reserved.</a:t>
            </a:r>
          </a:p>
        </p:txBody>
      </p:sp>
    </p:spTree>
    <p:extLst>
      <p:ext uri="{BB962C8B-B14F-4D97-AF65-F5344CB8AC3E}">
        <p14:creationId xmlns:p14="http://schemas.microsoft.com/office/powerpoint/2010/main" val="1901613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Tree>
    <p:extLst>
      <p:ext uri="{BB962C8B-B14F-4D97-AF65-F5344CB8AC3E}">
        <p14:creationId xmlns:p14="http://schemas.microsoft.com/office/powerpoint/2010/main" val="1745672863"/>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27038" y="449263"/>
            <a:ext cx="11568684" cy="655637"/>
          </a:xfrm>
        </p:spPr>
        <p:txBody>
          <a:bodyPr/>
          <a:lstStyle/>
          <a:p>
            <a:r>
              <a:rPr lang="en-US" dirty="0"/>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40753" y="998040"/>
            <a:ext cx="11568684" cy="439465"/>
          </a:xfrm>
        </p:spPr>
        <p:txBody>
          <a:bodyPr tIns="45720" rIns="0" bIns="45720"/>
          <a:lstStyle>
            <a:lvl1pPr>
              <a:defRPr sz="2244">
                <a:solidFill>
                  <a:schemeClr val="tx2">
                    <a:lumMod val="50000"/>
                  </a:schemeClr>
                </a:solidFill>
              </a:defRPr>
            </a:lvl1pPr>
          </a:lstStyle>
          <a:p>
            <a:r>
              <a:rPr lang="en-US" dirty="0"/>
              <a:t>Subheading Segoe UI </a:t>
            </a:r>
            <a:r>
              <a:rPr lang="en-US" dirty="0" err="1"/>
              <a:t>Semibold</a:t>
            </a:r>
            <a:r>
              <a:rPr lang="en-US" dirty="0"/>
              <a:t> 22 </a:t>
            </a:r>
            <a:r>
              <a:rPr lang="en-US" dirty="0" err="1"/>
              <a:t>pt</a:t>
            </a:r>
            <a:endParaRPr lang="en-US" dirty="0"/>
          </a:p>
        </p:txBody>
      </p:sp>
    </p:spTree>
    <p:extLst>
      <p:ext uri="{BB962C8B-B14F-4D97-AF65-F5344CB8AC3E}">
        <p14:creationId xmlns:p14="http://schemas.microsoft.com/office/powerpoint/2010/main" val="2022019476"/>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Learning Objs - no OD">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dirty="0"/>
              <a:t>Click to edit Master title style</a:t>
            </a: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spTree>
    <p:extLst>
      <p:ext uri="{BB962C8B-B14F-4D97-AF65-F5344CB8AC3E}">
        <p14:creationId xmlns:p14="http://schemas.microsoft.com/office/powerpoint/2010/main" val="2715462090"/>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Obj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dirty="0"/>
              <a:t>Click to edit Master title style</a:t>
            </a: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sp>
        <p:nvSpPr>
          <p:cNvPr id="7" name="Rectangle: Rounded Corners 6">
            <a:extLst>
              <a:ext uri="{FF2B5EF4-FFF2-40B4-BE49-F238E27FC236}">
                <a16:creationId xmlns:a16="http://schemas.microsoft.com/office/drawing/2014/main" id="{E8885716-8A7B-42A7-93E2-E8749AF5C6BC}"/>
              </a:ext>
            </a:extLst>
          </p:cNvPr>
          <p:cNvSpPr/>
          <p:nvPr userDrawn="1"/>
        </p:nvSpPr>
        <p:spPr bwMode="auto">
          <a:xfrm>
            <a:off x="6116130" y="1476375"/>
            <a:ext cx="5313870" cy="4333875"/>
          </a:xfrm>
          <a:prstGeom prst="roundRect">
            <a:avLst/>
          </a:prstGeom>
          <a:solidFill>
            <a:schemeClr val="bg1"/>
          </a:solidFill>
          <a:ln>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091147780"/>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arning Recap">
    <p:spTree>
      <p:nvGrpSpPr>
        <p:cNvPr id="1" name=""/>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3183609" cy="4015292"/>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grpSp>
        <p:nvGrpSpPr>
          <p:cNvPr id="3" name="Group 2">
            <a:extLst>
              <a:ext uri="{FF2B5EF4-FFF2-40B4-BE49-F238E27FC236}">
                <a16:creationId xmlns:a16="http://schemas.microsoft.com/office/drawing/2014/main" id="{C54C7EE8-4313-2803-B06C-A5BA61EA412A}"/>
              </a:ext>
              <a:ext uri="{C183D7F6-B498-43B3-948B-1728B52AA6E4}">
                <adec:decorative xmlns:adec="http://schemas.microsoft.com/office/drawing/2017/decorative" val="1"/>
              </a:ext>
            </a:extLst>
          </p:cNvPr>
          <p:cNvGrpSpPr/>
          <p:nvPr userDrawn="1"/>
        </p:nvGrpSpPr>
        <p:grpSpPr>
          <a:xfrm>
            <a:off x="2614984" y="1617484"/>
            <a:ext cx="1132870" cy="1132709"/>
            <a:chOff x="5540700" y="2116300"/>
            <a:chExt cx="1110600" cy="1110600"/>
          </a:xfrm>
        </p:grpSpPr>
        <p:sp>
          <p:nvSpPr>
            <p:cNvPr id="4" name="Oval 3">
              <a:extLst>
                <a:ext uri="{FF2B5EF4-FFF2-40B4-BE49-F238E27FC236}">
                  <a16:creationId xmlns:a16="http://schemas.microsoft.com/office/drawing/2014/main" id="{3F97E22B-DD1F-99A5-25F7-1E4F4F58DA7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B1C046DA-F3B0-17BF-4867-63F317F8ACA9}"/>
                </a:ext>
              </a:extLst>
            </p:cNvPr>
            <p:cNvPicPr/>
            <p:nvPr/>
          </p:nvPicPr>
          <p:blipFill>
            <a:blip r:embed="rId2"/>
            <a:srcRect/>
            <a:stretch/>
          </p:blipFill>
          <p:spPr>
            <a:xfrm>
              <a:off x="5749602" y="2325202"/>
              <a:ext cx="692796" cy="692796"/>
            </a:xfrm>
            <a:prstGeom prst="rect">
              <a:avLst/>
            </a:prstGeom>
            <a:noFill/>
          </p:spPr>
        </p:pic>
      </p:grpSp>
      <p:sp>
        <p:nvSpPr>
          <p:cNvPr id="7" name="TextBox 6">
            <a:extLst>
              <a:ext uri="{FF2B5EF4-FFF2-40B4-BE49-F238E27FC236}">
                <a16:creationId xmlns:a16="http://schemas.microsoft.com/office/drawing/2014/main" id="{05350FFB-1FC5-59FA-F297-3FE6E8364735}"/>
              </a:ext>
            </a:extLst>
          </p:cNvPr>
          <p:cNvSpPr txBox="1"/>
          <p:nvPr userDrawn="1"/>
        </p:nvSpPr>
        <p:spPr>
          <a:xfrm>
            <a:off x="600058" y="2927690"/>
            <a:ext cx="2228017" cy="236680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lang="en-US" sz="2400" kern="1200" spc="-50" baseline="0" dirty="0">
                <a:solidFill>
                  <a:srgbClr val="000000"/>
                </a:solidFill>
                <a:latin typeface="+mj-lt"/>
                <a:ea typeface="+mn-ea"/>
                <a:cs typeface="+mn-cs"/>
              </a:rPr>
              <a:t>Check your knowledge questions and additional study</a:t>
            </a:r>
          </a:p>
          <a:p>
            <a:pPr>
              <a:lnSpc>
                <a:spcPct val="90000"/>
              </a:lnSpc>
              <a:spcAft>
                <a:spcPts val="600"/>
              </a:spcAft>
            </a:pPr>
            <a:endParaRPr lang="en-US" sz="2400" dirty="0" err="1">
              <a:gradFill>
                <a:gsLst>
                  <a:gs pos="2917">
                    <a:schemeClr val="tx1"/>
                  </a:gs>
                  <a:gs pos="30000">
                    <a:schemeClr val="tx1"/>
                  </a:gs>
                </a:gsLst>
                <a:lin ang="5400000" scaled="0"/>
              </a:gradFill>
            </a:endParaRPr>
          </a:p>
        </p:txBody>
      </p:sp>
      <p:sp>
        <p:nvSpPr>
          <p:cNvPr id="5" name="Title 1">
            <a:extLst>
              <a:ext uri="{FF2B5EF4-FFF2-40B4-BE49-F238E27FC236}">
                <a16:creationId xmlns:a16="http://schemas.microsoft.com/office/drawing/2014/main" id="{DA9EEDEA-6687-D76A-D227-7C52A001F415}"/>
              </a:ext>
            </a:extLst>
          </p:cNvPr>
          <p:cNvSpPr>
            <a:spLocks noGrp="1"/>
          </p:cNvSpPr>
          <p:nvPr>
            <p:ph type="title"/>
          </p:nvPr>
        </p:nvSpPr>
        <p:spPr>
          <a:xfrm>
            <a:off x="427038" y="449263"/>
            <a:ext cx="11568684" cy="693737"/>
          </a:xfrm>
        </p:spPr>
        <p:txBody>
          <a:bodyPr/>
          <a:lstStyle/>
          <a:p>
            <a:r>
              <a:rPr lang="en-US" dirty="0"/>
              <a:t>Click to edit Master title style</a:t>
            </a:r>
          </a:p>
        </p:txBody>
      </p:sp>
      <p:sp>
        <p:nvSpPr>
          <p:cNvPr id="8" name="TextBox 7">
            <a:extLst>
              <a:ext uri="{FF2B5EF4-FFF2-40B4-BE49-F238E27FC236}">
                <a16:creationId xmlns:a16="http://schemas.microsoft.com/office/drawing/2014/main" id="{CBDBD83B-7693-E1DA-51A1-8859707BFA7E}"/>
              </a:ext>
            </a:extLst>
          </p:cNvPr>
          <p:cNvSpPr txBox="1"/>
          <p:nvPr userDrawn="1"/>
        </p:nvSpPr>
        <p:spPr>
          <a:xfrm>
            <a:off x="3747854" y="1951559"/>
            <a:ext cx="6216160" cy="369332"/>
          </a:xfrm>
          <a:prstGeom prst="rect">
            <a:avLst/>
          </a:prstGeom>
          <a:noFill/>
        </p:spPr>
        <p:txBody>
          <a:bodyPr wrap="square">
            <a:spAutoFit/>
          </a:bodyPr>
          <a:lstStyle/>
          <a:p>
            <a:r>
              <a:rPr lang="en-US" b="1" dirty="0"/>
              <a:t>Reference modules</a:t>
            </a:r>
          </a:p>
        </p:txBody>
      </p:sp>
    </p:spTree>
    <p:extLst>
      <p:ext uri="{BB962C8B-B14F-4D97-AF65-F5344CB8AC3E}">
        <p14:creationId xmlns:p14="http://schemas.microsoft.com/office/powerpoint/2010/main" val="168919694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emonstration ">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a:t>Click to edit Master title style</a:t>
            </a:r>
          </a:p>
        </p:txBody>
      </p:sp>
      <p:sp>
        <p:nvSpPr>
          <p:cNvPr id="4" name="Rounded Rectangle 3_1">
            <a:extLst>
              <a:ext uri="{FF2B5EF4-FFF2-40B4-BE49-F238E27FC236}">
                <a16:creationId xmlns:a16="http://schemas.microsoft.com/office/drawing/2014/main" id="{FC76C8DF-13B1-1B33-CBD3-D0B1496658D3}"/>
              </a:ext>
            </a:extLst>
          </p:cNvPr>
          <p:cNvSpPr/>
          <p:nvPr userDrawn="1"/>
        </p:nvSpPr>
        <p:spPr>
          <a:xfrm>
            <a:off x="521111" y="1292745"/>
            <a:ext cx="10387932" cy="4749970"/>
          </a:xfrm>
          <a:prstGeom prst="roundRect">
            <a:avLst>
              <a:gd name="adj" fmla="val 6113"/>
            </a:avLst>
          </a:prstGeom>
          <a:solidFill>
            <a:schemeClr val="bg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6" name="Oval 5">
            <a:extLst>
              <a:ext uri="{FF2B5EF4-FFF2-40B4-BE49-F238E27FC236}">
                <a16:creationId xmlns:a16="http://schemas.microsoft.com/office/drawing/2014/main" id="{C0B7F7B8-27DC-CB90-9841-2B0EB6BDC8A9}"/>
              </a:ext>
            </a:extLst>
          </p:cNvPr>
          <p:cNvSpPr/>
          <p:nvPr userDrawn="1"/>
        </p:nvSpPr>
        <p:spPr>
          <a:xfrm>
            <a:off x="10324155" y="1117294"/>
            <a:ext cx="1132870" cy="1132709"/>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pic>
        <p:nvPicPr>
          <p:cNvPr id="5" name="Graphic 4" descr="Beaker with solid fill">
            <a:extLst>
              <a:ext uri="{FF2B5EF4-FFF2-40B4-BE49-F238E27FC236}">
                <a16:creationId xmlns:a16="http://schemas.microsoft.com/office/drawing/2014/main" id="{0A4277E8-514E-E7C0-EEAE-4DBF838AD06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433390" y="1141729"/>
            <a:ext cx="914400" cy="914400"/>
          </a:xfrm>
          <a:prstGeom prst="rect">
            <a:avLst/>
          </a:prstGeom>
        </p:spPr>
      </p:pic>
    </p:spTree>
    <p:extLst>
      <p:ext uri="{BB962C8B-B14F-4D97-AF65-F5344CB8AC3E}">
        <p14:creationId xmlns:p14="http://schemas.microsoft.com/office/powerpoint/2010/main" val="368434471"/>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Lab">
    <p:spTree>
      <p:nvGrpSpPr>
        <p:cNvPr id="1" name=""/>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4282290" cy="4015292"/>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600058" y="525428"/>
            <a:ext cx="11703601" cy="502246"/>
          </a:xfrm>
        </p:spPr>
        <p:txBody>
          <a:bodyPr/>
          <a:lstStyle>
            <a:lvl1pPr>
              <a:defRPr sz="3264" b="0" i="0">
                <a:solidFill>
                  <a:schemeClr val="tx1"/>
                </a:solidFill>
                <a:latin typeface="+mj-lt"/>
                <a:cs typeface="Segoe UI Semibold" panose="020B0502040204020203" pitchFamily="34" charset="0"/>
              </a:defRPr>
            </a:lvl1pPr>
          </a:lstStyle>
          <a:p>
            <a:r>
              <a:rPr lang="en-US" dirty="0"/>
              <a:t> </a:t>
            </a:r>
          </a:p>
        </p:txBody>
      </p:sp>
      <p:grpSp>
        <p:nvGrpSpPr>
          <p:cNvPr id="8" name="Group 7">
            <a:extLst>
              <a:ext uri="{FF2B5EF4-FFF2-40B4-BE49-F238E27FC236}">
                <a16:creationId xmlns:a16="http://schemas.microsoft.com/office/drawing/2014/main" id="{1682E78A-A36F-A9AB-B5BC-51FF48A0C477}"/>
              </a:ext>
              <a:ext uri="{C183D7F6-B498-43B3-948B-1728B52AA6E4}">
                <adec:decorative xmlns:adec="http://schemas.microsoft.com/office/drawing/2017/decorative" val="1"/>
              </a:ext>
            </a:extLst>
          </p:cNvPr>
          <p:cNvGrpSpPr/>
          <p:nvPr userDrawn="1"/>
        </p:nvGrpSpPr>
        <p:grpSpPr>
          <a:xfrm>
            <a:off x="3726989" y="1477271"/>
            <a:ext cx="1110600" cy="1110600"/>
            <a:chOff x="5540700" y="2116300"/>
            <a:chExt cx="1110600" cy="1110600"/>
          </a:xfrm>
        </p:grpSpPr>
        <p:sp>
          <p:nvSpPr>
            <p:cNvPr id="10" name="Oval 9">
              <a:extLst>
                <a:ext uri="{FF2B5EF4-FFF2-40B4-BE49-F238E27FC236}">
                  <a16:creationId xmlns:a16="http://schemas.microsoft.com/office/drawing/2014/main" id="{A006B05E-82F0-67C0-F4BE-484546169B05}"/>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B551F7BB-0B62-B45A-97E8-BDBC64276EB2}"/>
                </a:ext>
              </a:extLst>
            </p:cNvPr>
            <p:cNvPicPr/>
            <p:nvPr/>
          </p:nvPicPr>
          <p:blipFill>
            <a:blip r:embed="rId2">
              <a:extLst>
                <a:ext uri="{96DAC541-7B7A-43D3-8B79-37D633B846F1}">
                  <asvg:svgBlip xmlns:asvg="http://schemas.microsoft.com/office/drawing/2016/SVG/main" r:embed="rId3"/>
                </a:ext>
              </a:extLst>
            </a:blip>
            <a:srcRect/>
            <a:stretch/>
          </p:blipFill>
          <p:spPr>
            <a:xfrm>
              <a:off x="5749602" y="2325202"/>
              <a:ext cx="692796" cy="692796"/>
            </a:xfrm>
            <a:prstGeom prst="rect">
              <a:avLst/>
            </a:prstGeom>
            <a:noFill/>
          </p:spPr>
        </p:pic>
      </p:grpSp>
      <p:sp>
        <p:nvSpPr>
          <p:cNvPr id="4" name="TextBox 3">
            <a:extLst>
              <a:ext uri="{FF2B5EF4-FFF2-40B4-BE49-F238E27FC236}">
                <a16:creationId xmlns:a16="http://schemas.microsoft.com/office/drawing/2014/main" id="{E60FE4F6-BCBF-7DBF-715E-4E210CB7BA19}"/>
              </a:ext>
            </a:extLst>
          </p:cNvPr>
          <p:cNvSpPr txBox="1"/>
          <p:nvPr userDrawn="1"/>
        </p:nvSpPr>
        <p:spPr>
          <a:xfrm>
            <a:off x="3108081" y="3176173"/>
            <a:ext cx="6216160" cy="646331"/>
          </a:xfrm>
          <a:prstGeom prst="rect">
            <a:avLst/>
          </a:prstGeom>
          <a:noFill/>
        </p:spPr>
        <p:txBody>
          <a:bodyPr wrap="square">
            <a:spAutoFit/>
          </a:bodyPr>
          <a:lstStyle/>
          <a:p>
            <a:r>
              <a:rPr lang="en-US" dirty="0"/>
              <a:t>What are some of the configurations settings for Azure virtual network peering?</a:t>
            </a:r>
          </a:p>
        </p:txBody>
      </p:sp>
    </p:spTree>
    <p:extLst>
      <p:ext uri="{BB962C8B-B14F-4D97-AF65-F5344CB8AC3E}">
        <p14:creationId xmlns:p14="http://schemas.microsoft.com/office/powerpoint/2010/main" val="207921655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5138" y="567457"/>
            <a:ext cx="11530584" cy="830020"/>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465138" y="1853742"/>
            <a:ext cx="11456988" cy="2062103"/>
          </a:xfrm>
          <a:prstGeom prst="rect">
            <a:avLst/>
          </a:prstGeom>
        </p:spPr>
        <p:txBody>
          <a:bodyPr vert="horz" wrap="square" lIns="0" tIns="91440" rIns="146304" bIns="91440" rtlCol="0">
            <a:spAutoFit/>
          </a:bodyPr>
          <a:lstStyle/>
          <a:p>
            <a:pPr lvl="1"/>
            <a:r>
              <a:rPr lang="en-US"/>
              <a:t>Large: subhead Segoe UI Regular 20/24</a:t>
            </a:r>
          </a:p>
          <a:p>
            <a:pPr lvl="1"/>
            <a:endParaRPr lang="en-US"/>
          </a:p>
          <a:p>
            <a:pPr lvl="2"/>
            <a:r>
              <a:rPr lang="en-US"/>
              <a:t>Medium: paragraph heading Segoe UI </a:t>
            </a:r>
            <a:r>
              <a:rPr lang="en-US" err="1"/>
              <a:t>Semibold</a:t>
            </a:r>
            <a:r>
              <a:rPr lang="en-US"/>
              <a:t> 14/18</a:t>
            </a:r>
          </a:p>
          <a:p>
            <a:pPr lvl="3"/>
            <a:r>
              <a:rPr lang="en-US"/>
              <a:t>Medium: paragraph body copy Segoe UI Regular 14/18</a:t>
            </a:r>
          </a:p>
          <a:p>
            <a:pPr lvl="3"/>
            <a:endParaRPr lang="en-US"/>
          </a:p>
          <a:p>
            <a:pPr lvl="4"/>
            <a:r>
              <a:rPr lang="en-US"/>
              <a:t>Small: caption heading Segoe UI Bold 10/12</a:t>
            </a:r>
          </a:p>
          <a:p>
            <a:pPr lvl="6"/>
            <a:r>
              <a:rPr lang="en-US"/>
              <a:t>Small: caption body copy Segoe UI Regular 10/12</a:t>
            </a:r>
          </a:p>
          <a:p>
            <a:pPr lvl="6"/>
            <a:endParaRPr lang="en-US"/>
          </a:p>
          <a:p>
            <a:pPr lvl="6"/>
            <a:endParaRPr lang="en-US"/>
          </a:p>
        </p:txBody>
      </p:sp>
      <p:sp>
        <p:nvSpPr>
          <p:cNvPr id="3" name="TextBox 2">
            <a:extLst>
              <a:ext uri="{FF2B5EF4-FFF2-40B4-BE49-F238E27FC236}">
                <a16:creationId xmlns:a16="http://schemas.microsoft.com/office/drawing/2014/main" id="{AB791437-9C8F-55CD-6A15-E32F92A55BF0}"/>
              </a:ext>
            </a:extLst>
          </p:cNvPr>
          <p:cNvSpPr txBox="1"/>
          <p:nvPr userDrawn="1"/>
        </p:nvSpPr>
        <p:spPr>
          <a:xfrm>
            <a:off x="427038" y="6411853"/>
            <a:ext cx="6216728" cy="270285"/>
          </a:xfrm>
          <a:prstGeom prst="rect">
            <a:avLst/>
          </a:prstGeom>
          <a:noFill/>
        </p:spPr>
        <p:txBody>
          <a:bodyPr wrap="square">
            <a:spAutoFit/>
          </a:bodyPr>
          <a:lstStyle/>
          <a:p>
            <a:pPr defTabSz="932563">
              <a:defRPr/>
            </a:pPr>
            <a:r>
              <a:rPr lang="en-US" sz="1122" dirty="0">
                <a:solidFill>
                  <a:srgbClr val="000000"/>
                </a:solidFill>
              </a:rPr>
              <a:t>© Copyright Microsoft Corporation. All rights reserved.</a:t>
            </a:r>
          </a:p>
        </p:txBody>
      </p:sp>
    </p:spTree>
    <p:extLst>
      <p:ext uri="{BB962C8B-B14F-4D97-AF65-F5344CB8AC3E}">
        <p14:creationId xmlns:p14="http://schemas.microsoft.com/office/powerpoint/2010/main" val="2086730001"/>
      </p:ext>
    </p:extLst>
  </p:cSld>
  <p:clrMap bg1="lt1" tx1="dk1" bg2="lt2" tx2="dk2" accent1="accent1" accent2="accent2" accent3="accent3" accent4="accent4" accent5="accent5" accent6="accent6" hlink="hlink" folHlink="folHlink"/>
  <p:sldLayoutIdLst>
    <p:sldLayoutId id="2147484638" r:id="rId1"/>
    <p:sldLayoutId id="2147484639" r:id="rId2"/>
    <p:sldLayoutId id="2147484640" r:id="rId3"/>
    <p:sldLayoutId id="2147484641" r:id="rId4"/>
    <p:sldLayoutId id="2147484642" r:id="rId5"/>
    <p:sldLayoutId id="2147484643" r:id="rId6"/>
    <p:sldLayoutId id="2147484644" r:id="rId7"/>
    <p:sldLayoutId id="2147484645" r:id="rId8"/>
    <p:sldLayoutId id="2147484646" r:id="rId9"/>
  </p:sldLayoutIdLst>
  <p:transition>
    <p:fade/>
  </p:transition>
  <p:hf hdr="0" dt="0"/>
  <p:txStyles>
    <p:titleStyle>
      <a:lvl1pPr algn="l" defTabSz="932742" rtl="0" eaLnBrk="1" latinLnBrk="0" hangingPunct="1">
        <a:lnSpc>
          <a:spcPct val="90000"/>
        </a:lnSpc>
        <a:spcBef>
          <a:spcPct val="0"/>
        </a:spcBef>
        <a:buNone/>
        <a:defRPr lang="en-US" sz="2800" b="0" kern="1200" cap="none" spc="-50" baseline="0" dirty="0" smtClean="0">
          <a:ln w="3175">
            <a:noFill/>
          </a:ln>
          <a:solidFill>
            <a:srgbClr val="000000"/>
          </a:solidFill>
          <a:effectLst/>
          <a:latin typeface="+mj-lt"/>
          <a:ea typeface="+mn-ea"/>
          <a:cs typeface="Segoe UI" pitchFamily="34" charset="0"/>
        </a:defRPr>
      </a:lvl1pPr>
    </p:titleStyle>
    <p:body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49">
          <p15:clr>
            <a:srgbClr val="C35EA4"/>
          </p15:clr>
        </p15:guide>
        <p15:guide id="32" pos="1528">
          <p15:clr>
            <a:srgbClr val="C35EA4"/>
          </p15:clr>
        </p15:guide>
        <p15:guide id="33" pos="2621">
          <p15:clr>
            <a:srgbClr val="C35EA4"/>
          </p15:clr>
        </p15:guide>
        <p15:guide id="34" pos="2765">
          <p15:clr>
            <a:srgbClr val="C35EA4"/>
          </p15:clr>
        </p15:guide>
        <p15:guide id="35" pos="3854">
          <p15:clr>
            <a:srgbClr val="C35EA4"/>
          </p15:clr>
        </p15:guide>
        <p15:guide id="36" pos="4003">
          <p15:clr>
            <a:srgbClr val="C35EA4"/>
          </p15:clr>
        </p15:guide>
        <p15:guide id="37" pos="5083">
          <p15:clr>
            <a:srgbClr val="C35EA4"/>
          </p15:clr>
        </p15:guide>
        <p15:guide id="38" pos="5230">
          <p15:clr>
            <a:srgbClr val="C35EA4"/>
          </p15:clr>
        </p15:guide>
        <p15:guide id="39" pos="6323">
          <p15:clr>
            <a:srgbClr val="C35EA4"/>
          </p15:clr>
        </p15:guide>
        <p15:guide id="40" pos="6469">
          <p15:clr>
            <a:srgbClr val="C35EA4"/>
          </p15:clr>
        </p15:guide>
        <p15:guide id="41" pos="269">
          <p15:clr>
            <a:srgbClr val="F26B43"/>
          </p15:clr>
        </p15:guide>
        <p15:guide id="42" pos="7565">
          <p15:clr>
            <a:srgbClr val="F26B43"/>
          </p15:clr>
        </p15:guide>
        <p15:guide id="43" orient="horz" pos="751">
          <p15:clr>
            <a:srgbClr val="5ACBF0"/>
          </p15:clr>
        </p15:guide>
        <p15:guide id="44" orient="horz" pos="1387">
          <p15:clr>
            <a:srgbClr val="5ACBF0"/>
          </p15:clr>
        </p15:guide>
        <p15:guide id="45" orient="horz" pos="605">
          <p15:clr>
            <a:srgbClr val="5ACBF0"/>
          </p15:clr>
        </p15:guide>
        <p15:guide id="46" orient="horz" pos="1514">
          <p15:clr>
            <a:srgbClr val="5ACBF0"/>
          </p15:clr>
        </p15:guide>
        <p15:guide id="47" orient="horz" pos="2130">
          <p15:clr>
            <a:srgbClr val="5ACBF0"/>
          </p15:clr>
        </p15:guide>
        <p15:guide id="48" orient="horz" pos="2299">
          <p15:clr>
            <a:srgbClr val="5ACBF0"/>
          </p15:clr>
        </p15:guide>
        <p15:guide id="49" orient="horz" pos="283">
          <p15:clr>
            <a:srgbClr val="F26B43"/>
          </p15:clr>
        </p15:guide>
        <p15:guide id="50" orient="horz" pos="4123">
          <p15:clr>
            <a:srgbClr val="F26B43"/>
          </p15:clr>
        </p15:guide>
        <p15:guide id="51" orient="horz" pos="2891">
          <p15:clr>
            <a:srgbClr val="5ACBF0"/>
          </p15:clr>
        </p15:guide>
        <p15:guide id="52" orient="horz" pos="3019">
          <p15:clr>
            <a:srgbClr val="5ACBF0"/>
          </p15:clr>
        </p15:guide>
        <p15:guide id="53" orient="horz" pos="3643">
          <p15:clr>
            <a:srgbClr val="5ACBF0"/>
          </p15:clr>
        </p15:guide>
        <p15:guide id="54" orient="horz" pos="3763">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hyperlink" Target="https://learn.microsoft.com/training/modules/intro-to-azure-load-balancer/"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hyperlink" Target="https://learn.microsoft.com/training/modules/load-balancing-non-https-traffic-azure/"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hyperlink" Target="https://learn.microsoft.com/training/modules/intro-to-azure-application-gateway/" TargetMode="External"/><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hyperlink" Target="https://learn.microsoft.com/training/modules/load-balancing-https-traffic-azure/" TargetMode="External"/><Relationship Id="rId4" Type="http://schemas.openxmlformats.org/officeDocument/2006/relationships/hyperlink" Target="https://learn.microsoft.com/training/modules/load-balance-web-traffic-with-application-gateway/"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s://learn.microsoft.com/training/modules/intro-to-azure-network-watcher/" TargetMode="External"/><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hyperlink" Target="https://learn.microsoft.com/training/modules/troubleshoot-connectivity-issues-virtual-machines-azure/" TargetMode="External"/><Relationship Id="rId4" Type="http://schemas.openxmlformats.org/officeDocument/2006/relationships/hyperlink" Target="https://learn.microsoft.com/training/modules/troubleshoot-azure-network-infrastructure/"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hyperlink" Target="https://commons.wikimedia.org/wiki/File:User_icon_2.svg" TargetMode="External"/><Relationship Id="rId2" Type="http://schemas.openxmlformats.org/officeDocument/2006/relationships/notesSlide" Target="../notesSlides/notesSlide29.xml"/><Relationship Id="rId1" Type="http://schemas.openxmlformats.org/officeDocument/2006/relationships/slideLayout" Target="../slideLayouts/slideLayout3.xml"/><Relationship Id="rId6" Type="http://schemas.openxmlformats.org/officeDocument/2006/relationships/image" Target="../media/image29.sv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png"/></Relationships>
</file>

<file path=ppt/slides/_rels/slide30.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35.png"/><Relationship Id="rId7"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3.xml"/><Relationship Id="rId6" Type="http://schemas.openxmlformats.org/officeDocument/2006/relationships/image" Target="../media/image31.svg"/><Relationship Id="rId5" Type="http://schemas.openxmlformats.org/officeDocument/2006/relationships/image" Target="../media/image30.png"/><Relationship Id="rId10" Type="http://schemas.openxmlformats.org/officeDocument/2006/relationships/image" Target="../media/image33.svg"/><Relationship Id="rId4" Type="http://schemas.openxmlformats.org/officeDocument/2006/relationships/image" Target="../media/image36.svg"/><Relationship Id="rId9" Type="http://schemas.openxmlformats.org/officeDocument/2006/relationships/image" Target="../media/image32.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81025" y="3057644"/>
            <a:ext cx="5800725" cy="2260362"/>
          </a:xfrm>
        </p:spPr>
        <p:txBody>
          <a:bodyPr anchor="ctr"/>
          <a:lstStyle/>
          <a:p>
            <a:r>
              <a:rPr lang="en-US" dirty="0"/>
              <a:t>AZ-104T00A</a:t>
            </a:r>
            <a:br>
              <a:rPr lang="en-US" dirty="0"/>
            </a:br>
            <a:r>
              <a:rPr lang="en-US" dirty="0"/>
              <a:t>Administer</a:t>
            </a:r>
            <a:br>
              <a:rPr lang="en-US" dirty="0"/>
            </a:br>
            <a:r>
              <a:rPr lang="en-US" dirty="0"/>
              <a:t>Network Traffic</a:t>
            </a:r>
            <a:br>
              <a:rPr lang="en-US" dirty="0"/>
            </a:br>
            <a:endParaRPr lang="en-US" dirty="0"/>
          </a:p>
        </p:txBody>
      </p:sp>
    </p:spTree>
    <p:extLst>
      <p:ext uri="{BB962C8B-B14F-4D97-AF65-F5344CB8AC3E}">
        <p14:creationId xmlns:p14="http://schemas.microsoft.com/office/powerpoint/2010/main" val="3635852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8FD67-B9CE-464C-BEFD-D97DA798FC3B}"/>
              </a:ext>
            </a:extLst>
          </p:cNvPr>
          <p:cNvSpPr>
            <a:spLocks noGrp="1"/>
          </p:cNvSpPr>
          <p:nvPr>
            <p:ph type="title"/>
          </p:nvPr>
        </p:nvSpPr>
        <p:spPr/>
        <p:txBody>
          <a:bodyPr/>
          <a:lstStyle/>
          <a:p>
            <a:r>
              <a:rPr lang="en-US" dirty="0"/>
              <a:t>Learning Objectives - Administer Network Traffic </a:t>
            </a:r>
          </a:p>
        </p:txBody>
      </p:sp>
      <p:sp>
        <p:nvSpPr>
          <p:cNvPr id="34" name="TextBox 33">
            <a:extLst>
              <a:ext uri="{FF2B5EF4-FFF2-40B4-BE49-F238E27FC236}">
                <a16:creationId xmlns:a16="http://schemas.microsoft.com/office/drawing/2014/main" id="{6A4131AC-52CE-4D3E-B409-916150339DE9}"/>
              </a:ext>
            </a:extLst>
          </p:cNvPr>
          <p:cNvSpPr txBox="1"/>
          <p:nvPr/>
        </p:nvSpPr>
        <p:spPr>
          <a:xfrm>
            <a:off x="580650" y="1301594"/>
            <a:ext cx="7327900" cy="3826332"/>
          </a:xfrm>
          <a:prstGeom prst="rect">
            <a:avLst/>
          </a:prstGeom>
          <a:noFill/>
        </p:spPr>
        <p:txBody>
          <a:bodyPr wrap="square" lIns="0" tIns="0" rIns="0" bIns="0" rtlCol="0" anchor="t">
            <a:noAutofit/>
          </a:bodyPr>
          <a:lstStyle/>
          <a:p>
            <a:pPr marL="342900" indent="-342900">
              <a:lnSpc>
                <a:spcPct val="150000"/>
              </a:lnSpc>
              <a:spcAft>
                <a:spcPts val="600"/>
              </a:spcAft>
              <a:buFont typeface="Arial" panose="020B0604020202020204" pitchFamily="34" charset="0"/>
              <a:buChar char="•"/>
            </a:pPr>
            <a:r>
              <a:rPr lang="en-US" sz="2400" dirty="0"/>
              <a:t>Introduction to Azure Load Balancer</a:t>
            </a:r>
          </a:p>
          <a:p>
            <a:pPr marL="342900" indent="-342900">
              <a:lnSpc>
                <a:spcPct val="150000"/>
              </a:lnSpc>
              <a:spcAft>
                <a:spcPts val="600"/>
              </a:spcAft>
              <a:buFont typeface="Arial" panose="020B0604020202020204" pitchFamily="34" charset="0"/>
              <a:buChar char="•"/>
            </a:pPr>
            <a:r>
              <a:rPr lang="en-US" sz="2400" dirty="0"/>
              <a:t>Introduction to Application Gateway</a:t>
            </a:r>
          </a:p>
          <a:p>
            <a:pPr marL="342900" indent="-342900">
              <a:lnSpc>
                <a:spcPct val="150000"/>
              </a:lnSpc>
              <a:spcAft>
                <a:spcPts val="600"/>
              </a:spcAft>
              <a:buFont typeface="Arial" panose="020B0604020202020204" pitchFamily="34" charset="0"/>
              <a:buChar char="•"/>
            </a:pPr>
            <a:r>
              <a:rPr lang="en-US" sz="2400" dirty="0"/>
              <a:t>Introduction to Network Watcher</a:t>
            </a:r>
          </a:p>
          <a:p>
            <a:pPr marL="342900" indent="-342900">
              <a:lnSpc>
                <a:spcPct val="150000"/>
              </a:lnSpc>
              <a:spcAft>
                <a:spcPts val="600"/>
              </a:spcAft>
              <a:buFont typeface="Arial" panose="020B0604020202020204" pitchFamily="34" charset="0"/>
              <a:buChar char="•"/>
            </a:pPr>
            <a:r>
              <a:rPr lang="en-US" sz="2400" dirty="0"/>
              <a:t>Lab 06 – Implement Traffic Management</a:t>
            </a:r>
          </a:p>
        </p:txBody>
      </p:sp>
    </p:spTree>
    <p:extLst>
      <p:ext uri="{BB962C8B-B14F-4D97-AF65-F5344CB8AC3E}">
        <p14:creationId xmlns:p14="http://schemas.microsoft.com/office/powerpoint/2010/main" val="180088025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90424-91CD-5EC5-F14D-6FEFE122059E}"/>
              </a:ext>
            </a:extLst>
          </p:cNvPr>
          <p:cNvSpPr>
            <a:spLocks noGrp="1"/>
          </p:cNvSpPr>
          <p:nvPr>
            <p:ph type="title"/>
          </p:nvPr>
        </p:nvSpPr>
        <p:spPr/>
        <p:txBody>
          <a:bodyPr/>
          <a:lstStyle/>
          <a:p>
            <a:r>
              <a:rPr lang="en-US" dirty="0"/>
              <a:t>Network Traffic whiteboard (walkthrough)</a:t>
            </a:r>
          </a:p>
        </p:txBody>
      </p:sp>
      <p:sp>
        <p:nvSpPr>
          <p:cNvPr id="6" name="TextBox 5">
            <a:extLst>
              <a:ext uri="{FF2B5EF4-FFF2-40B4-BE49-F238E27FC236}">
                <a16:creationId xmlns:a16="http://schemas.microsoft.com/office/drawing/2014/main" id="{D5AFC2E1-4176-F3B1-2C7D-CFCCD7D44FF1}"/>
              </a:ext>
            </a:extLst>
          </p:cNvPr>
          <p:cNvSpPr txBox="1"/>
          <p:nvPr/>
        </p:nvSpPr>
        <p:spPr>
          <a:xfrm>
            <a:off x="238159" y="1760538"/>
            <a:ext cx="4291240" cy="2643528"/>
          </a:xfrm>
          <a:prstGeom prst="rect">
            <a:avLst/>
          </a:prstGeom>
          <a:noFill/>
        </p:spPr>
        <p:txBody>
          <a:bodyPr wrap="square" lIns="186521" tIns="149217" rIns="186521" bIns="149217" rtlCol="0">
            <a:spAutoFit/>
          </a:bodyPr>
          <a:lstStyle/>
          <a:p>
            <a:pPr marL="228292" indent="-228292" defTabSz="932597">
              <a:lnSpc>
                <a:spcPct val="90000"/>
              </a:lnSpc>
              <a:spcAft>
                <a:spcPts val="1224"/>
              </a:spcAft>
              <a:buFont typeface="Arial" panose="020B0604020202020204" pitchFamily="34" charset="0"/>
              <a:buChar char="•"/>
            </a:pPr>
            <a:r>
              <a:rPr lang="en-US" sz="2448" dirty="0">
                <a:solidFill>
                  <a:srgbClr val="000000"/>
                </a:solidFill>
                <a:latin typeface="Calibri" panose="020F0502020204030204" pitchFamily="34" charset="0"/>
                <a:ea typeface="Segoe UI" panose="020B0502040204020203" pitchFamily="34" charset="0"/>
                <a:cs typeface="Segoe UI (Body)"/>
              </a:rPr>
              <a:t>What is a load balancer and when should it be used?</a:t>
            </a:r>
          </a:p>
          <a:p>
            <a:pPr marL="228292" indent="-228292" defTabSz="932597">
              <a:lnSpc>
                <a:spcPct val="90000"/>
              </a:lnSpc>
              <a:spcAft>
                <a:spcPts val="1224"/>
              </a:spcAft>
              <a:buFont typeface="Arial" panose="020B0604020202020204" pitchFamily="34" charset="0"/>
              <a:buChar char="•"/>
            </a:pPr>
            <a:r>
              <a:rPr lang="en-US" sz="2448" dirty="0">
                <a:solidFill>
                  <a:srgbClr val="000000"/>
                </a:solidFill>
                <a:latin typeface="Calibri" panose="020F0502020204030204" pitchFamily="34" charset="0"/>
                <a:ea typeface="Segoe UI" panose="020B0502040204020203" pitchFamily="34" charset="0"/>
                <a:cs typeface="Segoe UI (Body)"/>
              </a:rPr>
              <a:t>What are the four types of Azure load balancers? Describe the differences.</a:t>
            </a:r>
          </a:p>
          <a:p>
            <a:pPr defTabSz="932597">
              <a:lnSpc>
                <a:spcPct val="90000"/>
              </a:lnSpc>
              <a:spcAft>
                <a:spcPts val="1224"/>
              </a:spcAft>
            </a:pPr>
            <a:endParaRPr lang="en-US" sz="2448" dirty="0">
              <a:solidFill>
                <a:srgbClr val="000000"/>
              </a:solidFill>
              <a:latin typeface="Segoe UI"/>
            </a:endParaRPr>
          </a:p>
        </p:txBody>
      </p:sp>
      <p:grpSp>
        <p:nvGrpSpPr>
          <p:cNvPr id="10" name="Group 9" descr="whiteboard diagram editable version">
            <a:extLst>
              <a:ext uri="{FF2B5EF4-FFF2-40B4-BE49-F238E27FC236}">
                <a16:creationId xmlns:a16="http://schemas.microsoft.com/office/drawing/2014/main" id="{2DD592E1-5E59-4E70-C504-6495F7253275}"/>
              </a:ext>
            </a:extLst>
          </p:cNvPr>
          <p:cNvGrpSpPr/>
          <p:nvPr/>
        </p:nvGrpSpPr>
        <p:grpSpPr>
          <a:xfrm>
            <a:off x="4852403" y="1555342"/>
            <a:ext cx="7274348" cy="3883841"/>
            <a:chOff x="5760902" y="2258959"/>
            <a:chExt cx="6274199" cy="3006376"/>
          </a:xfrm>
        </p:grpSpPr>
        <p:sp>
          <p:nvSpPr>
            <p:cNvPr id="27" name="Rectangle 26">
              <a:extLst>
                <a:ext uri="{FF2B5EF4-FFF2-40B4-BE49-F238E27FC236}">
                  <a16:creationId xmlns:a16="http://schemas.microsoft.com/office/drawing/2014/main" id="{E63C4B7F-E379-2823-956A-34A28CBC8243}"/>
                </a:ext>
              </a:extLst>
            </p:cNvPr>
            <p:cNvSpPr/>
            <p:nvPr/>
          </p:nvSpPr>
          <p:spPr bwMode="auto">
            <a:xfrm>
              <a:off x="5760902" y="2258959"/>
              <a:ext cx="3051875" cy="3006376"/>
            </a:xfrm>
            <a:prstGeom prst="rect">
              <a:avLst/>
            </a:prstGeom>
            <a:noFill/>
            <a:ln>
              <a:solidFill>
                <a:schemeClr val="tx1">
                  <a:lumMod val="95000"/>
                  <a:lumOff val="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dirty="0">
                <a:solidFill>
                  <a:srgbClr val="000000">
                    <a:lumMod val="50000"/>
                    <a:lumOff val="50000"/>
                  </a:srgbClr>
                </a:solidFill>
                <a:latin typeface="Segoe UI"/>
                <a:ea typeface="Segoe UI" pitchFamily="34" charset="0"/>
                <a:cs typeface="Segoe UI" pitchFamily="34" charset="0"/>
              </a:endParaRPr>
            </a:p>
          </p:txBody>
        </p:sp>
        <p:sp>
          <p:nvSpPr>
            <p:cNvPr id="28" name="Rectangle 27">
              <a:extLst>
                <a:ext uri="{FF2B5EF4-FFF2-40B4-BE49-F238E27FC236}">
                  <a16:creationId xmlns:a16="http://schemas.microsoft.com/office/drawing/2014/main" id="{A3137B7D-3527-6A40-9697-44371EB29766}"/>
                </a:ext>
              </a:extLst>
            </p:cNvPr>
            <p:cNvSpPr/>
            <p:nvPr/>
          </p:nvSpPr>
          <p:spPr bwMode="auto">
            <a:xfrm>
              <a:off x="8983226" y="2258959"/>
              <a:ext cx="3051875" cy="3006376"/>
            </a:xfrm>
            <a:prstGeom prst="rect">
              <a:avLst/>
            </a:prstGeom>
            <a:noFill/>
            <a:ln>
              <a:solidFill>
                <a:schemeClr val="tx1">
                  <a:lumMod val="95000"/>
                  <a:lumOff val="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dirty="0">
                <a:gradFill>
                  <a:gsLst>
                    <a:gs pos="0">
                      <a:srgbClr val="FFFFFF"/>
                    </a:gs>
                    <a:gs pos="100000">
                      <a:srgbClr val="FFFFFF"/>
                    </a:gs>
                  </a:gsLst>
                  <a:lin ang="5400000" scaled="0"/>
                </a:gradFill>
                <a:latin typeface="Segoe UI"/>
                <a:ea typeface="Segoe UI" pitchFamily="34" charset="0"/>
                <a:cs typeface="Segoe UI" pitchFamily="34" charset="0"/>
              </a:endParaRPr>
            </a:p>
          </p:txBody>
        </p:sp>
      </p:grpSp>
      <p:sp>
        <p:nvSpPr>
          <p:cNvPr id="9" name="Text Placeholder 2">
            <a:extLst>
              <a:ext uri="{FF2B5EF4-FFF2-40B4-BE49-F238E27FC236}">
                <a16:creationId xmlns:a16="http://schemas.microsoft.com/office/drawing/2014/main" id="{26B89B16-8613-D348-D3F8-0ADAB9FDE196}"/>
              </a:ext>
            </a:extLst>
          </p:cNvPr>
          <p:cNvSpPr txBox="1">
            <a:spLocks/>
          </p:cNvSpPr>
          <p:nvPr/>
        </p:nvSpPr>
        <p:spPr>
          <a:xfrm>
            <a:off x="4852403" y="5669678"/>
            <a:ext cx="7434370" cy="693737"/>
          </a:xfrm>
          <a:prstGeom prst="rect">
            <a:avLst/>
          </a:prstGeom>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defTabSz="932563"/>
            <a:r>
              <a:rPr lang="en-US" sz="2400" spc="-50" dirty="0">
                <a:latin typeface="Segoe UI Semibold"/>
              </a:rPr>
              <a:t>The portal provides a </a:t>
            </a:r>
            <a:r>
              <a:rPr lang="en-US" sz="2400" i="1" spc="-50" dirty="0">
                <a:latin typeface="Segoe UI Semibold"/>
              </a:rPr>
              <a:t>Help me Choose </a:t>
            </a:r>
            <a:r>
              <a:rPr lang="en-US" sz="2400" spc="-50" dirty="0">
                <a:latin typeface="Segoe UI Semibold"/>
              </a:rPr>
              <a:t>questionnaire</a:t>
            </a:r>
          </a:p>
        </p:txBody>
      </p:sp>
      <p:pic>
        <p:nvPicPr>
          <p:cNvPr id="3" name="Picture 2">
            <a:extLst>
              <a:ext uri="{FF2B5EF4-FFF2-40B4-BE49-F238E27FC236}">
                <a16:creationId xmlns:a16="http://schemas.microsoft.com/office/drawing/2014/main" id="{77410874-2E89-AB02-ACBE-2A4555C9A0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960893" y="1639436"/>
            <a:ext cx="3195998" cy="3743172"/>
          </a:xfrm>
          <a:prstGeom prst="rect">
            <a:avLst/>
          </a:prstGeom>
        </p:spPr>
      </p:pic>
      <p:pic>
        <p:nvPicPr>
          <p:cNvPr id="7" name="Picture 6">
            <a:extLst>
              <a:ext uri="{FF2B5EF4-FFF2-40B4-BE49-F238E27FC236}">
                <a16:creationId xmlns:a16="http://schemas.microsoft.com/office/drawing/2014/main" id="{67001522-02A9-20F9-905F-7323E551469B}"/>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743557" y="1639436"/>
            <a:ext cx="3227087" cy="3631251"/>
          </a:xfrm>
          <a:prstGeom prst="rect">
            <a:avLst/>
          </a:prstGeom>
        </p:spPr>
      </p:pic>
    </p:spTree>
    <p:extLst>
      <p:ext uri="{BB962C8B-B14F-4D97-AF65-F5344CB8AC3E}">
        <p14:creationId xmlns:p14="http://schemas.microsoft.com/office/powerpoint/2010/main" val="381333384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1340" y="3232160"/>
            <a:ext cx="6472474" cy="1130181"/>
          </a:xfrm>
        </p:spPr>
        <p:txBody>
          <a:bodyPr/>
          <a:lstStyle/>
          <a:p>
            <a:r>
              <a:rPr lang="en-US" dirty="0"/>
              <a:t>Introduction to Azure Load Balancer</a:t>
            </a:r>
          </a:p>
        </p:txBody>
      </p:sp>
    </p:spTree>
    <p:extLst>
      <p:ext uri="{BB962C8B-B14F-4D97-AF65-F5344CB8AC3E}">
        <p14:creationId xmlns:p14="http://schemas.microsoft.com/office/powerpoint/2010/main" val="2228867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8FD67-B9CE-464C-BEFD-D97DA798FC3B}"/>
              </a:ext>
            </a:extLst>
          </p:cNvPr>
          <p:cNvSpPr>
            <a:spLocks noGrp="1"/>
          </p:cNvSpPr>
          <p:nvPr>
            <p:ph type="title"/>
          </p:nvPr>
        </p:nvSpPr>
        <p:spPr/>
        <p:txBody>
          <a:bodyPr/>
          <a:lstStyle/>
          <a:p>
            <a:r>
              <a:rPr lang="en-US" dirty="0"/>
              <a:t>Learning Objectives – Introduction to Azure Load Balancer</a:t>
            </a:r>
          </a:p>
        </p:txBody>
      </p:sp>
      <p:sp>
        <p:nvSpPr>
          <p:cNvPr id="62" name="Rectangle 61">
            <a:extLst>
              <a:ext uri="{FF2B5EF4-FFF2-40B4-BE49-F238E27FC236}">
                <a16:creationId xmlns:a16="http://schemas.microsoft.com/office/drawing/2014/main" id="{6910DC23-E514-44C9-938A-8DB55BE61C8A}"/>
              </a:ext>
            </a:extLst>
          </p:cNvPr>
          <p:cNvSpPr/>
          <p:nvPr/>
        </p:nvSpPr>
        <p:spPr bwMode="auto">
          <a:xfrm>
            <a:off x="575642" y="1631840"/>
            <a:ext cx="5388478" cy="420064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342900" indent="-342900">
              <a:lnSpc>
                <a:spcPct val="150000"/>
              </a:lnSpc>
              <a:buFont typeface="Arial" panose="020B0604020202020204" pitchFamily="34" charset="0"/>
              <a:buChar char="•"/>
            </a:pPr>
            <a:r>
              <a:rPr lang="en-US" sz="2000" dirty="0">
                <a:solidFill>
                  <a:schemeClr val="tx1"/>
                </a:solidFill>
              </a:rPr>
              <a:t>Choose a Load Balancer Solution</a:t>
            </a:r>
          </a:p>
          <a:p>
            <a:pPr marL="342900" indent="-342900">
              <a:lnSpc>
                <a:spcPct val="150000"/>
              </a:lnSpc>
              <a:buFont typeface="Arial" panose="020B0604020202020204" pitchFamily="34" charset="0"/>
              <a:buChar char="•"/>
            </a:pPr>
            <a:r>
              <a:rPr lang="en-US" sz="2000" dirty="0">
                <a:solidFill>
                  <a:schemeClr val="tx1"/>
                </a:solidFill>
              </a:rPr>
              <a:t>Implement a Public Load Balancer</a:t>
            </a:r>
          </a:p>
          <a:p>
            <a:pPr marL="342900" indent="-342900">
              <a:lnSpc>
                <a:spcPct val="150000"/>
              </a:lnSpc>
              <a:buFont typeface="Arial" panose="020B0604020202020204" pitchFamily="34" charset="0"/>
              <a:buChar char="•"/>
            </a:pPr>
            <a:r>
              <a:rPr lang="en-US" sz="2000" dirty="0">
                <a:solidFill>
                  <a:schemeClr val="tx1"/>
                </a:solidFill>
              </a:rPr>
              <a:t>Implement an Internal Load Balancer</a:t>
            </a:r>
          </a:p>
          <a:p>
            <a:pPr marL="342900" indent="-342900">
              <a:lnSpc>
                <a:spcPct val="150000"/>
              </a:lnSpc>
              <a:buFont typeface="Arial" panose="020B0604020202020204" pitchFamily="34" charset="0"/>
              <a:buChar char="•"/>
            </a:pPr>
            <a:r>
              <a:rPr lang="en-US" sz="2000" dirty="0">
                <a:solidFill>
                  <a:schemeClr val="tx1"/>
                </a:solidFill>
              </a:rPr>
              <a:t>Determine Load Balancer SKUs</a:t>
            </a:r>
          </a:p>
          <a:p>
            <a:pPr marL="342900" indent="-342900">
              <a:lnSpc>
                <a:spcPct val="150000"/>
              </a:lnSpc>
              <a:buFont typeface="Arial" panose="020B0604020202020204" pitchFamily="34" charset="0"/>
              <a:buChar char="•"/>
            </a:pPr>
            <a:r>
              <a:rPr lang="en-US" sz="2000" dirty="0">
                <a:solidFill>
                  <a:schemeClr val="tx1"/>
                </a:solidFill>
              </a:rPr>
              <a:t>Create Load Balancer Rules</a:t>
            </a:r>
          </a:p>
          <a:p>
            <a:pPr marL="342900" indent="-342900">
              <a:lnSpc>
                <a:spcPct val="150000"/>
              </a:lnSpc>
              <a:buFont typeface="Arial" panose="020B0604020202020204" pitchFamily="34" charset="0"/>
              <a:buChar char="•"/>
            </a:pPr>
            <a:r>
              <a:rPr lang="en-US" sz="2000" dirty="0">
                <a:solidFill>
                  <a:schemeClr val="tx1"/>
                </a:solidFill>
              </a:rPr>
              <a:t>Demonstration – Configure a load balancer</a:t>
            </a:r>
          </a:p>
          <a:p>
            <a:pPr marL="342900" indent="-342900">
              <a:lnSpc>
                <a:spcPct val="150000"/>
              </a:lnSpc>
              <a:buFont typeface="Arial" panose="020B0604020202020204" pitchFamily="34" charset="0"/>
              <a:buChar char="•"/>
            </a:pPr>
            <a:r>
              <a:rPr lang="en-US" sz="2000" dirty="0">
                <a:solidFill>
                  <a:schemeClr val="tx1"/>
                </a:solidFill>
              </a:rPr>
              <a:t>Learning Recap</a:t>
            </a:r>
          </a:p>
          <a:p>
            <a:pPr marL="342900" indent="-342900">
              <a:lnSpc>
                <a:spcPct val="150000"/>
              </a:lnSpc>
              <a:buFont typeface="Arial" panose="020B0604020202020204" pitchFamily="34" charset="0"/>
              <a:buChar char="•"/>
            </a:pPr>
            <a:endParaRPr lang="en-US" sz="2000" dirty="0">
              <a:solidFill>
                <a:schemeClr val="tx1"/>
              </a:solidFill>
            </a:endParaRPr>
          </a:p>
        </p:txBody>
      </p:sp>
      <p:sp>
        <p:nvSpPr>
          <p:cNvPr id="4" name="TextBox 3">
            <a:extLst>
              <a:ext uri="{FF2B5EF4-FFF2-40B4-BE49-F238E27FC236}">
                <a16:creationId xmlns:a16="http://schemas.microsoft.com/office/drawing/2014/main" id="{34D293AE-3EEF-F84D-85DD-CD3E6D0553B1}"/>
              </a:ext>
            </a:extLst>
          </p:cNvPr>
          <p:cNvSpPr txBox="1"/>
          <p:nvPr/>
        </p:nvSpPr>
        <p:spPr>
          <a:xfrm>
            <a:off x="6472355" y="1716224"/>
            <a:ext cx="4605129" cy="2015936"/>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600"/>
              </a:spcAft>
              <a:buClrTx/>
              <a:buSzTx/>
              <a:buFontTx/>
              <a:buNone/>
              <a:tabLst/>
              <a:defRPr/>
            </a:pPr>
            <a:r>
              <a:rPr kumimoji="0" lang="en-US" sz="2000" b="0" i="0" u="none" strike="noStrike" kern="0" cap="none" spc="0" normalizeH="0" baseline="0" noProof="0" dirty="0">
                <a:ln>
                  <a:noFill/>
                </a:ln>
                <a:solidFill>
                  <a:srgbClr val="243A5E"/>
                </a:solidFill>
                <a:effectLst/>
                <a:uLnTx/>
                <a:uFillTx/>
              </a:rPr>
              <a:t>Implement and manage virtual networking (15–20%): Configure name resolution and load balancing</a:t>
            </a:r>
          </a:p>
          <a:p>
            <a:pPr marL="173038" marR="0" lvl="0" indent="-17303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rgbClr val="000000"/>
                </a:solidFill>
                <a:effectLst/>
                <a:uLnTx/>
                <a:uFillTx/>
              </a:rPr>
              <a:t>Configure an internal or public load balancer</a:t>
            </a:r>
          </a:p>
          <a:p>
            <a:pPr marL="173038" marR="0" lvl="0" indent="-17303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kern="0" dirty="0">
                <a:solidFill>
                  <a:srgbClr val="000000"/>
                </a:solidFill>
              </a:rPr>
              <a:t>Troubleshoot load balancing</a:t>
            </a:r>
            <a:endParaRPr kumimoji="0" lang="en-US" sz="20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120256031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09D50C1-E47B-4BFE-AC7D-9223F97643F8}"/>
              </a:ext>
            </a:extLst>
          </p:cNvPr>
          <p:cNvSpPr>
            <a:spLocks noGrp="1"/>
          </p:cNvSpPr>
          <p:nvPr>
            <p:ph type="title"/>
          </p:nvPr>
        </p:nvSpPr>
        <p:spPr/>
        <p:txBody>
          <a:bodyPr/>
          <a:lstStyle/>
          <a:p>
            <a:r>
              <a:rPr lang="en-US" dirty="0"/>
              <a:t>Choose a Load Balancer Solution</a:t>
            </a:r>
          </a:p>
        </p:txBody>
      </p:sp>
      <p:graphicFrame>
        <p:nvGraphicFramePr>
          <p:cNvPr id="6" name="Table 2">
            <a:extLst>
              <a:ext uri="{FF2B5EF4-FFF2-40B4-BE49-F238E27FC236}">
                <a16:creationId xmlns:a16="http://schemas.microsoft.com/office/drawing/2014/main" id="{08D0FB5A-8529-479F-B080-1074B28AA862}"/>
              </a:ext>
            </a:extLst>
          </p:cNvPr>
          <p:cNvGraphicFramePr>
            <a:graphicFrameLocks noGrp="1"/>
          </p:cNvGraphicFramePr>
          <p:nvPr>
            <p:extLst>
              <p:ext uri="{D42A27DB-BD31-4B8C-83A1-F6EECF244321}">
                <p14:modId xmlns:p14="http://schemas.microsoft.com/office/powerpoint/2010/main" val="1603697009"/>
              </p:ext>
            </p:extLst>
          </p:nvPr>
        </p:nvGraphicFramePr>
        <p:xfrm>
          <a:off x="579688" y="1352349"/>
          <a:ext cx="11418639" cy="4495800"/>
        </p:xfrm>
        <a:graphic>
          <a:graphicData uri="http://schemas.openxmlformats.org/drawingml/2006/table">
            <a:tbl>
              <a:tblPr firstRow="1" bandRow="1">
                <a:tableStyleId>{00A15C55-8517-42AA-B614-E9B94910E393}</a:tableStyleId>
              </a:tblPr>
              <a:tblGrid>
                <a:gridCol w="1206975">
                  <a:extLst>
                    <a:ext uri="{9D8B030D-6E8A-4147-A177-3AD203B41FA5}">
                      <a16:colId xmlns:a16="http://schemas.microsoft.com/office/drawing/2014/main" val="828115051"/>
                    </a:ext>
                  </a:extLst>
                </a:gridCol>
                <a:gridCol w="2552916">
                  <a:extLst>
                    <a:ext uri="{9D8B030D-6E8A-4147-A177-3AD203B41FA5}">
                      <a16:colId xmlns:a16="http://schemas.microsoft.com/office/drawing/2014/main" val="2036691416"/>
                    </a:ext>
                  </a:extLst>
                </a:gridCol>
                <a:gridCol w="2552916">
                  <a:extLst>
                    <a:ext uri="{9D8B030D-6E8A-4147-A177-3AD203B41FA5}">
                      <a16:colId xmlns:a16="http://schemas.microsoft.com/office/drawing/2014/main" val="3335721742"/>
                    </a:ext>
                  </a:extLst>
                </a:gridCol>
                <a:gridCol w="2552916">
                  <a:extLst>
                    <a:ext uri="{9D8B030D-6E8A-4147-A177-3AD203B41FA5}">
                      <a16:colId xmlns:a16="http://schemas.microsoft.com/office/drawing/2014/main" val="405673769"/>
                    </a:ext>
                  </a:extLst>
                </a:gridCol>
                <a:gridCol w="2552916">
                  <a:extLst>
                    <a:ext uri="{9D8B030D-6E8A-4147-A177-3AD203B41FA5}">
                      <a16:colId xmlns:a16="http://schemas.microsoft.com/office/drawing/2014/main" val="2661881332"/>
                    </a:ext>
                  </a:extLst>
                </a:gridCol>
              </a:tblGrid>
              <a:tr h="333947">
                <a:tc>
                  <a:txBody>
                    <a:bodyPr/>
                    <a:lstStyle/>
                    <a:p>
                      <a:pPr algn="ctr"/>
                      <a:r>
                        <a:rPr lang="en-US" dirty="0"/>
                        <a:t>Feature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2">
                        <a:lumMod val="50000"/>
                      </a:schemeClr>
                    </a:solidFill>
                  </a:tcPr>
                </a:tc>
                <a:tc>
                  <a:txBody>
                    <a:bodyPr/>
                    <a:lstStyle/>
                    <a:p>
                      <a:pPr algn="ctr"/>
                      <a:r>
                        <a:rPr lang="en-US" dirty="0">
                          <a:solidFill>
                            <a:schemeClr val="tx1"/>
                          </a:solidFill>
                        </a:rPr>
                        <a:t>Application Gateway</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2">
                        <a:lumMod val="20000"/>
                        <a:lumOff val="80000"/>
                      </a:schemeClr>
                    </a:solidFill>
                  </a:tcPr>
                </a:tc>
                <a:tc>
                  <a:txBody>
                    <a:bodyPr/>
                    <a:lstStyle/>
                    <a:p>
                      <a:pPr algn="ctr"/>
                      <a:r>
                        <a:rPr lang="en-US" dirty="0"/>
                        <a:t>Front Door</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2">
                        <a:lumMod val="50000"/>
                      </a:schemeClr>
                    </a:solidFill>
                  </a:tcPr>
                </a:tc>
                <a:tc>
                  <a:txBody>
                    <a:bodyPr/>
                    <a:lstStyle/>
                    <a:p>
                      <a:pPr algn="ctr"/>
                      <a:r>
                        <a:rPr lang="en-US" dirty="0">
                          <a:solidFill>
                            <a:schemeClr val="tx1"/>
                          </a:solidFill>
                        </a:rPr>
                        <a:t>Load Balancer</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2">
                        <a:lumMod val="20000"/>
                        <a:lumOff val="80000"/>
                      </a:schemeClr>
                    </a:solidFill>
                  </a:tcPr>
                </a:tc>
                <a:tc>
                  <a:txBody>
                    <a:bodyPr/>
                    <a:lstStyle/>
                    <a:p>
                      <a:pPr algn="ctr"/>
                      <a:r>
                        <a:rPr lang="en-US" dirty="0"/>
                        <a:t>Traffic Manager</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2">
                        <a:lumMod val="50000"/>
                      </a:schemeClr>
                    </a:solidFill>
                  </a:tcPr>
                </a:tc>
                <a:extLst>
                  <a:ext uri="{0D108BD9-81ED-4DB2-BD59-A6C34878D82A}">
                    <a16:rowId xmlns:a16="http://schemas.microsoft.com/office/drawing/2014/main" val="1009128339"/>
                  </a:ext>
                </a:extLst>
              </a:tr>
              <a:tr h="370840">
                <a:tc>
                  <a:txBody>
                    <a:bodyPr/>
                    <a:lstStyle/>
                    <a:p>
                      <a:r>
                        <a:rPr lang="en-US" b="0" dirty="0"/>
                        <a:t>Usage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800" b="0" i="0" kern="1200" dirty="0">
                          <a:solidFill>
                            <a:schemeClr val="dk1"/>
                          </a:solidFill>
                          <a:effectLst/>
                          <a:latin typeface="+mn-lt"/>
                          <a:ea typeface="+mn-ea"/>
                          <a:cs typeface="+mn-cs"/>
                        </a:rPr>
                        <a:t>Optimize delivery from application server farms while increasing application security with web application firewall.</a:t>
                      </a:r>
                      <a:endParaRPr lang="en-US" b="0"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800" b="0" i="0" kern="1200" dirty="0">
                          <a:solidFill>
                            <a:schemeClr val="dk1"/>
                          </a:solidFill>
                          <a:effectLst/>
                          <a:latin typeface="+mn-lt"/>
                          <a:ea typeface="+mn-ea"/>
                          <a:cs typeface="+mn-cs"/>
                        </a:rPr>
                        <a:t>Scalable, security-enhanced delivery point for global, micro service-based web applications.</a:t>
                      </a:r>
                      <a:endParaRPr lang="en-US" b="0"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800" b="0" i="0" kern="1200" dirty="0">
                          <a:solidFill>
                            <a:schemeClr val="dk1"/>
                          </a:solidFill>
                          <a:effectLst/>
                          <a:latin typeface="+mn-lt"/>
                          <a:ea typeface="+mn-ea"/>
                          <a:cs typeface="+mn-cs"/>
                        </a:rPr>
                        <a:t>Balance inbound and outbound connections and requests to your applications or server endpoints.</a:t>
                      </a:r>
                      <a:endParaRPr lang="en-US" b="0"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800" b="0" i="0" kern="1200" dirty="0">
                          <a:solidFill>
                            <a:schemeClr val="dk1"/>
                          </a:solidFill>
                          <a:effectLst/>
                          <a:latin typeface="+mn-lt"/>
                          <a:ea typeface="+mn-ea"/>
                          <a:cs typeface="+mn-cs"/>
                        </a:rPr>
                        <a:t>Distribute traffic to services across global Azure regions, while providing high availability and responsiveness.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01834156"/>
                  </a:ext>
                </a:extLst>
              </a:tr>
              <a:tr h="370840">
                <a:tc>
                  <a:txBody>
                    <a:bodyPr/>
                    <a:lstStyle/>
                    <a:p>
                      <a:r>
                        <a:rPr lang="en-US" dirty="0"/>
                        <a:t>Protocols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1800" b="0" i="0" kern="1200" dirty="0">
                          <a:solidFill>
                            <a:schemeClr val="dk1"/>
                          </a:solidFill>
                          <a:effectLst/>
                          <a:latin typeface="+mn-lt"/>
                          <a:ea typeface="+mn-ea"/>
                          <a:cs typeface="+mn-cs"/>
                        </a:rPr>
                        <a:t>HTTP, HTTPS, HTTP2</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b="0" i="0" kern="1200" dirty="0">
                          <a:solidFill>
                            <a:schemeClr val="dk1"/>
                          </a:solidFill>
                          <a:effectLst/>
                          <a:latin typeface="+mn-lt"/>
                          <a:ea typeface="+mn-ea"/>
                          <a:cs typeface="+mn-cs"/>
                        </a:rPr>
                        <a:t>HTTP, HTTPS, HTTP2</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b="0" i="0" kern="1200" dirty="0">
                          <a:solidFill>
                            <a:schemeClr val="dk1"/>
                          </a:solidFill>
                          <a:effectLst/>
                          <a:latin typeface="+mn-lt"/>
                          <a:ea typeface="+mn-ea"/>
                          <a:cs typeface="+mn-cs"/>
                        </a:rPr>
                        <a:t>TCP, UDP</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t>Any</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4354189"/>
                  </a:ext>
                </a:extLst>
              </a:tr>
              <a:tr h="370840">
                <a:tc>
                  <a:txBody>
                    <a:bodyPr/>
                    <a:lstStyle/>
                    <a:p>
                      <a:r>
                        <a:rPr lang="en-US" dirty="0"/>
                        <a:t>Private (regional)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dirty="0"/>
                        <a:t>Yes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t>Yes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14921975"/>
                  </a:ext>
                </a:extLst>
              </a:tr>
              <a:tr h="370840">
                <a:tc>
                  <a:txBody>
                    <a:bodyPr/>
                    <a:lstStyle/>
                    <a:p>
                      <a:r>
                        <a:rPr lang="en-US" dirty="0"/>
                        <a:t>Global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fontAlgn="t"/>
                      <a:endParaRPr lang="en-US" dirty="0">
                        <a:effectLs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t>Yes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t>Yes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3307403"/>
                  </a:ext>
                </a:extLst>
              </a:tr>
              <a:tr h="370840">
                <a:tc>
                  <a:txBody>
                    <a:bodyPr/>
                    <a:lstStyle/>
                    <a:p>
                      <a:r>
                        <a:rPr lang="en-US" dirty="0"/>
                        <a:t>Env</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1800" b="0" i="0" kern="1200" dirty="0">
                          <a:solidFill>
                            <a:schemeClr val="dk1"/>
                          </a:solidFill>
                          <a:effectLst/>
                          <a:latin typeface="+mn-lt"/>
                          <a:ea typeface="+mn-ea"/>
                          <a:cs typeface="+mn-cs"/>
                        </a:rPr>
                        <a:t>Azure, non-Azure cloud, on premises</a:t>
                      </a:r>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b="0" i="0" kern="1200" dirty="0">
                          <a:solidFill>
                            <a:schemeClr val="dk1"/>
                          </a:solidFill>
                          <a:effectLst/>
                          <a:latin typeface="+mn-lt"/>
                          <a:ea typeface="+mn-ea"/>
                          <a:cs typeface="+mn-cs"/>
                        </a:rPr>
                        <a:t>Azure, non-Azure cloud, on premises</a:t>
                      </a:r>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t>Azure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b="0" i="0" kern="1200" dirty="0">
                          <a:solidFill>
                            <a:schemeClr val="dk1"/>
                          </a:solidFill>
                          <a:effectLst/>
                          <a:latin typeface="+mn-lt"/>
                          <a:ea typeface="+mn-ea"/>
                          <a:cs typeface="+mn-cs"/>
                        </a:rPr>
                        <a:t>Azure, non-Azure cloud, on premises</a:t>
                      </a:r>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71377115"/>
                  </a:ext>
                </a:extLst>
              </a:tr>
              <a:tr h="370840">
                <a:tc>
                  <a:txBody>
                    <a:bodyPr/>
                    <a:lstStyle/>
                    <a:p>
                      <a:r>
                        <a:rPr lang="en-US" dirty="0"/>
                        <a:t>Security</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dirty="0"/>
                        <a:t>WAF</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t>WAF, NSG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t>NSG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04432760"/>
                  </a:ext>
                </a:extLst>
              </a:tr>
            </a:tbl>
          </a:graphicData>
        </a:graphic>
      </p:graphicFrame>
    </p:spTree>
    <p:extLst>
      <p:ext uri="{BB962C8B-B14F-4D97-AF65-F5344CB8AC3E}">
        <p14:creationId xmlns:p14="http://schemas.microsoft.com/office/powerpoint/2010/main" val="392288330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Implement a Public Load Balancer</a:t>
            </a:r>
          </a:p>
        </p:txBody>
      </p:sp>
      <p:sp>
        <p:nvSpPr>
          <p:cNvPr id="4" name="Rectangle 3">
            <a:extLst>
              <a:ext uri="{FF2B5EF4-FFF2-40B4-BE49-F238E27FC236}">
                <a16:creationId xmlns:a16="http://schemas.microsoft.com/office/drawing/2014/main" id="{B9E1D0C8-3094-4534-893D-C266A73D719A}"/>
              </a:ext>
            </a:extLst>
          </p:cNvPr>
          <p:cNvSpPr/>
          <p:nvPr/>
        </p:nvSpPr>
        <p:spPr>
          <a:xfrm>
            <a:off x="402416" y="2038608"/>
            <a:ext cx="4789014" cy="2700219"/>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marL="342900" indent="-342900">
              <a:spcAft>
                <a:spcPts val="600"/>
              </a:spcAft>
              <a:buFont typeface="Arial" panose="020B0604020202020204" pitchFamily="34" charset="0"/>
              <a:buChar char="•"/>
            </a:pPr>
            <a:r>
              <a:rPr lang="en-US" sz="2000" dirty="0">
                <a:solidFill>
                  <a:schemeClr val="tx1"/>
                </a:solidFill>
              </a:rPr>
              <a:t>Maps public IP addresses and port number of incoming traffic to the VM’s private IP address and port number, and vice versa</a:t>
            </a:r>
          </a:p>
          <a:p>
            <a:pPr marL="342900" indent="-342900">
              <a:spcAft>
                <a:spcPts val="600"/>
              </a:spcAft>
              <a:buFont typeface="Arial" panose="020B0604020202020204" pitchFamily="34" charset="0"/>
              <a:buChar char="•"/>
            </a:pPr>
            <a:r>
              <a:rPr lang="en-US" sz="2000" dirty="0">
                <a:solidFill>
                  <a:schemeClr val="tx1"/>
                </a:solidFill>
              </a:rPr>
              <a:t>Apply load balancing rules to distribute traffic across VMs or services</a:t>
            </a:r>
          </a:p>
          <a:p>
            <a:pPr marL="342900" indent="-342900">
              <a:spcAft>
                <a:spcPts val="600"/>
              </a:spcAft>
              <a:buFont typeface="Arial" panose="020B0604020202020204" pitchFamily="34" charset="0"/>
              <a:buChar char="•"/>
            </a:pPr>
            <a:endParaRPr lang="en-US" sz="2000" dirty="0">
              <a:solidFill>
                <a:schemeClr val="tx1"/>
              </a:solidFill>
            </a:endParaRPr>
          </a:p>
        </p:txBody>
      </p:sp>
      <p:pic>
        <p:nvPicPr>
          <p:cNvPr id="7" name="Picture 6" descr="Diagram showing how public load balancer works. Incoming requests on port 80 are sent to  the public load balancer. The LB sends requests on port 80 to three VMs in the web tier subnet">
            <a:extLst>
              <a:ext uri="{FF2B5EF4-FFF2-40B4-BE49-F238E27FC236}">
                <a16:creationId xmlns:a16="http://schemas.microsoft.com/office/drawing/2014/main" id="{33A77C5B-66DC-4DFD-A4BE-5642C631CC50}"/>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5765091" y="1397477"/>
            <a:ext cx="5656970" cy="3663175"/>
          </a:xfrm>
          <a:prstGeom prst="rect">
            <a:avLst/>
          </a:prstGeom>
          <a:noFill/>
          <a:ln>
            <a:noFill/>
          </a:ln>
        </p:spPr>
      </p:pic>
    </p:spTree>
    <p:extLst>
      <p:ext uri="{BB962C8B-B14F-4D97-AF65-F5344CB8AC3E}">
        <p14:creationId xmlns:p14="http://schemas.microsoft.com/office/powerpoint/2010/main" val="3505764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Implement an Internal Load Balancer</a:t>
            </a:r>
          </a:p>
        </p:txBody>
      </p:sp>
      <p:sp>
        <p:nvSpPr>
          <p:cNvPr id="4" name="Rectangle 3">
            <a:extLst>
              <a:ext uri="{FF2B5EF4-FFF2-40B4-BE49-F238E27FC236}">
                <a16:creationId xmlns:a16="http://schemas.microsoft.com/office/drawing/2014/main" id="{29C81A2B-B710-47EE-A3D3-05BC3F161E97}"/>
              </a:ext>
            </a:extLst>
          </p:cNvPr>
          <p:cNvSpPr/>
          <p:nvPr/>
        </p:nvSpPr>
        <p:spPr>
          <a:xfrm>
            <a:off x="436562" y="1400645"/>
            <a:ext cx="4678490" cy="1386542"/>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rPr>
              <a:t>Directs traffic only to resources inside a virtual network or that use a VPN to access Azure infrastructure</a:t>
            </a:r>
          </a:p>
        </p:txBody>
      </p:sp>
      <p:sp>
        <p:nvSpPr>
          <p:cNvPr id="5" name="Rectangle 4">
            <a:extLst>
              <a:ext uri="{FF2B5EF4-FFF2-40B4-BE49-F238E27FC236}">
                <a16:creationId xmlns:a16="http://schemas.microsoft.com/office/drawing/2014/main" id="{26C8C970-DBB5-4B3F-8673-A6E46380EFBB}"/>
              </a:ext>
            </a:extLst>
          </p:cNvPr>
          <p:cNvSpPr/>
          <p:nvPr/>
        </p:nvSpPr>
        <p:spPr>
          <a:xfrm>
            <a:off x="436562" y="2912533"/>
            <a:ext cx="4678490" cy="1386542"/>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nSpc>
                <a:spcPct val="90000"/>
              </a:lnSpc>
              <a:spcAft>
                <a:spcPts val="600"/>
              </a:spcAft>
            </a:pPr>
            <a:r>
              <a:rPr lang="en-US" sz="2000" dirty="0">
                <a:solidFill>
                  <a:schemeClr val="tx1"/>
                </a:solidFill>
              </a:rPr>
              <a:t>Frontend IP addresses and virtual networks are never directly exposed to an internet endpoint</a:t>
            </a:r>
          </a:p>
          <a:p>
            <a:endParaRPr lang="en-US" sz="2000" dirty="0">
              <a:solidFill>
                <a:schemeClr val="tx1"/>
              </a:solidFill>
            </a:endParaRPr>
          </a:p>
        </p:txBody>
      </p:sp>
      <p:sp>
        <p:nvSpPr>
          <p:cNvPr id="6" name="Rectangle 5">
            <a:extLst>
              <a:ext uri="{FF2B5EF4-FFF2-40B4-BE49-F238E27FC236}">
                <a16:creationId xmlns:a16="http://schemas.microsoft.com/office/drawing/2014/main" id="{D19C102E-2B68-4980-86F8-3FFBCF4FD39B}"/>
              </a:ext>
            </a:extLst>
          </p:cNvPr>
          <p:cNvSpPr/>
          <p:nvPr/>
        </p:nvSpPr>
        <p:spPr>
          <a:xfrm>
            <a:off x="436562" y="4506355"/>
            <a:ext cx="4678490" cy="1742502"/>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rPr>
              <a:t>Enables load balancing within a virtual network, for cross-premises virtual networks, for multi-tier applications, and for line-of-business applications</a:t>
            </a:r>
          </a:p>
          <a:p>
            <a:endParaRPr lang="en-US" sz="2000" dirty="0">
              <a:solidFill>
                <a:schemeClr val="tx1"/>
              </a:solidFill>
            </a:endParaRPr>
          </a:p>
        </p:txBody>
      </p:sp>
      <p:pic>
        <p:nvPicPr>
          <p:cNvPr id="8" name="Picture 7" descr="Diagram showing how an internal load balancer works. Three VMs are shown going through a load balancer to access SQL servers in the database tier subnet. The SQL servers are responding on port 1443">
            <a:extLst>
              <a:ext uri="{FF2B5EF4-FFF2-40B4-BE49-F238E27FC236}">
                <a16:creationId xmlns:a16="http://schemas.microsoft.com/office/drawing/2014/main" id="{D63E445B-D49D-48C0-BE3F-FF286C427B70}"/>
              </a:ext>
            </a:extLst>
          </p:cNvPr>
          <p:cNvPicPr>
            <a:picLocks noChangeAspect="1"/>
          </p:cNvPicPr>
          <p:nvPr/>
        </p:nvPicPr>
        <p:blipFill>
          <a:blip r:embed="rId3"/>
          <a:stretch>
            <a:fillRect/>
          </a:stretch>
        </p:blipFill>
        <p:spPr>
          <a:xfrm>
            <a:off x="5837237" y="1438592"/>
            <a:ext cx="5848350" cy="4676775"/>
          </a:xfrm>
          <a:prstGeom prst="rect">
            <a:avLst/>
          </a:prstGeom>
        </p:spPr>
      </p:pic>
    </p:spTree>
    <p:extLst>
      <p:ext uri="{BB962C8B-B14F-4D97-AF65-F5344CB8AC3E}">
        <p14:creationId xmlns:p14="http://schemas.microsoft.com/office/powerpoint/2010/main" val="3050714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Determine Load Balancer SKU</a:t>
            </a:r>
          </a:p>
        </p:txBody>
      </p:sp>
      <p:graphicFrame>
        <p:nvGraphicFramePr>
          <p:cNvPr id="2" name="Table 2">
            <a:extLst>
              <a:ext uri="{FF2B5EF4-FFF2-40B4-BE49-F238E27FC236}">
                <a16:creationId xmlns:a16="http://schemas.microsoft.com/office/drawing/2014/main" id="{E0A57C7C-4FD0-44D9-AF5B-5AF5E4ACEDF9}"/>
              </a:ext>
            </a:extLst>
          </p:cNvPr>
          <p:cNvGraphicFramePr>
            <a:graphicFrameLocks noGrp="1"/>
          </p:cNvGraphicFramePr>
          <p:nvPr>
            <p:extLst>
              <p:ext uri="{D42A27DB-BD31-4B8C-83A1-F6EECF244321}">
                <p14:modId xmlns:p14="http://schemas.microsoft.com/office/powerpoint/2010/main" val="254917795"/>
              </p:ext>
            </p:extLst>
          </p:nvPr>
        </p:nvGraphicFramePr>
        <p:xfrm>
          <a:off x="5818909" y="1293336"/>
          <a:ext cx="6441043" cy="4332062"/>
        </p:xfrm>
        <a:graphic>
          <a:graphicData uri="http://schemas.openxmlformats.org/drawingml/2006/table">
            <a:tbl>
              <a:tblPr firstRow="1" bandRow="1">
                <a:tableStyleId>{00A15C55-8517-42AA-B614-E9B94910E393}</a:tableStyleId>
              </a:tblPr>
              <a:tblGrid>
                <a:gridCol w="2795838">
                  <a:extLst>
                    <a:ext uri="{9D8B030D-6E8A-4147-A177-3AD203B41FA5}">
                      <a16:colId xmlns:a16="http://schemas.microsoft.com/office/drawing/2014/main" val="828115051"/>
                    </a:ext>
                  </a:extLst>
                </a:gridCol>
                <a:gridCol w="3645205">
                  <a:extLst>
                    <a:ext uri="{9D8B030D-6E8A-4147-A177-3AD203B41FA5}">
                      <a16:colId xmlns:a16="http://schemas.microsoft.com/office/drawing/2014/main" val="3335721742"/>
                    </a:ext>
                  </a:extLst>
                </a:gridCol>
              </a:tblGrid>
              <a:tr h="392445">
                <a:tc>
                  <a:txBody>
                    <a:bodyPr/>
                    <a:lstStyle/>
                    <a:p>
                      <a:pPr algn="ctr"/>
                      <a:r>
                        <a:rPr lang="en-US" dirty="0"/>
                        <a:t>Feature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2">
                        <a:lumMod val="50000"/>
                      </a:schemeClr>
                    </a:solidFill>
                  </a:tcPr>
                </a:tc>
                <a:tc>
                  <a:txBody>
                    <a:bodyPr/>
                    <a:lstStyle/>
                    <a:p>
                      <a:pPr algn="ctr"/>
                      <a:r>
                        <a:rPr lang="en-US" dirty="0">
                          <a:solidFill>
                            <a:schemeClr val="tx1"/>
                          </a:solidFill>
                        </a:rPr>
                        <a:t>Standard Load Balancer</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9128339"/>
                  </a:ext>
                </a:extLst>
              </a:tr>
              <a:tr h="686779">
                <a:tc>
                  <a:txBody>
                    <a:bodyPr/>
                    <a:lstStyle/>
                    <a:p>
                      <a:r>
                        <a:rPr lang="en-US" dirty="0"/>
                        <a:t>Scenario</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800" b="0" i="0" kern="1200" dirty="0">
                          <a:solidFill>
                            <a:schemeClr val="dk1"/>
                          </a:solidFill>
                          <a:effectLst/>
                          <a:latin typeface="+mn-lt"/>
                          <a:ea typeface="+mn-ea"/>
                          <a:cs typeface="+mn-cs"/>
                        </a:rPr>
                        <a:t>High performance, ultra-low latency, and high resiliency</a:t>
                      </a:r>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01834156"/>
                  </a:ext>
                </a:extLst>
              </a:tr>
              <a:tr h="505722">
                <a:tc>
                  <a:txBody>
                    <a:bodyPr/>
                    <a:lstStyle/>
                    <a:p>
                      <a:r>
                        <a:rPr lang="en-US" dirty="0"/>
                        <a:t>Type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dirty="0"/>
                        <a:t>Internal or public</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4354189"/>
                  </a:ext>
                </a:extLst>
              </a:tr>
              <a:tr h="686779">
                <a:tc>
                  <a:txBody>
                    <a:bodyPr/>
                    <a:lstStyle/>
                    <a:p>
                      <a:r>
                        <a:rPr lang="en-US" dirty="0"/>
                        <a:t>Backend type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800" b="0" i="0" kern="1200" dirty="0">
                          <a:solidFill>
                            <a:schemeClr val="dk1"/>
                          </a:solidFill>
                          <a:effectLst/>
                          <a:latin typeface="+mn-lt"/>
                          <a:ea typeface="+mn-ea"/>
                          <a:cs typeface="+mn-cs"/>
                        </a:rPr>
                        <a:t>IP based or NIC based</a:t>
                      </a:r>
                      <a:endParaRPr lang="en-US"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14921975"/>
                  </a:ext>
                </a:extLst>
              </a:tr>
              <a:tr h="686779">
                <a:tc>
                  <a:txBody>
                    <a:bodyPr/>
                    <a:lstStyle/>
                    <a:p>
                      <a:r>
                        <a:rPr lang="en-US" dirty="0"/>
                        <a:t>Multiple frontends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dirty="0"/>
                        <a:t>Inbound and outbound</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3307403"/>
                  </a:ext>
                </a:extLst>
              </a:tr>
              <a:tr h="686779">
                <a:tc>
                  <a:txBody>
                    <a:bodyPr/>
                    <a:lstStyle/>
                    <a:p>
                      <a:r>
                        <a:rPr lang="en-US" dirty="0"/>
                        <a:t>Health probes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800" b="0" i="0" kern="1200" dirty="0">
                          <a:solidFill>
                            <a:schemeClr val="dk1"/>
                          </a:solidFill>
                          <a:effectLst/>
                          <a:latin typeface="+mn-lt"/>
                          <a:ea typeface="+mn-ea"/>
                          <a:cs typeface="+mn-cs"/>
                        </a:rPr>
                        <a:t>TCP, HTTP, HTTPS</a:t>
                      </a:r>
                      <a:endParaRPr lang="en-US" dirty="0"/>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71377115"/>
                  </a:ext>
                </a:extLst>
              </a:tr>
              <a:tr h="686779">
                <a:tc>
                  <a:txBody>
                    <a:bodyPr/>
                    <a:lstStyle/>
                    <a:p>
                      <a:r>
                        <a:rPr lang="en-US" dirty="0"/>
                        <a:t>SLA</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dirty="0"/>
                        <a:t>99.99%</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04432760"/>
                  </a:ext>
                </a:extLst>
              </a:tr>
            </a:tbl>
          </a:graphicData>
        </a:graphic>
      </p:graphicFrame>
      <p:pic>
        <p:nvPicPr>
          <p:cNvPr id="4" name="Picture 3">
            <a:extLst>
              <a:ext uri="{FF2B5EF4-FFF2-40B4-BE49-F238E27FC236}">
                <a16:creationId xmlns:a16="http://schemas.microsoft.com/office/drawing/2014/main" id="{D4CB6B2F-2935-9151-3E8A-A128863D098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65138" y="1552379"/>
            <a:ext cx="4677428" cy="4077269"/>
          </a:xfrm>
          <a:prstGeom prst="rect">
            <a:avLst/>
          </a:prstGeom>
          <a:ln>
            <a:solidFill>
              <a:schemeClr val="bg2">
                <a:lumMod val="85000"/>
              </a:schemeClr>
            </a:solidFill>
          </a:ln>
        </p:spPr>
      </p:pic>
      <p:sp>
        <p:nvSpPr>
          <p:cNvPr id="5" name="Arrow: Right 4">
            <a:extLst>
              <a:ext uri="{FF2B5EF4-FFF2-40B4-BE49-F238E27FC236}">
                <a16:creationId xmlns:a16="http://schemas.microsoft.com/office/drawing/2014/main" id="{7D45AA63-C433-B131-A7E0-6F05A790EDF4}"/>
              </a:ext>
              <a:ext uri="{C183D7F6-B498-43B3-948B-1728B52AA6E4}">
                <adec:decorative xmlns:adec="http://schemas.microsoft.com/office/drawing/2017/decorative" val="1"/>
              </a:ext>
            </a:extLst>
          </p:cNvPr>
          <p:cNvSpPr/>
          <p:nvPr/>
        </p:nvSpPr>
        <p:spPr bwMode="auto">
          <a:xfrm>
            <a:off x="561109" y="3595255"/>
            <a:ext cx="4914900" cy="509153"/>
          </a:xfrm>
          <a:prstGeom prst="rightArrow">
            <a:avLst/>
          </a:prstGeom>
          <a:noFill/>
          <a:ln w="15875">
            <a:solidFill>
              <a:srgbClr val="C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164203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71CA3-E900-E498-2832-5442480AD1C8}"/>
              </a:ext>
            </a:extLst>
          </p:cNvPr>
          <p:cNvSpPr>
            <a:spLocks noGrp="1"/>
          </p:cNvSpPr>
          <p:nvPr>
            <p:ph type="title"/>
          </p:nvPr>
        </p:nvSpPr>
        <p:spPr/>
        <p:txBody>
          <a:bodyPr/>
          <a:lstStyle/>
          <a:p>
            <a:r>
              <a:rPr lang="en-US" dirty="0"/>
              <a:t>Create load balancer rules</a:t>
            </a:r>
          </a:p>
        </p:txBody>
      </p:sp>
      <p:pic>
        <p:nvPicPr>
          <p:cNvPr id="1026" name="Picture 2" descr="Diagram that depicts how load balancer rules work in Azure Load Balancer.">
            <a:extLst>
              <a:ext uri="{FF2B5EF4-FFF2-40B4-BE49-F238E27FC236}">
                <a16:creationId xmlns:a16="http://schemas.microsoft.com/office/drawing/2014/main" id="{EF4F9012-2AB5-3165-C81F-216B008425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5238" y="1391921"/>
            <a:ext cx="8383832" cy="245872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747302A4-11B1-E561-54CC-71CE3136265F}"/>
              </a:ext>
            </a:extLst>
          </p:cNvPr>
          <p:cNvSpPr/>
          <p:nvPr/>
        </p:nvSpPr>
        <p:spPr>
          <a:xfrm>
            <a:off x="376555" y="4198621"/>
            <a:ext cx="3749040" cy="164337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000" dirty="0">
                <a:solidFill>
                  <a:schemeClr val="tx1"/>
                </a:solidFill>
              </a:rPr>
              <a:t>Maps a frontend IP and port combination to a set of backend pool and port combination</a:t>
            </a:r>
          </a:p>
        </p:txBody>
      </p:sp>
      <p:sp>
        <p:nvSpPr>
          <p:cNvPr id="4" name="Rectangle 3">
            <a:extLst>
              <a:ext uri="{FF2B5EF4-FFF2-40B4-BE49-F238E27FC236}">
                <a16:creationId xmlns:a16="http://schemas.microsoft.com/office/drawing/2014/main" id="{A51BE5D3-FB00-F79D-5211-BD43C066FC56}"/>
              </a:ext>
            </a:extLst>
          </p:cNvPr>
          <p:cNvSpPr/>
          <p:nvPr/>
        </p:nvSpPr>
        <p:spPr>
          <a:xfrm>
            <a:off x="4343717" y="4198621"/>
            <a:ext cx="3749040" cy="164337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000" dirty="0">
                <a:solidFill>
                  <a:schemeClr val="tx1"/>
                </a:solidFill>
              </a:rPr>
              <a:t>Rules can be combined with NAT rules</a:t>
            </a:r>
          </a:p>
        </p:txBody>
      </p:sp>
      <p:sp>
        <p:nvSpPr>
          <p:cNvPr id="5" name="Rectangle 4">
            <a:extLst>
              <a:ext uri="{FF2B5EF4-FFF2-40B4-BE49-F238E27FC236}">
                <a16:creationId xmlns:a16="http://schemas.microsoft.com/office/drawing/2014/main" id="{D4891076-163B-D8E5-2FBD-73F40DA56296}"/>
              </a:ext>
            </a:extLst>
          </p:cNvPr>
          <p:cNvSpPr/>
          <p:nvPr/>
        </p:nvSpPr>
        <p:spPr>
          <a:xfrm>
            <a:off x="8310879" y="4198621"/>
            <a:ext cx="3749040" cy="164337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000" dirty="0">
                <a:solidFill>
                  <a:schemeClr val="tx1"/>
                </a:solidFill>
              </a:rPr>
              <a:t>A NAT rule is explicitly attached to a VM (or network interface) to complete the path to the target</a:t>
            </a:r>
          </a:p>
        </p:txBody>
      </p:sp>
    </p:spTree>
    <p:extLst>
      <p:ext uri="{BB962C8B-B14F-4D97-AF65-F5344CB8AC3E}">
        <p14:creationId xmlns:p14="http://schemas.microsoft.com/office/powerpoint/2010/main" val="403783598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2D0D7F3-F3F2-439B-85F9-4E3BC0A96582}"/>
              </a:ext>
            </a:extLst>
          </p:cNvPr>
          <p:cNvSpPr>
            <a:spLocks noGrp="1"/>
          </p:cNvSpPr>
          <p:nvPr>
            <p:ph type="title"/>
          </p:nvPr>
        </p:nvSpPr>
        <p:spPr/>
        <p:txBody>
          <a:bodyPr/>
          <a:lstStyle/>
          <a:p>
            <a:r>
              <a:rPr lang="en-IN" dirty="0"/>
              <a:t>Demonstration – Configure a Load Balancer</a:t>
            </a:r>
          </a:p>
        </p:txBody>
      </p:sp>
      <p:sp>
        <p:nvSpPr>
          <p:cNvPr id="64" name="Rectangle 63">
            <a:extLst>
              <a:ext uri="{FF2B5EF4-FFF2-40B4-BE49-F238E27FC236}">
                <a16:creationId xmlns:a16="http://schemas.microsoft.com/office/drawing/2014/main" id="{FB2AE682-1244-43A6-B0F0-01DDDDD1E239}"/>
              </a:ext>
            </a:extLst>
          </p:cNvPr>
          <p:cNvSpPr/>
          <p:nvPr/>
        </p:nvSpPr>
        <p:spPr bwMode="auto">
          <a:xfrm>
            <a:off x="879867" y="1552348"/>
            <a:ext cx="8099747" cy="111613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342900" indent="-342900">
              <a:lnSpc>
                <a:spcPct val="150000"/>
              </a:lnSpc>
              <a:spcBef>
                <a:spcPts val="600"/>
              </a:spcBef>
              <a:buFont typeface="Arial" panose="020B0604020202020204" pitchFamily="34" charset="0"/>
              <a:buChar char="•"/>
            </a:pPr>
            <a:r>
              <a:rPr lang="en-US" sz="2400" dirty="0">
                <a:solidFill>
                  <a:schemeClr val="tx1"/>
                </a:solidFill>
              </a:rPr>
              <a:t>Portal – Help me choose a load balancer</a:t>
            </a:r>
          </a:p>
          <a:p>
            <a:pPr marL="342900" indent="-342900">
              <a:lnSpc>
                <a:spcPct val="150000"/>
              </a:lnSpc>
              <a:spcBef>
                <a:spcPts val="600"/>
              </a:spcBef>
              <a:buFont typeface="Arial" panose="020B0604020202020204" pitchFamily="34" charset="0"/>
              <a:buChar char="•"/>
            </a:pPr>
            <a:r>
              <a:rPr lang="en-US" sz="2400" dirty="0">
                <a:solidFill>
                  <a:schemeClr val="tx1"/>
                </a:solidFill>
              </a:rPr>
              <a:t>Configure a load balancer (review settings)</a:t>
            </a:r>
          </a:p>
        </p:txBody>
      </p:sp>
    </p:spTree>
    <p:extLst>
      <p:ext uri="{BB962C8B-B14F-4D97-AF65-F5344CB8AC3E}">
        <p14:creationId xmlns:p14="http://schemas.microsoft.com/office/powerpoint/2010/main" val="314314914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Configure Session Persistence (optional)</a:t>
            </a:r>
          </a:p>
        </p:txBody>
      </p:sp>
      <p:pic>
        <p:nvPicPr>
          <p:cNvPr id="9" name="Picture 4" descr="A screen shot of the Session persistence setttings">
            <a:extLst>
              <a:ext uri="{FF2B5EF4-FFF2-40B4-BE49-F238E27FC236}">
                <a16:creationId xmlns:a16="http://schemas.microsoft.com/office/drawing/2014/main" id="{557F597A-9FDA-448D-B68E-315E52F155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2091" y="1585935"/>
            <a:ext cx="3554700" cy="2582120"/>
          </a:xfrm>
          <a:prstGeom prst="rect">
            <a:avLst/>
          </a:prstGeom>
          <a:ln>
            <a:noFill/>
          </a:ln>
        </p:spPr>
      </p:pic>
      <p:pic>
        <p:nvPicPr>
          <p:cNvPr id="8" name="Picture 7" descr="Illustration of hash-based distribution with a load balancer and 3 virtual machines">
            <a:extLst>
              <a:ext uri="{FF2B5EF4-FFF2-40B4-BE49-F238E27FC236}">
                <a16:creationId xmlns:a16="http://schemas.microsoft.com/office/drawing/2014/main" id="{A1299FAA-EA52-4376-B8E6-D96CF076CBF5}"/>
              </a:ext>
            </a:extLst>
          </p:cNvPr>
          <p:cNvPicPr/>
          <p:nvPr/>
        </p:nvPicPr>
        <p:blipFill>
          <a:blip r:embed="rId4">
            <a:extLst>
              <a:ext uri="{28A0092B-C50C-407E-A947-70E740481C1C}">
                <a14:useLocalDpi xmlns:a14="http://schemas.microsoft.com/office/drawing/2010/main" val="0"/>
              </a:ext>
            </a:extLst>
          </a:blip>
          <a:stretch>
            <a:fillRect/>
          </a:stretch>
        </p:blipFill>
        <p:spPr>
          <a:xfrm>
            <a:off x="5016247" y="1388990"/>
            <a:ext cx="6565750" cy="2976010"/>
          </a:xfrm>
          <a:prstGeom prst="rect">
            <a:avLst/>
          </a:prstGeom>
        </p:spPr>
      </p:pic>
      <p:sp>
        <p:nvSpPr>
          <p:cNvPr id="4" name="Freeform: Shape 3">
            <a:extLst>
              <a:ext uri="{FF2B5EF4-FFF2-40B4-BE49-F238E27FC236}">
                <a16:creationId xmlns:a16="http://schemas.microsoft.com/office/drawing/2014/main" id="{B159A7E5-1D90-4853-8789-31BFF586D2D7}"/>
              </a:ext>
            </a:extLst>
          </p:cNvPr>
          <p:cNvSpPr/>
          <p:nvPr/>
        </p:nvSpPr>
        <p:spPr>
          <a:xfrm>
            <a:off x="427037" y="4707571"/>
            <a:ext cx="2336487" cy="1654175"/>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dirty="0">
                <a:solidFill>
                  <a:schemeClr val="tx1"/>
                </a:solidFill>
              </a:rPr>
              <a:t>Session persistence specifies how client traffic is handled </a:t>
            </a:r>
          </a:p>
        </p:txBody>
      </p:sp>
      <p:sp>
        <p:nvSpPr>
          <p:cNvPr id="5" name="Freeform: Shape 4">
            <a:extLst>
              <a:ext uri="{FF2B5EF4-FFF2-40B4-BE49-F238E27FC236}">
                <a16:creationId xmlns:a16="http://schemas.microsoft.com/office/drawing/2014/main" id="{5B1B9574-481E-49A3-86F8-77074801D8E7}"/>
              </a:ext>
            </a:extLst>
          </p:cNvPr>
          <p:cNvSpPr/>
          <p:nvPr/>
        </p:nvSpPr>
        <p:spPr>
          <a:xfrm>
            <a:off x="2912987" y="4707571"/>
            <a:ext cx="2336487" cy="1654175"/>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dirty="0">
                <a:solidFill>
                  <a:schemeClr val="tx1"/>
                </a:solidFill>
                <a:latin typeface="+mj-lt"/>
              </a:rPr>
              <a:t>None</a:t>
            </a:r>
            <a:r>
              <a:rPr lang="en-US" b="1" dirty="0">
                <a:solidFill>
                  <a:schemeClr val="tx1"/>
                </a:solidFill>
              </a:rPr>
              <a:t> </a:t>
            </a:r>
            <a:r>
              <a:rPr lang="en-US" dirty="0">
                <a:solidFill>
                  <a:schemeClr val="tx1"/>
                </a:solidFill>
              </a:rPr>
              <a:t>(default) requests can be handled by any</a:t>
            </a:r>
            <a:br>
              <a:rPr lang="en-US" dirty="0">
                <a:solidFill>
                  <a:schemeClr val="tx1"/>
                </a:solidFill>
              </a:rPr>
            </a:br>
            <a:r>
              <a:rPr lang="en-US" dirty="0">
                <a:solidFill>
                  <a:schemeClr val="tx1"/>
                </a:solidFill>
              </a:rPr>
              <a:t>virtual machine </a:t>
            </a:r>
          </a:p>
        </p:txBody>
      </p:sp>
      <p:sp>
        <p:nvSpPr>
          <p:cNvPr id="6" name="Freeform: Shape 5">
            <a:extLst>
              <a:ext uri="{FF2B5EF4-FFF2-40B4-BE49-F238E27FC236}">
                <a16:creationId xmlns:a16="http://schemas.microsoft.com/office/drawing/2014/main" id="{24C6D451-647D-43C3-9BCE-7DB0E7F8BE3B}"/>
              </a:ext>
            </a:extLst>
          </p:cNvPr>
          <p:cNvSpPr/>
          <p:nvPr/>
        </p:nvSpPr>
        <p:spPr>
          <a:xfrm>
            <a:off x="5398938" y="4707571"/>
            <a:ext cx="2336487" cy="1654175"/>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dirty="0">
                <a:solidFill>
                  <a:schemeClr val="tx1"/>
                </a:solidFill>
                <a:latin typeface="+mj-lt"/>
              </a:rPr>
              <a:t>Client IP </a:t>
            </a:r>
            <a:r>
              <a:rPr lang="en-US" dirty="0">
                <a:solidFill>
                  <a:schemeClr val="tx1"/>
                </a:solidFill>
              </a:rPr>
              <a:t>requests will be handled by the same virtual machine</a:t>
            </a:r>
          </a:p>
        </p:txBody>
      </p:sp>
      <p:sp>
        <p:nvSpPr>
          <p:cNvPr id="7" name="Freeform: Shape 6">
            <a:extLst>
              <a:ext uri="{FF2B5EF4-FFF2-40B4-BE49-F238E27FC236}">
                <a16:creationId xmlns:a16="http://schemas.microsoft.com/office/drawing/2014/main" id="{5A1B65C3-A482-47C0-B2EA-93D4E7434F83}"/>
              </a:ext>
            </a:extLst>
          </p:cNvPr>
          <p:cNvSpPr/>
          <p:nvPr/>
        </p:nvSpPr>
        <p:spPr>
          <a:xfrm>
            <a:off x="7884888" y="4707571"/>
            <a:ext cx="4124549" cy="1654175"/>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dirty="0">
                <a:solidFill>
                  <a:schemeClr val="tx1"/>
                </a:solidFill>
                <a:latin typeface="+mj-lt"/>
              </a:rPr>
              <a:t>Client IP and protocol </a:t>
            </a:r>
            <a:r>
              <a:rPr lang="en-US" dirty="0">
                <a:solidFill>
                  <a:schemeClr val="tx1"/>
                </a:solidFill>
              </a:rPr>
              <a:t>specifies that successive requests from the same address and protocol will be handled by the same virtual machine</a:t>
            </a:r>
          </a:p>
        </p:txBody>
      </p:sp>
    </p:spTree>
    <p:extLst>
      <p:ext uri="{BB962C8B-B14F-4D97-AF65-F5344CB8AC3E}">
        <p14:creationId xmlns:p14="http://schemas.microsoft.com/office/powerpoint/2010/main" val="1309880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solidFill>
                  <a:schemeClr val="tx1"/>
                </a:solidFill>
              </a:rPr>
              <a:t>Learning Recap – Introduction to Azure Load Balancer</a:t>
            </a:r>
          </a:p>
        </p:txBody>
      </p:sp>
      <p:sp>
        <p:nvSpPr>
          <p:cNvPr id="7" name="Rectangle 6">
            <a:extLst>
              <a:ext uri="{FF2B5EF4-FFF2-40B4-BE49-F238E27FC236}">
                <a16:creationId xmlns:a16="http://schemas.microsoft.com/office/drawing/2014/main" id="{B065BE23-B7E3-411D-B438-736FFAA1956D}"/>
              </a:ext>
            </a:extLst>
          </p:cNvPr>
          <p:cNvSpPr/>
          <p:nvPr/>
        </p:nvSpPr>
        <p:spPr>
          <a:xfrm>
            <a:off x="3670357" y="2254828"/>
            <a:ext cx="7132144" cy="1923914"/>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37160" rIns="182880" bIns="137160" numCol="1" spcCol="1270" anchor="ctr" anchorCtr="0">
            <a:noAutofit/>
          </a:bodyPr>
          <a:lstStyle/>
          <a:p>
            <a:pPr marL="342900" indent="-342900">
              <a:spcAft>
                <a:spcPts val="600"/>
              </a:spcAft>
              <a:buClr>
                <a:schemeClr val="accent3"/>
              </a:buClr>
              <a:buFont typeface="Arial" panose="020B0604020202020204" pitchFamily="34" charset="0"/>
              <a:buChar char="•"/>
            </a:pPr>
            <a:r>
              <a:rPr lang="en-US" dirty="0">
                <a:solidFill>
                  <a:srgbClr val="0078D4"/>
                </a:solidFill>
                <a:hlinkClick r:id="rId3">
                  <a:extLst>
                    <a:ext uri="{A12FA001-AC4F-418D-AE19-62706E023703}">
                      <ahyp:hlinkClr xmlns:ahyp="http://schemas.microsoft.com/office/drawing/2018/hyperlinkcolor" val="tx"/>
                    </a:ext>
                  </a:extLst>
                </a:hlinkClick>
              </a:rPr>
              <a:t>Introduction to Azure Load Balancer</a:t>
            </a:r>
            <a:endParaRPr lang="en-US" dirty="0">
              <a:solidFill>
                <a:srgbClr val="0078D4"/>
              </a:solidFill>
            </a:endParaRPr>
          </a:p>
          <a:p>
            <a:pPr marL="342900" lvl="1" indent="-342900">
              <a:spcAft>
                <a:spcPts val="600"/>
              </a:spcAft>
              <a:buClr>
                <a:schemeClr val="accent3"/>
              </a:buClr>
              <a:buFont typeface="Arial" panose="020B0604020202020204" pitchFamily="34" charset="0"/>
              <a:buChar char="•"/>
            </a:pPr>
            <a:r>
              <a:rPr lang="en-US" dirty="0">
                <a:solidFill>
                  <a:srgbClr val="0078D4"/>
                </a:solidFill>
                <a:hlinkClick r:id="rId4">
                  <a:extLst>
                    <a:ext uri="{A12FA001-AC4F-418D-AE19-62706E023703}">
                      <ahyp:hlinkClr xmlns:ahyp="http://schemas.microsoft.com/office/drawing/2018/hyperlinkcolor" val="tx"/>
                    </a:ext>
                  </a:extLst>
                </a:hlinkClick>
              </a:rPr>
              <a:t>Load balance non-HTTP(S) traffic in Azure </a:t>
            </a:r>
            <a:endParaRPr lang="en-US" dirty="0"/>
          </a:p>
          <a:p>
            <a:pPr marL="342900" lvl="1" indent="-342900">
              <a:spcAft>
                <a:spcPts val="600"/>
              </a:spcAft>
              <a:buFont typeface="Wingdings" panose="05000000000000000000" pitchFamily="2" charset="2"/>
              <a:buChar char="§"/>
            </a:pPr>
            <a:endParaRPr lang="en-US" dirty="0"/>
          </a:p>
          <a:p>
            <a:pPr marL="342900" lvl="1" indent="-342900">
              <a:spcAft>
                <a:spcPts val="600"/>
              </a:spcAft>
              <a:buFont typeface="Wingdings" panose="05000000000000000000" pitchFamily="2" charset="2"/>
              <a:buChar char="§"/>
            </a:pPr>
            <a:endParaRPr lang="en-US" dirty="0">
              <a:solidFill>
                <a:schemeClr val="tx1"/>
              </a:solidFill>
            </a:endParaRPr>
          </a:p>
        </p:txBody>
      </p:sp>
    </p:spTree>
    <p:extLst>
      <p:ext uri="{BB962C8B-B14F-4D97-AF65-F5344CB8AC3E}">
        <p14:creationId xmlns:p14="http://schemas.microsoft.com/office/powerpoint/2010/main" val="103499582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1340" y="3232160"/>
            <a:ext cx="6472474" cy="1130181"/>
          </a:xfrm>
        </p:spPr>
        <p:txBody>
          <a:bodyPr/>
          <a:lstStyle/>
          <a:p>
            <a:r>
              <a:rPr lang="en-US" dirty="0"/>
              <a:t>Introduction to Azure Application Gateway</a:t>
            </a:r>
          </a:p>
        </p:txBody>
      </p:sp>
    </p:spTree>
    <p:extLst>
      <p:ext uri="{BB962C8B-B14F-4D97-AF65-F5344CB8AC3E}">
        <p14:creationId xmlns:p14="http://schemas.microsoft.com/office/powerpoint/2010/main" val="2268391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8FD67-B9CE-464C-BEFD-D97DA798FC3B}"/>
              </a:ext>
            </a:extLst>
          </p:cNvPr>
          <p:cNvSpPr>
            <a:spLocks noGrp="1"/>
          </p:cNvSpPr>
          <p:nvPr>
            <p:ph type="title"/>
          </p:nvPr>
        </p:nvSpPr>
        <p:spPr/>
        <p:txBody>
          <a:bodyPr/>
          <a:lstStyle/>
          <a:p>
            <a:r>
              <a:rPr lang="en-US" dirty="0"/>
              <a:t>Learning Objectives – Introduction to Azure Application Gateway</a:t>
            </a:r>
          </a:p>
        </p:txBody>
      </p:sp>
      <p:sp>
        <p:nvSpPr>
          <p:cNvPr id="4" name="TextBox 3">
            <a:extLst>
              <a:ext uri="{FF2B5EF4-FFF2-40B4-BE49-F238E27FC236}">
                <a16:creationId xmlns:a16="http://schemas.microsoft.com/office/drawing/2014/main" id="{D85FDA11-7FB7-45C9-B795-1D7A89D6716C}"/>
              </a:ext>
            </a:extLst>
          </p:cNvPr>
          <p:cNvSpPr txBox="1"/>
          <p:nvPr/>
        </p:nvSpPr>
        <p:spPr>
          <a:xfrm>
            <a:off x="465138" y="1546968"/>
            <a:ext cx="5444504" cy="2712666"/>
          </a:xfrm>
          <a:prstGeom prst="rect">
            <a:avLst/>
          </a:prstGeom>
          <a:noFill/>
        </p:spPr>
        <p:txBody>
          <a:bodyPr wrap="square" lIns="0" tIns="0" rIns="0" bIns="0" rtlCol="0" anchor="ctr">
            <a:spAutoFit/>
          </a:bodyPr>
          <a:lstStyle/>
          <a:p>
            <a:pPr marL="342900" indent="-342900">
              <a:lnSpc>
                <a:spcPct val="150000"/>
              </a:lnSpc>
              <a:buFont typeface="Arial" panose="020B0604020202020204" pitchFamily="34" charset="0"/>
              <a:buChar char="•"/>
            </a:pPr>
            <a:r>
              <a:rPr lang="en-US" sz="2000" dirty="0"/>
              <a:t>Implement Application Gateway</a:t>
            </a:r>
          </a:p>
          <a:p>
            <a:pPr marL="342900" indent="-342900">
              <a:lnSpc>
                <a:spcPct val="150000"/>
              </a:lnSpc>
              <a:buFont typeface="Arial" panose="020B0604020202020204" pitchFamily="34" charset="0"/>
              <a:buChar char="•"/>
            </a:pPr>
            <a:r>
              <a:rPr lang="en-US" sz="2000" dirty="0"/>
              <a:t>Determine Application Gateway Routing</a:t>
            </a:r>
          </a:p>
          <a:p>
            <a:pPr marL="342900" indent="-342900">
              <a:lnSpc>
                <a:spcPct val="150000"/>
              </a:lnSpc>
              <a:buFont typeface="Arial" panose="020B0604020202020204" pitchFamily="34" charset="0"/>
              <a:buChar char="•"/>
            </a:pPr>
            <a:r>
              <a:rPr lang="en-US" sz="2000" dirty="0"/>
              <a:t>Demonstration – Configure an Application Gateway </a:t>
            </a:r>
          </a:p>
          <a:p>
            <a:pPr marL="342900" indent="-342900">
              <a:lnSpc>
                <a:spcPct val="150000"/>
              </a:lnSpc>
              <a:buFont typeface="Arial" panose="020B0604020202020204" pitchFamily="34" charset="0"/>
              <a:buChar char="•"/>
            </a:pPr>
            <a:r>
              <a:rPr lang="en-US" sz="2000" dirty="0"/>
              <a:t>Setup Application Gateway Components</a:t>
            </a:r>
          </a:p>
          <a:p>
            <a:pPr marL="342900" indent="-342900">
              <a:lnSpc>
                <a:spcPct val="150000"/>
              </a:lnSpc>
              <a:buFont typeface="Arial" panose="020B0604020202020204" pitchFamily="34" charset="0"/>
              <a:buChar char="•"/>
            </a:pPr>
            <a:r>
              <a:rPr lang="en-US" sz="2000" dirty="0"/>
              <a:t>Learning Recap</a:t>
            </a:r>
          </a:p>
        </p:txBody>
      </p:sp>
      <p:sp>
        <p:nvSpPr>
          <p:cNvPr id="21" name="TextBox 20">
            <a:extLst>
              <a:ext uri="{FF2B5EF4-FFF2-40B4-BE49-F238E27FC236}">
                <a16:creationId xmlns:a16="http://schemas.microsoft.com/office/drawing/2014/main" id="{44EC36A7-0D55-3521-3AC0-BF2A4935071D}"/>
              </a:ext>
            </a:extLst>
          </p:cNvPr>
          <p:cNvSpPr txBox="1"/>
          <p:nvPr/>
        </p:nvSpPr>
        <p:spPr>
          <a:xfrm>
            <a:off x="6472355" y="1716224"/>
            <a:ext cx="4605129" cy="2015936"/>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600"/>
              </a:spcAft>
              <a:buClrTx/>
              <a:buSzTx/>
              <a:buFontTx/>
              <a:buNone/>
              <a:tabLst/>
              <a:defRPr/>
            </a:pPr>
            <a:r>
              <a:rPr kumimoji="0" lang="en-US" sz="2000" b="0" i="0" u="none" strike="noStrike" kern="0" cap="none" spc="0" normalizeH="0" baseline="0" noProof="0" dirty="0">
                <a:ln>
                  <a:noFill/>
                </a:ln>
                <a:solidFill>
                  <a:srgbClr val="243A5E"/>
                </a:solidFill>
                <a:effectLst/>
                <a:uLnTx/>
                <a:uFillTx/>
              </a:rPr>
              <a:t>Implement and manage virtual networking (15–20%): Configure name resolution and load balancing</a:t>
            </a:r>
          </a:p>
          <a:p>
            <a:pPr marL="173038" marR="0" lvl="0" indent="-17303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rgbClr val="000000"/>
                </a:solidFill>
                <a:effectLst/>
                <a:uLnTx/>
                <a:uFillTx/>
              </a:rPr>
              <a:t>Configure an internal or public load balancer</a:t>
            </a:r>
          </a:p>
          <a:p>
            <a:pPr marL="173038" marR="0" lvl="0" indent="-173038"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000" kern="0" dirty="0">
              <a:solidFill>
                <a:srgbClr val="000000"/>
              </a:solidFill>
            </a:endParaRPr>
          </a:p>
        </p:txBody>
      </p:sp>
    </p:spTree>
    <p:extLst>
      <p:ext uri="{BB962C8B-B14F-4D97-AF65-F5344CB8AC3E}">
        <p14:creationId xmlns:p14="http://schemas.microsoft.com/office/powerpoint/2010/main" val="282511056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8FD67-B9CE-464C-BEFD-D97DA798FC3B}"/>
              </a:ext>
            </a:extLst>
          </p:cNvPr>
          <p:cNvSpPr>
            <a:spLocks noGrp="1"/>
          </p:cNvSpPr>
          <p:nvPr>
            <p:ph type="title"/>
          </p:nvPr>
        </p:nvSpPr>
        <p:spPr/>
        <p:txBody>
          <a:bodyPr/>
          <a:lstStyle/>
          <a:p>
            <a:r>
              <a:rPr lang="en-US" dirty="0">
                <a:solidFill>
                  <a:schemeClr val="tx1"/>
                </a:solidFill>
              </a:rPr>
              <a:t>Implement Application Gateway</a:t>
            </a:r>
          </a:p>
        </p:txBody>
      </p:sp>
      <p:sp>
        <p:nvSpPr>
          <p:cNvPr id="5" name="Freeform: Shape 4">
            <a:extLst>
              <a:ext uri="{FF2B5EF4-FFF2-40B4-BE49-F238E27FC236}">
                <a16:creationId xmlns:a16="http://schemas.microsoft.com/office/drawing/2014/main" id="{C6630F68-59D7-4F97-BA21-1C836BA45436}"/>
              </a:ext>
            </a:extLst>
          </p:cNvPr>
          <p:cNvSpPr/>
          <p:nvPr/>
        </p:nvSpPr>
        <p:spPr>
          <a:xfrm>
            <a:off x="430410" y="5050971"/>
            <a:ext cx="2582862" cy="1310775"/>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dirty="0">
                <a:solidFill>
                  <a:schemeClr val="tx1"/>
                </a:solidFill>
              </a:rPr>
              <a:t>Manages web</a:t>
            </a:r>
            <a:br>
              <a:rPr lang="en-US" dirty="0">
                <a:solidFill>
                  <a:schemeClr val="tx1"/>
                </a:solidFill>
              </a:rPr>
            </a:br>
            <a:r>
              <a:rPr lang="en-US" dirty="0">
                <a:solidFill>
                  <a:schemeClr val="tx1"/>
                </a:solidFill>
              </a:rPr>
              <a:t>app requests</a:t>
            </a:r>
          </a:p>
        </p:txBody>
      </p:sp>
      <p:sp>
        <p:nvSpPr>
          <p:cNvPr id="4" name="Freeform: Shape 3">
            <a:extLst>
              <a:ext uri="{FF2B5EF4-FFF2-40B4-BE49-F238E27FC236}">
                <a16:creationId xmlns:a16="http://schemas.microsoft.com/office/drawing/2014/main" id="{65ADF4AF-65C7-46D7-8DF1-8FD564437114}"/>
              </a:ext>
            </a:extLst>
          </p:cNvPr>
          <p:cNvSpPr/>
          <p:nvPr/>
        </p:nvSpPr>
        <p:spPr>
          <a:xfrm>
            <a:off x="3167954" y="5050971"/>
            <a:ext cx="4343400" cy="1310775"/>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dirty="0">
                <a:solidFill>
                  <a:schemeClr val="tx1"/>
                </a:solidFill>
              </a:rPr>
              <a:t>Routes traffic to a pool of web servers based on the URL of a request </a:t>
            </a:r>
          </a:p>
        </p:txBody>
      </p:sp>
      <p:sp>
        <p:nvSpPr>
          <p:cNvPr id="6" name="Freeform: Shape 5">
            <a:extLst>
              <a:ext uri="{FF2B5EF4-FFF2-40B4-BE49-F238E27FC236}">
                <a16:creationId xmlns:a16="http://schemas.microsoft.com/office/drawing/2014/main" id="{05AB522E-AE38-45DB-BAB9-CB2996C2DAB2}"/>
              </a:ext>
            </a:extLst>
          </p:cNvPr>
          <p:cNvSpPr/>
          <p:nvPr/>
        </p:nvSpPr>
        <p:spPr>
          <a:xfrm>
            <a:off x="7662665" y="5050971"/>
            <a:ext cx="4343400" cy="1310775"/>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r>
              <a:rPr lang="en-US" dirty="0">
                <a:solidFill>
                  <a:schemeClr val="tx1"/>
                </a:solidFill>
              </a:rPr>
              <a:t>The web servers can be Azure virtual machines, Azure virtual machine scale sets, Azure App Service, and even</a:t>
            </a:r>
            <a:br>
              <a:rPr lang="en-US" dirty="0">
                <a:solidFill>
                  <a:schemeClr val="tx1"/>
                </a:solidFill>
              </a:rPr>
            </a:br>
            <a:r>
              <a:rPr lang="en-US" dirty="0">
                <a:solidFill>
                  <a:schemeClr val="tx1"/>
                </a:solidFill>
              </a:rPr>
              <a:t>on-premises servers</a:t>
            </a:r>
          </a:p>
        </p:txBody>
      </p:sp>
      <p:pic>
        <p:nvPicPr>
          <p:cNvPr id="9" name="Picture 8" descr="A flowchart from left to right: browser, app gateway frontend IP, listener, Rule, and backed pool">
            <a:extLst>
              <a:ext uri="{FF2B5EF4-FFF2-40B4-BE49-F238E27FC236}">
                <a16:creationId xmlns:a16="http://schemas.microsoft.com/office/drawing/2014/main" id="{D81B6A24-59DD-41F8-B753-3CD5FC7007A7}"/>
              </a:ext>
            </a:extLst>
          </p:cNvPr>
          <p:cNvPicPr>
            <a:picLocks noChangeAspect="1"/>
          </p:cNvPicPr>
          <p:nvPr/>
        </p:nvPicPr>
        <p:blipFill>
          <a:blip r:embed="rId3"/>
          <a:stretch>
            <a:fillRect/>
          </a:stretch>
        </p:blipFill>
        <p:spPr>
          <a:xfrm>
            <a:off x="974263" y="1381477"/>
            <a:ext cx="10153650" cy="3352800"/>
          </a:xfrm>
          <a:prstGeom prst="rect">
            <a:avLst/>
          </a:prstGeom>
        </p:spPr>
      </p:pic>
    </p:spTree>
    <p:extLst>
      <p:ext uri="{BB962C8B-B14F-4D97-AF65-F5344CB8AC3E}">
        <p14:creationId xmlns:p14="http://schemas.microsoft.com/office/powerpoint/2010/main" val="85114981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F9B50-5D67-4608-B464-AEAEA00296B7}"/>
              </a:ext>
            </a:extLst>
          </p:cNvPr>
          <p:cNvSpPr>
            <a:spLocks noGrp="1"/>
          </p:cNvSpPr>
          <p:nvPr>
            <p:ph type="title"/>
          </p:nvPr>
        </p:nvSpPr>
        <p:spPr/>
        <p:txBody>
          <a:bodyPr/>
          <a:lstStyle/>
          <a:p>
            <a:r>
              <a:rPr lang="en-US" dirty="0">
                <a:solidFill>
                  <a:schemeClr val="tx1"/>
                </a:solidFill>
              </a:rPr>
              <a:t>Determine Application Gateway Routing</a:t>
            </a:r>
          </a:p>
        </p:txBody>
      </p:sp>
      <p:sp>
        <p:nvSpPr>
          <p:cNvPr id="6" name="Rectangle 5">
            <a:extLst>
              <a:ext uri="{FF2B5EF4-FFF2-40B4-BE49-F238E27FC236}">
                <a16:creationId xmlns:a16="http://schemas.microsoft.com/office/drawing/2014/main" id="{7E7BF4B1-A6C4-49D0-B3A8-F59B0004C3AA}"/>
              </a:ext>
              <a:ext uri="{C183D7F6-B498-43B3-948B-1728B52AA6E4}">
                <adec:decorative xmlns:adec="http://schemas.microsoft.com/office/drawing/2017/decorative" val="1"/>
              </a:ext>
            </a:extLst>
          </p:cNvPr>
          <p:cNvSpPr/>
          <p:nvPr/>
        </p:nvSpPr>
        <p:spPr bwMode="auto">
          <a:xfrm>
            <a:off x="427037" y="1192213"/>
            <a:ext cx="5715000" cy="523476"/>
          </a:xfrm>
          <a:prstGeom prst="rect">
            <a:avLst/>
          </a:prstGeom>
          <a:solidFill>
            <a:schemeClr val="tx2">
              <a:lumMod val="20000"/>
              <a:lumOff val="80000"/>
            </a:schemeClr>
          </a:solidFill>
          <a:ln w="19050">
            <a:solidFill>
              <a:srgbClr val="243A5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a:r>
              <a:rPr lang="en-US" sz="2000" dirty="0">
                <a:solidFill>
                  <a:schemeClr val="tx1"/>
                </a:solidFill>
                <a:latin typeface="+mj-lt"/>
              </a:rPr>
              <a:t>Path-based routing</a:t>
            </a:r>
          </a:p>
        </p:txBody>
      </p:sp>
      <p:sp>
        <p:nvSpPr>
          <p:cNvPr id="3" name="Rectangle 2">
            <a:extLst>
              <a:ext uri="{FF2B5EF4-FFF2-40B4-BE49-F238E27FC236}">
                <a16:creationId xmlns:a16="http://schemas.microsoft.com/office/drawing/2014/main" id="{8D782C67-6854-400F-8BB0-657886095782}"/>
              </a:ext>
              <a:ext uri="{C183D7F6-B498-43B3-948B-1728B52AA6E4}">
                <adec:decorative xmlns:adec="http://schemas.microsoft.com/office/drawing/2017/decorative" val="1"/>
              </a:ext>
            </a:extLst>
          </p:cNvPr>
          <p:cNvSpPr/>
          <p:nvPr/>
        </p:nvSpPr>
        <p:spPr bwMode="auto">
          <a:xfrm>
            <a:off x="427037" y="1856509"/>
            <a:ext cx="5715000" cy="3945803"/>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cs typeface="Segoe UI" pitchFamily="34" charset="0"/>
            </a:endParaRPr>
          </a:p>
        </p:txBody>
      </p:sp>
      <p:pic>
        <p:nvPicPr>
          <p:cNvPr id="8" name="Picture 7" descr="Flowchart from left to right: user, application gateway, image server pool. Traffic is directed to the image server pool based on *images or *video">
            <a:extLst>
              <a:ext uri="{FF2B5EF4-FFF2-40B4-BE49-F238E27FC236}">
                <a16:creationId xmlns:a16="http://schemas.microsoft.com/office/drawing/2014/main" id="{D4F8C063-2E0F-4ABB-A462-3F8CDD4181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702" y="2038523"/>
            <a:ext cx="5197166" cy="3454728"/>
          </a:xfrm>
          <a:prstGeom prst="rect">
            <a:avLst/>
          </a:prstGeom>
          <a:ln>
            <a:noFill/>
          </a:ln>
        </p:spPr>
      </p:pic>
      <p:sp>
        <p:nvSpPr>
          <p:cNvPr id="4" name="Rectangle 3">
            <a:extLst>
              <a:ext uri="{FF2B5EF4-FFF2-40B4-BE49-F238E27FC236}">
                <a16:creationId xmlns:a16="http://schemas.microsoft.com/office/drawing/2014/main" id="{3D2358C1-961D-4EA6-933F-C17A97B8D3F9}"/>
              </a:ext>
              <a:ext uri="{C183D7F6-B498-43B3-948B-1728B52AA6E4}">
                <adec:decorative xmlns:adec="http://schemas.microsoft.com/office/drawing/2017/decorative" val="1"/>
              </a:ext>
            </a:extLst>
          </p:cNvPr>
          <p:cNvSpPr/>
          <p:nvPr/>
        </p:nvSpPr>
        <p:spPr bwMode="auto">
          <a:xfrm>
            <a:off x="6294476" y="1192213"/>
            <a:ext cx="5714962" cy="523476"/>
          </a:xfrm>
          <a:prstGeom prst="rect">
            <a:avLst/>
          </a:prstGeom>
          <a:solidFill>
            <a:schemeClr val="tx2">
              <a:lumMod val="20000"/>
              <a:lumOff val="80000"/>
            </a:schemeClr>
          </a:solidFill>
          <a:ln w="19050">
            <a:solidFill>
              <a:srgbClr val="243A5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a:r>
              <a:rPr lang="en-US" sz="2000" dirty="0">
                <a:solidFill>
                  <a:schemeClr val="tx1"/>
                </a:solidFill>
                <a:latin typeface="+mj-lt"/>
              </a:rPr>
              <a:t>Multiple-site routing</a:t>
            </a:r>
          </a:p>
        </p:txBody>
      </p:sp>
      <p:sp>
        <p:nvSpPr>
          <p:cNvPr id="13" name="Rectangle 12">
            <a:extLst>
              <a:ext uri="{FF2B5EF4-FFF2-40B4-BE49-F238E27FC236}">
                <a16:creationId xmlns:a16="http://schemas.microsoft.com/office/drawing/2014/main" id="{EC4D4EAC-54DC-4990-8749-2009AAF869FC}"/>
              </a:ext>
              <a:ext uri="{C183D7F6-B498-43B3-948B-1728B52AA6E4}">
                <adec:decorative xmlns:adec="http://schemas.microsoft.com/office/drawing/2017/decorative" val="1"/>
              </a:ext>
            </a:extLst>
          </p:cNvPr>
          <p:cNvSpPr/>
          <p:nvPr/>
        </p:nvSpPr>
        <p:spPr bwMode="auto">
          <a:xfrm>
            <a:off x="6294476" y="1856509"/>
            <a:ext cx="5715000" cy="3945803"/>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cs typeface="Segoe UI" pitchFamily="34" charset="0"/>
            </a:endParaRPr>
          </a:p>
        </p:txBody>
      </p:sp>
      <p:pic>
        <p:nvPicPr>
          <p:cNvPr id="10" name="Picture 9" descr="Flowchart left to right: user, application gateway, backend pool. Traffic is directed to the backend pool based on company, contoso or fabrikam">
            <a:extLst>
              <a:ext uri="{FF2B5EF4-FFF2-40B4-BE49-F238E27FC236}">
                <a16:creationId xmlns:a16="http://schemas.microsoft.com/office/drawing/2014/main" id="{333D858D-D912-4BF2-A540-C1FC14DAE4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16636" y="2022233"/>
            <a:ext cx="5246176" cy="3487308"/>
          </a:xfrm>
          <a:prstGeom prst="rect">
            <a:avLst/>
          </a:prstGeom>
        </p:spPr>
      </p:pic>
    </p:spTree>
    <p:extLst>
      <p:ext uri="{BB962C8B-B14F-4D97-AF65-F5344CB8AC3E}">
        <p14:creationId xmlns:p14="http://schemas.microsoft.com/office/powerpoint/2010/main" val="3716783272"/>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2D0D7F3-F3F2-439B-85F9-4E3BC0A96582}"/>
              </a:ext>
            </a:extLst>
          </p:cNvPr>
          <p:cNvSpPr>
            <a:spLocks noGrp="1"/>
          </p:cNvSpPr>
          <p:nvPr>
            <p:ph type="title"/>
          </p:nvPr>
        </p:nvSpPr>
        <p:spPr/>
        <p:txBody>
          <a:bodyPr/>
          <a:lstStyle/>
          <a:p>
            <a:r>
              <a:rPr lang="en-IN" dirty="0"/>
              <a:t>Demonstration – Configure an Azure Application Gateway</a:t>
            </a:r>
          </a:p>
        </p:txBody>
      </p:sp>
      <p:sp>
        <p:nvSpPr>
          <p:cNvPr id="64" name="Rectangle 63">
            <a:extLst>
              <a:ext uri="{FF2B5EF4-FFF2-40B4-BE49-F238E27FC236}">
                <a16:creationId xmlns:a16="http://schemas.microsoft.com/office/drawing/2014/main" id="{FB2AE682-1244-43A6-B0F0-01DDDDD1E239}"/>
              </a:ext>
            </a:extLst>
          </p:cNvPr>
          <p:cNvSpPr/>
          <p:nvPr/>
        </p:nvSpPr>
        <p:spPr bwMode="auto">
          <a:xfrm>
            <a:off x="951786" y="1477015"/>
            <a:ext cx="9199082" cy="111613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342900" indent="-342900">
              <a:lnSpc>
                <a:spcPct val="150000"/>
              </a:lnSpc>
              <a:spcBef>
                <a:spcPts val="600"/>
              </a:spcBef>
              <a:buFont typeface="Arial" panose="020B0604020202020204" pitchFamily="34" charset="0"/>
              <a:buChar char="•"/>
            </a:pPr>
            <a:r>
              <a:rPr lang="en-US" sz="2400" dirty="0">
                <a:solidFill>
                  <a:schemeClr val="tx1"/>
                </a:solidFill>
              </a:rPr>
              <a:t>Configure the Azure Application Gateway</a:t>
            </a:r>
          </a:p>
          <a:p>
            <a:pPr marL="342900" indent="-342900">
              <a:lnSpc>
                <a:spcPct val="150000"/>
              </a:lnSpc>
              <a:spcBef>
                <a:spcPts val="600"/>
              </a:spcBef>
              <a:buFont typeface="Arial" panose="020B0604020202020204" pitchFamily="34" charset="0"/>
              <a:buChar char="•"/>
            </a:pPr>
            <a:r>
              <a:rPr lang="en-US" sz="2400" dirty="0">
                <a:solidFill>
                  <a:schemeClr val="tx1"/>
                </a:solidFill>
              </a:rPr>
              <a:t>Compare to the Load Balancer</a:t>
            </a:r>
          </a:p>
        </p:txBody>
      </p:sp>
    </p:spTree>
    <p:extLst>
      <p:ext uri="{BB962C8B-B14F-4D97-AF65-F5344CB8AC3E}">
        <p14:creationId xmlns:p14="http://schemas.microsoft.com/office/powerpoint/2010/main" val="2463074028"/>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solidFill>
                  <a:schemeClr val="tx1"/>
                </a:solidFill>
              </a:rPr>
              <a:t>Learning Recap – Introduction to Azure Application Gateway</a:t>
            </a:r>
          </a:p>
        </p:txBody>
      </p:sp>
      <p:sp>
        <p:nvSpPr>
          <p:cNvPr id="15" name="TextBox 14">
            <a:extLst>
              <a:ext uri="{FF2B5EF4-FFF2-40B4-BE49-F238E27FC236}">
                <a16:creationId xmlns:a16="http://schemas.microsoft.com/office/drawing/2014/main" id="{EAE08E34-EB78-49A4-9893-03AB3EB3981E}"/>
              </a:ext>
            </a:extLst>
          </p:cNvPr>
          <p:cNvSpPr txBox="1"/>
          <p:nvPr/>
        </p:nvSpPr>
        <p:spPr>
          <a:xfrm>
            <a:off x="3785509" y="2421222"/>
            <a:ext cx="7662716" cy="2246769"/>
          </a:xfrm>
          <a:prstGeom prst="rect">
            <a:avLst/>
          </a:prstGeom>
          <a:noFill/>
        </p:spPr>
        <p:txBody>
          <a:bodyPr wrap="square">
            <a:spAutoFit/>
          </a:bodyPr>
          <a:lstStyle/>
          <a:p>
            <a:pPr marL="342900" indent="-342900">
              <a:spcAft>
                <a:spcPts val="1200"/>
              </a:spcAft>
              <a:buFont typeface="Arial" panose="020B0604020202020204" pitchFamily="34" charset="0"/>
              <a:buChar char="•"/>
            </a:pPr>
            <a:r>
              <a:rPr lang="en-US" sz="2000" dirty="0">
                <a:hlinkClick r:id="rId3"/>
              </a:rPr>
              <a:t>Introduction to Azure Application Gateway </a:t>
            </a:r>
            <a:endParaRPr lang="en-US" sz="2000" dirty="0"/>
          </a:p>
          <a:p>
            <a:pPr marL="342900" indent="-342900">
              <a:spcAft>
                <a:spcPts val="1200"/>
              </a:spcAft>
              <a:buFont typeface="Arial" panose="020B0604020202020204" pitchFamily="34" charset="0"/>
              <a:buChar char="•"/>
            </a:pPr>
            <a:r>
              <a:rPr lang="en-US" sz="2000" dirty="0">
                <a:hlinkClick r:id="rId4"/>
              </a:rPr>
              <a:t>Load balance your web service traffic with Application Gateway</a:t>
            </a:r>
            <a:endParaRPr lang="en-US" sz="2000" dirty="0"/>
          </a:p>
          <a:p>
            <a:pPr marL="342900" indent="-342900">
              <a:spcAft>
                <a:spcPts val="1200"/>
              </a:spcAft>
              <a:buFont typeface="Arial" panose="020B0604020202020204" pitchFamily="34" charset="0"/>
              <a:buChar char="•"/>
            </a:pPr>
            <a:r>
              <a:rPr lang="en-US" sz="2000" dirty="0">
                <a:hlinkClick r:id="rId5"/>
              </a:rPr>
              <a:t>Load balance HTTP(S) traffic in </a:t>
            </a:r>
            <a:r>
              <a:rPr lang="en-US" sz="2000">
                <a:hlinkClick r:id="rId5"/>
              </a:rPr>
              <a:t>Azure </a:t>
            </a:r>
            <a:endParaRPr lang="en-US" sz="2000" dirty="0"/>
          </a:p>
          <a:p>
            <a:pPr marL="342900" indent="-342900">
              <a:spcAft>
                <a:spcPts val="1200"/>
              </a:spcAft>
              <a:buFont typeface="Arial" panose="020B0604020202020204" pitchFamily="34" charset="0"/>
              <a:buChar char="•"/>
            </a:pPr>
            <a:endParaRPr lang="en-US" sz="2000" dirty="0">
              <a:solidFill>
                <a:schemeClr val="tx1"/>
              </a:solidFill>
            </a:endParaRPr>
          </a:p>
          <a:p>
            <a:pPr marL="342900" indent="-342900">
              <a:spcAft>
                <a:spcPts val="1200"/>
              </a:spcAft>
              <a:buFont typeface="Arial" panose="020B0604020202020204" pitchFamily="34" charset="0"/>
              <a:buChar char="•"/>
            </a:pPr>
            <a:endParaRPr lang="en-US" sz="2000" dirty="0"/>
          </a:p>
        </p:txBody>
      </p:sp>
    </p:spTree>
    <p:extLst>
      <p:ext uri="{BB962C8B-B14F-4D97-AF65-F5344CB8AC3E}">
        <p14:creationId xmlns:p14="http://schemas.microsoft.com/office/powerpoint/2010/main" val="322513102"/>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1340" y="3232160"/>
            <a:ext cx="6472474" cy="1130181"/>
          </a:xfrm>
        </p:spPr>
        <p:txBody>
          <a:bodyPr/>
          <a:lstStyle/>
          <a:p>
            <a:r>
              <a:rPr lang="en-US" dirty="0"/>
              <a:t>Introduction to Network Watcher</a:t>
            </a:r>
          </a:p>
        </p:txBody>
      </p:sp>
    </p:spTree>
    <p:extLst>
      <p:ext uri="{BB962C8B-B14F-4D97-AF65-F5344CB8AC3E}">
        <p14:creationId xmlns:p14="http://schemas.microsoft.com/office/powerpoint/2010/main" val="2425073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2FB1F-5AB3-4049-A586-FF1938836FA3}"/>
              </a:ext>
            </a:extLst>
          </p:cNvPr>
          <p:cNvSpPr>
            <a:spLocks noGrp="1"/>
          </p:cNvSpPr>
          <p:nvPr>
            <p:ph type="title"/>
          </p:nvPr>
        </p:nvSpPr>
        <p:spPr/>
        <p:txBody>
          <a:bodyPr/>
          <a:lstStyle/>
          <a:p>
            <a:r>
              <a:rPr lang="en-US" dirty="0"/>
              <a:t>Configure Network Watcher Introduction</a:t>
            </a:r>
          </a:p>
        </p:txBody>
      </p:sp>
      <p:sp>
        <p:nvSpPr>
          <p:cNvPr id="27" name="TextBox 26">
            <a:extLst>
              <a:ext uri="{FF2B5EF4-FFF2-40B4-BE49-F238E27FC236}">
                <a16:creationId xmlns:a16="http://schemas.microsoft.com/office/drawing/2014/main" id="{2D881DF6-F8A9-4AB7-8CDB-17AE938AC0FA}"/>
              </a:ext>
            </a:extLst>
          </p:cNvPr>
          <p:cNvSpPr txBox="1"/>
          <p:nvPr/>
        </p:nvSpPr>
        <p:spPr>
          <a:xfrm>
            <a:off x="465138" y="1571947"/>
            <a:ext cx="4517828" cy="4021390"/>
          </a:xfrm>
          <a:prstGeom prst="rect">
            <a:avLst/>
          </a:prstGeom>
          <a:noFill/>
        </p:spPr>
        <p:txBody>
          <a:bodyPr wrap="square" lIns="0" tIns="0" rIns="0" bIns="0" rtlCol="0" anchor="t">
            <a:noAutofit/>
          </a:bodyPr>
          <a:lstStyle/>
          <a:p>
            <a:pPr marL="342900" indent="-342900">
              <a:lnSpc>
                <a:spcPct val="150000"/>
              </a:lnSpc>
              <a:spcBef>
                <a:spcPct val="0"/>
              </a:spcBef>
              <a:spcAft>
                <a:spcPts val="600"/>
              </a:spcAft>
              <a:buFont typeface="Arial" panose="020B0604020202020204" pitchFamily="34" charset="0"/>
              <a:buChar char="•"/>
            </a:pPr>
            <a:r>
              <a:rPr lang="en-US" sz="2000" dirty="0"/>
              <a:t>Describe Network Watcher Features</a:t>
            </a:r>
          </a:p>
          <a:p>
            <a:pPr marL="342900" indent="-342900">
              <a:lnSpc>
                <a:spcPct val="150000"/>
              </a:lnSpc>
              <a:spcBef>
                <a:spcPct val="0"/>
              </a:spcBef>
              <a:spcAft>
                <a:spcPts val="600"/>
              </a:spcAft>
              <a:buFont typeface="Arial" panose="020B0604020202020204" pitchFamily="34" charset="0"/>
              <a:buChar char="•"/>
            </a:pPr>
            <a:r>
              <a:rPr lang="en-US" sz="2000" dirty="0"/>
              <a:t>Review IP Flow Verify Diagnostics</a:t>
            </a:r>
          </a:p>
          <a:p>
            <a:pPr marL="342900" indent="-342900">
              <a:lnSpc>
                <a:spcPct val="150000"/>
              </a:lnSpc>
              <a:spcBef>
                <a:spcPct val="0"/>
              </a:spcBef>
              <a:spcAft>
                <a:spcPts val="600"/>
              </a:spcAft>
              <a:buFont typeface="Arial" panose="020B0604020202020204" pitchFamily="34" charset="0"/>
              <a:buChar char="•"/>
            </a:pPr>
            <a:r>
              <a:rPr lang="en-US" sz="2000" dirty="0"/>
              <a:t>Review Next Hop Diagnostics</a:t>
            </a:r>
          </a:p>
          <a:p>
            <a:pPr marL="342900" indent="-342900">
              <a:lnSpc>
                <a:spcPct val="150000"/>
              </a:lnSpc>
              <a:spcBef>
                <a:spcPct val="0"/>
              </a:spcBef>
              <a:spcAft>
                <a:spcPts val="600"/>
              </a:spcAft>
              <a:buFont typeface="Arial" panose="020B0604020202020204" pitchFamily="34" charset="0"/>
              <a:buChar char="•"/>
            </a:pPr>
            <a:r>
              <a:rPr lang="en-US" sz="2000" dirty="0"/>
              <a:t>Visualize the Network Topology </a:t>
            </a:r>
          </a:p>
          <a:p>
            <a:pPr marL="342900" indent="-342900">
              <a:lnSpc>
                <a:spcPct val="150000"/>
              </a:lnSpc>
              <a:spcBef>
                <a:spcPct val="0"/>
              </a:spcBef>
              <a:spcAft>
                <a:spcPts val="600"/>
              </a:spcAft>
              <a:buFont typeface="Arial" panose="020B0604020202020204" pitchFamily="34" charset="0"/>
              <a:buChar char="•"/>
            </a:pPr>
            <a:r>
              <a:rPr lang="en-US" sz="2000" dirty="0"/>
              <a:t>Learning Recap</a:t>
            </a:r>
          </a:p>
        </p:txBody>
      </p:sp>
      <p:sp>
        <p:nvSpPr>
          <p:cNvPr id="5" name="TextBox 4">
            <a:extLst>
              <a:ext uri="{FF2B5EF4-FFF2-40B4-BE49-F238E27FC236}">
                <a16:creationId xmlns:a16="http://schemas.microsoft.com/office/drawing/2014/main" id="{47ACD107-7BBE-8EB8-6856-424B99FA1B37}"/>
              </a:ext>
            </a:extLst>
          </p:cNvPr>
          <p:cNvSpPr txBox="1"/>
          <p:nvPr/>
        </p:nvSpPr>
        <p:spPr>
          <a:xfrm>
            <a:off x="6472355" y="1716224"/>
            <a:ext cx="4605129" cy="2939266"/>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600"/>
              </a:spcAft>
              <a:buClrTx/>
              <a:buSzTx/>
              <a:buFontTx/>
              <a:buNone/>
              <a:tabLst/>
              <a:defRPr/>
            </a:pPr>
            <a:r>
              <a:rPr kumimoji="0" lang="en-US" sz="2000" b="0" i="0" u="none" strike="noStrike" kern="0" cap="none" spc="0" normalizeH="0" baseline="0" noProof="0" dirty="0">
                <a:ln>
                  <a:noFill/>
                </a:ln>
                <a:solidFill>
                  <a:srgbClr val="243A5E"/>
                </a:solidFill>
                <a:effectLst/>
                <a:uLnTx/>
                <a:uFillTx/>
              </a:rPr>
              <a:t>Monitor and maintain Azure resources (15–20%): Monitor resources in Azure</a:t>
            </a:r>
          </a:p>
          <a:p>
            <a:pPr marL="173038" marR="0" lvl="0" indent="-17303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rgbClr val="000000"/>
                </a:solidFill>
                <a:effectLst/>
                <a:uLnTx/>
                <a:uFillTx/>
              </a:rPr>
              <a:t>Use Azure Network Watcher</a:t>
            </a:r>
          </a:p>
          <a:p>
            <a:pPr marL="173038" marR="0" lvl="0" indent="-173038"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000" kern="0" dirty="0">
              <a:solidFill>
                <a:srgbClr val="000000"/>
              </a:solidFill>
            </a:endParaRPr>
          </a:p>
          <a:p>
            <a:pPr defTabSz="914400">
              <a:defRPr/>
            </a:pPr>
            <a:r>
              <a:rPr lang="en-US" sz="2000" kern="0" dirty="0">
                <a:solidFill>
                  <a:srgbClr val="243A5E"/>
                </a:solidFill>
              </a:rPr>
              <a:t>Implement and manage virtual networking (15–20%): Configure and manage virtual networks in Azure</a:t>
            </a:r>
          </a:p>
          <a:p>
            <a:pPr marL="228600" indent="-228600" defTabSz="914400">
              <a:buFont typeface="Arial" panose="020B0604020202020204" pitchFamily="34" charset="0"/>
              <a:buChar char="•"/>
              <a:defRPr/>
            </a:pPr>
            <a:r>
              <a:rPr lang="en-US" sz="2000" kern="0" dirty="0">
                <a:solidFill>
                  <a:srgbClr val="000000"/>
                </a:solidFill>
              </a:rPr>
              <a:t>Troubleshoot network connectivity</a:t>
            </a:r>
          </a:p>
          <a:p>
            <a:pPr marL="173038" marR="0" lvl="0" indent="-173038"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2925443923"/>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27038" y="449263"/>
            <a:ext cx="11568684" cy="655637"/>
          </a:xfrm>
        </p:spPr>
        <p:txBody>
          <a:bodyPr/>
          <a:lstStyle/>
          <a:p>
            <a:r>
              <a:rPr lang="en-US" dirty="0"/>
              <a:t>Describe Network Watcher Features</a:t>
            </a:r>
          </a:p>
        </p:txBody>
      </p:sp>
      <p:sp>
        <p:nvSpPr>
          <p:cNvPr id="2" name="Text Placeholder 1">
            <a:extLst>
              <a:ext uri="{FF2B5EF4-FFF2-40B4-BE49-F238E27FC236}">
                <a16:creationId xmlns:a16="http://schemas.microsoft.com/office/drawing/2014/main" id="{44B0691D-E6C9-39CA-6F66-2A8CBBC059BB}"/>
              </a:ext>
            </a:extLst>
          </p:cNvPr>
          <p:cNvSpPr>
            <a:spLocks noGrp="1"/>
          </p:cNvSpPr>
          <p:nvPr>
            <p:ph type="body" sz="quarter" idx="10"/>
          </p:nvPr>
        </p:nvSpPr>
        <p:spPr>
          <a:xfrm>
            <a:off x="441325" y="998538"/>
            <a:ext cx="11568113" cy="783035"/>
          </a:xfrm>
        </p:spPr>
        <p:txBody>
          <a:bodyPr/>
          <a:lstStyle/>
          <a:p>
            <a:r>
              <a:rPr lang="en-US" dirty="0"/>
              <a:t>A regional service with various network diagnostics</a:t>
            </a:r>
          </a:p>
          <a:p>
            <a:endParaRPr lang="en-US" dirty="0"/>
          </a:p>
        </p:txBody>
      </p:sp>
      <p:pic>
        <p:nvPicPr>
          <p:cNvPr id="1026" name="Picture 2" descr="Diagram showing Azure Network Watcher's capabilities.">
            <a:extLst>
              <a:ext uri="{FF2B5EF4-FFF2-40B4-BE49-F238E27FC236}">
                <a16:creationId xmlns:a16="http://schemas.microsoft.com/office/drawing/2014/main" id="{F32E27E5-EE1E-6A85-3633-4E0CE6C170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650" y="1781573"/>
            <a:ext cx="11430000" cy="4171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474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75382-A4CE-48F3-A068-9D22C12CFA9C}"/>
              </a:ext>
            </a:extLst>
          </p:cNvPr>
          <p:cNvSpPr>
            <a:spLocks noGrp="1"/>
          </p:cNvSpPr>
          <p:nvPr>
            <p:ph type="title"/>
          </p:nvPr>
        </p:nvSpPr>
        <p:spPr/>
        <p:txBody>
          <a:bodyPr/>
          <a:lstStyle/>
          <a:p>
            <a:r>
              <a:rPr lang="en-US" dirty="0">
                <a:cs typeface="Segoe UI"/>
              </a:rPr>
              <a:t>Review IP Flow Verify Diagnostics</a:t>
            </a:r>
            <a:endParaRPr lang="en-US" dirty="0"/>
          </a:p>
        </p:txBody>
      </p:sp>
      <p:sp>
        <p:nvSpPr>
          <p:cNvPr id="6" name="Rectangle 5">
            <a:extLst>
              <a:ext uri="{FF2B5EF4-FFF2-40B4-BE49-F238E27FC236}">
                <a16:creationId xmlns:a16="http://schemas.microsoft.com/office/drawing/2014/main" id="{0B133498-91A5-4247-8FDC-AC8AB06B45B8}"/>
              </a:ext>
              <a:ext uri="{C183D7F6-B498-43B3-948B-1728B52AA6E4}">
                <adec:decorative xmlns:adec="http://schemas.microsoft.com/office/drawing/2017/decorative" val="0"/>
              </a:ext>
            </a:extLst>
          </p:cNvPr>
          <p:cNvSpPr/>
          <p:nvPr/>
        </p:nvSpPr>
        <p:spPr bwMode="auto">
          <a:xfrm>
            <a:off x="413066" y="3195449"/>
            <a:ext cx="3017520" cy="1163060"/>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t" anchorCtr="0" forceAA="0" compatLnSpc="1">
            <a:prstTxWarp prst="textNoShape">
              <a:avLst/>
            </a:prstTxWarp>
            <a:noAutofit/>
          </a:bodyPr>
          <a:lstStyle/>
          <a:p>
            <a:pPr>
              <a:spcBef>
                <a:spcPts val="1200"/>
              </a:spcBef>
            </a:pPr>
            <a:r>
              <a:rPr lang="en-US" sz="2000" dirty="0">
                <a:solidFill>
                  <a:schemeClr val="tx1"/>
                </a:solidFill>
              </a:rPr>
              <a:t>Checks if a packet is allowed or denied to or from a virtual machine</a:t>
            </a:r>
          </a:p>
        </p:txBody>
      </p:sp>
      <p:pic>
        <p:nvPicPr>
          <p:cNvPr id="5" name="Picture 5" descr="A screenshot of IP Flow Verify.  Protocol is TCP. Direction is Inbound. Local IP address is 10.1.1.4. Local port is 3389. Remote IP address is 13.24.35.46. Remote port is 3389. Access is denied due to DenyAllInBound rule">
            <a:extLst>
              <a:ext uri="{FF2B5EF4-FFF2-40B4-BE49-F238E27FC236}">
                <a16:creationId xmlns:a16="http://schemas.microsoft.com/office/drawing/2014/main" id="{D93CDF2D-7131-4F28-878D-8771FFC671D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682999" y="1713833"/>
            <a:ext cx="8201025" cy="4294298"/>
          </a:xfrm>
          <a:prstGeom prst="rect">
            <a:avLst/>
          </a:prstGeom>
          <a:ln>
            <a:noFill/>
          </a:ln>
        </p:spPr>
      </p:pic>
    </p:spTree>
    <p:extLst>
      <p:ext uri="{BB962C8B-B14F-4D97-AF65-F5344CB8AC3E}">
        <p14:creationId xmlns:p14="http://schemas.microsoft.com/office/powerpoint/2010/main" val="4191966929"/>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Review Next Hop Diagnostics</a:t>
            </a:r>
          </a:p>
        </p:txBody>
      </p:sp>
      <p:sp>
        <p:nvSpPr>
          <p:cNvPr id="9" name="Rectangle 8">
            <a:extLst>
              <a:ext uri="{FF2B5EF4-FFF2-40B4-BE49-F238E27FC236}">
                <a16:creationId xmlns:a16="http://schemas.microsoft.com/office/drawing/2014/main" id="{A0D06B2A-44AD-434C-BB00-D63B1C45AB49}"/>
              </a:ext>
              <a:ext uri="{C183D7F6-B498-43B3-948B-1728B52AA6E4}">
                <adec:decorative xmlns:adec="http://schemas.microsoft.com/office/drawing/2017/decorative" val="0"/>
              </a:ext>
            </a:extLst>
          </p:cNvPr>
          <p:cNvSpPr/>
          <p:nvPr/>
        </p:nvSpPr>
        <p:spPr bwMode="auto">
          <a:xfrm>
            <a:off x="427037" y="2638424"/>
            <a:ext cx="4135438" cy="1729581"/>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spcBef>
                <a:spcPts val="1200"/>
              </a:spcBef>
            </a:pPr>
            <a:r>
              <a:rPr lang="en-US" sz="2000" dirty="0">
                <a:solidFill>
                  <a:schemeClr val="tx1"/>
                </a:solidFill>
              </a:rPr>
              <a:t>Helps with determining whether traffic is being directed to the intended destination by showing the next hop</a:t>
            </a:r>
          </a:p>
        </p:txBody>
      </p:sp>
      <p:pic>
        <p:nvPicPr>
          <p:cNvPr id="2" name="Picture 3" descr="Screenshot of the Next hop page. The Next hop button is highlighted showing that the next hop is a virtual appliance on IP address 10.1.1.100">
            <a:extLst>
              <a:ext uri="{FF2B5EF4-FFF2-40B4-BE49-F238E27FC236}">
                <a16:creationId xmlns:a16="http://schemas.microsoft.com/office/drawing/2014/main" id="{097391FB-CD7D-481A-ADFC-FEF70E8A454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050244" y="1301462"/>
            <a:ext cx="4965137" cy="4989272"/>
          </a:xfrm>
          <a:prstGeom prst="rect">
            <a:avLst/>
          </a:prstGeom>
          <a:ln>
            <a:noFill/>
          </a:ln>
        </p:spPr>
      </p:pic>
    </p:spTree>
    <p:extLst>
      <p:ext uri="{BB962C8B-B14F-4D97-AF65-F5344CB8AC3E}">
        <p14:creationId xmlns:p14="http://schemas.microsoft.com/office/powerpoint/2010/main" val="3712709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100B4-10C8-4BEF-B037-F660CEAD1755}"/>
              </a:ext>
            </a:extLst>
          </p:cNvPr>
          <p:cNvSpPr>
            <a:spLocks noGrp="1"/>
          </p:cNvSpPr>
          <p:nvPr>
            <p:ph type="title"/>
          </p:nvPr>
        </p:nvSpPr>
        <p:spPr/>
        <p:txBody>
          <a:bodyPr/>
          <a:lstStyle/>
          <a:p>
            <a:r>
              <a:rPr lang="en-US" dirty="0">
                <a:cs typeface="Segoe UI"/>
              </a:rPr>
              <a:t>Visualize the Network Topology</a:t>
            </a:r>
            <a:endParaRPr lang="en-US" dirty="0"/>
          </a:p>
        </p:txBody>
      </p:sp>
      <p:sp>
        <p:nvSpPr>
          <p:cNvPr id="15" name="Freeform: Shape 14">
            <a:extLst>
              <a:ext uri="{FF2B5EF4-FFF2-40B4-BE49-F238E27FC236}">
                <a16:creationId xmlns:a16="http://schemas.microsoft.com/office/drawing/2014/main" id="{702453A2-FD2F-428B-ABF4-FC73A8C67B76}"/>
              </a:ext>
            </a:extLst>
          </p:cNvPr>
          <p:cNvSpPr/>
          <p:nvPr/>
        </p:nvSpPr>
        <p:spPr>
          <a:xfrm>
            <a:off x="505910" y="1352498"/>
            <a:ext cx="5214169" cy="1383346"/>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spcBef>
                <a:spcPts val="1200"/>
              </a:spcBef>
            </a:pPr>
            <a:r>
              <a:rPr lang="en-US" sz="2000" dirty="0">
                <a:solidFill>
                  <a:schemeClr val="tx1"/>
                </a:solidFill>
              </a:rPr>
              <a:t>Provides a visual representation of your networking elements</a:t>
            </a:r>
          </a:p>
        </p:txBody>
      </p:sp>
      <p:sp>
        <p:nvSpPr>
          <p:cNvPr id="16" name="Freeform: Shape 15">
            <a:extLst>
              <a:ext uri="{FF2B5EF4-FFF2-40B4-BE49-F238E27FC236}">
                <a16:creationId xmlns:a16="http://schemas.microsoft.com/office/drawing/2014/main" id="{9CB9C76E-0691-4DD0-BB71-879F91A12EA6}"/>
              </a:ext>
            </a:extLst>
          </p:cNvPr>
          <p:cNvSpPr/>
          <p:nvPr/>
        </p:nvSpPr>
        <p:spPr>
          <a:xfrm>
            <a:off x="505910" y="2911504"/>
            <a:ext cx="5214169" cy="1383346"/>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spcBef>
                <a:spcPts val="1200"/>
              </a:spcBef>
            </a:pPr>
            <a:r>
              <a:rPr lang="en-US" sz="2000" dirty="0">
                <a:solidFill>
                  <a:schemeClr val="tx1"/>
                </a:solidFill>
              </a:rPr>
              <a:t>View all the resources in a virtual network, resource to resource associations, and relationships between the resources</a:t>
            </a:r>
          </a:p>
        </p:txBody>
      </p:sp>
      <p:sp>
        <p:nvSpPr>
          <p:cNvPr id="17" name="Freeform: Shape 16">
            <a:extLst>
              <a:ext uri="{FF2B5EF4-FFF2-40B4-BE49-F238E27FC236}">
                <a16:creationId xmlns:a16="http://schemas.microsoft.com/office/drawing/2014/main" id="{04E1EFB6-FBED-46F1-83AF-77B2409690BA}"/>
              </a:ext>
            </a:extLst>
          </p:cNvPr>
          <p:cNvSpPr/>
          <p:nvPr/>
        </p:nvSpPr>
        <p:spPr>
          <a:xfrm>
            <a:off x="539114" y="4435581"/>
            <a:ext cx="5180965" cy="1383346"/>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a:spcBef>
                <a:spcPts val="1200"/>
              </a:spcBef>
            </a:pPr>
            <a:r>
              <a:rPr lang="en-US" sz="2000" dirty="0">
                <a:solidFill>
                  <a:schemeClr val="tx1"/>
                </a:solidFill>
              </a:rPr>
              <a:t>Locate the Network Watcher instance in the same region as the virtual network</a:t>
            </a:r>
          </a:p>
        </p:txBody>
      </p:sp>
      <p:pic>
        <p:nvPicPr>
          <p:cNvPr id="5" name="Picture 4" descr="Network Watcher topology diagram.">
            <a:extLst>
              <a:ext uri="{FF2B5EF4-FFF2-40B4-BE49-F238E27FC236}">
                <a16:creationId xmlns:a16="http://schemas.microsoft.com/office/drawing/2014/main" id="{6B2B0735-9D1C-2BFA-1262-CB800B0C823C}"/>
              </a:ext>
            </a:extLst>
          </p:cNvPr>
          <p:cNvPicPr>
            <a:picLocks noChangeAspect="1"/>
          </p:cNvPicPr>
          <p:nvPr/>
        </p:nvPicPr>
        <p:blipFill>
          <a:blip r:embed="rId3"/>
          <a:stretch>
            <a:fillRect/>
          </a:stretch>
        </p:blipFill>
        <p:spPr>
          <a:xfrm>
            <a:off x="6487980" y="1079436"/>
            <a:ext cx="5373719" cy="4891891"/>
          </a:xfrm>
          <a:prstGeom prst="rect">
            <a:avLst/>
          </a:prstGeom>
        </p:spPr>
      </p:pic>
    </p:spTree>
    <p:extLst>
      <p:ext uri="{BB962C8B-B14F-4D97-AF65-F5344CB8AC3E}">
        <p14:creationId xmlns:p14="http://schemas.microsoft.com/office/powerpoint/2010/main" val="1968647484"/>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t>Learning Recap – Introduction to Network Watcher</a:t>
            </a:r>
          </a:p>
        </p:txBody>
      </p:sp>
      <p:sp>
        <p:nvSpPr>
          <p:cNvPr id="9" name="TextBox 8">
            <a:extLst>
              <a:ext uri="{FF2B5EF4-FFF2-40B4-BE49-F238E27FC236}">
                <a16:creationId xmlns:a16="http://schemas.microsoft.com/office/drawing/2014/main" id="{3FD9F227-18B1-4F15-8C5F-AE0A0A5E981A}"/>
              </a:ext>
            </a:extLst>
          </p:cNvPr>
          <p:cNvSpPr txBox="1"/>
          <p:nvPr/>
        </p:nvSpPr>
        <p:spPr>
          <a:xfrm>
            <a:off x="3717475" y="2407301"/>
            <a:ext cx="7213060" cy="1785104"/>
          </a:xfrm>
          <a:prstGeom prst="rect">
            <a:avLst/>
          </a:prstGeom>
          <a:noFill/>
        </p:spPr>
        <p:txBody>
          <a:bodyPr wrap="square">
            <a:spAutoFit/>
          </a:bodyPr>
          <a:lstStyle/>
          <a:p>
            <a:pPr marL="342900" indent="-342900">
              <a:spcAft>
                <a:spcPts val="600"/>
              </a:spcAft>
              <a:buFont typeface="Arial" panose="020B0604020202020204" pitchFamily="34" charset="0"/>
              <a:buChar char="•"/>
            </a:pPr>
            <a:r>
              <a:rPr lang="en-US" sz="2000" dirty="0">
                <a:hlinkClick r:id="rId3"/>
              </a:rPr>
              <a:t>Introduction to Azure Network Watcher</a:t>
            </a:r>
            <a:endParaRPr lang="en-US" sz="2000" dirty="0"/>
          </a:p>
          <a:p>
            <a:pPr marL="342900" indent="-342900">
              <a:spcAft>
                <a:spcPts val="600"/>
              </a:spcAft>
              <a:buFont typeface="Arial" panose="020B0604020202020204" pitchFamily="34" charset="0"/>
              <a:buChar char="•"/>
            </a:pPr>
            <a:r>
              <a:rPr lang="en-US" sz="2000" dirty="0">
                <a:hlinkClick r:id="rId4"/>
              </a:rPr>
              <a:t>Monitor and troubleshoot your end-to-end Azure network infrastructure by using network monitoring tools</a:t>
            </a:r>
            <a:endParaRPr lang="en-US" sz="2000" dirty="0"/>
          </a:p>
          <a:p>
            <a:pPr marL="342900" indent="-342900">
              <a:spcAft>
                <a:spcPts val="600"/>
              </a:spcAft>
              <a:buFont typeface="Arial" panose="020B0604020202020204" pitchFamily="34" charset="0"/>
              <a:buChar char="•"/>
            </a:pPr>
            <a:r>
              <a:rPr lang="en-US" sz="2000">
                <a:hlinkClick r:id="rId5"/>
              </a:rPr>
              <a:t>Troubleshoot </a:t>
            </a:r>
            <a:r>
              <a:rPr lang="en-US" sz="2000" dirty="0">
                <a:hlinkClick r:id="rId5"/>
              </a:rPr>
              <a:t>connectivity issues with virtual machines in Microsoft Azure </a:t>
            </a:r>
            <a:endParaRPr lang="en-US" sz="2000" dirty="0"/>
          </a:p>
        </p:txBody>
      </p:sp>
    </p:spTree>
    <p:extLst>
      <p:ext uri="{BB962C8B-B14F-4D97-AF65-F5344CB8AC3E}">
        <p14:creationId xmlns:p14="http://schemas.microsoft.com/office/powerpoint/2010/main" val="27104719"/>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p:txBody>
          <a:bodyPr/>
          <a:lstStyle/>
          <a:p>
            <a:r>
              <a:rPr lang="en-US" dirty="0"/>
              <a:t>Lab – Implement Traffic Management</a:t>
            </a:r>
          </a:p>
        </p:txBody>
      </p:sp>
    </p:spTree>
    <p:extLst>
      <p:ext uri="{BB962C8B-B14F-4D97-AF65-F5344CB8AC3E}">
        <p14:creationId xmlns:p14="http://schemas.microsoft.com/office/powerpoint/2010/main" val="1671104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B55C8-6368-4BBB-A9E6-0DE88363DA1D}"/>
              </a:ext>
            </a:extLst>
          </p:cNvPr>
          <p:cNvSpPr>
            <a:spLocks noGrp="1"/>
          </p:cNvSpPr>
          <p:nvPr>
            <p:ph type="title"/>
          </p:nvPr>
        </p:nvSpPr>
        <p:spPr>
          <a:xfrm>
            <a:off x="600855" y="525428"/>
            <a:ext cx="11701941" cy="502246"/>
          </a:xfrm>
        </p:spPr>
        <p:txBody>
          <a:bodyPr>
            <a:noAutofit/>
          </a:bodyPr>
          <a:lstStyle/>
          <a:p>
            <a:r>
              <a:rPr lang="en-US" dirty="0"/>
              <a:t>Lab 06 – Implement traffic management</a:t>
            </a:r>
          </a:p>
        </p:txBody>
      </p:sp>
      <p:sp>
        <p:nvSpPr>
          <p:cNvPr id="3" name="Rectangle 2">
            <a:extLst>
              <a:ext uri="{FF2B5EF4-FFF2-40B4-BE49-F238E27FC236}">
                <a16:creationId xmlns:a16="http://schemas.microsoft.com/office/drawing/2014/main" id="{A86D35E2-A7CA-4C7F-B18E-55C37E3FB5AF}"/>
              </a:ext>
            </a:extLst>
          </p:cNvPr>
          <p:cNvSpPr/>
          <p:nvPr/>
        </p:nvSpPr>
        <p:spPr bwMode="auto">
          <a:xfrm>
            <a:off x="387696" y="2423281"/>
            <a:ext cx="3545369" cy="268585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defTabSz="932563">
              <a:spcAft>
                <a:spcPts val="612"/>
              </a:spcAft>
            </a:pPr>
            <a:r>
              <a:rPr lang="en-US" dirty="0">
                <a:solidFill>
                  <a:srgbClr val="000000"/>
                </a:solidFill>
                <a:latin typeface="Segoe UI"/>
                <a:ea typeface="+mn-lt"/>
                <a:cs typeface="Segoe UI"/>
              </a:rPr>
              <a:t>In this lab, you learn about load balancing.</a:t>
            </a:r>
          </a:p>
          <a:p>
            <a:pPr defTabSz="932563">
              <a:spcAft>
                <a:spcPts val="612"/>
              </a:spcAft>
            </a:pPr>
            <a:r>
              <a:rPr lang="en-US" dirty="0">
                <a:solidFill>
                  <a:srgbClr val="000000"/>
                </a:solidFill>
                <a:latin typeface="Segoe UI"/>
                <a:ea typeface="+mn-lt"/>
                <a:cs typeface="Segoe UI"/>
              </a:rPr>
              <a:t>You learn how to implement and test an Azure Load Balancer and </a:t>
            </a:r>
            <a:r>
              <a:rPr lang="en-US" dirty="0">
                <a:solidFill>
                  <a:srgbClr val="000000"/>
                </a:solidFill>
                <a:ea typeface="+mn-lt"/>
                <a:cs typeface="Segoe UI"/>
              </a:rPr>
              <a:t>an Azure Application Gateway. </a:t>
            </a:r>
            <a:endParaRPr lang="en-US" dirty="0">
              <a:solidFill>
                <a:srgbClr val="000000"/>
              </a:solidFill>
              <a:latin typeface="Segoe UI"/>
              <a:ea typeface="+mn-lt"/>
              <a:cs typeface="Segoe UI"/>
            </a:endParaRPr>
          </a:p>
        </p:txBody>
      </p:sp>
      <p:sp>
        <p:nvSpPr>
          <p:cNvPr id="13" name="Rectangle 12">
            <a:extLst>
              <a:ext uri="{FF2B5EF4-FFF2-40B4-BE49-F238E27FC236}">
                <a16:creationId xmlns:a16="http://schemas.microsoft.com/office/drawing/2014/main" id="{29E9F4D2-B825-4794-A782-C5C95373EFAD}"/>
              </a:ext>
            </a:extLst>
          </p:cNvPr>
          <p:cNvSpPr/>
          <p:nvPr/>
        </p:nvSpPr>
        <p:spPr bwMode="auto">
          <a:xfrm>
            <a:off x="5035247" y="2060136"/>
            <a:ext cx="6890320" cy="3049002"/>
          </a:xfrm>
          <a:prstGeom prst="rect">
            <a:avLst/>
          </a:prstGeom>
          <a:solidFill>
            <a:schemeClr val="bg1"/>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54" tIns="137141" rIns="182854" bIns="137141" numCol="1" spcCol="1270" anchor="t" anchorCtr="0">
            <a:noAutofit/>
          </a:bodyPr>
          <a:lstStyle/>
          <a:p>
            <a:pPr defTabSz="932563">
              <a:spcAft>
                <a:spcPts val="612"/>
              </a:spcAft>
              <a:buSzPct val="90000"/>
            </a:pPr>
            <a:r>
              <a:rPr lang="en-US" sz="2000" dirty="0">
                <a:solidFill>
                  <a:srgbClr val="000000"/>
                </a:solidFill>
                <a:latin typeface="Segoe UI Semibold"/>
                <a:cs typeface="Segoe UI Semilight"/>
              </a:rPr>
              <a:t>Task 1: </a:t>
            </a:r>
            <a:r>
              <a:rPr lang="en-US" sz="2000" dirty="0">
                <a:solidFill>
                  <a:srgbClr val="000000"/>
                </a:solidFill>
                <a:latin typeface="Segoe UI" panose="020B0502040204020203" pitchFamily="34" charset="0"/>
                <a:cs typeface="Segoe UI" panose="020B0502040204020203" pitchFamily="34" charset="0"/>
              </a:rPr>
              <a:t>Use a template to provision an infrastructure.</a:t>
            </a:r>
          </a:p>
          <a:p>
            <a:pPr defTabSz="932563">
              <a:spcAft>
                <a:spcPts val="612"/>
              </a:spcAft>
              <a:buSzPct val="90000"/>
            </a:pPr>
            <a:r>
              <a:rPr lang="en-US" sz="2000" dirty="0">
                <a:solidFill>
                  <a:srgbClr val="000000"/>
                </a:solidFill>
                <a:latin typeface="Segoe UI Semibold"/>
                <a:cs typeface="Segoe UI Semilight"/>
              </a:rPr>
              <a:t>Task 2: </a:t>
            </a:r>
            <a:r>
              <a:rPr lang="en-US" sz="2000" dirty="0">
                <a:solidFill>
                  <a:srgbClr val="000000"/>
                </a:solidFill>
                <a:latin typeface="Segoe UI"/>
                <a:cs typeface="Segoe UI Semilight"/>
              </a:rPr>
              <a:t>Configure an Azure Load Balancer.</a:t>
            </a:r>
          </a:p>
          <a:p>
            <a:pPr defTabSz="932563">
              <a:spcAft>
                <a:spcPts val="612"/>
              </a:spcAft>
              <a:buSzPct val="90000"/>
            </a:pPr>
            <a:r>
              <a:rPr lang="en-US" sz="2000" dirty="0">
                <a:solidFill>
                  <a:srgbClr val="000000"/>
                </a:solidFill>
                <a:latin typeface="Segoe UI Semibold"/>
                <a:cs typeface="Segoe UI Semilight"/>
              </a:rPr>
              <a:t>Task 3: </a:t>
            </a:r>
            <a:r>
              <a:rPr lang="en-US" sz="2000" dirty="0">
                <a:solidFill>
                  <a:srgbClr val="000000"/>
                </a:solidFill>
                <a:latin typeface="Segoe UI"/>
                <a:cs typeface="Segoe UI Semilight"/>
              </a:rPr>
              <a:t>Configure an Azure Application Gateway.</a:t>
            </a:r>
          </a:p>
          <a:p>
            <a:pPr defTabSz="932563">
              <a:spcAft>
                <a:spcPts val="612"/>
              </a:spcAft>
              <a:buSzPct val="90000"/>
            </a:pPr>
            <a:endParaRPr lang="en-US" sz="2000" dirty="0">
              <a:solidFill>
                <a:srgbClr val="000000"/>
              </a:solidFill>
              <a:latin typeface="Segoe UI"/>
              <a:cs typeface="Segoe UI Semilight"/>
            </a:endParaRPr>
          </a:p>
          <a:p>
            <a:pPr defTabSz="932563">
              <a:spcAft>
                <a:spcPts val="612"/>
              </a:spcAft>
              <a:buSzPct val="90000"/>
            </a:pPr>
            <a:endParaRPr lang="en-US" sz="2000" dirty="0">
              <a:solidFill>
                <a:srgbClr val="000000"/>
              </a:solidFill>
              <a:latin typeface="Segoe UI"/>
              <a:cs typeface="Segoe UI Semilight"/>
            </a:endParaRPr>
          </a:p>
          <a:p>
            <a:pPr defTabSz="932563">
              <a:spcAft>
                <a:spcPts val="612"/>
              </a:spcAft>
              <a:buSzPct val="90000"/>
            </a:pPr>
            <a:r>
              <a:rPr lang="en-US" sz="2000">
                <a:solidFill>
                  <a:srgbClr val="000000"/>
                </a:solidFill>
                <a:latin typeface="Segoe UI"/>
                <a:cs typeface="Segoe UI Semilight"/>
              </a:rPr>
              <a:t>45mins to do</a:t>
            </a:r>
            <a:br>
              <a:rPr lang="en-US" sz="2000">
                <a:solidFill>
                  <a:srgbClr val="000000"/>
                </a:solidFill>
                <a:latin typeface="Segoe UI"/>
                <a:cs typeface="Segoe UI Semilight"/>
              </a:rPr>
            </a:br>
            <a:br>
              <a:rPr lang="en-US" sz="2000">
                <a:solidFill>
                  <a:srgbClr val="000000"/>
                </a:solidFill>
                <a:latin typeface="Segoe UI"/>
                <a:cs typeface="Segoe UI Semilight"/>
              </a:rPr>
            </a:br>
            <a:r>
              <a:rPr lang="en-US" sz="2000">
                <a:solidFill>
                  <a:srgbClr val="000000"/>
                </a:solidFill>
                <a:latin typeface="Segoe UI"/>
                <a:cs typeface="Segoe UI Semilight"/>
              </a:rPr>
              <a:t>10am&gt;10:45  STORAGE!</a:t>
            </a:r>
            <a:br>
              <a:rPr lang="en-US" sz="2000">
                <a:solidFill>
                  <a:srgbClr val="000000"/>
                </a:solidFill>
                <a:latin typeface="Segoe UI"/>
                <a:cs typeface="Segoe UI Semilight"/>
              </a:rPr>
            </a:br>
            <a:br>
              <a:rPr lang="en-US" sz="2000">
                <a:solidFill>
                  <a:srgbClr val="000000"/>
                </a:solidFill>
                <a:latin typeface="Segoe UI"/>
                <a:cs typeface="Segoe UI Semilight"/>
              </a:rPr>
            </a:br>
            <a:endParaRPr lang="en-US" sz="2000" dirty="0">
              <a:solidFill>
                <a:srgbClr val="000000"/>
              </a:solidFill>
              <a:latin typeface="Segoe UI"/>
              <a:cs typeface="Segoe UI Semilight"/>
            </a:endParaRPr>
          </a:p>
          <a:p>
            <a:pPr defTabSz="932563">
              <a:spcAft>
                <a:spcPts val="612"/>
              </a:spcAft>
              <a:buSzPct val="90000"/>
            </a:pPr>
            <a:endParaRPr lang="en-US" sz="2000" dirty="0">
              <a:solidFill>
                <a:srgbClr val="000000"/>
              </a:solidFill>
              <a:latin typeface="Segoe UI"/>
              <a:cs typeface="Segoe UI Semilight"/>
            </a:endParaRPr>
          </a:p>
          <a:p>
            <a:pPr defTabSz="932563">
              <a:spcAft>
                <a:spcPts val="612"/>
              </a:spcAft>
              <a:buSzPct val="90000"/>
            </a:pPr>
            <a:endParaRPr lang="en-US" sz="2000" dirty="0">
              <a:solidFill>
                <a:srgbClr val="000000"/>
              </a:solidFill>
              <a:latin typeface="Segoe UI"/>
              <a:cs typeface="Segoe UI Semilight"/>
            </a:endParaRPr>
          </a:p>
          <a:p>
            <a:pPr defTabSz="932563">
              <a:spcAft>
                <a:spcPts val="612"/>
              </a:spcAft>
              <a:buSzPct val="90000"/>
            </a:pPr>
            <a:endParaRPr lang="en-US" sz="2000" dirty="0">
              <a:solidFill>
                <a:srgbClr val="000000"/>
              </a:solidFill>
              <a:latin typeface="Segoe UI"/>
              <a:cs typeface="Segoe UI Semilight"/>
            </a:endParaRPr>
          </a:p>
          <a:p>
            <a:pPr defTabSz="932563">
              <a:spcAft>
                <a:spcPts val="612"/>
              </a:spcAft>
              <a:buSzPct val="90000"/>
            </a:pPr>
            <a:endParaRPr lang="en-US" sz="2000" dirty="0">
              <a:solidFill>
                <a:srgbClr val="000000"/>
              </a:solidFill>
              <a:latin typeface="Segoe UI"/>
              <a:cs typeface="Segoe UI Semilight"/>
            </a:endParaRPr>
          </a:p>
        </p:txBody>
      </p:sp>
      <p:sp>
        <p:nvSpPr>
          <p:cNvPr id="19" name="Text Placeholder 2">
            <a:extLst>
              <a:ext uri="{FF2B5EF4-FFF2-40B4-BE49-F238E27FC236}">
                <a16:creationId xmlns:a16="http://schemas.microsoft.com/office/drawing/2014/main" id="{585766C3-22A0-4241-A7D4-28BD41B6EA08}"/>
              </a:ext>
              <a:ext uri="{C183D7F6-B498-43B3-948B-1728B52AA6E4}">
                <adec:decorative xmlns:adec="http://schemas.microsoft.com/office/drawing/2017/decorative" val="1"/>
              </a:ext>
            </a:extLst>
          </p:cNvPr>
          <p:cNvSpPr txBox="1">
            <a:spLocks/>
          </p:cNvSpPr>
          <p:nvPr/>
        </p:nvSpPr>
        <p:spPr>
          <a:xfrm>
            <a:off x="8293460" y="6141600"/>
            <a:ext cx="3408749" cy="246093"/>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32563"/>
            <a:r>
              <a:rPr lang="en-US" sz="1599" spc="0" dirty="0">
                <a:latin typeface="Segoe UI"/>
                <a:cs typeface="Segoe UI Semilight"/>
              </a:rPr>
              <a:t>Next slide for an architecture diagram </a:t>
            </a:r>
          </a:p>
        </p:txBody>
      </p:sp>
      <p:sp>
        <p:nvSpPr>
          <p:cNvPr id="20" name="arrow_15">
            <a:extLst>
              <a:ext uri="{FF2B5EF4-FFF2-40B4-BE49-F238E27FC236}">
                <a16:creationId xmlns:a16="http://schemas.microsoft.com/office/drawing/2014/main" id="{52C53CB4-95B7-4E2F-9485-9B7364B2C047}"/>
              </a:ext>
              <a:ext uri="{C183D7F6-B498-43B3-948B-1728B52AA6E4}">
                <adec:decorative xmlns:adec="http://schemas.microsoft.com/office/drawing/2017/decorative" val="1"/>
              </a:ext>
            </a:extLst>
          </p:cNvPr>
          <p:cNvSpPr>
            <a:spLocks noChangeAspect="1" noEditPoints="1"/>
          </p:cNvSpPr>
          <p:nvPr/>
        </p:nvSpPr>
        <p:spPr bwMode="auto">
          <a:xfrm>
            <a:off x="11782717" y="6141601"/>
            <a:ext cx="225900" cy="224873"/>
          </a:xfrm>
          <a:custGeom>
            <a:avLst/>
            <a:gdLst>
              <a:gd name="T0" fmla="*/ 0 w 304"/>
              <a:gd name="T1" fmla="*/ 151 h 303"/>
              <a:gd name="T2" fmla="*/ 152 w 304"/>
              <a:gd name="T3" fmla="*/ 0 h 303"/>
              <a:gd name="T4" fmla="*/ 304 w 304"/>
              <a:gd name="T5" fmla="*/ 151 h 303"/>
              <a:gd name="T6" fmla="*/ 152 w 304"/>
              <a:gd name="T7" fmla="*/ 303 h 303"/>
              <a:gd name="T8" fmla="*/ 0 w 304"/>
              <a:gd name="T9" fmla="*/ 151 h 303"/>
              <a:gd name="T10" fmla="*/ 151 w 304"/>
              <a:gd name="T11" fmla="*/ 223 h 303"/>
              <a:gd name="T12" fmla="*/ 223 w 304"/>
              <a:gd name="T13" fmla="*/ 151 h 303"/>
              <a:gd name="T14" fmla="*/ 151 w 304"/>
              <a:gd name="T15" fmla="*/ 79 h 303"/>
              <a:gd name="T16" fmla="*/ 223 w 304"/>
              <a:gd name="T17" fmla="*/ 151 h 303"/>
              <a:gd name="T18" fmla="*/ 73 w 304"/>
              <a:gd name="T19" fmla="*/ 151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4" h="303">
                <a:moveTo>
                  <a:pt x="0" y="151"/>
                </a:moveTo>
                <a:cubicBezTo>
                  <a:pt x="0" y="68"/>
                  <a:pt x="68" y="0"/>
                  <a:pt x="152" y="0"/>
                </a:cubicBezTo>
                <a:cubicBezTo>
                  <a:pt x="236" y="0"/>
                  <a:pt x="304" y="68"/>
                  <a:pt x="304" y="151"/>
                </a:cubicBezTo>
                <a:cubicBezTo>
                  <a:pt x="304" y="235"/>
                  <a:pt x="236" y="303"/>
                  <a:pt x="152" y="303"/>
                </a:cubicBezTo>
                <a:cubicBezTo>
                  <a:pt x="68" y="303"/>
                  <a:pt x="0" y="235"/>
                  <a:pt x="0" y="151"/>
                </a:cubicBezTo>
                <a:close/>
                <a:moveTo>
                  <a:pt x="151" y="223"/>
                </a:moveTo>
                <a:cubicBezTo>
                  <a:pt x="223" y="151"/>
                  <a:pt x="223" y="151"/>
                  <a:pt x="223" y="151"/>
                </a:cubicBezTo>
                <a:cubicBezTo>
                  <a:pt x="151" y="79"/>
                  <a:pt x="151" y="79"/>
                  <a:pt x="151" y="79"/>
                </a:cubicBezTo>
                <a:moveTo>
                  <a:pt x="223" y="151"/>
                </a:moveTo>
                <a:cubicBezTo>
                  <a:pt x="73" y="151"/>
                  <a:pt x="73" y="151"/>
                  <a:pt x="73" y="151"/>
                </a:cubicBezTo>
              </a:path>
            </a:pathLst>
          </a:custGeom>
          <a:solidFill>
            <a:srgbClr val="FFFF00"/>
          </a:solidFill>
          <a:ln w="15875" cap="sq">
            <a:solidFill>
              <a:schemeClr val="tx1"/>
            </a:solidFill>
            <a:prstDash val="solid"/>
            <a:miter lim="800000"/>
            <a:headEnd/>
            <a:tailEnd/>
          </a:ln>
        </p:spPr>
        <p:txBody>
          <a:bodyPr vert="horz" wrap="square" lIns="91427" tIns="45713" rIns="91427" bIns="45713" numCol="1" anchor="t" anchorCtr="0" compatLnSpc="1">
            <a:prstTxWarp prst="textNoShape">
              <a:avLst/>
            </a:prstTxWarp>
          </a:bodyPr>
          <a:lstStyle/>
          <a:p>
            <a:pPr defTabSz="932563"/>
            <a:endParaRPr lang="en-US" sz="900" dirty="0">
              <a:solidFill>
                <a:srgbClr val="000000"/>
              </a:solidFill>
              <a:latin typeface="Segoe UI"/>
            </a:endParaRPr>
          </a:p>
        </p:txBody>
      </p:sp>
      <p:sp>
        <p:nvSpPr>
          <p:cNvPr id="4" name="TextBox 3">
            <a:extLst>
              <a:ext uri="{FF2B5EF4-FFF2-40B4-BE49-F238E27FC236}">
                <a16:creationId xmlns:a16="http://schemas.microsoft.com/office/drawing/2014/main" id="{89B0C7DE-9F99-5F16-33DD-9FF68B1062D7}"/>
              </a:ext>
            </a:extLst>
          </p:cNvPr>
          <p:cNvSpPr txBox="1"/>
          <p:nvPr/>
        </p:nvSpPr>
        <p:spPr>
          <a:xfrm>
            <a:off x="5035246" y="1738886"/>
            <a:ext cx="6215646" cy="414353"/>
          </a:xfrm>
          <a:prstGeom prst="rect">
            <a:avLst/>
          </a:prstGeom>
          <a:noFill/>
        </p:spPr>
        <p:txBody>
          <a:bodyPr wrap="square">
            <a:spAutoFit/>
          </a:bodyPr>
          <a:lstStyle/>
          <a:p>
            <a:r>
              <a:rPr lang="en-US" sz="2040" dirty="0">
                <a:latin typeface="Segoe UI Semibold" panose="020B0702040204020203" pitchFamily="34" charset="0"/>
                <a:cs typeface="Segoe UI Semibold" panose="020B0702040204020203" pitchFamily="34" charset="0"/>
              </a:rPr>
              <a:t>Job Skills</a:t>
            </a:r>
            <a:endParaRPr lang="en-US" sz="2040" dirty="0"/>
          </a:p>
        </p:txBody>
      </p:sp>
    </p:spTree>
    <p:extLst>
      <p:ext uri="{BB962C8B-B14F-4D97-AF65-F5344CB8AC3E}">
        <p14:creationId xmlns:p14="http://schemas.microsoft.com/office/powerpoint/2010/main" val="677934374"/>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D6D26-A3DB-43D4-8A67-99A2F174A4A2}"/>
              </a:ext>
            </a:extLst>
          </p:cNvPr>
          <p:cNvSpPr>
            <a:spLocks noGrp="1"/>
          </p:cNvSpPr>
          <p:nvPr>
            <p:ph type="title"/>
          </p:nvPr>
        </p:nvSpPr>
        <p:spPr/>
        <p:txBody>
          <a:bodyPr/>
          <a:lstStyle/>
          <a:p>
            <a:r>
              <a:rPr lang="en-US" sz="3264" dirty="0">
                <a:cs typeface="Segoe UI"/>
              </a:rPr>
              <a:t>Lab 06 – Architecture Diagram (Load Balancer)</a:t>
            </a:r>
            <a:endParaRPr lang="en-US" sz="3264" dirty="0"/>
          </a:p>
        </p:txBody>
      </p:sp>
      <p:grpSp>
        <p:nvGrpSpPr>
          <p:cNvPr id="10" name="Group 9" descr="Architecture diagram for the load balancer. ">
            <a:extLst>
              <a:ext uri="{FF2B5EF4-FFF2-40B4-BE49-F238E27FC236}">
                <a16:creationId xmlns:a16="http://schemas.microsoft.com/office/drawing/2014/main" id="{03BEFFF5-68A4-276B-3D4C-BC5BEC7E7993}"/>
              </a:ext>
            </a:extLst>
          </p:cNvPr>
          <p:cNvGrpSpPr/>
          <p:nvPr/>
        </p:nvGrpSpPr>
        <p:grpSpPr>
          <a:xfrm>
            <a:off x="1717720" y="1538610"/>
            <a:ext cx="9313520" cy="4343033"/>
            <a:chOff x="2761131" y="1508579"/>
            <a:chExt cx="8053927" cy="4258262"/>
          </a:xfrm>
        </p:grpSpPr>
        <p:sp>
          <p:nvSpPr>
            <p:cNvPr id="7" name="Rectangle 6">
              <a:extLst>
                <a:ext uri="{FF2B5EF4-FFF2-40B4-BE49-F238E27FC236}">
                  <a16:creationId xmlns:a16="http://schemas.microsoft.com/office/drawing/2014/main" id="{002E6FDA-6777-508E-C9D2-986CECC3C9EF}"/>
                </a:ext>
              </a:extLst>
            </p:cNvPr>
            <p:cNvSpPr/>
            <p:nvPr/>
          </p:nvSpPr>
          <p:spPr bwMode="auto">
            <a:xfrm>
              <a:off x="3135708" y="3771224"/>
              <a:ext cx="7666764" cy="122648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856" dirty="0" err="1">
                <a:gradFill>
                  <a:gsLst>
                    <a:gs pos="0">
                      <a:srgbClr val="FFFFFF"/>
                    </a:gs>
                    <a:gs pos="100000">
                      <a:srgbClr val="FFFFFF"/>
                    </a:gs>
                  </a:gsLst>
                  <a:lin ang="5400000" scaled="0"/>
                </a:gradFill>
                <a:ea typeface="Segoe UI" pitchFamily="34" charset="0"/>
                <a:cs typeface="Segoe UI" pitchFamily="34" charset="0"/>
              </a:endParaRPr>
            </a:p>
          </p:txBody>
        </p:sp>
        <p:pic>
          <p:nvPicPr>
            <p:cNvPr id="88" name="Graphic 7">
              <a:extLst>
                <a:ext uri="{FF2B5EF4-FFF2-40B4-BE49-F238E27FC236}">
                  <a16:creationId xmlns:a16="http://schemas.microsoft.com/office/drawing/2014/main" id="{9C905E29-59A3-4D1B-BE59-DBFE5D4EF52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26941" y="3831795"/>
              <a:ext cx="468315" cy="449051"/>
            </a:xfrm>
            <a:prstGeom prst="rect">
              <a:avLst/>
            </a:prstGeom>
          </p:spPr>
        </p:pic>
        <p:sp>
          <p:nvSpPr>
            <p:cNvPr id="94" name="TextBox 15">
              <a:extLst>
                <a:ext uri="{FF2B5EF4-FFF2-40B4-BE49-F238E27FC236}">
                  <a16:creationId xmlns:a16="http://schemas.microsoft.com/office/drawing/2014/main" id="{D15058C6-7339-49AF-AAC4-805926F08645}"/>
                </a:ext>
              </a:extLst>
            </p:cNvPr>
            <p:cNvSpPr txBox="1"/>
            <p:nvPr/>
          </p:nvSpPr>
          <p:spPr>
            <a:xfrm>
              <a:off x="2761131" y="5275583"/>
              <a:ext cx="3942048" cy="34349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224"/>
              <a:r>
                <a:rPr lang="fr-FR" sz="1632" dirty="0">
                  <a:solidFill>
                    <a:srgbClr val="000000"/>
                  </a:solidFill>
                </a:rPr>
                <a:t>az104-06-vnet1 10.60.0.0/22</a:t>
              </a:r>
            </a:p>
          </p:txBody>
        </p:sp>
        <p:sp>
          <p:nvSpPr>
            <p:cNvPr id="96" name="Rectangle 95">
              <a:extLst>
                <a:ext uri="{FF2B5EF4-FFF2-40B4-BE49-F238E27FC236}">
                  <a16:creationId xmlns:a16="http://schemas.microsoft.com/office/drawing/2014/main" id="{102AF07F-819F-489C-B8BA-A0F17AA779DF}"/>
                </a:ext>
              </a:extLst>
            </p:cNvPr>
            <p:cNvSpPr/>
            <p:nvPr/>
          </p:nvSpPr>
          <p:spPr bwMode="auto">
            <a:xfrm>
              <a:off x="2990886" y="3541097"/>
              <a:ext cx="2140426" cy="1591159"/>
            </a:xfrm>
            <a:prstGeom prst="rect">
              <a:avLst/>
            </a:prstGeom>
            <a:no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60" tIns="143408" rIns="179260" bIns="143408"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224"/>
              <a:r>
                <a:rPr lang="fr-FR" sz="1836" dirty="0">
                  <a:solidFill>
                    <a:srgbClr val="000000"/>
                  </a:solidFill>
                </a:rPr>
                <a:t>az104-06-vm0</a:t>
              </a:r>
            </a:p>
            <a:p>
              <a:pPr algn="ctr" defTabSz="914224"/>
              <a:r>
                <a:rPr lang="fr-FR" sz="1836" dirty="0">
                  <a:solidFill>
                    <a:srgbClr val="000000"/>
                  </a:solidFill>
                </a:rPr>
                <a:t>10.60.0.4</a:t>
              </a:r>
            </a:p>
          </p:txBody>
        </p:sp>
        <p:sp>
          <p:nvSpPr>
            <p:cNvPr id="98" name="TextBox 19">
              <a:extLst>
                <a:ext uri="{FF2B5EF4-FFF2-40B4-BE49-F238E27FC236}">
                  <a16:creationId xmlns:a16="http://schemas.microsoft.com/office/drawing/2014/main" id="{D8E3F06D-0A79-42D5-A54C-C976463A692F}"/>
                </a:ext>
              </a:extLst>
            </p:cNvPr>
            <p:cNvSpPr txBox="1"/>
            <p:nvPr/>
          </p:nvSpPr>
          <p:spPr>
            <a:xfrm>
              <a:off x="2978300" y="3158016"/>
              <a:ext cx="2140426" cy="37484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224"/>
              <a:r>
                <a:rPr lang="fr-FR" sz="1836" b="1" dirty="0">
                  <a:solidFill>
                    <a:srgbClr val="000000"/>
                  </a:solidFill>
                </a:rPr>
                <a:t>Subnet0 </a:t>
              </a:r>
              <a:r>
                <a:rPr lang="fr-FR" sz="1836" dirty="0">
                  <a:solidFill>
                    <a:srgbClr val="000000"/>
                  </a:solidFill>
                </a:rPr>
                <a:t>10.60.0.0/24</a:t>
              </a:r>
            </a:p>
          </p:txBody>
        </p:sp>
        <p:sp>
          <p:nvSpPr>
            <p:cNvPr id="102" name="Rectangle 101">
              <a:extLst>
                <a:ext uri="{FF2B5EF4-FFF2-40B4-BE49-F238E27FC236}">
                  <a16:creationId xmlns:a16="http://schemas.microsoft.com/office/drawing/2014/main" id="{3CDB13EA-0AF5-43B2-9EC7-20CAFCC56ACE}"/>
                </a:ext>
              </a:extLst>
            </p:cNvPr>
            <p:cNvSpPr/>
            <p:nvPr/>
          </p:nvSpPr>
          <p:spPr bwMode="auto">
            <a:xfrm>
              <a:off x="2761131" y="2171849"/>
              <a:ext cx="6033246" cy="3381196"/>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60" tIns="143408" rIns="179260" bIns="143408"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926" fontAlgn="base">
                <a:lnSpc>
                  <a:spcPct val="90000"/>
                </a:lnSpc>
                <a:spcBef>
                  <a:spcPct val="0"/>
                </a:spcBef>
                <a:spcAft>
                  <a:spcPct val="0"/>
                </a:spcAft>
              </a:pPr>
              <a:endParaRPr lang="fr-FR" sz="2448" dirty="0">
                <a:gradFill>
                  <a:gsLst>
                    <a:gs pos="0">
                      <a:srgbClr val="FFFFFF"/>
                    </a:gs>
                    <a:gs pos="100000">
                      <a:srgbClr val="FFFFFF"/>
                    </a:gs>
                  </a:gsLst>
                  <a:lin ang="5400000" scaled="0"/>
                </a:gradFill>
                <a:cs typeface="Segoe UI" pitchFamily="34" charset="0"/>
              </a:endParaRPr>
            </a:p>
          </p:txBody>
        </p:sp>
        <p:sp>
          <p:nvSpPr>
            <p:cNvPr id="116" name="Rectangle 115">
              <a:extLst>
                <a:ext uri="{FF2B5EF4-FFF2-40B4-BE49-F238E27FC236}">
                  <a16:creationId xmlns:a16="http://schemas.microsoft.com/office/drawing/2014/main" id="{C3EA8F78-1321-451C-A304-E5735E4B1109}"/>
                </a:ext>
              </a:extLst>
            </p:cNvPr>
            <p:cNvSpPr/>
            <p:nvPr/>
          </p:nvSpPr>
          <p:spPr bwMode="auto">
            <a:xfrm>
              <a:off x="6409032" y="3538255"/>
              <a:ext cx="2140426" cy="1591159"/>
            </a:xfrm>
            <a:prstGeom prst="rect">
              <a:avLst/>
            </a:prstGeom>
            <a:no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60" tIns="143408" rIns="179260" bIns="143408"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224"/>
              <a:r>
                <a:rPr lang="fr-FR" sz="1836" dirty="0">
                  <a:solidFill>
                    <a:srgbClr val="000000"/>
                  </a:solidFill>
                </a:rPr>
                <a:t>az104-06-vm1</a:t>
              </a:r>
            </a:p>
            <a:p>
              <a:pPr algn="ctr" defTabSz="914224"/>
              <a:r>
                <a:rPr lang="fr-FR" sz="1836" dirty="0">
                  <a:solidFill>
                    <a:srgbClr val="000000"/>
                  </a:solidFill>
                </a:rPr>
                <a:t>10.60.1.4</a:t>
              </a:r>
              <a:endParaRPr lang="fr-FR" sz="1836" dirty="0">
                <a:gradFill>
                  <a:gsLst>
                    <a:gs pos="0">
                      <a:srgbClr val="FFFFFF"/>
                    </a:gs>
                    <a:gs pos="100000">
                      <a:srgbClr val="FFFFFF"/>
                    </a:gs>
                  </a:gsLst>
                  <a:lin ang="5400000" scaled="0"/>
                </a:gradFill>
                <a:cs typeface="Segoe UI" pitchFamily="34" charset="0"/>
              </a:endParaRPr>
            </a:p>
          </p:txBody>
        </p:sp>
        <p:sp>
          <p:nvSpPr>
            <p:cNvPr id="118" name="TextBox 99">
              <a:extLst>
                <a:ext uri="{FF2B5EF4-FFF2-40B4-BE49-F238E27FC236}">
                  <a16:creationId xmlns:a16="http://schemas.microsoft.com/office/drawing/2014/main" id="{C323453C-63C3-4DA5-8089-5F173E1F3CFA}"/>
                </a:ext>
              </a:extLst>
            </p:cNvPr>
            <p:cNvSpPr txBox="1"/>
            <p:nvPr/>
          </p:nvSpPr>
          <p:spPr>
            <a:xfrm>
              <a:off x="6417997" y="3176826"/>
              <a:ext cx="2292330" cy="37484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224"/>
              <a:r>
                <a:rPr lang="fr-FR" sz="1836" b="1" dirty="0">
                  <a:solidFill>
                    <a:srgbClr val="000000"/>
                  </a:solidFill>
                </a:rPr>
                <a:t>Subnet1 </a:t>
              </a:r>
              <a:r>
                <a:rPr lang="fr-FR" sz="1836" dirty="0">
                  <a:solidFill>
                    <a:srgbClr val="000000"/>
                  </a:solidFill>
                </a:rPr>
                <a:t>10.60.1.0/24</a:t>
              </a:r>
            </a:p>
          </p:txBody>
        </p:sp>
        <p:pic>
          <p:nvPicPr>
            <p:cNvPr id="160" name="Graphic 58">
              <a:extLst>
                <a:ext uri="{FF2B5EF4-FFF2-40B4-BE49-F238E27FC236}">
                  <a16:creationId xmlns:a16="http://schemas.microsoft.com/office/drawing/2014/main" id="{F3C33086-59AB-4A15-9ACB-B9605EF25BB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66488" y="2471855"/>
              <a:ext cx="578535" cy="554738"/>
            </a:xfrm>
            <a:prstGeom prst="rect">
              <a:avLst/>
            </a:prstGeom>
          </p:spPr>
        </p:pic>
        <p:sp>
          <p:nvSpPr>
            <p:cNvPr id="162" name="TextBox 59">
              <a:extLst>
                <a:ext uri="{FF2B5EF4-FFF2-40B4-BE49-F238E27FC236}">
                  <a16:creationId xmlns:a16="http://schemas.microsoft.com/office/drawing/2014/main" id="{1DD3D492-57F0-4442-B568-44A41960597E}"/>
                </a:ext>
              </a:extLst>
            </p:cNvPr>
            <p:cNvSpPr txBox="1"/>
            <p:nvPr/>
          </p:nvSpPr>
          <p:spPr>
            <a:xfrm>
              <a:off x="6045023" y="2452345"/>
              <a:ext cx="1902987" cy="65735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224"/>
              <a:r>
                <a:rPr lang="fr-FR" sz="1836" dirty="0">
                  <a:solidFill>
                    <a:srgbClr val="000000"/>
                  </a:solidFill>
                </a:rPr>
                <a:t>az104-lb</a:t>
              </a:r>
            </a:p>
            <a:p>
              <a:pPr defTabSz="914224"/>
              <a:r>
                <a:rPr lang="fr-FR" sz="1836" dirty="0">
                  <a:solidFill>
                    <a:srgbClr val="000000"/>
                  </a:solidFill>
                </a:rPr>
                <a:t>az104-lbpip</a:t>
              </a:r>
            </a:p>
          </p:txBody>
        </p:sp>
        <p:pic>
          <p:nvPicPr>
            <p:cNvPr id="184" name="Graphic 89">
              <a:extLst>
                <a:ext uri="{FF2B5EF4-FFF2-40B4-BE49-F238E27FC236}">
                  <a16:creationId xmlns:a16="http://schemas.microsoft.com/office/drawing/2014/main" id="{403A82CA-1E57-4205-ADEE-2288C13070C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45087" y="3873958"/>
              <a:ext cx="468315" cy="449051"/>
            </a:xfrm>
            <a:prstGeom prst="rect">
              <a:avLst/>
            </a:prstGeom>
          </p:spPr>
        </p:pic>
        <p:cxnSp>
          <p:nvCxnSpPr>
            <p:cNvPr id="4" name="Connector: Elbow 3">
              <a:extLst>
                <a:ext uri="{FF2B5EF4-FFF2-40B4-BE49-F238E27FC236}">
                  <a16:creationId xmlns:a16="http://schemas.microsoft.com/office/drawing/2014/main" id="{95925AA6-7D34-93D2-A6A5-54FCF7E834ED}"/>
                </a:ext>
              </a:extLst>
            </p:cNvPr>
            <p:cNvCxnSpPr>
              <a:cxnSpLocks/>
              <a:stCxn id="160" idx="2"/>
              <a:endCxn id="96" idx="3"/>
            </p:cNvCxnSpPr>
            <p:nvPr/>
          </p:nvCxnSpPr>
          <p:spPr>
            <a:xfrm rot="5400000">
              <a:off x="4788492" y="3369413"/>
              <a:ext cx="1310084" cy="62444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1" name="Connector: Elbow 10">
              <a:extLst>
                <a:ext uri="{FF2B5EF4-FFF2-40B4-BE49-F238E27FC236}">
                  <a16:creationId xmlns:a16="http://schemas.microsoft.com/office/drawing/2014/main" id="{C33F3C0D-868F-8BF0-D70F-F772E245C023}"/>
                </a:ext>
              </a:extLst>
            </p:cNvPr>
            <p:cNvCxnSpPr>
              <a:cxnSpLocks/>
              <a:stCxn id="160" idx="2"/>
              <a:endCxn id="116" idx="1"/>
            </p:cNvCxnSpPr>
            <p:nvPr/>
          </p:nvCxnSpPr>
          <p:spPr>
            <a:xfrm rot="16200000" flipH="1">
              <a:off x="5428773" y="3353576"/>
              <a:ext cx="1307242" cy="653276"/>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100" name="TextBox 21">
              <a:extLst>
                <a:ext uri="{FF2B5EF4-FFF2-40B4-BE49-F238E27FC236}">
                  <a16:creationId xmlns:a16="http://schemas.microsoft.com/office/drawing/2014/main" id="{629A10C7-60C7-4D5C-B0E5-82AACBC1584B}"/>
                </a:ext>
              </a:extLst>
            </p:cNvPr>
            <p:cNvSpPr txBox="1"/>
            <p:nvPr/>
          </p:nvSpPr>
          <p:spPr>
            <a:xfrm>
              <a:off x="2909689" y="2069925"/>
              <a:ext cx="1661763" cy="343492"/>
            </a:xfrm>
            <a:prstGeom prst="rect">
              <a:avLst/>
            </a:prstGeom>
            <a:solidFill>
              <a:schemeClr val="bg1"/>
            </a:solid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914224"/>
              <a:r>
                <a:rPr lang="fr-FR" sz="1632" dirty="0">
                  <a:solidFill>
                    <a:srgbClr val="000000"/>
                  </a:solidFill>
                </a:rPr>
                <a:t>az104-06-rg6</a:t>
              </a:r>
            </a:p>
          </p:txBody>
        </p:sp>
        <p:pic>
          <p:nvPicPr>
            <p:cNvPr id="104" name="Graphic 25">
              <a:extLst>
                <a:ext uri="{FF2B5EF4-FFF2-40B4-BE49-F238E27FC236}">
                  <a16:creationId xmlns:a16="http://schemas.microsoft.com/office/drawing/2014/main" id="{22D3A501-56C8-4E16-8130-2C28C429A90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909689" y="2015287"/>
              <a:ext cx="452036" cy="433443"/>
            </a:xfrm>
            <a:prstGeom prst="rect">
              <a:avLst/>
            </a:prstGeom>
          </p:spPr>
        </p:pic>
        <p:pic>
          <p:nvPicPr>
            <p:cNvPr id="92" name="Graphic 11">
              <a:extLst>
                <a:ext uri="{FF2B5EF4-FFF2-40B4-BE49-F238E27FC236}">
                  <a16:creationId xmlns:a16="http://schemas.microsoft.com/office/drawing/2014/main" id="{C1D4B73B-BC4E-4E01-B09E-3EC23B7837C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200776" y="5304698"/>
              <a:ext cx="481967" cy="462143"/>
            </a:xfrm>
            <a:prstGeom prst="rect">
              <a:avLst/>
            </a:prstGeom>
          </p:spPr>
        </p:pic>
        <p:sp>
          <p:nvSpPr>
            <p:cNvPr id="3" name="TextBox 2">
              <a:extLst>
                <a:ext uri="{FF2B5EF4-FFF2-40B4-BE49-F238E27FC236}">
                  <a16:creationId xmlns:a16="http://schemas.microsoft.com/office/drawing/2014/main" id="{CA386B56-A352-6654-25C3-D1EAD70A779C}"/>
                </a:ext>
              </a:extLst>
            </p:cNvPr>
            <p:cNvSpPr txBox="1"/>
            <p:nvPr/>
          </p:nvSpPr>
          <p:spPr>
            <a:xfrm>
              <a:off x="2852618" y="2429807"/>
              <a:ext cx="1272221" cy="374846"/>
            </a:xfrm>
            <a:prstGeom prst="rect">
              <a:avLst/>
            </a:prstGeom>
            <a:noFill/>
          </p:spPr>
          <p:txBody>
            <a:bodyPr wrap="square">
              <a:spAutoFit/>
            </a:bodyPr>
            <a:lstStyle/>
            <a:p>
              <a:pPr defTabSz="914191"/>
              <a:r>
                <a:rPr lang="en-US" sz="1836" b="1" dirty="0">
                  <a:solidFill>
                    <a:schemeClr val="tx2">
                      <a:lumMod val="50000"/>
                    </a:schemeClr>
                  </a:solidFill>
                </a:rPr>
                <a:t>Task 1</a:t>
              </a:r>
            </a:p>
          </p:txBody>
        </p:sp>
        <p:sp>
          <p:nvSpPr>
            <p:cNvPr id="8" name="TextBox 7">
              <a:extLst>
                <a:ext uri="{FF2B5EF4-FFF2-40B4-BE49-F238E27FC236}">
                  <a16:creationId xmlns:a16="http://schemas.microsoft.com/office/drawing/2014/main" id="{7014F927-94CE-D8FE-69CC-C80C5AF439BD}"/>
                </a:ext>
              </a:extLst>
            </p:cNvPr>
            <p:cNvSpPr txBox="1"/>
            <p:nvPr/>
          </p:nvSpPr>
          <p:spPr>
            <a:xfrm>
              <a:off x="8755286" y="4163018"/>
              <a:ext cx="2059772" cy="374846"/>
            </a:xfrm>
            <a:prstGeom prst="rect">
              <a:avLst/>
            </a:prstGeom>
            <a:noFill/>
          </p:spPr>
          <p:txBody>
            <a:bodyPr wrap="square">
              <a:spAutoFit/>
            </a:bodyPr>
            <a:lstStyle/>
            <a:p>
              <a:pPr algn="ctr" defTabSz="951028" fontAlgn="base">
                <a:lnSpc>
                  <a:spcPct val="90000"/>
                </a:lnSpc>
                <a:spcBef>
                  <a:spcPct val="0"/>
                </a:spcBef>
                <a:spcAft>
                  <a:spcPct val="0"/>
                </a:spcAft>
              </a:pPr>
              <a:r>
                <a:rPr lang="fr-FR" sz="2040" dirty="0">
                  <a:solidFill>
                    <a:srgbClr val="000000"/>
                  </a:solidFill>
                </a:rPr>
                <a:t>Backend pool</a:t>
              </a:r>
              <a:endParaRPr lang="en-US" sz="2040" dirty="0" err="1">
                <a:gradFill>
                  <a:gsLst>
                    <a:gs pos="0">
                      <a:srgbClr val="FFFFFF"/>
                    </a:gs>
                    <a:gs pos="100000">
                      <a:srgbClr val="FFFFFF"/>
                    </a:gs>
                  </a:gsLst>
                  <a:lin ang="5400000" scaled="0"/>
                </a:gradFill>
                <a:ea typeface="Segoe UI" pitchFamily="34" charset="0"/>
                <a:cs typeface="Segoe UI" pitchFamily="34" charset="0"/>
              </a:endParaRPr>
            </a:p>
          </p:txBody>
        </p:sp>
        <p:pic>
          <p:nvPicPr>
            <p:cNvPr id="9" name="Picture 8" descr="A person with a gold circle on their head&#10;&#10;Description automatically generated">
              <a:extLst>
                <a:ext uri="{FF2B5EF4-FFF2-40B4-BE49-F238E27FC236}">
                  <a16:creationId xmlns:a16="http://schemas.microsoft.com/office/drawing/2014/main" id="{B745BF18-F2FF-121E-BC52-66BEC609DA75}"/>
                </a:ext>
              </a:extLst>
            </p:cNvPr>
            <p:cNvPicPr>
              <a:picLocks noChangeAspect="1"/>
            </p:cNvPicPr>
            <p:nvPr/>
          </p:nvPicPr>
          <p:blipFill>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tretch>
              <a:fillRect/>
            </a:stretch>
          </p:blipFill>
          <p:spPr>
            <a:xfrm>
              <a:off x="5492797" y="1508579"/>
              <a:ext cx="534054" cy="487986"/>
            </a:xfrm>
            <a:prstGeom prst="rect">
              <a:avLst/>
            </a:prstGeom>
          </p:spPr>
        </p:pic>
        <p:cxnSp>
          <p:nvCxnSpPr>
            <p:cNvPr id="12" name="Straight Arrow Connector 11">
              <a:extLst>
                <a:ext uri="{FF2B5EF4-FFF2-40B4-BE49-F238E27FC236}">
                  <a16:creationId xmlns:a16="http://schemas.microsoft.com/office/drawing/2014/main" id="{16B53761-AA20-D57A-6167-A6AFCAAFB27C}"/>
                </a:ext>
              </a:extLst>
            </p:cNvPr>
            <p:cNvCxnSpPr>
              <a:stCxn id="9" idx="2"/>
            </p:cNvCxnSpPr>
            <p:nvPr/>
          </p:nvCxnSpPr>
          <p:spPr>
            <a:xfrm>
              <a:off x="5759824" y="1996565"/>
              <a:ext cx="0" cy="344585"/>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sp>
        <p:nvSpPr>
          <p:cNvPr id="5" name="Text Placeholder 2">
            <a:extLst>
              <a:ext uri="{FF2B5EF4-FFF2-40B4-BE49-F238E27FC236}">
                <a16:creationId xmlns:a16="http://schemas.microsoft.com/office/drawing/2014/main" id="{6880D67A-126E-120A-9550-ED982DFA25DA}"/>
              </a:ext>
              <a:ext uri="{C183D7F6-B498-43B3-948B-1728B52AA6E4}">
                <adec:decorative xmlns:adec="http://schemas.microsoft.com/office/drawing/2017/decorative" val="1"/>
              </a:ext>
            </a:extLst>
          </p:cNvPr>
          <p:cNvSpPr txBox="1">
            <a:spLocks/>
          </p:cNvSpPr>
          <p:nvPr/>
        </p:nvSpPr>
        <p:spPr>
          <a:xfrm>
            <a:off x="8293460" y="6141601"/>
            <a:ext cx="3408749" cy="250992"/>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32563"/>
            <a:r>
              <a:rPr lang="en-US" sz="1599" spc="0" dirty="0">
                <a:latin typeface="Segoe UI"/>
                <a:cs typeface="Segoe UI Semilight"/>
              </a:rPr>
              <a:t>Next slide for an application gateway</a:t>
            </a:r>
          </a:p>
        </p:txBody>
      </p:sp>
      <p:sp>
        <p:nvSpPr>
          <p:cNvPr id="6" name="arrow_15">
            <a:extLst>
              <a:ext uri="{FF2B5EF4-FFF2-40B4-BE49-F238E27FC236}">
                <a16:creationId xmlns:a16="http://schemas.microsoft.com/office/drawing/2014/main" id="{81DB9BAE-8778-7BB8-62D2-C56657CF60AB}"/>
              </a:ext>
              <a:ext uri="{C183D7F6-B498-43B3-948B-1728B52AA6E4}">
                <adec:decorative xmlns:adec="http://schemas.microsoft.com/office/drawing/2017/decorative" val="1"/>
              </a:ext>
            </a:extLst>
          </p:cNvPr>
          <p:cNvSpPr>
            <a:spLocks noChangeAspect="1" noEditPoints="1"/>
          </p:cNvSpPr>
          <p:nvPr/>
        </p:nvSpPr>
        <p:spPr bwMode="auto">
          <a:xfrm>
            <a:off x="11782717" y="6141601"/>
            <a:ext cx="225900" cy="224873"/>
          </a:xfrm>
          <a:custGeom>
            <a:avLst/>
            <a:gdLst>
              <a:gd name="T0" fmla="*/ 0 w 304"/>
              <a:gd name="T1" fmla="*/ 151 h 303"/>
              <a:gd name="T2" fmla="*/ 152 w 304"/>
              <a:gd name="T3" fmla="*/ 0 h 303"/>
              <a:gd name="T4" fmla="*/ 304 w 304"/>
              <a:gd name="T5" fmla="*/ 151 h 303"/>
              <a:gd name="T6" fmla="*/ 152 w 304"/>
              <a:gd name="T7" fmla="*/ 303 h 303"/>
              <a:gd name="T8" fmla="*/ 0 w 304"/>
              <a:gd name="T9" fmla="*/ 151 h 303"/>
              <a:gd name="T10" fmla="*/ 151 w 304"/>
              <a:gd name="T11" fmla="*/ 223 h 303"/>
              <a:gd name="T12" fmla="*/ 223 w 304"/>
              <a:gd name="T13" fmla="*/ 151 h 303"/>
              <a:gd name="T14" fmla="*/ 151 w 304"/>
              <a:gd name="T15" fmla="*/ 79 h 303"/>
              <a:gd name="T16" fmla="*/ 223 w 304"/>
              <a:gd name="T17" fmla="*/ 151 h 303"/>
              <a:gd name="T18" fmla="*/ 73 w 304"/>
              <a:gd name="T19" fmla="*/ 151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4" h="303">
                <a:moveTo>
                  <a:pt x="0" y="151"/>
                </a:moveTo>
                <a:cubicBezTo>
                  <a:pt x="0" y="68"/>
                  <a:pt x="68" y="0"/>
                  <a:pt x="152" y="0"/>
                </a:cubicBezTo>
                <a:cubicBezTo>
                  <a:pt x="236" y="0"/>
                  <a:pt x="304" y="68"/>
                  <a:pt x="304" y="151"/>
                </a:cubicBezTo>
                <a:cubicBezTo>
                  <a:pt x="304" y="235"/>
                  <a:pt x="236" y="303"/>
                  <a:pt x="152" y="303"/>
                </a:cubicBezTo>
                <a:cubicBezTo>
                  <a:pt x="68" y="303"/>
                  <a:pt x="0" y="235"/>
                  <a:pt x="0" y="151"/>
                </a:cubicBezTo>
                <a:close/>
                <a:moveTo>
                  <a:pt x="151" y="223"/>
                </a:moveTo>
                <a:cubicBezTo>
                  <a:pt x="223" y="151"/>
                  <a:pt x="223" y="151"/>
                  <a:pt x="223" y="151"/>
                </a:cubicBezTo>
                <a:cubicBezTo>
                  <a:pt x="151" y="79"/>
                  <a:pt x="151" y="79"/>
                  <a:pt x="151" y="79"/>
                </a:cubicBezTo>
                <a:moveTo>
                  <a:pt x="223" y="151"/>
                </a:moveTo>
                <a:cubicBezTo>
                  <a:pt x="73" y="151"/>
                  <a:pt x="73" y="151"/>
                  <a:pt x="73" y="151"/>
                </a:cubicBezTo>
              </a:path>
            </a:pathLst>
          </a:custGeom>
          <a:solidFill>
            <a:srgbClr val="FFFF00"/>
          </a:solidFill>
          <a:ln w="15875" cap="sq">
            <a:solidFill>
              <a:schemeClr val="tx1"/>
            </a:solidFill>
            <a:prstDash val="solid"/>
            <a:miter lim="800000"/>
            <a:headEnd/>
            <a:tailEnd/>
          </a:ln>
        </p:spPr>
        <p:txBody>
          <a:bodyPr vert="horz" wrap="square" lIns="91427" tIns="45713" rIns="91427" bIns="45713" numCol="1" anchor="t" anchorCtr="0" compatLnSpc="1">
            <a:prstTxWarp prst="textNoShape">
              <a:avLst/>
            </a:prstTxWarp>
          </a:bodyPr>
          <a:lstStyle/>
          <a:p>
            <a:pPr defTabSz="932563"/>
            <a:endParaRPr lang="en-US" sz="900" dirty="0">
              <a:solidFill>
                <a:srgbClr val="000000"/>
              </a:solidFill>
              <a:latin typeface="Segoe UI"/>
            </a:endParaRPr>
          </a:p>
        </p:txBody>
      </p:sp>
      <p:sp>
        <p:nvSpPr>
          <p:cNvPr id="13" name="TextBox 12">
            <a:extLst>
              <a:ext uri="{FF2B5EF4-FFF2-40B4-BE49-F238E27FC236}">
                <a16:creationId xmlns:a16="http://schemas.microsoft.com/office/drawing/2014/main" id="{9BCC18FD-4537-A92E-9326-5612EDF53F91}"/>
              </a:ext>
              <a:ext uri="{C183D7F6-B498-43B3-948B-1728B52AA6E4}">
                <adec:decorative xmlns:adec="http://schemas.microsoft.com/office/drawing/2017/decorative" val="1"/>
              </a:ext>
            </a:extLst>
          </p:cNvPr>
          <p:cNvSpPr txBox="1"/>
          <p:nvPr/>
        </p:nvSpPr>
        <p:spPr>
          <a:xfrm>
            <a:off x="6913625" y="2551942"/>
            <a:ext cx="1471190" cy="382308"/>
          </a:xfrm>
          <a:prstGeom prst="rect">
            <a:avLst/>
          </a:prstGeom>
          <a:noFill/>
        </p:spPr>
        <p:txBody>
          <a:bodyPr wrap="square">
            <a:spAutoFit/>
          </a:bodyPr>
          <a:lstStyle/>
          <a:p>
            <a:pPr defTabSz="914191"/>
            <a:r>
              <a:rPr lang="en-US" sz="1836" b="1" dirty="0">
                <a:solidFill>
                  <a:schemeClr val="tx2">
                    <a:lumMod val="50000"/>
                  </a:schemeClr>
                </a:solidFill>
              </a:rPr>
              <a:t>Task 2</a:t>
            </a:r>
          </a:p>
        </p:txBody>
      </p:sp>
    </p:spTree>
    <p:extLst>
      <p:ext uri="{BB962C8B-B14F-4D97-AF65-F5344CB8AC3E}">
        <p14:creationId xmlns:p14="http://schemas.microsoft.com/office/powerpoint/2010/main" val="1931925462"/>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44A78-A89D-E3E7-0E55-A86BA8E4B6DB}"/>
              </a:ext>
            </a:extLst>
          </p:cNvPr>
          <p:cNvSpPr>
            <a:spLocks noGrp="1"/>
          </p:cNvSpPr>
          <p:nvPr>
            <p:ph type="title"/>
          </p:nvPr>
        </p:nvSpPr>
        <p:spPr/>
        <p:txBody>
          <a:bodyPr/>
          <a:lstStyle/>
          <a:p>
            <a:r>
              <a:rPr lang="en-US" sz="3264" dirty="0"/>
              <a:t>Lab 06 – Architecture Diagram (Application Gateway)</a:t>
            </a:r>
          </a:p>
        </p:txBody>
      </p:sp>
      <p:grpSp>
        <p:nvGrpSpPr>
          <p:cNvPr id="12" name="Group 11" descr="Architecture diagram for the application gateway. ">
            <a:extLst>
              <a:ext uri="{FF2B5EF4-FFF2-40B4-BE49-F238E27FC236}">
                <a16:creationId xmlns:a16="http://schemas.microsoft.com/office/drawing/2014/main" id="{A1E1608A-5AF1-4BF2-6CA3-E472E91941C6}"/>
              </a:ext>
            </a:extLst>
          </p:cNvPr>
          <p:cNvGrpSpPr/>
          <p:nvPr/>
        </p:nvGrpSpPr>
        <p:grpSpPr>
          <a:xfrm>
            <a:off x="1877075" y="1385520"/>
            <a:ext cx="10100035" cy="4710016"/>
            <a:chOff x="1839572" y="1358477"/>
            <a:chExt cx="9902894" cy="4618082"/>
          </a:xfrm>
        </p:grpSpPr>
        <p:sp>
          <p:nvSpPr>
            <p:cNvPr id="6" name="Rectangle 5">
              <a:extLst>
                <a:ext uri="{FF2B5EF4-FFF2-40B4-BE49-F238E27FC236}">
                  <a16:creationId xmlns:a16="http://schemas.microsoft.com/office/drawing/2014/main" id="{17BABB06-1A9B-C63F-CD64-9AA64885D1CF}"/>
                </a:ext>
              </a:extLst>
            </p:cNvPr>
            <p:cNvSpPr/>
            <p:nvPr/>
          </p:nvSpPr>
          <p:spPr bwMode="auto">
            <a:xfrm>
              <a:off x="2841811" y="3788419"/>
              <a:ext cx="8650941" cy="122648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60" name="Group 59">
              <a:extLst>
                <a:ext uri="{FF2B5EF4-FFF2-40B4-BE49-F238E27FC236}">
                  <a16:creationId xmlns:a16="http://schemas.microsoft.com/office/drawing/2014/main" id="{D456E4FA-0D47-535C-7A03-BFF571B999CC}"/>
                </a:ext>
              </a:extLst>
            </p:cNvPr>
            <p:cNvGrpSpPr/>
            <p:nvPr/>
          </p:nvGrpSpPr>
          <p:grpSpPr>
            <a:xfrm>
              <a:off x="1839572" y="1358477"/>
              <a:ext cx="8066428" cy="4500788"/>
              <a:chOff x="1839572" y="1415916"/>
              <a:chExt cx="8066428" cy="4500788"/>
            </a:xfrm>
          </p:grpSpPr>
          <p:sp>
            <p:nvSpPr>
              <p:cNvPr id="38" name="Rectangle 37">
                <a:extLst>
                  <a:ext uri="{FF2B5EF4-FFF2-40B4-BE49-F238E27FC236}">
                    <a16:creationId xmlns:a16="http://schemas.microsoft.com/office/drawing/2014/main" id="{E848FEA4-1E6F-032F-9E4A-B53EDF30459A}"/>
                  </a:ext>
                </a:extLst>
              </p:cNvPr>
              <p:cNvSpPr/>
              <p:nvPr/>
            </p:nvSpPr>
            <p:spPr bwMode="auto">
              <a:xfrm>
                <a:off x="1839572" y="1632860"/>
                <a:ext cx="8066428" cy="4283844"/>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60" tIns="143408" rIns="179260" bIns="143408"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926" fontAlgn="base">
                  <a:lnSpc>
                    <a:spcPct val="90000"/>
                  </a:lnSpc>
                  <a:spcBef>
                    <a:spcPct val="0"/>
                  </a:spcBef>
                  <a:spcAft>
                    <a:spcPct val="0"/>
                  </a:spcAft>
                </a:pPr>
                <a:endParaRPr lang="fr-FR" sz="1632" dirty="0">
                  <a:gradFill>
                    <a:gsLst>
                      <a:gs pos="0">
                        <a:srgbClr val="FFFFFF"/>
                      </a:gs>
                      <a:gs pos="100000">
                        <a:srgbClr val="FFFFFF"/>
                      </a:gs>
                    </a:gsLst>
                    <a:lin ang="5400000" scaled="0"/>
                  </a:gradFill>
                  <a:latin typeface="Segoe UI"/>
                  <a:cs typeface="Segoe UI" pitchFamily="34" charset="0"/>
                </a:endParaRPr>
              </a:p>
            </p:txBody>
          </p:sp>
          <p:grpSp>
            <p:nvGrpSpPr>
              <p:cNvPr id="53" name="Group 52">
                <a:extLst>
                  <a:ext uri="{FF2B5EF4-FFF2-40B4-BE49-F238E27FC236}">
                    <a16:creationId xmlns:a16="http://schemas.microsoft.com/office/drawing/2014/main" id="{87BCC3B3-BF68-8C32-563B-C5B69C179FE5}"/>
                  </a:ext>
                </a:extLst>
              </p:cNvPr>
              <p:cNvGrpSpPr/>
              <p:nvPr/>
            </p:nvGrpSpPr>
            <p:grpSpPr>
              <a:xfrm>
                <a:off x="5605565" y="2211654"/>
                <a:ext cx="2390471" cy="588078"/>
                <a:chOff x="4279270" y="2764370"/>
                <a:chExt cx="2614369" cy="588078"/>
              </a:xfrm>
            </p:grpSpPr>
            <p:pic>
              <p:nvPicPr>
                <p:cNvPr id="37" name="Graphic 72">
                  <a:extLst>
                    <a:ext uri="{FF2B5EF4-FFF2-40B4-BE49-F238E27FC236}">
                      <a16:creationId xmlns:a16="http://schemas.microsoft.com/office/drawing/2014/main" id="{CEBCEE47-FDCB-8C03-1357-B0AC8B602A5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79270" y="2764370"/>
                  <a:ext cx="533968" cy="489172"/>
                </a:xfrm>
                <a:prstGeom prst="rect">
                  <a:avLst/>
                </a:prstGeom>
              </p:spPr>
            </p:pic>
            <p:sp>
              <p:nvSpPr>
                <p:cNvPr id="40" name="TextBox 76">
                  <a:extLst>
                    <a:ext uri="{FF2B5EF4-FFF2-40B4-BE49-F238E27FC236}">
                      <a16:creationId xmlns:a16="http://schemas.microsoft.com/office/drawing/2014/main" id="{F4A7FBD2-7BD6-9309-D7E2-1A59AE3F4726}"/>
                    </a:ext>
                  </a:extLst>
                </p:cNvPr>
                <p:cNvSpPr txBox="1"/>
                <p:nvPr/>
              </p:nvSpPr>
              <p:spPr>
                <a:xfrm>
                  <a:off x="4801491" y="2776577"/>
                  <a:ext cx="2092148" cy="34349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224"/>
                  <a:r>
                    <a:rPr lang="fr-FR" sz="1632" dirty="0">
                      <a:solidFill>
                        <a:srgbClr val="000000"/>
                      </a:solidFill>
                      <a:latin typeface="Segoe UI"/>
                    </a:rPr>
                    <a:t>az104-appgw</a:t>
                  </a:r>
                </a:p>
              </p:txBody>
            </p:sp>
            <p:sp>
              <p:nvSpPr>
                <p:cNvPr id="41" name="TextBox 83">
                  <a:extLst>
                    <a:ext uri="{FF2B5EF4-FFF2-40B4-BE49-F238E27FC236}">
                      <a16:creationId xmlns:a16="http://schemas.microsoft.com/office/drawing/2014/main" id="{919755A8-72F9-63DF-44B2-B853EA97BAE4}"/>
                    </a:ext>
                  </a:extLst>
                </p:cNvPr>
                <p:cNvSpPr txBox="1"/>
                <p:nvPr/>
              </p:nvSpPr>
              <p:spPr>
                <a:xfrm>
                  <a:off x="4790196" y="3008956"/>
                  <a:ext cx="2092148" cy="34349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224"/>
                  <a:r>
                    <a:rPr lang="fr-FR" sz="1632" dirty="0">
                      <a:solidFill>
                        <a:srgbClr val="000000"/>
                      </a:solidFill>
                      <a:latin typeface="Segoe UI"/>
                    </a:rPr>
                    <a:t>az104-gwpip</a:t>
                  </a:r>
                </a:p>
              </p:txBody>
            </p:sp>
          </p:grpSp>
          <p:sp>
            <p:nvSpPr>
              <p:cNvPr id="39" name="TextBox 74">
                <a:extLst>
                  <a:ext uri="{FF2B5EF4-FFF2-40B4-BE49-F238E27FC236}">
                    <a16:creationId xmlns:a16="http://schemas.microsoft.com/office/drawing/2014/main" id="{84FEA7D4-B24D-E0E1-81A6-FF500F49BDF2}"/>
                  </a:ext>
                </a:extLst>
              </p:cNvPr>
              <p:cNvSpPr txBox="1"/>
              <p:nvPr/>
            </p:nvSpPr>
            <p:spPr>
              <a:xfrm>
                <a:off x="1953940" y="1415916"/>
                <a:ext cx="1713185" cy="343492"/>
              </a:xfrm>
              <a:prstGeom prst="rect">
                <a:avLst/>
              </a:prstGeom>
              <a:solidFill>
                <a:schemeClr val="bg1"/>
              </a:solid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914224"/>
                <a:r>
                  <a:rPr lang="fr-FR" sz="1632" dirty="0">
                    <a:solidFill>
                      <a:srgbClr val="000000"/>
                    </a:solidFill>
                    <a:latin typeface="Segoe UI"/>
                  </a:rPr>
                  <a:t>az104-06-rg6</a:t>
                </a:r>
              </a:p>
            </p:txBody>
          </p:sp>
          <p:pic>
            <p:nvPicPr>
              <p:cNvPr id="43" name="Graphic 110">
                <a:extLst>
                  <a:ext uri="{FF2B5EF4-FFF2-40B4-BE49-F238E27FC236}">
                    <a16:creationId xmlns:a16="http://schemas.microsoft.com/office/drawing/2014/main" id="{D008088F-4FB3-FCB4-A72A-ED740B776A2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53940" y="1437181"/>
                <a:ext cx="302204" cy="276852"/>
              </a:xfrm>
              <a:prstGeom prst="rect">
                <a:avLst/>
              </a:prstGeom>
            </p:spPr>
          </p:pic>
          <p:grpSp>
            <p:nvGrpSpPr>
              <p:cNvPr id="51" name="Group 50">
                <a:extLst>
                  <a:ext uri="{FF2B5EF4-FFF2-40B4-BE49-F238E27FC236}">
                    <a16:creationId xmlns:a16="http://schemas.microsoft.com/office/drawing/2014/main" id="{8EFE672B-966F-E0D7-655E-BA3A5E1534C9}"/>
                  </a:ext>
                </a:extLst>
              </p:cNvPr>
              <p:cNvGrpSpPr/>
              <p:nvPr/>
            </p:nvGrpSpPr>
            <p:grpSpPr>
              <a:xfrm>
                <a:off x="2143765" y="3388928"/>
                <a:ext cx="3046563" cy="2160223"/>
                <a:chOff x="2385812" y="3648905"/>
                <a:chExt cx="3046563" cy="2160223"/>
              </a:xfrm>
            </p:grpSpPr>
            <p:sp>
              <p:nvSpPr>
                <p:cNvPr id="9" name="Rectangle 8">
                  <a:extLst>
                    <a:ext uri="{FF2B5EF4-FFF2-40B4-BE49-F238E27FC236}">
                      <a16:creationId xmlns:a16="http://schemas.microsoft.com/office/drawing/2014/main" id="{E45CE302-1E3B-444E-5C2D-C1E72FF3A865}"/>
                    </a:ext>
                  </a:extLst>
                </p:cNvPr>
                <p:cNvSpPr/>
                <p:nvPr/>
              </p:nvSpPr>
              <p:spPr bwMode="auto">
                <a:xfrm>
                  <a:off x="2385812" y="3665875"/>
                  <a:ext cx="3046563" cy="2143253"/>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60" tIns="143408" rIns="179260" bIns="143408"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926" fontAlgn="base">
                    <a:lnSpc>
                      <a:spcPct val="90000"/>
                    </a:lnSpc>
                    <a:spcBef>
                      <a:spcPct val="0"/>
                    </a:spcBef>
                    <a:spcAft>
                      <a:spcPct val="0"/>
                    </a:spcAft>
                  </a:pPr>
                  <a:endParaRPr lang="fr-FR" sz="1632" dirty="0">
                    <a:gradFill>
                      <a:gsLst>
                        <a:gs pos="0">
                          <a:srgbClr val="FFFFFF"/>
                        </a:gs>
                        <a:gs pos="100000">
                          <a:srgbClr val="FFFFFF"/>
                        </a:gs>
                      </a:gsLst>
                      <a:lin ang="5400000" scaled="0"/>
                    </a:gradFill>
                    <a:latin typeface="Segoe UI"/>
                    <a:cs typeface="Segoe UI" pitchFamily="34" charset="0"/>
                  </a:endParaRPr>
                </a:p>
              </p:txBody>
            </p:sp>
            <p:pic>
              <p:nvPicPr>
                <p:cNvPr id="44" name="Graphic 7">
                  <a:extLst>
                    <a:ext uri="{FF2B5EF4-FFF2-40B4-BE49-F238E27FC236}">
                      <a16:creationId xmlns:a16="http://schemas.microsoft.com/office/drawing/2014/main" id="{D3372CE8-7C2D-5358-7130-E5E35B64855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671878" y="4251731"/>
                  <a:ext cx="468315" cy="449051"/>
                </a:xfrm>
                <a:prstGeom prst="rect">
                  <a:avLst/>
                </a:prstGeom>
              </p:spPr>
            </p:pic>
            <p:sp>
              <p:nvSpPr>
                <p:cNvPr id="45" name="Rectangle 44">
                  <a:extLst>
                    <a:ext uri="{FF2B5EF4-FFF2-40B4-BE49-F238E27FC236}">
                      <a16:creationId xmlns:a16="http://schemas.microsoft.com/office/drawing/2014/main" id="{3029EF0B-E339-4DA8-1E6C-C1D5C1B38CF7}"/>
                    </a:ext>
                  </a:extLst>
                </p:cNvPr>
                <p:cNvSpPr/>
                <p:nvPr/>
              </p:nvSpPr>
              <p:spPr bwMode="auto">
                <a:xfrm>
                  <a:off x="2838486" y="4004429"/>
                  <a:ext cx="2140426" cy="1413137"/>
                </a:xfrm>
                <a:prstGeom prst="rect">
                  <a:avLst/>
                </a:prstGeom>
                <a:no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60" tIns="143408" rIns="179260" bIns="143408"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224"/>
                  <a:r>
                    <a:rPr lang="fr-FR" sz="1632" dirty="0">
                      <a:solidFill>
                        <a:srgbClr val="000000"/>
                      </a:solidFill>
                      <a:latin typeface="Segoe UI"/>
                    </a:rPr>
                    <a:t>az104-06-vm1</a:t>
                  </a:r>
                </a:p>
                <a:p>
                  <a:pPr algn="ctr" defTabSz="914224"/>
                  <a:r>
                    <a:rPr lang="fr-FR" sz="1632" dirty="0">
                      <a:solidFill>
                        <a:srgbClr val="000000"/>
                      </a:solidFill>
                      <a:latin typeface="Segoe UI"/>
                    </a:rPr>
                    <a:t>10.60.1.4</a:t>
                  </a:r>
                </a:p>
              </p:txBody>
            </p:sp>
            <p:sp>
              <p:nvSpPr>
                <p:cNvPr id="46" name="TextBox 19">
                  <a:extLst>
                    <a:ext uri="{FF2B5EF4-FFF2-40B4-BE49-F238E27FC236}">
                      <a16:creationId xmlns:a16="http://schemas.microsoft.com/office/drawing/2014/main" id="{6CCA22BC-FABD-B21C-45E6-5B6F4FA353F4}"/>
                    </a:ext>
                  </a:extLst>
                </p:cNvPr>
                <p:cNvSpPr txBox="1"/>
                <p:nvPr/>
              </p:nvSpPr>
              <p:spPr>
                <a:xfrm>
                  <a:off x="3408727" y="3648905"/>
                  <a:ext cx="1567521" cy="34349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224"/>
                  <a:r>
                    <a:rPr lang="fr-FR" sz="1632" dirty="0">
                      <a:solidFill>
                        <a:srgbClr val="000000"/>
                      </a:solidFill>
                      <a:latin typeface="Segoe UI"/>
                    </a:rPr>
                    <a:t>Subnet1</a:t>
                  </a:r>
                </a:p>
              </p:txBody>
            </p:sp>
          </p:grpSp>
          <p:grpSp>
            <p:nvGrpSpPr>
              <p:cNvPr id="52" name="Group 51">
                <a:extLst>
                  <a:ext uri="{FF2B5EF4-FFF2-40B4-BE49-F238E27FC236}">
                    <a16:creationId xmlns:a16="http://schemas.microsoft.com/office/drawing/2014/main" id="{11EACBF0-1CF9-19BA-048E-394B8E42CFB1}"/>
                  </a:ext>
                </a:extLst>
              </p:cNvPr>
              <p:cNvGrpSpPr/>
              <p:nvPr/>
            </p:nvGrpSpPr>
            <p:grpSpPr>
              <a:xfrm>
                <a:off x="6508615" y="3387622"/>
                <a:ext cx="3046563" cy="2161530"/>
                <a:chOff x="5820311" y="3669097"/>
                <a:chExt cx="3046563" cy="2161530"/>
              </a:xfrm>
            </p:grpSpPr>
            <p:pic>
              <p:nvPicPr>
                <p:cNvPr id="47" name="Graphic 7">
                  <a:extLst>
                    <a:ext uri="{FF2B5EF4-FFF2-40B4-BE49-F238E27FC236}">
                      <a16:creationId xmlns:a16="http://schemas.microsoft.com/office/drawing/2014/main" id="{2112FE4C-B5A8-5FC9-8B09-8922A62EC33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138598" y="4279371"/>
                  <a:ext cx="468315" cy="449051"/>
                </a:xfrm>
                <a:prstGeom prst="rect">
                  <a:avLst/>
                </a:prstGeom>
              </p:spPr>
            </p:pic>
            <p:sp>
              <p:nvSpPr>
                <p:cNvPr id="48" name="Rectangle 47">
                  <a:extLst>
                    <a:ext uri="{FF2B5EF4-FFF2-40B4-BE49-F238E27FC236}">
                      <a16:creationId xmlns:a16="http://schemas.microsoft.com/office/drawing/2014/main" id="{CAC14677-8928-8DE0-84D1-9F3FCDE6C2DA}"/>
                    </a:ext>
                  </a:extLst>
                </p:cNvPr>
                <p:cNvSpPr/>
                <p:nvPr/>
              </p:nvSpPr>
              <p:spPr bwMode="auto">
                <a:xfrm>
                  <a:off x="6287924" y="4025926"/>
                  <a:ext cx="2140426" cy="1413137"/>
                </a:xfrm>
                <a:prstGeom prst="rect">
                  <a:avLst/>
                </a:prstGeom>
                <a:no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60" tIns="143408" rIns="179260" bIns="143408" numCol="1" spcCol="0" rtlCol="0" fromWordArt="0" anchor="b"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224"/>
                  <a:r>
                    <a:rPr lang="fr-FR" sz="1632" dirty="0">
                      <a:solidFill>
                        <a:srgbClr val="000000"/>
                      </a:solidFill>
                      <a:latin typeface="Segoe UI"/>
                    </a:rPr>
                    <a:t>az104-06-vm2</a:t>
                  </a:r>
                </a:p>
                <a:p>
                  <a:pPr algn="ctr" defTabSz="914224"/>
                  <a:r>
                    <a:rPr lang="fr-FR" sz="1632" dirty="0">
                      <a:solidFill>
                        <a:srgbClr val="000000"/>
                      </a:solidFill>
                      <a:latin typeface="Segoe UI"/>
                    </a:rPr>
                    <a:t>10.60.2.4</a:t>
                  </a:r>
                </a:p>
              </p:txBody>
            </p:sp>
            <p:sp>
              <p:nvSpPr>
                <p:cNvPr id="49" name="TextBox 19">
                  <a:extLst>
                    <a:ext uri="{FF2B5EF4-FFF2-40B4-BE49-F238E27FC236}">
                      <a16:creationId xmlns:a16="http://schemas.microsoft.com/office/drawing/2014/main" id="{15F62776-04A2-6591-6ED9-179E47053AD1}"/>
                    </a:ext>
                  </a:extLst>
                </p:cNvPr>
                <p:cNvSpPr txBox="1"/>
                <p:nvPr/>
              </p:nvSpPr>
              <p:spPr>
                <a:xfrm>
                  <a:off x="6739785" y="3669097"/>
                  <a:ext cx="1674020" cy="59465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224"/>
                  <a:r>
                    <a:rPr lang="fr-FR" sz="1632" dirty="0">
                      <a:solidFill>
                        <a:srgbClr val="000000"/>
                      </a:solidFill>
                      <a:latin typeface="Segoe UI"/>
                    </a:rPr>
                    <a:t>Subnet2</a:t>
                  </a:r>
                </a:p>
                <a:p>
                  <a:pPr defTabSz="914224"/>
                  <a:endParaRPr lang="fr-FR" sz="1632" dirty="0">
                    <a:solidFill>
                      <a:srgbClr val="000000"/>
                    </a:solidFill>
                    <a:latin typeface="Segoe UI"/>
                  </a:endParaRPr>
                </a:p>
              </p:txBody>
            </p:sp>
            <p:sp>
              <p:nvSpPr>
                <p:cNvPr id="50" name="Rectangle 49">
                  <a:extLst>
                    <a:ext uri="{FF2B5EF4-FFF2-40B4-BE49-F238E27FC236}">
                      <a16:creationId xmlns:a16="http://schemas.microsoft.com/office/drawing/2014/main" id="{E3800527-8024-C4EF-9F4D-CC8E6C467883}"/>
                    </a:ext>
                  </a:extLst>
                </p:cNvPr>
                <p:cNvSpPr/>
                <p:nvPr/>
              </p:nvSpPr>
              <p:spPr bwMode="auto">
                <a:xfrm>
                  <a:off x="5820311" y="3687373"/>
                  <a:ext cx="3046563" cy="2143254"/>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60" tIns="143408" rIns="179260" bIns="143408"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926" fontAlgn="base">
                    <a:lnSpc>
                      <a:spcPct val="90000"/>
                    </a:lnSpc>
                    <a:spcBef>
                      <a:spcPct val="0"/>
                    </a:spcBef>
                    <a:spcAft>
                      <a:spcPct val="0"/>
                    </a:spcAft>
                  </a:pPr>
                  <a:endParaRPr lang="fr-FR" sz="1632" dirty="0">
                    <a:gradFill>
                      <a:gsLst>
                        <a:gs pos="0">
                          <a:srgbClr val="FFFFFF"/>
                        </a:gs>
                        <a:gs pos="100000">
                          <a:srgbClr val="FFFFFF"/>
                        </a:gs>
                      </a:gsLst>
                      <a:lin ang="5400000" scaled="0"/>
                    </a:gradFill>
                    <a:latin typeface="Segoe UI"/>
                    <a:cs typeface="Segoe UI" pitchFamily="34" charset="0"/>
                  </a:endParaRPr>
                </a:p>
              </p:txBody>
            </p:sp>
          </p:grpSp>
          <p:cxnSp>
            <p:nvCxnSpPr>
              <p:cNvPr id="54" name="Connector: Elbow 53">
                <a:extLst>
                  <a:ext uri="{FF2B5EF4-FFF2-40B4-BE49-F238E27FC236}">
                    <a16:creationId xmlns:a16="http://schemas.microsoft.com/office/drawing/2014/main" id="{EB6B95F1-DBC0-8FDE-3AF8-9AD5428C7B70}"/>
                  </a:ext>
                </a:extLst>
              </p:cNvPr>
              <p:cNvCxnSpPr>
                <a:cxnSpLocks/>
                <a:stCxn id="37" idx="2"/>
                <a:endCxn id="50" idx="1"/>
              </p:cNvCxnSpPr>
              <p:nvPr/>
            </p:nvCxnSpPr>
            <p:spPr>
              <a:xfrm rot="16200000" flipH="1">
                <a:off x="5290800" y="3259709"/>
                <a:ext cx="1776699" cy="658931"/>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57" name="Connector: Elbow 56">
                <a:extLst>
                  <a:ext uri="{FF2B5EF4-FFF2-40B4-BE49-F238E27FC236}">
                    <a16:creationId xmlns:a16="http://schemas.microsoft.com/office/drawing/2014/main" id="{0A1200B6-55B1-2780-BD42-9BD4B26C95F7}"/>
                  </a:ext>
                </a:extLst>
              </p:cNvPr>
              <p:cNvCxnSpPr>
                <a:cxnSpLocks/>
                <a:stCxn id="37" idx="2"/>
                <a:endCxn id="9" idx="3"/>
              </p:cNvCxnSpPr>
              <p:nvPr/>
            </p:nvCxnSpPr>
            <p:spPr>
              <a:xfrm rot="5400000">
                <a:off x="4631657" y="3259497"/>
                <a:ext cx="1776699" cy="659356"/>
              </a:xfrm>
              <a:prstGeom prst="bentConnector2">
                <a:avLst/>
              </a:prstGeom>
              <a:ln>
                <a:tailEnd type="triangle"/>
              </a:ln>
            </p:spPr>
            <p:style>
              <a:lnRef idx="1">
                <a:schemeClr val="dk1"/>
              </a:lnRef>
              <a:fillRef idx="0">
                <a:schemeClr val="dk1"/>
              </a:fillRef>
              <a:effectRef idx="0">
                <a:schemeClr val="dk1"/>
              </a:effectRef>
              <a:fontRef idx="minor">
                <a:schemeClr val="tx1"/>
              </a:fontRef>
            </p:style>
          </p:cxnSp>
        </p:grpSp>
        <p:pic>
          <p:nvPicPr>
            <p:cNvPr id="61" name="Graphic 11">
              <a:extLst>
                <a:ext uri="{FF2B5EF4-FFF2-40B4-BE49-F238E27FC236}">
                  <a16:creationId xmlns:a16="http://schemas.microsoft.com/office/drawing/2014/main" id="{687ACAB1-361A-DB72-AFBE-587552950A8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383475" y="5689647"/>
              <a:ext cx="299219" cy="286912"/>
            </a:xfrm>
            <a:prstGeom prst="rect">
              <a:avLst/>
            </a:prstGeom>
          </p:spPr>
        </p:pic>
        <p:sp>
          <p:nvSpPr>
            <p:cNvPr id="63" name="Rectangle 62">
              <a:extLst>
                <a:ext uri="{FF2B5EF4-FFF2-40B4-BE49-F238E27FC236}">
                  <a16:creationId xmlns:a16="http://schemas.microsoft.com/office/drawing/2014/main" id="{B547D03F-A454-2D36-0305-7AFF6070343F}"/>
                </a:ext>
              </a:extLst>
            </p:cNvPr>
            <p:cNvSpPr/>
            <p:nvPr/>
          </p:nvSpPr>
          <p:spPr bwMode="auto">
            <a:xfrm>
              <a:off x="4734201" y="1821642"/>
              <a:ext cx="3251509" cy="1255661"/>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79260" tIns="143408" rIns="179260" bIns="143408"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926" fontAlgn="base">
                <a:lnSpc>
                  <a:spcPct val="90000"/>
                </a:lnSpc>
                <a:spcBef>
                  <a:spcPct val="0"/>
                </a:spcBef>
                <a:spcAft>
                  <a:spcPct val="0"/>
                </a:spcAft>
              </a:pPr>
              <a:endParaRPr lang="fr-FR" sz="2353" dirty="0">
                <a:gradFill>
                  <a:gsLst>
                    <a:gs pos="0">
                      <a:srgbClr val="FFFFFF"/>
                    </a:gs>
                    <a:gs pos="100000">
                      <a:srgbClr val="FFFFFF"/>
                    </a:gs>
                  </a:gsLst>
                  <a:lin ang="5400000" scaled="0"/>
                </a:gradFill>
                <a:latin typeface="Segoe UI"/>
                <a:cs typeface="Segoe UI" pitchFamily="34" charset="0"/>
              </a:endParaRPr>
            </a:p>
          </p:txBody>
        </p:sp>
        <p:sp>
          <p:nvSpPr>
            <p:cNvPr id="8" name="TextBox 7">
              <a:extLst>
                <a:ext uri="{FF2B5EF4-FFF2-40B4-BE49-F238E27FC236}">
                  <a16:creationId xmlns:a16="http://schemas.microsoft.com/office/drawing/2014/main" id="{D97DE997-FC64-6376-D1C8-C9A610BC81A2}"/>
                </a:ext>
              </a:extLst>
            </p:cNvPr>
            <p:cNvSpPr txBox="1"/>
            <p:nvPr/>
          </p:nvSpPr>
          <p:spPr>
            <a:xfrm>
              <a:off x="9682694" y="4151766"/>
              <a:ext cx="2059772" cy="346570"/>
            </a:xfrm>
            <a:prstGeom prst="rect">
              <a:avLst/>
            </a:prstGeom>
            <a:noFill/>
          </p:spPr>
          <p:txBody>
            <a:bodyPr wrap="square">
              <a:spAutoFit/>
            </a:bodyPr>
            <a:lstStyle/>
            <a:p>
              <a:pPr algn="ctr" defTabSz="951028" fontAlgn="base">
                <a:lnSpc>
                  <a:spcPct val="90000"/>
                </a:lnSpc>
                <a:spcBef>
                  <a:spcPct val="0"/>
                </a:spcBef>
                <a:spcAft>
                  <a:spcPct val="0"/>
                </a:spcAft>
              </a:pPr>
              <a:r>
                <a:rPr lang="fr-FR" sz="1836" dirty="0">
                  <a:solidFill>
                    <a:srgbClr val="000000"/>
                  </a:solidFill>
                  <a:latin typeface="Segoe UI"/>
                </a:rPr>
                <a:t>Backend pool</a:t>
              </a:r>
              <a:endParaRPr lang="en-US" sz="1836" dirty="0" err="1">
                <a:gradFill>
                  <a:gsLst>
                    <a:gs pos="0">
                      <a:srgbClr val="FFFFFF"/>
                    </a:gs>
                    <a:gs pos="100000">
                      <a:srgbClr val="FFFFFF"/>
                    </a:gs>
                  </a:gsLst>
                  <a:lin ang="5400000" scaled="0"/>
                </a:gradFill>
                <a:ea typeface="Segoe UI" pitchFamily="34" charset="0"/>
                <a:cs typeface="Segoe UI" pitchFamily="34" charset="0"/>
              </a:endParaRPr>
            </a:p>
          </p:txBody>
        </p:sp>
        <p:sp>
          <p:nvSpPr>
            <p:cNvPr id="11" name="TextBox 19">
              <a:extLst>
                <a:ext uri="{FF2B5EF4-FFF2-40B4-BE49-F238E27FC236}">
                  <a16:creationId xmlns:a16="http://schemas.microsoft.com/office/drawing/2014/main" id="{DA4FC7FC-78B2-7145-142D-E52AB1A88DBA}"/>
                </a:ext>
              </a:extLst>
            </p:cNvPr>
            <p:cNvSpPr txBox="1"/>
            <p:nvPr/>
          </p:nvSpPr>
          <p:spPr>
            <a:xfrm>
              <a:off x="4724479" y="1811590"/>
              <a:ext cx="1674020" cy="59465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224"/>
              <a:r>
                <a:rPr lang="en-US" sz="1632" dirty="0">
                  <a:solidFill>
                    <a:srgbClr val="000000"/>
                  </a:solidFill>
                  <a:latin typeface="Segoe UI"/>
                </a:rPr>
                <a:t>Subnet-</a:t>
              </a:r>
              <a:r>
                <a:rPr lang="en-US" sz="1632" dirty="0" err="1">
                  <a:solidFill>
                    <a:srgbClr val="000000"/>
                  </a:solidFill>
                  <a:latin typeface="Segoe UI"/>
                </a:rPr>
                <a:t>appgw</a:t>
              </a:r>
              <a:endParaRPr lang="en-US" sz="1632" dirty="0">
                <a:solidFill>
                  <a:srgbClr val="000000"/>
                </a:solidFill>
                <a:latin typeface="Segoe UI"/>
              </a:endParaRPr>
            </a:p>
            <a:p>
              <a:pPr defTabSz="914224"/>
              <a:endParaRPr lang="fr-FR" sz="1632" dirty="0">
                <a:solidFill>
                  <a:srgbClr val="000000"/>
                </a:solidFill>
                <a:latin typeface="Segoe UI"/>
              </a:endParaRPr>
            </a:p>
          </p:txBody>
        </p:sp>
      </p:grpSp>
      <p:sp>
        <p:nvSpPr>
          <p:cNvPr id="3" name="TextBox 19">
            <a:extLst>
              <a:ext uri="{FF2B5EF4-FFF2-40B4-BE49-F238E27FC236}">
                <a16:creationId xmlns:a16="http://schemas.microsoft.com/office/drawing/2014/main" id="{EED0F8D7-38A1-6F5A-6FCB-259B64FA5065}"/>
              </a:ext>
              <a:ext uri="{C183D7F6-B498-43B3-948B-1728B52AA6E4}">
                <adec:decorative xmlns:adec="http://schemas.microsoft.com/office/drawing/2017/decorative" val="1"/>
              </a:ext>
            </a:extLst>
          </p:cNvPr>
          <p:cNvSpPr txBox="1"/>
          <p:nvPr/>
        </p:nvSpPr>
        <p:spPr>
          <a:xfrm>
            <a:off x="3177266" y="5201680"/>
            <a:ext cx="1598726" cy="35033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224"/>
            <a:r>
              <a:rPr lang="fr-FR" sz="1632" b="1" dirty="0">
                <a:solidFill>
                  <a:srgbClr val="000000"/>
                </a:solidFill>
                <a:latin typeface="Segoe UI"/>
              </a:rPr>
              <a:t>images</a:t>
            </a:r>
          </a:p>
        </p:txBody>
      </p:sp>
      <p:sp>
        <p:nvSpPr>
          <p:cNvPr id="7" name="TextBox 19">
            <a:extLst>
              <a:ext uri="{FF2B5EF4-FFF2-40B4-BE49-F238E27FC236}">
                <a16:creationId xmlns:a16="http://schemas.microsoft.com/office/drawing/2014/main" id="{9CE13C14-7757-83DF-0159-83A7D8297989}"/>
              </a:ext>
              <a:ext uri="{C183D7F6-B498-43B3-948B-1728B52AA6E4}">
                <adec:decorative xmlns:adec="http://schemas.microsoft.com/office/drawing/2017/decorative" val="1"/>
              </a:ext>
            </a:extLst>
          </p:cNvPr>
          <p:cNvSpPr txBox="1"/>
          <p:nvPr/>
        </p:nvSpPr>
        <p:spPr>
          <a:xfrm>
            <a:off x="7765734" y="5242218"/>
            <a:ext cx="1598726" cy="35033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224"/>
            <a:r>
              <a:rPr lang="fr-FR" sz="1632" b="1" dirty="0" err="1">
                <a:solidFill>
                  <a:srgbClr val="000000"/>
                </a:solidFill>
                <a:latin typeface="Segoe UI"/>
              </a:rPr>
              <a:t>videos</a:t>
            </a:r>
            <a:endParaRPr lang="fr-FR" sz="1632" b="1" dirty="0">
              <a:solidFill>
                <a:srgbClr val="000000"/>
              </a:solidFill>
              <a:latin typeface="Segoe UI"/>
            </a:endParaRPr>
          </a:p>
        </p:txBody>
      </p:sp>
      <p:sp>
        <p:nvSpPr>
          <p:cNvPr id="5" name="TextBox 4">
            <a:extLst>
              <a:ext uri="{FF2B5EF4-FFF2-40B4-BE49-F238E27FC236}">
                <a16:creationId xmlns:a16="http://schemas.microsoft.com/office/drawing/2014/main" id="{E98DA45C-D2BC-718A-3DD2-80F30708C709}"/>
              </a:ext>
              <a:ext uri="{C183D7F6-B498-43B3-948B-1728B52AA6E4}">
                <adec:decorative xmlns:adec="http://schemas.microsoft.com/office/drawing/2017/decorative" val="1"/>
              </a:ext>
            </a:extLst>
          </p:cNvPr>
          <p:cNvSpPr txBox="1"/>
          <p:nvPr/>
        </p:nvSpPr>
        <p:spPr>
          <a:xfrm>
            <a:off x="3934808" y="2199695"/>
            <a:ext cx="1471190" cy="382308"/>
          </a:xfrm>
          <a:prstGeom prst="rect">
            <a:avLst/>
          </a:prstGeom>
          <a:noFill/>
        </p:spPr>
        <p:txBody>
          <a:bodyPr wrap="square">
            <a:spAutoFit/>
          </a:bodyPr>
          <a:lstStyle/>
          <a:p>
            <a:pPr defTabSz="914191"/>
            <a:r>
              <a:rPr lang="en-US" sz="1836" b="1" dirty="0">
                <a:solidFill>
                  <a:schemeClr val="tx2">
                    <a:lumMod val="50000"/>
                  </a:schemeClr>
                </a:solidFill>
              </a:rPr>
              <a:t>Task 3</a:t>
            </a:r>
          </a:p>
        </p:txBody>
      </p:sp>
    </p:spTree>
    <p:extLst>
      <p:ext uri="{BB962C8B-B14F-4D97-AF65-F5344CB8AC3E}">
        <p14:creationId xmlns:p14="http://schemas.microsoft.com/office/powerpoint/2010/main" val="1048937091"/>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4A4F76-3223-45E6-B6AF-37674A4B5C8E}"/>
              </a:ext>
            </a:extLst>
          </p:cNvPr>
          <p:cNvSpPr>
            <a:spLocks noGrp="1"/>
          </p:cNvSpPr>
          <p:nvPr>
            <p:ph type="title"/>
          </p:nvPr>
        </p:nvSpPr>
        <p:spPr/>
        <p:txBody>
          <a:bodyPr/>
          <a:lstStyle/>
          <a:p>
            <a:r>
              <a:rPr lang="en-US" dirty="0"/>
              <a:t>End of presentation</a:t>
            </a:r>
          </a:p>
        </p:txBody>
      </p:sp>
    </p:spTree>
    <p:extLst>
      <p:ext uri="{BB962C8B-B14F-4D97-AF65-F5344CB8AC3E}">
        <p14:creationId xmlns:p14="http://schemas.microsoft.com/office/powerpoint/2010/main" val="371030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Azure 1">
  <a:themeElements>
    <a:clrScheme name="Custom 3">
      <a:dk1>
        <a:srgbClr val="000000"/>
      </a:dk1>
      <a:lt1>
        <a:srgbClr val="FFFFFF"/>
      </a:lt1>
      <a:dk2>
        <a:srgbClr val="0078D3"/>
      </a:dk2>
      <a:lt2>
        <a:srgbClr val="FFFFFF"/>
      </a:lt2>
      <a:accent1>
        <a:srgbClr val="EBEBEB"/>
      </a:accent1>
      <a:accent2>
        <a:srgbClr val="75757A"/>
      </a:accent2>
      <a:accent3>
        <a:srgbClr val="000041"/>
      </a:accent3>
      <a:accent4>
        <a:srgbClr val="0078D3"/>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2394</Words>
  <Application>Microsoft Office PowerPoint</Application>
  <PresentationFormat>Custom</PresentationFormat>
  <Paragraphs>284</Paragraphs>
  <Slides>31</Slides>
  <Notes>31</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Segoe UI</vt:lpstr>
      <vt:lpstr>Segoe UI Semibold</vt:lpstr>
      <vt:lpstr>Wingdings</vt:lpstr>
      <vt:lpstr>1_Azure 1</vt:lpstr>
      <vt:lpstr>AZ-104T00A Administer Network Traffic </vt:lpstr>
      <vt:lpstr>Learning Objectives - Administer Network Traffic </vt:lpstr>
      <vt:lpstr>Network Traffic whiteboard (walkthrough)</vt:lpstr>
      <vt:lpstr>Introduction to Azure Load Balancer</vt:lpstr>
      <vt:lpstr>Learning Objectives – Introduction to Azure Load Balancer</vt:lpstr>
      <vt:lpstr>Choose a Load Balancer Solution</vt:lpstr>
      <vt:lpstr>Implement a Public Load Balancer</vt:lpstr>
      <vt:lpstr>Implement an Internal Load Balancer</vt:lpstr>
      <vt:lpstr>Determine Load Balancer SKU</vt:lpstr>
      <vt:lpstr>Create load balancer rules</vt:lpstr>
      <vt:lpstr>Demonstration – Configure a Load Balancer</vt:lpstr>
      <vt:lpstr>Configure Session Persistence (optional)</vt:lpstr>
      <vt:lpstr>Learning Recap – Introduction to Azure Load Balancer</vt:lpstr>
      <vt:lpstr>Introduction to Azure Application Gateway</vt:lpstr>
      <vt:lpstr>Learning Objectives – Introduction to Azure Application Gateway</vt:lpstr>
      <vt:lpstr>Implement Application Gateway</vt:lpstr>
      <vt:lpstr>Determine Application Gateway Routing</vt:lpstr>
      <vt:lpstr>Demonstration – Configure an Azure Application Gateway</vt:lpstr>
      <vt:lpstr>Learning Recap – Introduction to Azure Application Gateway</vt:lpstr>
      <vt:lpstr>Introduction to Network Watcher</vt:lpstr>
      <vt:lpstr>Configure Network Watcher Introduction</vt:lpstr>
      <vt:lpstr>Describe Network Watcher Features</vt:lpstr>
      <vt:lpstr>Review IP Flow Verify Diagnostics</vt:lpstr>
      <vt:lpstr>Review Next Hop Diagnostics</vt:lpstr>
      <vt:lpstr>Visualize the Network Topology</vt:lpstr>
      <vt:lpstr>Learning Recap – Introduction to Network Watcher</vt:lpstr>
      <vt:lpstr>Lab – Implement Traffic Management</vt:lpstr>
      <vt:lpstr>Lab 06 – Implement traffic management</vt:lpstr>
      <vt:lpstr>Lab 06 – Architecture Diagram (Load Balancer)</vt:lpstr>
      <vt:lpstr>Lab 06 – Architecture Diagram (Application Gateway)</vt:lpstr>
      <vt:lpstr>End of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2023-11-13T15:47:11Z</dcterms:created>
  <dcterms:modified xsi:type="dcterms:W3CDTF">2026-03-04T09:05:44Z</dcterms:modified>
</cp:coreProperties>
</file>