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551" r:id="rId1"/>
  </p:sldMasterIdLst>
  <p:notesMasterIdLst>
    <p:notesMasterId r:id="rId52"/>
  </p:notesMasterIdLst>
  <p:handoutMasterIdLst>
    <p:handoutMasterId r:id="rId53"/>
  </p:handoutMasterIdLst>
  <p:sldIdLst>
    <p:sldId id="1719" r:id="rId2"/>
    <p:sldId id="2253" r:id="rId3"/>
    <p:sldId id="1865" r:id="rId4"/>
    <p:sldId id="2076138207" r:id="rId5"/>
    <p:sldId id="2235" r:id="rId6"/>
    <p:sldId id="2227" r:id="rId7"/>
    <p:sldId id="2257" r:id="rId8"/>
    <p:sldId id="1950" r:id="rId9"/>
    <p:sldId id="1951" r:id="rId10"/>
    <p:sldId id="1861" r:id="rId11"/>
    <p:sldId id="2310" r:id="rId12"/>
    <p:sldId id="2476" r:id="rId13"/>
    <p:sldId id="2471" r:id="rId14"/>
    <p:sldId id="1866" r:id="rId15"/>
    <p:sldId id="2236" r:id="rId16"/>
    <p:sldId id="2028" r:id="rId17"/>
    <p:sldId id="2029" r:id="rId18"/>
    <p:sldId id="2231" r:id="rId19"/>
    <p:sldId id="2477" r:id="rId20"/>
    <p:sldId id="2482" r:id="rId21"/>
    <p:sldId id="2232" r:id="rId22"/>
    <p:sldId id="2483" r:id="rId23"/>
    <p:sldId id="2222" r:id="rId24"/>
    <p:sldId id="2076138211" r:id="rId25"/>
    <p:sldId id="2238" r:id="rId26"/>
    <p:sldId id="2255" r:id="rId27"/>
    <p:sldId id="2054" r:id="rId28"/>
    <p:sldId id="2056" r:id="rId29"/>
    <p:sldId id="2239" r:id="rId30"/>
    <p:sldId id="2240" r:id="rId31"/>
    <p:sldId id="2241" r:id="rId32"/>
    <p:sldId id="2059" r:id="rId33"/>
    <p:sldId id="2484" r:id="rId34"/>
    <p:sldId id="2004" r:id="rId35"/>
    <p:sldId id="2076138209" r:id="rId36"/>
    <p:sldId id="2237" r:id="rId37"/>
    <p:sldId id="2035" r:id="rId38"/>
    <p:sldId id="2472" r:id="rId39"/>
    <p:sldId id="2076138215" r:id="rId40"/>
    <p:sldId id="2076138214" r:id="rId41"/>
    <p:sldId id="2226" r:id="rId42"/>
    <p:sldId id="2234" r:id="rId43"/>
    <p:sldId id="2485" r:id="rId44"/>
    <p:sldId id="2469" r:id="rId45"/>
    <p:sldId id="2076138212" r:id="rId46"/>
    <p:sldId id="2076138213" r:id="rId47"/>
    <p:sldId id="2480" r:id="rId48"/>
    <p:sldId id="2479" r:id="rId49"/>
    <p:sldId id="2098" r:id="rId50"/>
    <p:sldId id="2072" r:id="rId5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zure Storage" id="{A164B018-52B9-4B3E-B057-9276C16BC7AD}">
          <p14:sldIdLst>
            <p14:sldId id="1719"/>
            <p14:sldId id="2253"/>
          </p14:sldIdLst>
        </p14:section>
        <p14:section name="Storage Accounts" id="{93A4E5BD-A5E8-4CFD-BDED-719946E8D41F}">
          <p14:sldIdLst>
            <p14:sldId id="1865"/>
            <p14:sldId id="2076138207"/>
            <p14:sldId id="2235"/>
            <p14:sldId id="2227"/>
            <p14:sldId id="2257"/>
            <p14:sldId id="1950"/>
            <p14:sldId id="1951"/>
            <p14:sldId id="1861"/>
            <p14:sldId id="2310"/>
            <p14:sldId id="2476"/>
            <p14:sldId id="2471"/>
          </p14:sldIdLst>
        </p14:section>
        <p14:section name="Blob Storage" id="{8C2A776A-598E-4BDA-96C3-9397031A586B}">
          <p14:sldIdLst>
            <p14:sldId id="1866"/>
            <p14:sldId id="2236"/>
            <p14:sldId id="2028"/>
            <p14:sldId id="2029"/>
            <p14:sldId id="2231"/>
            <p14:sldId id="2477"/>
            <p14:sldId id="2482"/>
            <p14:sldId id="2232"/>
            <p14:sldId id="2483"/>
          </p14:sldIdLst>
        </p14:section>
        <p14:section name="Storage Security" id="{D231EBFC-65EC-43F8-8533-F2B9C04DE757}">
          <p14:sldIdLst>
            <p14:sldId id="2222"/>
            <p14:sldId id="2076138211"/>
            <p14:sldId id="2238"/>
            <p14:sldId id="2255"/>
            <p14:sldId id="2054"/>
            <p14:sldId id="2056"/>
            <p14:sldId id="2239"/>
            <p14:sldId id="2240"/>
            <p14:sldId id="2241"/>
            <p14:sldId id="2059"/>
            <p14:sldId id="2484"/>
          </p14:sldIdLst>
        </p14:section>
        <p14:section name="Files and File Sync and Tools" id="{5DAAB2E4-9A68-43A6-86A6-89168C6B4058}">
          <p14:sldIdLst>
            <p14:sldId id="2004"/>
            <p14:sldId id="2076138209"/>
            <p14:sldId id="2237"/>
            <p14:sldId id="2035"/>
            <p14:sldId id="2472"/>
            <p14:sldId id="2076138215"/>
            <p14:sldId id="2076138214"/>
            <p14:sldId id="2226"/>
            <p14:sldId id="2234"/>
            <p14:sldId id="2485"/>
          </p14:sldIdLst>
        </p14:section>
        <p14:section name="Labs" id="{E0237DF8-CE11-41EF-ACAB-2BF9D2D1A3C0}">
          <p14:sldIdLst>
            <p14:sldId id="2469"/>
            <p14:sldId id="2076138212"/>
            <p14:sldId id="2076138213"/>
            <p14:sldId id="2480"/>
          </p14:sldIdLst>
        </p14:section>
        <p14:section name="Extra Slides" id="{2BFDF2D5-4482-44BD-99C8-892B34091C90}">
          <p14:sldIdLst>
            <p14:sldId id="2479"/>
            <p14:sldId id="2098"/>
            <p14:sldId id="207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59B4D9"/>
    <a:srgbClr val="FFF100"/>
    <a:srgbClr val="FFFFFF"/>
    <a:srgbClr val="D3D3D3"/>
    <a:srgbClr val="EBEBEB"/>
    <a:srgbClr val="75757A"/>
    <a:srgbClr val="3C3C41"/>
    <a:srgbClr val="30E5D0"/>
    <a:srgbClr val="008272"/>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3D7CEF-7A57-46C8-BD35-6D91BA5DC645}" v="3" dt="2025-11-10T20:25:48.8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70" autoAdjust="0"/>
    <p:restoredTop sz="88715" autoAdjust="0"/>
  </p:normalViewPr>
  <p:slideViewPr>
    <p:cSldViewPr snapToGrid="0">
      <p:cViewPr varScale="1">
        <p:scale>
          <a:sx n="93" d="100"/>
          <a:sy n="93" d="100"/>
        </p:scale>
        <p:origin x="888" y="306"/>
      </p:cViewPr>
      <p:guideLst/>
    </p:cSldViewPr>
  </p:slideViewPr>
  <p:notesTextViewPr>
    <p:cViewPr>
      <p:scale>
        <a:sx n="1" d="1"/>
        <a:sy n="1" d="1"/>
      </p:scale>
      <p:origin x="0" y="0"/>
    </p:cViewPr>
  </p:notesTextViewPr>
  <p:notesViewPr>
    <p:cSldViewPr snapToGrid="0">
      <p:cViewPr varScale="1">
        <p:scale>
          <a:sx n="88" d="100"/>
          <a:sy n="88" d="100"/>
        </p:scale>
        <p:origin x="291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11/10/2025 12:19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n-lt"/>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Implement and manage storage in Azure (https://learn.microsoft.com/learn/paths/az-104-manage-storage/) learning path.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a:p>
        </p:txBody>
      </p:sp>
      <p:sp>
        <p:nvSpPr>
          <p:cNvPr id="6" name="Slide Image Placeholder 5">
            <a:extLst>
              <a:ext uri="{FF2B5EF4-FFF2-40B4-BE49-F238E27FC236}">
                <a16:creationId xmlns:a16="http://schemas.microsoft.com/office/drawing/2014/main" id="{E6A20726-15D1-9910-6598-5A63EF2BACF6}"/>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Reminder for the Microsoft Applied Skills: Secure storage for Azure Files and Azure Blob Storage credential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https://learn.microsoft.com/credentials/applied-skills/secure-storage-azure-files-azure-blob-storage/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a:p>
        </p:txBody>
      </p:sp>
    </p:spTree>
    <p:extLst>
      <p:ext uri="{BB962C8B-B14F-4D97-AF65-F5344CB8AC3E}">
        <p14:creationId xmlns:p14="http://schemas.microsoft.com/office/powerpoint/2010/main" val="742088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502737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a:p>
            <a:r>
              <a:rPr lang="en-US" dirty="0"/>
              <a:t>You can use this diagram to guide the discussion or draw the diagram as topics are covered. Point out there is a lot of information about storage that will not be covered. The discussion focuses only on accounts and blobs.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4</a:t>
            </a:fld>
            <a:endParaRPr lang="en-US" noProof="0" dirty="0"/>
          </a:p>
        </p:txBody>
      </p:sp>
      <p:sp>
        <p:nvSpPr>
          <p:cNvPr id="7" name="Slide Image Placeholder 6">
            <a:extLst>
              <a:ext uri="{FF2B5EF4-FFF2-40B4-BE49-F238E27FC236}">
                <a16:creationId xmlns:a16="http://schemas.microsoft.com/office/drawing/2014/main" id="{4750C334-6503-78B0-615A-B0D80B15F73C}"/>
              </a:ext>
            </a:extLst>
          </p:cNvPr>
          <p:cNvSpPr>
            <a:spLocks noGrp="1" noRot="1" noChangeAspect="1"/>
          </p:cNvSpPr>
          <p:nvPr>
            <p:ph type="sldImg"/>
          </p:nvPr>
        </p:nvSpPr>
        <p:spPr/>
      </p:sp>
    </p:spTree>
    <p:extLst>
      <p:ext uri="{BB962C8B-B14F-4D97-AF65-F5344CB8AC3E}">
        <p14:creationId xmlns:p14="http://schemas.microsoft.com/office/powerpoint/2010/main" val="715457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a:p>
        </p:txBody>
      </p:sp>
    </p:spTree>
    <p:extLst>
      <p:ext uri="{BB962C8B-B14F-4D97-AF65-F5344CB8AC3E}">
        <p14:creationId xmlns:p14="http://schemas.microsoft.com/office/powerpoint/2010/main" val="5012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the only time, Tables and Queues are discussed. </a:t>
            </a:r>
          </a:p>
          <a:p>
            <a:pPr lvl="0"/>
            <a:r>
              <a:rPr lang="en-US" dirty="0"/>
              <a:t>Introduction to the core Azure Storage services  https://learn.microsoft.com/azure/storage/common/storage-introduction?toc=%2fazure%2fstorage%2fblobs%2ftoc.json</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6</a:t>
            </a:fld>
            <a:endParaRPr lang="en-US"/>
          </a:p>
        </p:txBody>
      </p:sp>
      <p:sp>
        <p:nvSpPr>
          <p:cNvPr id="7" name="Slide Image Placeholder 6">
            <a:extLst>
              <a:ext uri="{FF2B5EF4-FFF2-40B4-BE49-F238E27FC236}">
                <a16:creationId xmlns:a16="http://schemas.microsoft.com/office/drawing/2014/main" id="{B6817954-F01D-A65C-4D6B-2A7690279BFA}"/>
              </a:ext>
            </a:extLst>
          </p:cNvPr>
          <p:cNvSpPr>
            <a:spLocks noGrp="1" noRot="1" noChangeAspect="1"/>
          </p:cNvSpPr>
          <p:nvPr>
            <p:ph type="sldImg"/>
          </p:nvPr>
        </p:nvSpPr>
        <p:spPr/>
      </p:sp>
    </p:spTree>
    <p:extLst>
      <p:ext uri="{BB962C8B-B14F-4D97-AF65-F5344CB8AC3E}">
        <p14:creationId xmlns:p14="http://schemas.microsoft.com/office/powerpoint/2010/main" val="2650320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Premium block blobs, File share and page blob supports LRS &amp; ZRS and Standard general-purpose v2 supports all replications.</a:t>
            </a:r>
          </a:p>
          <a:p>
            <a:endParaRPr lang="en-US" dirty="0"/>
          </a:p>
          <a:p>
            <a:r>
              <a:rPr lang="en-US" dirty="0"/>
              <a:t>Storage account overview</a:t>
            </a:r>
          </a:p>
          <a:p>
            <a:r>
              <a:rPr lang="en-US" dirty="0"/>
              <a:t>https://learn.microsoft.com/azure/storage/common/storage-account-overview</a:t>
            </a:r>
          </a:p>
          <a:p>
            <a:endParaRPr lang="en-US" dirty="0"/>
          </a:p>
          <a:p>
            <a:r>
              <a:rPr lang="en-US" dirty="0"/>
              <a:t>Create an Azure Storage account  </a:t>
            </a:r>
          </a:p>
          <a:p>
            <a:r>
              <a:rPr lang="en-US" dirty="0"/>
              <a:t>https://learn.microsoft.com/azure/storage/common/storage-account-create</a:t>
            </a:r>
          </a:p>
          <a:p>
            <a:endParaRPr lang="en-US" dirty="0"/>
          </a:p>
          <a:p>
            <a:r>
              <a:rPr lang="en-US" dirty="0"/>
              <a:t>Upgrade to a general-purpose v2 storage account https://learn.microsoft.com/azure/storage/common/storage-account-upgrade</a:t>
            </a:r>
          </a:p>
          <a:p>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a:p>
        </p:txBody>
      </p:sp>
      <p:sp>
        <p:nvSpPr>
          <p:cNvPr id="9" name="Slide Image Placeholder 8">
            <a:extLst>
              <a:ext uri="{FF2B5EF4-FFF2-40B4-BE49-F238E27FC236}">
                <a16:creationId xmlns:a16="http://schemas.microsoft.com/office/drawing/2014/main" id="{5C1E152E-5246-04A0-6F5C-2315D3319D0E}"/>
              </a:ext>
            </a:extLst>
          </p:cNvPr>
          <p:cNvSpPr>
            <a:spLocks noGrp="1" noRot="1" noChangeAspect="1"/>
          </p:cNvSpPr>
          <p:nvPr>
            <p:ph type="sldImg"/>
          </p:nvPr>
        </p:nvSpPr>
        <p:spPr/>
      </p:sp>
    </p:spTree>
    <p:extLst>
      <p:ext uri="{BB962C8B-B14F-4D97-AF65-F5344CB8AC3E}">
        <p14:creationId xmlns:p14="http://schemas.microsoft.com/office/powerpoint/2010/main" val="1836680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Data redundancy</a:t>
            </a:r>
          </a:p>
          <a:p>
            <a:r>
              <a:rPr lang="en-US" dirty="0"/>
              <a:t>https://learn.microsoft.com/azure/storage/common/storage-account-upgrade</a:t>
            </a:r>
          </a:p>
          <a:p>
            <a:endParaRPr lang="en-US" dirty="0"/>
          </a:p>
          <a:p>
            <a:r>
              <a:rPr lang="en-US" dirty="0"/>
              <a:t>An Azure Storage account always replicates your data to help ensure durability and high availability. Azure Storage copies data so that it’s protected from planned and unplanned events, including transient hardware failures, network or power outages, and natural disasters. You can replicate data within the same datacenter, across zonal datacenters within the same region, or across geographically separated regions.</a:t>
            </a:r>
          </a:p>
          <a:p>
            <a:r>
              <a:rPr lang="en-US" dirty="0"/>
              <a:t>Locally redundant storage (LRS) replicates data three times within a single datacenter. LRS provides at least 99.999999999 (11 nines) percent durability of objects over a given year. LRS is the lowest-cost replication option, and it offers the least durability compared to other options.</a:t>
            </a:r>
          </a:p>
          <a:p>
            <a:r>
              <a:rPr lang="en-US" dirty="0"/>
              <a:t>Zone-redundant storage (ZRS) replicates data synchronously across three storage clusters in a single region. Each storage cluster is physically separated from the others and is in its own availability zone (AZ).</a:t>
            </a:r>
          </a:p>
          <a:p>
            <a:r>
              <a:rPr lang="en-US" dirty="0"/>
              <a:t>Geo-redundant storage (GRS) is designed to provide at least 99.99999999999999 (16 nines) percent durability of objects over a given year by replicating data to a secondary region that’s hundreds of miles away from the primary region. </a:t>
            </a:r>
          </a:p>
          <a:p>
            <a:r>
              <a:rPr lang="en-US" dirty="0"/>
              <a:t>Read-access geo-redundant storage (RA-GRS) is based on GRS. RA-GRS replicates data to another datacenter in a secondary region, and it also provides the option to read from the secondary region.</a:t>
            </a:r>
          </a:p>
        </p:txBody>
      </p:sp>
      <p:sp>
        <p:nvSpPr>
          <p:cNvPr id="4" name="Slide Number Placeholder 3"/>
          <p:cNvSpPr>
            <a:spLocks noGrp="1"/>
          </p:cNvSpPr>
          <p:nvPr>
            <p:ph type="sldNum" sz="quarter" idx="5"/>
          </p:nvPr>
        </p:nvSpPr>
        <p:spPr/>
        <p:txBody>
          <a:bodyPr/>
          <a:lstStyle/>
          <a:p>
            <a:pPr lvl="0"/>
            <a:fld id="{C36DE848-917B-4977-8FFB-D5973E30E536}" type="slidenum">
              <a:rPr lang="en-US" noProof="0" smtClean="0"/>
              <a:pPr lvl="0"/>
              <a:t>8</a:t>
            </a:fld>
            <a:endParaRPr lang="en-US" noProof="0" dirty="0"/>
          </a:p>
        </p:txBody>
      </p:sp>
      <p:sp>
        <p:nvSpPr>
          <p:cNvPr id="6" name="Slide Image Placeholder 5">
            <a:extLst>
              <a:ext uri="{FF2B5EF4-FFF2-40B4-BE49-F238E27FC236}">
                <a16:creationId xmlns:a16="http://schemas.microsoft.com/office/drawing/2014/main" id="{CEB47BA4-953F-B086-890E-9AB325E77AE1}"/>
              </a:ext>
            </a:extLst>
          </p:cNvPr>
          <p:cNvSpPr>
            <a:spLocks noGrp="1" noRot="1" noChangeAspect="1"/>
          </p:cNvSpPr>
          <p:nvPr>
            <p:ph type="sldImg"/>
          </p:nvPr>
        </p:nvSpPr>
        <p:spPr/>
      </p:sp>
    </p:spTree>
    <p:extLst>
      <p:ext uri="{BB962C8B-B14F-4D97-AF65-F5344CB8AC3E}">
        <p14:creationId xmlns:p14="http://schemas.microsoft.com/office/powerpoint/2010/main" val="3004461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Geographically zone-redundant storage (GZRS) combines the high availability of ZRS with the protection from regional outages that GRS provides. A GZRS storage account replicates data across three Azure AZs in the primary region, and to a secondary geographic region for protection from regional disasters.</a:t>
            </a:r>
          </a:p>
          <a:p>
            <a:endParaRPr lang="en-US" dirty="0"/>
          </a:p>
          <a:p>
            <a:r>
              <a:rPr lang="en-US" dirty="0"/>
              <a:t>Optionally, you can enable read access to data in the secondary region with read-access geographically zone-redundant storage (RA-GZRS) if your applications must read data in the event of a disaster in the primary region.</a:t>
            </a:r>
          </a:p>
        </p:txBody>
      </p:sp>
      <p:sp>
        <p:nvSpPr>
          <p:cNvPr id="4" name="Slide Number Placeholder 3"/>
          <p:cNvSpPr>
            <a:spLocks noGrp="1"/>
          </p:cNvSpPr>
          <p:nvPr>
            <p:ph type="sldNum" sz="quarter" idx="5"/>
          </p:nvPr>
        </p:nvSpPr>
        <p:spPr/>
        <p:txBody>
          <a:bodyPr/>
          <a:lstStyle/>
          <a:p>
            <a:pPr lvl="0"/>
            <a:fld id="{C36DE848-917B-4977-8FFB-D5973E30E536}" type="slidenum">
              <a:rPr lang="en-US" noProof="0" smtClean="0"/>
              <a:pPr lvl="0"/>
              <a:t>9</a:t>
            </a:fld>
            <a:endParaRPr lang="en-US" noProof="0" dirty="0"/>
          </a:p>
        </p:txBody>
      </p:sp>
      <p:sp>
        <p:nvSpPr>
          <p:cNvPr id="7" name="Slide Image Placeholder 6">
            <a:extLst>
              <a:ext uri="{FF2B5EF4-FFF2-40B4-BE49-F238E27FC236}">
                <a16:creationId xmlns:a16="http://schemas.microsoft.com/office/drawing/2014/main" id="{D72F3909-A2A0-28FD-C1D4-38701489E6C6}"/>
              </a:ext>
            </a:extLst>
          </p:cNvPr>
          <p:cNvSpPr>
            <a:spLocks noGrp="1" noRot="1" noChangeAspect="1"/>
          </p:cNvSpPr>
          <p:nvPr>
            <p:ph type="sldImg"/>
          </p:nvPr>
        </p:nvSpPr>
        <p:spPr/>
      </p:sp>
    </p:spTree>
    <p:extLst>
      <p:ext uri="{BB962C8B-B14F-4D97-AF65-F5344CB8AC3E}">
        <p14:creationId xmlns:p14="http://schemas.microsoft.com/office/powerpoint/2010/main" val="263689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Secure access to your storage account (Learn)</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https://learn.microsoft.com/learn/modules/secure-azure-storage-account/</a:t>
            </a:r>
          </a:p>
          <a:p>
            <a:endParaRPr lang="en-US" dirty="0"/>
          </a:p>
          <a:p>
            <a:r>
              <a:rPr lang="en-US" dirty="0"/>
              <a:t>✔️A Blob storage account only exposes the Blob service endpoint. And you can also configure a custom domain name to use with your storage account.</a:t>
            </a:r>
          </a:p>
          <a:p>
            <a:r>
              <a:rPr lang="en-US" dirty="0"/>
              <a:t>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90260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Configure Azure Storage firewalls and virtual networks - https://learn.microsoft.com/azure/storage/common/storage-network-security</a:t>
            </a:r>
          </a:p>
          <a:p>
            <a:endParaRPr lang="en-US" dirty="0"/>
          </a:p>
          <a:p>
            <a:r>
              <a:rPr lang="en-US" dirty="0"/>
              <a:t>✔️It is important to test and ensure the service endpoint is limiting access as expected.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329058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storage accounts - https://microsoftlearning.github.io/AZ-104-MicrosoftAzureAdministrator/Instructions/Demos/07%20-%20Administer%20Azure%20Storage.html#configure-storage-accounts</a:t>
            </a:r>
          </a:p>
        </p:txBody>
      </p:sp>
      <p:sp>
        <p:nvSpPr>
          <p:cNvPr id="4" name="Slide Number Placeholder 3"/>
          <p:cNvSpPr>
            <a:spLocks noGrp="1"/>
          </p:cNvSpPr>
          <p:nvPr>
            <p:ph type="sldNum" sz="quarter" idx="5"/>
          </p:nvPr>
        </p:nvSpPr>
        <p:spPr/>
        <p:txBody>
          <a:bodyPr/>
          <a:lstStyle/>
          <a:p>
            <a:fld id="{8507DC7E-BC41-4478-BA30-CBCC3A644F0A}" type="slidenum">
              <a:rPr lang="en-US" smtClean="0"/>
              <a:t>12</a:t>
            </a:fld>
            <a:endParaRPr lang="en-US"/>
          </a:p>
        </p:txBody>
      </p:sp>
    </p:spTree>
    <p:extLst>
      <p:ext uri="{BB962C8B-B14F-4D97-AF65-F5344CB8AC3E}">
        <p14:creationId xmlns:p14="http://schemas.microsoft.com/office/powerpoint/2010/main" val="2420221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provided in Office Forms. https://forms.office.com/Pages/ShareFormPage.aspx?id=v4j5cvGGr0GRqy180BHbR5NEFZBpuAZBgxPOGXi_gX5UQ1cyUldFSVJUOUdZM1Q3MEFFRU0wUjI4WC4u&amp;sharetoken=dIqgHd2otBcqry6SBcJm</a:t>
            </a:r>
          </a:p>
          <a:p>
            <a:pPr lvl="0"/>
            <a:endParaRPr lang="en-US" dirty="0"/>
          </a:p>
          <a:p>
            <a:pPr lvl="0"/>
            <a:r>
              <a:rPr lang="en-US" dirty="0"/>
              <a:t>What storage account types are available?</a:t>
            </a:r>
          </a:p>
          <a:p>
            <a:pPr lvl="0"/>
            <a:r>
              <a:rPr lang="en-US" b="1" dirty="0"/>
              <a:t>Answer</a:t>
            </a:r>
            <a:r>
              <a:rPr lang="en-US" dirty="0"/>
              <a:t>: Standard general-purpose v2. Most scenarios including Blob, File, Queue, Table, and Data Lake Storage. Premium block blobs. Block blob scenarios with high transactions rates, or scenarios that use smaller objects or require consistently low storage latency. Premium file shares. Enterprise or high-performance file share applications. Premium page blobs. Premium high-performance page blob scenarios.</a:t>
            </a:r>
          </a:p>
          <a:p>
            <a:pPr lvl="0"/>
            <a:endParaRPr lang="en-US" dirty="0"/>
          </a:p>
          <a:p>
            <a:pPr lvl="0"/>
            <a:r>
              <a:rPr lang="en-US" dirty="0"/>
              <a:t>What storage replication types can you select from?</a:t>
            </a:r>
          </a:p>
          <a:p>
            <a:pPr lvl="0"/>
            <a:r>
              <a:rPr lang="en-US" b="1" dirty="0"/>
              <a:t>Answer</a:t>
            </a:r>
            <a:r>
              <a:rPr lang="en-US" dirty="0"/>
              <a:t>: LRS. Three replicas, one region. Protects against disk, node, rack failures. Write is acknowledged when all replicas are committed. Superior to dual-parity RAID. ZRS. Three replicas, three zones, one region. Protects against disk, node, rack, and zone failures. Synchronous writes to all three zones. GRS. Six replicas, two regions (three per region). Protects against major regional disasters. Asynchronous copy to secondary. GZRS. Six replicas, 3+1 zones, two regions. Protects against disk, node, rack, zone, and region failures Synchronous writes to all three zones and asynchronous copy to secondary.</a:t>
            </a:r>
          </a:p>
          <a:p>
            <a:endParaRPr lang="en-US" dirty="0"/>
          </a:p>
          <a:p>
            <a:r>
              <a:rPr lang="en-US" dirty="0"/>
              <a:t>When should you use a premium storage account?</a:t>
            </a:r>
          </a:p>
          <a:p>
            <a:r>
              <a:rPr lang="en-US" b="1" dirty="0"/>
              <a:t>Answer</a:t>
            </a:r>
            <a:r>
              <a:rPr lang="en-US" dirty="0"/>
              <a:t>:  In certain situations of blob blobs, page blobs, or file shares. </a:t>
            </a:r>
          </a:p>
        </p:txBody>
      </p:sp>
      <p:sp>
        <p:nvSpPr>
          <p:cNvPr id="4" name="Slide Number Placeholder 3"/>
          <p:cNvSpPr>
            <a:spLocks noGrp="1"/>
          </p:cNvSpPr>
          <p:nvPr>
            <p:ph type="sldNum" sz="quarter" idx="5"/>
          </p:nvPr>
        </p:nvSpPr>
        <p:spPr/>
        <p:txBody>
          <a:bodyPr/>
          <a:lstStyle/>
          <a:p>
            <a:fld id="{8507DC7E-BC41-4478-BA30-CBCC3A644F0A}" type="slidenum">
              <a:rPr lang="en-US" smtClean="0"/>
              <a:pPr/>
              <a:t>13</a:t>
            </a:fld>
            <a:endParaRPr lang="en-US"/>
          </a:p>
        </p:txBody>
      </p:sp>
      <p:sp>
        <p:nvSpPr>
          <p:cNvPr id="7" name="Slide Image Placeholder 6">
            <a:extLst>
              <a:ext uri="{FF2B5EF4-FFF2-40B4-BE49-F238E27FC236}">
                <a16:creationId xmlns:a16="http://schemas.microsoft.com/office/drawing/2014/main" id="{F5E8CDDE-8C55-D1CD-DD52-3ABD54361901}"/>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475432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sz="1050" b="0" dirty="0"/>
          </a:p>
        </p:txBody>
      </p:sp>
      <p:sp>
        <p:nvSpPr>
          <p:cNvPr id="4" name="Slide Number Placeholder 3"/>
          <p:cNvSpPr>
            <a:spLocks noGrp="1"/>
          </p:cNvSpPr>
          <p:nvPr>
            <p:ph type="sldNum" sz="quarter" idx="5"/>
          </p:nvPr>
        </p:nvSpPr>
        <p:spPr/>
        <p:txBody>
          <a:bodyPr/>
          <a:lstStyle/>
          <a:p>
            <a:fld id="{8507DC7E-BC41-4478-BA30-CBCC3A644F0A}" type="slidenum">
              <a:rPr lang="en-US" smtClean="0"/>
              <a:t>15</a:t>
            </a:fld>
            <a:endParaRPr lang="en-US"/>
          </a:p>
        </p:txBody>
      </p:sp>
    </p:spTree>
    <p:extLst>
      <p:ext uri="{BB962C8B-B14F-4D97-AF65-F5344CB8AC3E}">
        <p14:creationId xmlns:p14="http://schemas.microsoft.com/office/powerpoint/2010/main" val="3360860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Blob Storage</a:t>
            </a:r>
          </a:p>
          <a:p>
            <a:r>
              <a:rPr lang="en-US" dirty="0"/>
              <a:t>https://learn.microsoft.com/azure/storage/blobs/storage-blobs-overview</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167066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Manage blob containers using the Azure portal  https://learn.microsoft.com/azure/storage/blobs/blob-containers-portal</a:t>
            </a:r>
          </a:p>
          <a:p>
            <a:pPr lvl="0"/>
            <a:r>
              <a:rPr lang="en-US" dirty="0"/>
              <a:t>Configure anonymous public read access for containers and blobs - https://learn.microsoft.com/azure/storage/blobs/anonymous-read-access-configure?tabs=portal</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
        <p:nvSpPr>
          <p:cNvPr id="10" name="Slide Image Placeholder 9">
            <a:extLst>
              <a:ext uri="{FF2B5EF4-FFF2-40B4-BE49-F238E27FC236}">
                <a16:creationId xmlns:a16="http://schemas.microsoft.com/office/drawing/2014/main" id="{88D9F809-8B92-6007-1C63-6DDC23C26529}"/>
              </a:ext>
            </a:extLst>
          </p:cNvPr>
          <p:cNvSpPr>
            <a:spLocks noGrp="1" noRot="1" noChangeAspect="1"/>
          </p:cNvSpPr>
          <p:nvPr>
            <p:ph type="sldImg"/>
          </p:nvPr>
        </p:nvSpPr>
        <p:spPr/>
      </p:sp>
    </p:spTree>
    <p:extLst>
      <p:ext uri="{BB962C8B-B14F-4D97-AF65-F5344CB8AC3E}">
        <p14:creationId xmlns:p14="http://schemas.microsoft.com/office/powerpoint/2010/main" val="458597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Access tiers for blob data </a:t>
            </a:r>
          </a:p>
          <a:p>
            <a:pPr lvl="0"/>
            <a:r>
              <a:rPr lang="en-US" dirty="0"/>
              <a:t>https://learn.microsoft.com/azure/storage/blobs/storage-blob-storage-tiers</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18</a:t>
            </a:fld>
            <a:endParaRPr lang="en-US"/>
          </a:p>
        </p:txBody>
      </p:sp>
      <p:sp>
        <p:nvSpPr>
          <p:cNvPr id="7" name="Slide Image Placeholder 6">
            <a:extLst>
              <a:ext uri="{FF2B5EF4-FFF2-40B4-BE49-F238E27FC236}">
                <a16:creationId xmlns:a16="http://schemas.microsoft.com/office/drawing/2014/main" id="{C40A7959-DD6D-7279-0164-83A7E7B2CF6C}"/>
              </a:ext>
            </a:extLst>
          </p:cNvPr>
          <p:cNvSpPr>
            <a:spLocks noGrp="1" noRot="1" noChangeAspect="1"/>
          </p:cNvSpPr>
          <p:nvPr>
            <p:ph type="sldImg"/>
          </p:nvPr>
        </p:nvSpPr>
        <p:spPr/>
      </p:sp>
    </p:spTree>
    <p:extLst>
      <p:ext uri="{BB962C8B-B14F-4D97-AF65-F5344CB8AC3E}">
        <p14:creationId xmlns:p14="http://schemas.microsoft.com/office/powerpoint/2010/main" val="404664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Store application data with Azure Blob storage (Learn)</a:t>
            </a:r>
          </a:p>
          <a:p>
            <a:pPr lvl="0"/>
            <a:r>
              <a:rPr lang="en-US" dirty="0"/>
              <a:t>https://learn.microsoft.com/learn/modules/store-app-data-with-azure-blob-storage/</a:t>
            </a:r>
          </a:p>
          <a:p>
            <a:pPr lvl="0"/>
            <a:endParaRPr lang="en-US" dirty="0"/>
          </a:p>
          <a:p>
            <a:pPr lvl="0"/>
            <a:r>
              <a:rPr lang="en-US" dirty="0"/>
              <a:t>Configure a lifecycle management policy</a:t>
            </a:r>
          </a:p>
          <a:p>
            <a:pPr lvl="0"/>
            <a:r>
              <a:rPr lang="en-US" dirty="0"/>
              <a:t>https://learn.microsoft.com/azure/storage/blobs/lifecycle-management-policy-configure?tabs=azure-portal</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19</a:t>
            </a:fld>
            <a:endParaRPr lang="en-US"/>
          </a:p>
        </p:txBody>
      </p:sp>
      <p:sp>
        <p:nvSpPr>
          <p:cNvPr id="7" name="Slide Image Placeholder 6">
            <a:extLst>
              <a:ext uri="{FF2B5EF4-FFF2-40B4-BE49-F238E27FC236}">
                <a16:creationId xmlns:a16="http://schemas.microsoft.com/office/drawing/2014/main" id="{53636C39-6590-1251-D0AB-A21AE7A2DCDD}"/>
              </a:ext>
            </a:extLst>
          </p:cNvPr>
          <p:cNvSpPr>
            <a:spLocks noGrp="1" noRot="1" noChangeAspect="1"/>
          </p:cNvSpPr>
          <p:nvPr>
            <p:ph type="sldImg"/>
          </p:nvPr>
        </p:nvSpPr>
        <p:spPr/>
      </p:sp>
    </p:spTree>
    <p:extLst>
      <p:ext uri="{BB962C8B-B14F-4D97-AF65-F5344CB8AC3E}">
        <p14:creationId xmlns:p14="http://schemas.microsoft.com/office/powerpoint/2010/main" val="1391196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replication for blobs </a:t>
            </a:r>
          </a:p>
          <a:p>
            <a:r>
              <a:rPr lang="en-US" dirty="0"/>
              <a:t>https://learn.microsoft.com/azure/storage/blobs/object-replication-overview</a:t>
            </a:r>
          </a:p>
        </p:txBody>
      </p:sp>
      <p:sp>
        <p:nvSpPr>
          <p:cNvPr id="6" name="Slide Number Placeholder 5"/>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2974617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Blob Storage - https://microsoftlearning.github.io/AZ-104-MicrosoftAzureAdministrator/Instructions/Demos/07%20-%20Administer%20Azure%20Storage.html#configure-blob-storage</a:t>
            </a:r>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a:p>
        </p:txBody>
      </p:sp>
    </p:spTree>
    <p:extLst>
      <p:ext uri="{BB962C8B-B14F-4D97-AF65-F5344CB8AC3E}">
        <p14:creationId xmlns:p14="http://schemas.microsoft.com/office/powerpoint/2010/main" val="1941802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provided in Office Forms. https://forms.office.com/Pages/ShareFormPage.aspx?id=v4j5cvGGr0GRqy180BHbR5NEFZBpuAZBgxPOGXi_gX5UQ1cyUldFSVJUOUdZM1Q3MEFFRU0wUjI4WC4u&amp;sharetoken=dIqgHd2otBcqry6SBcJm</a:t>
            </a:r>
          </a:p>
          <a:p>
            <a:endParaRPr lang="en-US" dirty="0"/>
          </a:p>
          <a:p>
            <a:r>
              <a:rPr lang="en-US" dirty="0"/>
              <a:t>What are blobs and when would you use them?</a:t>
            </a:r>
          </a:p>
          <a:p>
            <a:r>
              <a:rPr lang="en-US" b="1" dirty="0"/>
              <a:t>Answer</a:t>
            </a:r>
            <a:r>
              <a:rPr lang="en-US" dirty="0"/>
              <a:t>: Azure blobs is a massively scalable object store for text and binary data. Serving images or documents directly to a browser. Storing files for distributed access. Streaming video and audio. Storing data for backup and restore, disaster recovery, archiving. Storing data for analysis by an on-premises or Azure-hosted service.</a:t>
            </a:r>
          </a:p>
          <a:p>
            <a:endParaRPr lang="en-US" dirty="0"/>
          </a:p>
          <a:p>
            <a:pPr lvl="0"/>
            <a:r>
              <a:rPr lang="en-US" dirty="0"/>
              <a:t>What are Azure blobs and what access tiers are provided?</a:t>
            </a:r>
          </a:p>
          <a:p>
            <a:pPr lvl="0"/>
            <a:r>
              <a:rPr lang="en-US" b="1" dirty="0"/>
              <a:t>Answer</a:t>
            </a:r>
            <a:r>
              <a:rPr lang="en-US" dirty="0"/>
              <a:t>: Azure blob storage stores unstructured data. Blob storage can store any type of text or binary data. For example, images and video. The hot tier is optimized for frequent access of objects in the storage account. The cool tier is optimized for storing large amounts of data that is infrequently accessed and stored for at least 30 days. The cold tier is optimized for storing large amounts of data that is infrequently accessed for at least 90 days. The archive tier is optimized for data that can tolerate several hours of retrieval latency and will remain in the Archive tier for at least 180 days.</a:t>
            </a:r>
          </a:p>
          <a:p>
            <a:endParaRPr lang="en-US" dirty="0"/>
          </a:p>
          <a:p>
            <a:r>
              <a:rPr lang="en-US" dirty="0"/>
              <a:t>Name at least two ways of managing blobs.</a:t>
            </a:r>
          </a:p>
          <a:p>
            <a:r>
              <a:rPr lang="en-US" b="1" dirty="0"/>
              <a:t>Answer</a:t>
            </a:r>
            <a:r>
              <a:rPr lang="en-US" dirty="0"/>
              <a:t>: Blob lifecycle management includes filtering rules, deleting blobs when no longer needed, and moving blobs between storage tiers. Blob replication copies blobs to another region minimizing cost and read latency. Blob storage versioning provides access to earlier versions so you can recover your data if it is modified or deleted. Blob soft delete protects an individual blob, snapshot, or version from accidental deletes or overwrites by maintaining the deleted data in the system for a specified period. </a:t>
            </a:r>
          </a:p>
        </p:txBody>
      </p:sp>
      <p:sp>
        <p:nvSpPr>
          <p:cNvPr id="4" name="Slide Number Placeholder 3"/>
          <p:cNvSpPr>
            <a:spLocks noGrp="1"/>
          </p:cNvSpPr>
          <p:nvPr>
            <p:ph type="sldNum" sz="quarter" idx="5"/>
          </p:nvPr>
        </p:nvSpPr>
        <p:spPr/>
        <p:txBody>
          <a:bodyPr/>
          <a:lstStyle/>
          <a:p>
            <a:fld id="{8507DC7E-BC41-4478-BA30-CBCC3A644F0A}" type="slidenum">
              <a:rPr lang="en-US" smtClean="0"/>
              <a:pPr/>
              <a:t>22</a:t>
            </a:fld>
            <a:endParaRPr lang="en-US"/>
          </a:p>
        </p:txBody>
      </p:sp>
      <p:sp>
        <p:nvSpPr>
          <p:cNvPr id="7" name="Slide Image Placeholder 6">
            <a:extLst>
              <a:ext uri="{FF2B5EF4-FFF2-40B4-BE49-F238E27FC236}">
                <a16:creationId xmlns:a16="http://schemas.microsoft.com/office/drawing/2014/main" id="{869183BF-FDA1-8387-8165-5FD66EE4355A}"/>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523013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a:p>
            <a:r>
              <a:rPr lang="en-US" dirty="0"/>
              <a:t>Focus this whiteboard and discussion on storage security. Endpoints was covered in the general storage area but can be reviewed here. </a:t>
            </a:r>
          </a:p>
          <a:p>
            <a:endParaRPr lang="en-US" dirty="0"/>
          </a:p>
        </p:txBody>
      </p:sp>
      <p:sp>
        <p:nvSpPr>
          <p:cNvPr id="4" name="Slide Number Placeholder 3"/>
          <p:cNvSpPr>
            <a:spLocks noGrp="1"/>
          </p:cNvSpPr>
          <p:nvPr>
            <p:ph type="sldNum" sz="quarter" idx="5"/>
          </p:nvPr>
        </p:nvSpPr>
        <p:spPr/>
        <p:txBody>
          <a:bodyPr/>
          <a:lstStyle/>
          <a:p>
            <a:fld id="{FA5AD710-EC89-4888-BD15-6B04A0D5F96B}" type="slidenum">
              <a:rPr lang="en-US" smtClean="0"/>
              <a:pPr/>
              <a:t>24</a:t>
            </a:fld>
            <a:endParaRPr lang="en-US" dirty="0"/>
          </a:p>
        </p:txBody>
      </p:sp>
      <p:sp>
        <p:nvSpPr>
          <p:cNvPr id="7" name="Slide Image Placeholder 6">
            <a:extLst>
              <a:ext uri="{FF2B5EF4-FFF2-40B4-BE49-F238E27FC236}">
                <a16:creationId xmlns:a16="http://schemas.microsoft.com/office/drawing/2014/main" id="{6F22BB34-671D-7712-D747-1F596E71D25B}"/>
              </a:ext>
            </a:extLst>
          </p:cNvPr>
          <p:cNvSpPr>
            <a:spLocks noGrp="1" noRot="1" noChangeAspect="1"/>
          </p:cNvSpPr>
          <p:nvPr>
            <p:ph type="sldImg"/>
          </p:nvPr>
        </p:nvSpPr>
        <p:spPr/>
      </p:sp>
    </p:spTree>
    <p:extLst>
      <p:ext uri="{BB962C8B-B14F-4D97-AF65-F5344CB8AC3E}">
        <p14:creationId xmlns:p14="http://schemas.microsoft.com/office/powerpoint/2010/main" val="11642814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25</a:t>
            </a:fld>
            <a:endParaRPr lang="en-US"/>
          </a:p>
        </p:txBody>
      </p:sp>
    </p:spTree>
    <p:extLst>
      <p:ext uri="{BB962C8B-B14F-4D97-AF65-F5344CB8AC3E}">
        <p14:creationId xmlns:p14="http://schemas.microsoft.com/office/powerpoint/2010/main" val="13091683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3413056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Delegate access with a shared access signature  https://learn.microsoft.com/rest/api/storageservices/delegate-access-with-shared-access-signature</a:t>
            </a:r>
          </a:p>
          <a:p>
            <a:endParaRPr lang="en-US" dirty="0"/>
          </a:p>
          <a:p>
            <a:r>
              <a:rPr lang="en-US" dirty="0"/>
              <a:t>Grant limited access to Azure Storage resources using shared access signatures (SAS) https://learn.microsoft.com/azure/storage/common/storage-sas-overview</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26153414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1048086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storage security - https://microsoftlearning.github.io/AZ-104-MicrosoftAzureAdministrator/Instructions/Demos/07%20-%20Administer%20Azure%20Storage.html#configure-storage-security</a:t>
            </a:r>
          </a:p>
        </p:txBody>
      </p:sp>
      <p:sp>
        <p:nvSpPr>
          <p:cNvPr id="4" name="Slide Number Placeholder 3"/>
          <p:cNvSpPr>
            <a:spLocks noGrp="1"/>
          </p:cNvSpPr>
          <p:nvPr>
            <p:ph type="sldNum" sz="quarter" idx="5"/>
          </p:nvPr>
        </p:nvSpPr>
        <p:spPr/>
        <p:txBody>
          <a:bodyPr/>
          <a:lstStyle/>
          <a:p>
            <a:fld id="{8507DC7E-BC41-4478-BA30-CBCC3A644F0A}" type="slidenum">
              <a:rPr lang="en-US" smtClean="0"/>
              <a:t>29</a:t>
            </a:fld>
            <a:endParaRPr lang="en-US"/>
          </a:p>
        </p:txBody>
      </p:sp>
    </p:spTree>
    <p:extLst>
      <p:ext uri="{BB962C8B-B14F-4D97-AF65-F5344CB8AC3E}">
        <p14:creationId xmlns:p14="http://schemas.microsoft.com/office/powerpoint/2010/main" val="1109150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Azure Storage encryption for data at rest - https://learn.microsoft.com/azure/storage/common/storage-service-encryption</a:t>
            </a:r>
          </a:p>
          <a:p>
            <a:endParaRPr lang="en-US" dirty="0"/>
          </a:p>
          <a:p>
            <a:r>
              <a:rPr lang="en-US" dirty="0"/>
              <a:t>✔️ SSE is enabled for all new and existing storage accounts and cannot be disabled. Because your data is secured by default, you don't need to modify your code or applications.</a:t>
            </a:r>
          </a:p>
        </p:txBody>
      </p:sp>
      <p:sp>
        <p:nvSpPr>
          <p:cNvPr id="4" name="Slide Number Placeholder 3"/>
          <p:cNvSpPr>
            <a:spLocks noGrp="1"/>
          </p:cNvSpPr>
          <p:nvPr>
            <p:ph type="sldNum" sz="quarter" idx="5"/>
          </p:nvPr>
        </p:nvSpPr>
        <p:spPr/>
        <p:txBody>
          <a:bodyPr/>
          <a:lstStyle/>
          <a:p>
            <a:fld id="{8507DC7E-BC41-4478-BA30-CBCC3A644F0A}" type="slidenum">
              <a:rPr lang="en-US" smtClean="0"/>
              <a:pPr/>
              <a:t>30</a:t>
            </a:fld>
            <a:endParaRPr lang="en-US"/>
          </a:p>
        </p:txBody>
      </p:sp>
      <p:sp>
        <p:nvSpPr>
          <p:cNvPr id="7" name="Slide Image Placeholder 6">
            <a:extLst>
              <a:ext uri="{FF2B5EF4-FFF2-40B4-BE49-F238E27FC236}">
                <a16:creationId xmlns:a16="http://schemas.microsoft.com/office/drawing/2014/main" id="{914BF599-94E1-944C-85AD-67EC47A15ED4}"/>
              </a:ext>
            </a:extLst>
          </p:cNvPr>
          <p:cNvSpPr>
            <a:spLocks noGrp="1" noRot="1" noChangeAspect="1"/>
          </p:cNvSpPr>
          <p:nvPr>
            <p:ph type="sldImg"/>
          </p:nvPr>
        </p:nvSpPr>
        <p:spPr/>
      </p:sp>
    </p:spTree>
    <p:extLst>
      <p:ext uri="{BB962C8B-B14F-4D97-AF65-F5344CB8AC3E}">
        <p14:creationId xmlns:p14="http://schemas.microsoft.com/office/powerpoint/2010/main" val="2976947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 To use customer-managed keys with SSE, you can either create a new key vault and key or you can use an existing key vault and key. The storage account and the key vault must be in the same region, but they can be in different subscriptions.</a:t>
            </a:r>
          </a:p>
          <a:p>
            <a:endParaRPr lang="en-US" dirty="0"/>
          </a:p>
          <a:p>
            <a:r>
              <a:rPr lang="en-US" dirty="0"/>
              <a:t>✔️ The key vault can also be used to store BitLocker keys.</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31</a:t>
            </a:fld>
            <a:endParaRPr lang="en-US"/>
          </a:p>
        </p:txBody>
      </p:sp>
      <p:sp>
        <p:nvSpPr>
          <p:cNvPr id="7" name="Slide Image Placeholder 6">
            <a:extLst>
              <a:ext uri="{FF2B5EF4-FFF2-40B4-BE49-F238E27FC236}">
                <a16:creationId xmlns:a16="http://schemas.microsoft.com/office/drawing/2014/main" id="{B345A723-BD22-AF33-C39F-3A8D230DE6AD}"/>
              </a:ext>
            </a:extLst>
          </p:cNvPr>
          <p:cNvSpPr>
            <a:spLocks noGrp="1" noRot="1" noChangeAspect="1"/>
          </p:cNvSpPr>
          <p:nvPr>
            <p:ph type="sldImg"/>
          </p:nvPr>
        </p:nvSpPr>
        <p:spPr/>
      </p:sp>
    </p:spTree>
    <p:extLst>
      <p:ext uri="{BB962C8B-B14F-4D97-AF65-F5344CB8AC3E}">
        <p14:creationId xmlns:p14="http://schemas.microsoft.com/office/powerpoint/2010/main" val="50570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3809110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provided in Office Forms. https://forms.office.com/Pages/ShareFormPage.aspx?id=v4j5cvGGr0GRqy180BHbR5NEFZBpuAZBgxPOGXi_gX5UQ1cyUldFSVJUOUdZM1Q3MEFFRU0wUjI4WC4u&amp;sharetoken=dIqgHd2otBcqry6SBcJm</a:t>
            </a:r>
          </a:p>
          <a:p>
            <a:endParaRPr lang="en-US" dirty="0"/>
          </a:p>
          <a:p>
            <a:pPr lvl="0"/>
            <a:r>
              <a:rPr lang="en-US" dirty="0"/>
              <a:t>What is a SAS and what are the two types? </a:t>
            </a:r>
          </a:p>
          <a:p>
            <a:pPr lvl="0"/>
            <a:r>
              <a:rPr lang="en-US" b="1" dirty="0"/>
              <a:t>Answer</a:t>
            </a:r>
            <a:r>
              <a:rPr lang="en-US" dirty="0"/>
              <a:t>: A Shared Access Signature (SAS) provides delegated access to resources and grants access without sharing the storage account keys. The account SAS delegates access to resources in one or more of the storage services. The service SAS delegates access to a resource in just one of the storage services. </a:t>
            </a:r>
          </a:p>
          <a:p>
            <a:pPr lvl="0"/>
            <a:endParaRPr lang="en-US" dirty="0"/>
          </a:p>
          <a:p>
            <a:pPr lvl="0"/>
            <a:r>
              <a:rPr lang="en-US" dirty="0"/>
              <a:t>What types of information can a SAS include?</a:t>
            </a:r>
          </a:p>
          <a:p>
            <a:pPr lvl="0"/>
            <a:r>
              <a:rPr lang="en-US" b="1" dirty="0"/>
              <a:t>Answer</a:t>
            </a:r>
            <a:r>
              <a:rPr lang="en-US" dirty="0"/>
              <a:t>: A SAS can include parameters for resource URI, storage services version, services, resource types, start time, expiry time, resource, permissions, IP range, and protocol. </a:t>
            </a:r>
          </a:p>
          <a:p>
            <a:pPr lvl="0"/>
            <a:endParaRPr lang="en-US" dirty="0"/>
          </a:p>
          <a:p>
            <a:pPr lvl="0"/>
            <a:r>
              <a:rPr lang="en-US" dirty="0"/>
              <a:t>How is a SAS different from the storage account key?</a:t>
            </a:r>
          </a:p>
          <a:p>
            <a:pPr lvl="0"/>
            <a:r>
              <a:rPr lang="en-US" b="1" dirty="0"/>
              <a:t>Answer</a:t>
            </a:r>
            <a:r>
              <a:rPr lang="en-US" dirty="0"/>
              <a:t>: The storage account key provides complete access. The SAS provides restricted access. </a:t>
            </a:r>
          </a:p>
          <a:p>
            <a:pPr lvl="0"/>
            <a:endParaRPr lang="en-US" dirty="0"/>
          </a:p>
          <a:p>
            <a:pPr lvl="0"/>
            <a:r>
              <a:rPr lang="en-US" dirty="0"/>
              <a:t>Name at least two ways to secure your storage.</a:t>
            </a:r>
          </a:p>
          <a:p>
            <a:pPr lvl="0"/>
            <a:r>
              <a:rPr lang="en-US" b="1" dirty="0"/>
              <a:t>Answer</a:t>
            </a:r>
            <a:r>
              <a:rPr lang="en-US" dirty="0"/>
              <a:t>: : Server-side encryption (SSE) to automatically encrypt your data when it is persisted to the cloud. Use RBAC and Azure AD to restrict access. Use Shared Access Signatures (SAS) for delegated access. Use a shared key for storage account access. Use Azure disk encryption. Use client-side encryption, HTTPS, and SMB 3.0 for data in transit. Firewalls and virtual networks can also restrict access.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33</a:t>
            </a:fld>
            <a:endParaRPr lang="en-US"/>
          </a:p>
        </p:txBody>
      </p:sp>
      <p:sp>
        <p:nvSpPr>
          <p:cNvPr id="7" name="Slide Image Placeholder 6">
            <a:extLst>
              <a:ext uri="{FF2B5EF4-FFF2-40B4-BE49-F238E27FC236}">
                <a16:creationId xmlns:a16="http://schemas.microsoft.com/office/drawing/2014/main" id="{8AF7AC4D-297B-6AAD-BFA6-A6FCBDE5F0B6}"/>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14911543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a:p>
            <a:r>
              <a:rPr lang="en-US" dirty="0"/>
              <a:t>Focus this discussion on Azure Files and the things that are different from what you have already covered. </a:t>
            </a:r>
          </a:p>
          <a:p>
            <a:endParaRPr lang="en-US" dirty="0"/>
          </a:p>
        </p:txBody>
      </p:sp>
      <p:sp>
        <p:nvSpPr>
          <p:cNvPr id="4" name="Slide Number Placeholder 3"/>
          <p:cNvSpPr>
            <a:spLocks noGrp="1"/>
          </p:cNvSpPr>
          <p:nvPr>
            <p:ph type="sldNum" sz="quarter" idx="5"/>
          </p:nvPr>
        </p:nvSpPr>
        <p:spPr/>
        <p:txBody>
          <a:bodyPr/>
          <a:lstStyle/>
          <a:p>
            <a:fld id="{FA5AD710-EC89-4888-BD15-6B04A0D5F96B}" type="slidenum">
              <a:rPr lang="en-US" smtClean="0"/>
              <a:pPr/>
              <a:t>35</a:t>
            </a:fld>
            <a:endParaRPr lang="en-US" dirty="0"/>
          </a:p>
        </p:txBody>
      </p:sp>
      <p:sp>
        <p:nvSpPr>
          <p:cNvPr id="7" name="Slide Image Placeholder 6">
            <a:extLst>
              <a:ext uri="{FF2B5EF4-FFF2-40B4-BE49-F238E27FC236}">
                <a16:creationId xmlns:a16="http://schemas.microsoft.com/office/drawing/2014/main" id="{9A6F578C-E61C-6705-6BBA-3053BD776982}"/>
              </a:ext>
            </a:extLst>
          </p:cNvPr>
          <p:cNvSpPr>
            <a:spLocks noGrp="1" noRot="1" noChangeAspect="1"/>
          </p:cNvSpPr>
          <p:nvPr>
            <p:ph type="sldImg"/>
          </p:nvPr>
        </p:nvSpPr>
        <p:spPr/>
      </p:sp>
    </p:spTree>
    <p:extLst>
      <p:ext uri="{BB962C8B-B14F-4D97-AF65-F5344CB8AC3E}">
        <p14:creationId xmlns:p14="http://schemas.microsoft.com/office/powerpoint/2010/main" val="2432903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File Sync is not covered in this module. There is an extra slide at the end of the presentation if you want to cover it. </a:t>
            </a:r>
          </a:p>
        </p:txBody>
      </p:sp>
      <p:sp>
        <p:nvSpPr>
          <p:cNvPr id="4" name="Slide Number Placeholder 3"/>
          <p:cNvSpPr>
            <a:spLocks noGrp="1"/>
          </p:cNvSpPr>
          <p:nvPr>
            <p:ph type="sldNum" sz="quarter" idx="5"/>
          </p:nvPr>
        </p:nvSpPr>
        <p:spPr/>
        <p:txBody>
          <a:bodyPr/>
          <a:lstStyle/>
          <a:p>
            <a:fld id="{8507DC7E-BC41-4478-BA30-CBCC3A644F0A}" type="slidenum">
              <a:rPr lang="en-US" smtClean="0"/>
              <a:pPr/>
              <a:t>36</a:t>
            </a:fld>
            <a:endParaRPr lang="en-US"/>
          </a:p>
        </p:txBody>
      </p:sp>
      <p:sp>
        <p:nvSpPr>
          <p:cNvPr id="7" name="Slide Image Placeholder 6">
            <a:extLst>
              <a:ext uri="{FF2B5EF4-FFF2-40B4-BE49-F238E27FC236}">
                <a16:creationId xmlns:a16="http://schemas.microsoft.com/office/drawing/2014/main" id="{DC03E146-308B-5F9C-48DE-93EB23E8CACB}"/>
              </a:ext>
            </a:extLst>
          </p:cNvPr>
          <p:cNvSpPr>
            <a:spLocks noGrp="1" noRot="1" noChangeAspect="1"/>
          </p:cNvSpPr>
          <p:nvPr>
            <p:ph type="sldImg"/>
          </p:nvPr>
        </p:nvSpPr>
        <p:spPr/>
      </p:sp>
    </p:spTree>
    <p:extLst>
      <p:ext uri="{BB962C8B-B14F-4D97-AF65-F5344CB8AC3E}">
        <p14:creationId xmlns:p14="http://schemas.microsoft.com/office/powerpoint/2010/main" val="41264574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Azure Files? </a:t>
            </a:r>
          </a:p>
          <a:p>
            <a:r>
              <a:rPr lang="en-US" dirty="0"/>
              <a:t>https://learn.microsoft.com/azure/storage/files/storage-files-introduction</a:t>
            </a:r>
          </a:p>
          <a:p>
            <a:endParaRPr lang="en-US" dirty="0"/>
          </a:p>
          <a:p>
            <a:r>
              <a:rPr lang="en-US" dirty="0"/>
              <a:t>✔️ When selecting which storage feature to use, you should also consider pricing. </a:t>
            </a:r>
          </a:p>
          <a:p>
            <a:r>
              <a:rPr lang="en-US" dirty="0"/>
              <a:t> </a:t>
            </a:r>
          </a:p>
          <a:p>
            <a:r>
              <a:rPr lang="en-US" dirty="0"/>
              <a:t> </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3058826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Mount SMB Azure file shares on Linux clients</a:t>
            </a:r>
          </a:p>
          <a:p>
            <a:r>
              <a:rPr lang="en-US" dirty="0"/>
              <a:t>https://learn.microsoft.com/azure/storage/files/storage-how-to-use-files-linux </a:t>
            </a:r>
          </a:p>
          <a:p>
            <a:endParaRPr lang="en-US" dirty="0"/>
          </a:p>
          <a:p>
            <a:r>
              <a:rPr lang="en-US" dirty="0"/>
              <a:t>Require secure transfer in Azure Storage - https://learn.microsoft.com/azure/storage/common/storage-require-secure-transfer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38</a:t>
            </a:fld>
            <a:endParaRPr lang="en-US"/>
          </a:p>
        </p:txBody>
      </p:sp>
      <p:sp>
        <p:nvSpPr>
          <p:cNvPr id="7" name="Slide Image Placeholder 6">
            <a:extLst>
              <a:ext uri="{FF2B5EF4-FFF2-40B4-BE49-F238E27FC236}">
                <a16:creationId xmlns:a16="http://schemas.microsoft.com/office/drawing/2014/main" id="{3E63D675-DBE7-B9C7-F14B-3D6A36B458E8}"/>
              </a:ext>
            </a:extLst>
          </p:cNvPr>
          <p:cNvSpPr>
            <a:spLocks noGrp="1" noRot="1" noChangeAspect="1"/>
          </p:cNvSpPr>
          <p:nvPr>
            <p:ph type="sldImg"/>
          </p:nvPr>
        </p:nvSpPr>
        <p:spPr/>
      </p:sp>
    </p:spTree>
    <p:extLst>
      <p:ext uri="{BB962C8B-B14F-4D97-AF65-F5344CB8AC3E}">
        <p14:creationId xmlns:p14="http://schemas.microsoft.com/office/powerpoint/2010/main" val="14885523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Overview of share snapshots for Azure Files </a:t>
            </a:r>
          </a:p>
          <a:p>
            <a:pPr lvl="0"/>
            <a:r>
              <a:rPr lang="en-US" dirty="0"/>
              <a:t>https://learn.microsoft.com/azure/storage/files/storage-snapshots-files</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39</a:t>
            </a:fld>
            <a:endParaRPr lang="en-US"/>
          </a:p>
        </p:txBody>
      </p:sp>
      <p:sp>
        <p:nvSpPr>
          <p:cNvPr id="9" name="Slide Image Placeholder 8">
            <a:extLst>
              <a:ext uri="{FF2B5EF4-FFF2-40B4-BE49-F238E27FC236}">
                <a16:creationId xmlns:a16="http://schemas.microsoft.com/office/drawing/2014/main" id="{00F18782-1389-0ADB-F61F-F37BA8E9C895}"/>
              </a:ext>
            </a:extLst>
          </p:cNvPr>
          <p:cNvSpPr>
            <a:spLocks noGrp="1" noRot="1" noChangeAspect="1"/>
          </p:cNvSpPr>
          <p:nvPr>
            <p:ph type="sldImg"/>
          </p:nvPr>
        </p:nvSpPr>
        <p:spPr/>
      </p:sp>
    </p:spTree>
    <p:extLst>
      <p:ext uri="{BB962C8B-B14F-4D97-AF65-F5344CB8AC3E}">
        <p14:creationId xmlns:p14="http://schemas.microsoft.com/office/powerpoint/2010/main" val="1890868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40</a:t>
            </a:fld>
            <a:endParaRPr lang="en-US"/>
          </a:p>
        </p:txBody>
      </p:sp>
    </p:spTree>
    <p:extLst>
      <p:ext uri="{BB962C8B-B14F-4D97-AF65-F5344CB8AC3E}">
        <p14:creationId xmlns:p14="http://schemas.microsoft.com/office/powerpoint/2010/main" val="25400756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started with Storage Explorer </a:t>
            </a:r>
          </a:p>
          <a:p>
            <a:r>
              <a:rPr lang="en-US" dirty="0"/>
              <a:t>https://learn.microsoft.com/azure/vs-azure-tools-storage-manage-with-storage-explorer</a:t>
            </a:r>
          </a:p>
          <a:p>
            <a:endParaRPr lang="en-US" dirty="0"/>
          </a:p>
          <a:p>
            <a:r>
              <a:rPr lang="en-US" dirty="0"/>
              <a:t>Upload, download, and manage data with Azure Storage Explorer (Learn) https://learn.microsoft.com/learn/modules/upload-download-and-manage-data-with-azure-storage-explorer/</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7420267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File Shares - https://microsoftlearning.github.io/AZ-104-MicrosoftAzureAdministrator/Instructions/Demos/07%20-%20Administer%20Azure%20Storage.html#configure-azure-files</a:t>
            </a:r>
          </a:p>
        </p:txBody>
      </p:sp>
      <p:sp>
        <p:nvSpPr>
          <p:cNvPr id="4" name="Slide Number Placeholder 3"/>
          <p:cNvSpPr>
            <a:spLocks noGrp="1"/>
          </p:cNvSpPr>
          <p:nvPr>
            <p:ph type="sldNum" sz="quarter" idx="5"/>
          </p:nvPr>
        </p:nvSpPr>
        <p:spPr/>
        <p:txBody>
          <a:bodyPr/>
          <a:lstStyle/>
          <a:p>
            <a:fld id="{8507DC7E-BC41-4478-BA30-CBCC3A644F0A}" type="slidenum">
              <a:rPr lang="en-US" smtClean="0"/>
              <a:t>42</a:t>
            </a:fld>
            <a:endParaRPr lang="en-US"/>
          </a:p>
        </p:txBody>
      </p:sp>
    </p:spTree>
    <p:extLst>
      <p:ext uri="{BB962C8B-B14F-4D97-AF65-F5344CB8AC3E}">
        <p14:creationId xmlns:p14="http://schemas.microsoft.com/office/powerpoint/2010/main" val="28355782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provided in Office Forms. https://forms.office.com/Pages/ShareFormPage.aspx?id=v4j5cvGGr0GRqy180BHbR5NEFZBpuAZBgxPOGXi_gX5UQ1cyUldFSVJUOUdZM1Q3MEFFRU0wUjI4WC4u&amp;sharetoken=dIqgHd2otBcqry6SBcJm</a:t>
            </a:r>
          </a:p>
          <a:p>
            <a:endParaRPr lang="en-US" dirty="0"/>
          </a:p>
          <a:p>
            <a:pPr lvl="0"/>
            <a:r>
              <a:rPr lang="en-US" dirty="0"/>
              <a:t>How is Azure Files different from Blob storage?</a:t>
            </a:r>
          </a:p>
          <a:p>
            <a:pPr lvl="0"/>
            <a:r>
              <a:rPr lang="en-US" b="1" dirty="0"/>
              <a:t>Answer</a:t>
            </a:r>
            <a:r>
              <a:rPr lang="en-US" dirty="0"/>
              <a:t>: Azure Files has a SMB interface, client libraries, and a REST interface that allows access from anywhere to stored files. Azure Blobs has client libraries and a REST interface that allows unstructured data (flat namespace) to be stored and accessed at a massive scale. </a:t>
            </a:r>
          </a:p>
          <a:p>
            <a:pPr lvl="0"/>
            <a:endParaRPr lang="en-US" dirty="0"/>
          </a:p>
          <a:p>
            <a:pPr lvl="0"/>
            <a:r>
              <a:rPr lang="en-US" b="1" dirty="0"/>
              <a:t>What</a:t>
            </a:r>
            <a:r>
              <a:rPr lang="en-US" dirty="0"/>
              <a:t> Azure administrator tools can you use to manage your storage?</a:t>
            </a:r>
          </a:p>
          <a:p>
            <a:pPr lvl="0"/>
            <a:r>
              <a:rPr lang="en-US" dirty="0"/>
              <a:t>Answer: Azure Storage Explorer is an application that helps you to easily access the Azure storage account through any device on any platform. The Import/Export service lets you move large amounts of data to and from Azure storage. </a:t>
            </a:r>
            <a:r>
              <a:rPr lang="en-US" dirty="0" err="1"/>
              <a:t>AzCopy</a:t>
            </a:r>
            <a:r>
              <a:rPr lang="en-US" dirty="0"/>
              <a:t> is a command-line utility that you can use to copy blobs or files to or from a storage account. Students may also know of Data Box is a suite of offline and online storage device products. For simple management tasks, you could also use the Azure portal. </a:t>
            </a:r>
          </a:p>
          <a:p>
            <a:pPr lvl="0"/>
            <a:endParaRPr lang="en-US" dirty="0"/>
          </a:p>
          <a:p>
            <a:pPr lvl="0"/>
            <a:r>
              <a:rPr lang="en-US" dirty="0"/>
              <a:t>What is Azure File Sync and when would you consider using that product?</a:t>
            </a:r>
          </a:p>
          <a:p>
            <a:pPr lvl="0"/>
            <a:r>
              <a:rPr lang="en-US" b="1" dirty="0"/>
              <a:t>Answer</a:t>
            </a:r>
            <a:r>
              <a:rPr lang="en-US" dirty="0"/>
              <a:t>: Azure File Sync is a service that allows you to cache several Azure file shares on an on-premises Windows Server or cloud VM. You can use Azure File Sync to lift and shift files from on-premises to the cloud. Azure File Sync can also be used to backup or archive files to the cloud. You can mount and access the files, so you don’t need a NAS device or traditional file server. </a:t>
            </a:r>
          </a:p>
          <a:p>
            <a:pPr lvl="0"/>
            <a:endParaRPr lang="en-US" dirty="0"/>
          </a:p>
          <a:p>
            <a:pPr lvl="0"/>
            <a:endParaRPr lang="en-US" dirty="0"/>
          </a:p>
          <a:p>
            <a:pPr lvl="0"/>
            <a:endParaRPr lang="en-US" dirty="0"/>
          </a:p>
          <a:p>
            <a:pPr lvl="0"/>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43</a:t>
            </a:fld>
            <a:endParaRPr lang="en-US"/>
          </a:p>
        </p:txBody>
      </p:sp>
      <p:sp>
        <p:nvSpPr>
          <p:cNvPr id="7" name="Slide Image Placeholder 6">
            <a:extLst>
              <a:ext uri="{FF2B5EF4-FFF2-40B4-BE49-F238E27FC236}">
                <a16:creationId xmlns:a16="http://schemas.microsoft.com/office/drawing/2014/main" id="{4AA7B26A-AA8F-5D7F-45FD-445D312B20D5}"/>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44</a:t>
            </a:fld>
            <a:endParaRPr lang="en-US"/>
          </a:p>
        </p:txBody>
      </p:sp>
    </p:spTree>
    <p:extLst>
      <p:ext uri="{BB962C8B-B14F-4D97-AF65-F5344CB8AC3E}">
        <p14:creationId xmlns:p14="http://schemas.microsoft.com/office/powerpoint/2010/main" val="32982573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07 - https://microsoftlearning.github.io/AZ-104-MicrosoftAzureAdministrator/Instructions/Labs/LAB_07-Manage_Azure_Storage.html</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45</a:t>
            </a:fld>
            <a:endParaRPr lang="en-US"/>
          </a:p>
        </p:txBody>
      </p:sp>
    </p:spTree>
    <p:extLst>
      <p:ext uri="{BB962C8B-B14F-4D97-AF65-F5344CB8AC3E}">
        <p14:creationId xmlns:p14="http://schemas.microsoft.com/office/powerpoint/2010/main" val="12828928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46</a:t>
            </a:fld>
            <a:endParaRPr lang="en-US"/>
          </a:p>
        </p:txBody>
      </p:sp>
    </p:spTree>
    <p:extLst>
      <p:ext uri="{BB962C8B-B14F-4D97-AF65-F5344CB8AC3E}">
        <p14:creationId xmlns:p14="http://schemas.microsoft.com/office/powerpoint/2010/main" val="18691294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47</a:t>
            </a:fld>
            <a:endParaRPr lang="en-US"/>
          </a:p>
        </p:txBody>
      </p:sp>
    </p:spTree>
    <p:extLst>
      <p:ext uri="{BB962C8B-B14F-4D97-AF65-F5344CB8AC3E}">
        <p14:creationId xmlns:p14="http://schemas.microsoft.com/office/powerpoint/2010/main" val="40301263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Import Export service?</a:t>
            </a:r>
          </a:p>
          <a:p>
            <a:r>
              <a:rPr lang="en-US" dirty="0"/>
              <a:t>https://learn.microsoft.com/azure/import-export/storage-import-export-service</a:t>
            </a:r>
          </a:p>
          <a:p>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2745203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Get started with AzCopy </a:t>
            </a:r>
          </a:p>
          <a:p>
            <a:r>
              <a:rPr lang="en-US" dirty="0"/>
              <a:t>https://learn.microsoft.com/azure/storage/common/storage-use-azcopy-v10?toc=/azure/storage/files/toc.json</a:t>
            </a:r>
          </a:p>
          <a:p>
            <a:endParaRPr lang="en-US" dirty="0"/>
          </a:p>
          <a:p>
            <a:r>
              <a:rPr lang="en-US" dirty="0"/>
              <a:t>Example 1: Copy a Blob storage account to another account</a:t>
            </a:r>
          </a:p>
          <a:p>
            <a:r>
              <a:rPr lang="en-US" dirty="0"/>
              <a:t>Example 2: List/Remove files and blobs (wildcard support)</a:t>
            </a:r>
          </a:p>
          <a:p>
            <a:r>
              <a:rPr lang="en-US" dirty="0"/>
              <a:t>Example 3: Copy/Sync data between on-premise storage and blob storage</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49</a:t>
            </a:fld>
            <a:endParaRPr lang="en-US"/>
          </a:p>
        </p:txBody>
      </p:sp>
      <p:sp>
        <p:nvSpPr>
          <p:cNvPr id="10" name="Slide Image Placeholder 9">
            <a:extLst>
              <a:ext uri="{FF2B5EF4-FFF2-40B4-BE49-F238E27FC236}">
                <a16:creationId xmlns:a16="http://schemas.microsoft.com/office/drawing/2014/main" id="{E5835248-15C0-B826-0CC2-86A64853D6DD}"/>
              </a:ext>
            </a:extLst>
          </p:cNvPr>
          <p:cNvSpPr>
            <a:spLocks noGrp="1" noRot="1" noChangeAspect="1"/>
          </p:cNvSpPr>
          <p:nvPr>
            <p:ph type="sldImg"/>
          </p:nvPr>
        </p:nvSpPr>
        <p:spPr/>
      </p:sp>
    </p:spTree>
    <p:extLst>
      <p:ext uri="{BB962C8B-B14F-4D97-AF65-F5344CB8AC3E}">
        <p14:creationId xmlns:p14="http://schemas.microsoft.com/office/powerpoint/2010/main" val="37855689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Planning for an Azure File Sync deployment - https://learn.microsoft.com/azure/storage/files/storage-sync-files-planning </a:t>
            </a:r>
          </a:p>
          <a:p>
            <a:pPr lvl="0"/>
            <a:endParaRPr lang="en-US" dirty="0"/>
          </a:p>
          <a:p>
            <a:pPr lvl="0"/>
            <a:r>
              <a:rPr lang="en-US" dirty="0"/>
              <a:t>✔️ Cloud tiering is an optional feature of Azure File Sync in which frequently accessed files are cached locally on the server while all other files are tiered to Azure Files based on policy settings. </a:t>
            </a:r>
          </a:p>
          <a:p>
            <a:r>
              <a:rPr lang="en-US" dirty="0"/>
              <a:t> </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50</a:t>
            </a:fld>
            <a:endParaRPr lang="en-US"/>
          </a:p>
        </p:txBody>
      </p:sp>
      <p:sp>
        <p:nvSpPr>
          <p:cNvPr id="10" name="Slide Image Placeholder 9">
            <a:extLst>
              <a:ext uri="{FF2B5EF4-FFF2-40B4-BE49-F238E27FC236}">
                <a16:creationId xmlns:a16="http://schemas.microsoft.com/office/drawing/2014/main" id="{88FD15E6-6B36-036D-3A90-6DDCA7A00893}"/>
              </a:ext>
            </a:extLst>
          </p:cNvPr>
          <p:cNvSpPr>
            <a:spLocks noGrp="1" noRot="1" noChangeAspect="1"/>
          </p:cNvSpPr>
          <p:nvPr>
            <p:ph type="sldImg"/>
          </p:nvPr>
        </p:nvSpPr>
        <p:spPr/>
      </p:sp>
    </p:spTree>
    <p:extLst>
      <p:ext uri="{BB962C8B-B14F-4D97-AF65-F5344CB8AC3E}">
        <p14:creationId xmlns:p14="http://schemas.microsoft.com/office/powerpoint/2010/main" val="3755820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248851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0" y="1587"/>
            <a:ext cx="124364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39316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47337808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90598636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62941377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2949846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06845FBF-21DB-2786-CB06-A1B6994C75BD}"/>
              </a:ext>
            </a:extLst>
          </p:cNvPr>
          <p:cNvSpPr txBox="1"/>
          <p:nvPr userDrawn="1"/>
        </p:nvSpPr>
        <p:spPr>
          <a:xfrm>
            <a:off x="3960945" y="1951559"/>
            <a:ext cx="6216160" cy="400110"/>
          </a:xfrm>
          <a:prstGeom prst="rect">
            <a:avLst/>
          </a:prstGeom>
          <a:noFill/>
        </p:spPr>
        <p:txBody>
          <a:bodyPr wrap="square">
            <a:spAutoFit/>
          </a:bodyPr>
          <a:lstStyle/>
          <a:p>
            <a:r>
              <a:rPr lang="en-US" sz="2000" b="1" dirty="0"/>
              <a:t>Reference modules</a:t>
            </a:r>
          </a:p>
        </p:txBody>
      </p:sp>
    </p:spTree>
    <p:extLst>
      <p:ext uri="{BB962C8B-B14F-4D97-AF65-F5344CB8AC3E}">
        <p14:creationId xmlns:p14="http://schemas.microsoft.com/office/powerpoint/2010/main" val="37128425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299555757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46050816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3" name="TextBox 2">
            <a:extLst>
              <a:ext uri="{FF2B5EF4-FFF2-40B4-BE49-F238E27FC236}">
                <a16:creationId xmlns:a16="http://schemas.microsoft.com/office/drawing/2014/main" id="{E4D31EFE-15E7-6425-56B6-8256E826244B}"/>
              </a:ext>
            </a:extLst>
          </p:cNvPr>
          <p:cNvSpPr txBox="1"/>
          <p:nvPr userDrawn="1"/>
        </p:nvSpPr>
        <p:spPr>
          <a:xfrm>
            <a:off x="316871" y="6314693"/>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dirty="0">
                <a:solidFill>
                  <a:srgbClr val="000000"/>
                </a:solidFill>
              </a:rPr>
              <a:t>© Copyright Microsoft Corporation. All rights reserved.</a:t>
            </a:r>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92" r:id="rId1"/>
    <p:sldLayoutId id="2147484693" r:id="rId2"/>
    <p:sldLayoutId id="2147484694" r:id="rId3"/>
    <p:sldLayoutId id="2147484695" r:id="rId4"/>
    <p:sldLayoutId id="2147484696" r:id="rId5"/>
    <p:sldLayoutId id="2147484697" r:id="rId6"/>
    <p:sldLayoutId id="2147484698" r:id="rId7"/>
    <p:sldLayoutId id="2147484699" r:id="rId8"/>
    <p:sldLayoutId id="2147484700"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userDrawn="1">
          <p15:clr>
            <a:srgbClr val="C35EA4"/>
          </p15:clr>
        </p15:guide>
        <p15:guide id="32" pos="1528" userDrawn="1">
          <p15:clr>
            <a:srgbClr val="C35EA4"/>
          </p15:clr>
        </p15:guide>
        <p15:guide id="33" pos="2621" userDrawn="1">
          <p15:clr>
            <a:srgbClr val="C35EA4"/>
          </p15:clr>
        </p15:guide>
        <p15:guide id="34" pos="2765" userDrawn="1">
          <p15:clr>
            <a:srgbClr val="C35EA4"/>
          </p15:clr>
        </p15:guide>
        <p15:guide id="35" pos="3854" userDrawn="1">
          <p15:clr>
            <a:srgbClr val="C35EA4"/>
          </p15:clr>
        </p15:guide>
        <p15:guide id="36" pos="4003" userDrawn="1">
          <p15:clr>
            <a:srgbClr val="C35EA4"/>
          </p15:clr>
        </p15:guide>
        <p15:guide id="37" pos="5083" userDrawn="1">
          <p15:clr>
            <a:srgbClr val="C35EA4"/>
          </p15:clr>
        </p15:guide>
        <p15:guide id="38" pos="5230" userDrawn="1">
          <p15:clr>
            <a:srgbClr val="C35EA4"/>
          </p15:clr>
        </p15:guide>
        <p15:guide id="39" pos="6323" userDrawn="1">
          <p15:clr>
            <a:srgbClr val="C35EA4"/>
          </p15:clr>
        </p15:guide>
        <p15:guide id="40" pos="6469" userDrawn="1">
          <p15:clr>
            <a:srgbClr val="C35EA4"/>
          </p15:clr>
        </p15:guide>
        <p15:guide id="41" pos="269" userDrawn="1">
          <p15:clr>
            <a:srgbClr val="F26B43"/>
          </p15:clr>
        </p15:guide>
        <p15:guide id="42" pos="7565" userDrawn="1">
          <p15:clr>
            <a:srgbClr val="F26B43"/>
          </p15:clr>
        </p15:guide>
        <p15:guide id="43" orient="horz" pos="751" userDrawn="1">
          <p15:clr>
            <a:srgbClr val="5ACBF0"/>
          </p15:clr>
        </p15:guide>
        <p15:guide id="44" orient="horz" pos="1387" userDrawn="1">
          <p15:clr>
            <a:srgbClr val="5ACBF0"/>
          </p15:clr>
        </p15:guide>
        <p15:guide id="45" orient="horz" pos="605" userDrawn="1">
          <p15:clr>
            <a:srgbClr val="5ACBF0"/>
          </p15:clr>
        </p15:guide>
        <p15:guide id="46" orient="horz" pos="1514" userDrawn="1">
          <p15:clr>
            <a:srgbClr val="5ACBF0"/>
          </p15:clr>
        </p15:guide>
        <p15:guide id="47" orient="horz" pos="2130" userDrawn="1">
          <p15:clr>
            <a:srgbClr val="5ACBF0"/>
          </p15:clr>
        </p15:guide>
        <p15:guide id="48" orient="horz" pos="2299" userDrawn="1">
          <p15:clr>
            <a:srgbClr val="5ACBF0"/>
          </p15:clr>
        </p15:guide>
        <p15:guide id="49" orient="horz" pos="283" userDrawn="1">
          <p15:clr>
            <a:srgbClr val="F26B43"/>
          </p15:clr>
        </p15:guide>
        <p15:guide id="50" orient="horz" pos="4123" userDrawn="1">
          <p15:clr>
            <a:srgbClr val="F26B43"/>
          </p15:clr>
        </p15:guide>
        <p15:guide id="51" orient="horz" pos="2891" userDrawn="1">
          <p15:clr>
            <a:srgbClr val="5ACBF0"/>
          </p15:clr>
        </p15:guide>
        <p15:guide id="52" orient="horz" pos="3019" userDrawn="1">
          <p15:clr>
            <a:srgbClr val="5ACBF0"/>
          </p15:clr>
        </p15:guide>
        <p15:guide id="53" orient="horz" pos="3643" userDrawn="1">
          <p15:clr>
            <a:srgbClr val="5ACBF0"/>
          </p15:clr>
        </p15:guide>
        <p15:guide id="54" orient="horz" pos="376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training/modules/configure-storage-account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hyperlink" Target="https://docs.microsoft.com/learn/modules/create-azure-storage-account/" TargetMode="External"/><Relationship Id="rId4" Type="http://schemas.openxmlformats.org/officeDocument/2006/relationships/hyperlink" Target="https://learn.microsoft.com/training/modules/describe-azure-storage-service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microsoft.com/en-us/training/modules/configure-blob-storage/"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hyperlink" Target="https://learn.microsoft.com/training/modules/guided-project-azure-files-azure-blobs/" TargetMode="External"/><Relationship Id="rId4" Type="http://schemas.openxmlformats.org/officeDocument/2006/relationships/hyperlink" Target="https://learn.microsoft.com/en-us/training/modules/manage-azure-blob-storage-lifecycl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1.emf"/><Relationship Id="rId7" Type="http://schemas.openxmlformats.org/officeDocument/2006/relationships/image" Target="../media/image25.emf"/><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 Id="rId9" Type="http://schemas.openxmlformats.org/officeDocument/2006/relationships/image" Target="../media/image27.emf"/></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2.emf"/><Relationship Id="rId7" Type="http://schemas.openxmlformats.org/officeDocument/2006/relationships/image" Target="../media/image36.emf"/><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5.emf"/><Relationship Id="rId11" Type="http://schemas.openxmlformats.org/officeDocument/2006/relationships/image" Target="../media/image40.emf"/><Relationship Id="rId5" Type="http://schemas.openxmlformats.org/officeDocument/2006/relationships/image" Target="../media/image34.emf"/><Relationship Id="rId10" Type="http://schemas.openxmlformats.org/officeDocument/2006/relationships/image" Target="../media/image39.emf"/><Relationship Id="rId4" Type="http://schemas.openxmlformats.org/officeDocument/2006/relationships/image" Target="../media/image33.emf"/><Relationship Id="rId9" Type="http://schemas.openxmlformats.org/officeDocument/2006/relationships/image" Target="../media/image38.emf"/></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en-us/training/modules/configure-storage-security/"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s://learn.microsoft.com/training/modules/implement-shared-access-signatures/" TargetMode="External"/><Relationship Id="rId5" Type="http://schemas.openxmlformats.org/officeDocument/2006/relationships/hyperlink" Target="https://learn.microsoft.com/training/modules/security-storage/" TargetMode="External"/><Relationship Id="rId4" Type="http://schemas.openxmlformats.org/officeDocument/2006/relationships/hyperlink" Target="https://learn.microsoft.com/training/modules/secure-azure-storage-account/"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training/modules/configure-azure-files-file-sync/"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hyperlink" Target="https://learn.microsoft.com/training/modules/implement-hybrid-file-server-infrastructure/" TargetMode="External"/><Relationship Id="rId4" Type="http://schemas.openxmlformats.org/officeDocument/2006/relationships/hyperlink" Target="https://learn.microsoft.com/training/modules/introduction-to-azure-files/"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0" y="3232160"/>
            <a:ext cx="6472474" cy="1130181"/>
          </a:xfrm>
        </p:spPr>
        <p:txBody>
          <a:bodyPr/>
          <a:lstStyle/>
          <a:p>
            <a:r>
              <a:rPr lang="en-US" dirty="0"/>
              <a:t>AZ-104T00A</a:t>
            </a:r>
            <a:br>
              <a:rPr lang="en-US" dirty="0"/>
            </a:br>
            <a:r>
              <a:rPr lang="en-US" dirty="0"/>
              <a:t>Administer Azure Storage</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36BC-719D-45C5-872C-A705A220D04C}"/>
              </a:ext>
            </a:extLst>
          </p:cNvPr>
          <p:cNvSpPr>
            <a:spLocks noGrp="1"/>
          </p:cNvSpPr>
          <p:nvPr>
            <p:ph type="title"/>
          </p:nvPr>
        </p:nvSpPr>
        <p:spPr/>
        <p:txBody>
          <a:bodyPr/>
          <a:lstStyle/>
          <a:p>
            <a:r>
              <a:rPr lang="en-US" dirty="0"/>
              <a:t>Learning Objectives - Administer Azure Storage</a:t>
            </a:r>
          </a:p>
        </p:txBody>
      </p:sp>
      <p:sp>
        <p:nvSpPr>
          <p:cNvPr id="8" name="Rectangle 7">
            <a:extLst>
              <a:ext uri="{FF2B5EF4-FFF2-40B4-BE49-F238E27FC236}">
                <a16:creationId xmlns:a16="http://schemas.microsoft.com/office/drawing/2014/main" id="{EEC2D257-58DA-4807-86D1-A59C84D0C444}"/>
              </a:ext>
            </a:extLst>
          </p:cNvPr>
          <p:cNvSpPr/>
          <p:nvPr/>
        </p:nvSpPr>
        <p:spPr>
          <a:xfrm>
            <a:off x="465138" y="1491419"/>
            <a:ext cx="5361504" cy="416777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t" anchorCtr="0">
            <a:noAutofit/>
          </a:bodyPr>
          <a:lstStyle/>
          <a:p>
            <a:pPr marL="342900" indent="-342900" defTabSz="1022350">
              <a:spcBef>
                <a:spcPct val="0"/>
              </a:spcBef>
              <a:spcAft>
                <a:spcPct val="35000"/>
              </a:spcAft>
              <a:buFont typeface="Arial" panose="020B0604020202020204" pitchFamily="34" charset="0"/>
              <a:buChar char="•"/>
            </a:pPr>
            <a:r>
              <a:rPr lang="en-US" sz="2300" dirty="0">
                <a:solidFill>
                  <a:schemeClr val="tx1"/>
                </a:solidFill>
              </a:rPr>
              <a:t>Configure Storage Accounts</a:t>
            </a:r>
          </a:p>
          <a:p>
            <a:pPr marL="342900" indent="-342900" defTabSz="1022350">
              <a:spcBef>
                <a:spcPct val="0"/>
              </a:spcBef>
              <a:spcAft>
                <a:spcPct val="35000"/>
              </a:spcAft>
              <a:buFont typeface="Arial" panose="020B0604020202020204" pitchFamily="34" charset="0"/>
              <a:buChar char="•"/>
            </a:pPr>
            <a:r>
              <a:rPr lang="en-US" sz="2300" dirty="0">
                <a:solidFill>
                  <a:schemeClr val="tx1"/>
                </a:solidFill>
              </a:rPr>
              <a:t>Configure Blob Storage</a:t>
            </a:r>
          </a:p>
          <a:p>
            <a:pPr marL="342900" indent="-342900" defTabSz="1022350">
              <a:spcBef>
                <a:spcPct val="0"/>
              </a:spcBef>
              <a:spcAft>
                <a:spcPct val="35000"/>
              </a:spcAft>
              <a:buFont typeface="Arial" panose="020B0604020202020204" pitchFamily="34" charset="0"/>
              <a:buChar char="•"/>
            </a:pPr>
            <a:r>
              <a:rPr lang="en-US" sz="2300" dirty="0">
                <a:solidFill>
                  <a:schemeClr val="tx1"/>
                </a:solidFill>
              </a:rPr>
              <a:t>Configure Storage Security</a:t>
            </a:r>
          </a:p>
          <a:p>
            <a:pPr marL="342900" indent="-342900" defTabSz="1022350">
              <a:spcBef>
                <a:spcPct val="0"/>
              </a:spcBef>
              <a:spcAft>
                <a:spcPct val="35000"/>
              </a:spcAft>
              <a:buFont typeface="Arial" panose="020B0604020202020204" pitchFamily="34" charset="0"/>
              <a:buChar char="•"/>
            </a:pPr>
            <a:r>
              <a:rPr lang="en-US" sz="2300" dirty="0">
                <a:solidFill>
                  <a:schemeClr val="tx1"/>
                </a:solidFill>
              </a:rPr>
              <a:t>Configure Azure Files</a:t>
            </a:r>
          </a:p>
          <a:p>
            <a:pPr marL="342900" indent="-342900" defTabSz="1022350">
              <a:spcBef>
                <a:spcPct val="0"/>
              </a:spcBef>
              <a:spcAft>
                <a:spcPct val="35000"/>
              </a:spcAft>
              <a:buFont typeface="Arial" panose="020B0604020202020204" pitchFamily="34" charset="0"/>
              <a:buChar char="•"/>
            </a:pPr>
            <a:r>
              <a:rPr lang="en-US" sz="2300" dirty="0">
                <a:solidFill>
                  <a:schemeClr val="tx1"/>
                </a:solidFill>
              </a:rPr>
              <a:t>Lab 07 – Manage Azure Storage </a:t>
            </a:r>
          </a:p>
          <a:p>
            <a:pPr marL="342900" indent="-342900" defTabSz="1022350">
              <a:spcBef>
                <a:spcPct val="0"/>
              </a:spcBef>
              <a:spcAft>
                <a:spcPct val="35000"/>
              </a:spcAft>
              <a:buFont typeface="Arial" panose="020B0604020202020204" pitchFamily="34" charset="0"/>
              <a:buChar char="•"/>
            </a:pPr>
            <a:endParaRPr lang="en-US" sz="2300" dirty="0">
              <a:solidFill>
                <a:schemeClr val="tx1"/>
              </a:solidFill>
            </a:endParaRPr>
          </a:p>
          <a:p>
            <a:pPr marL="342900" indent="-342900" defTabSz="1022350">
              <a:spcBef>
                <a:spcPct val="0"/>
              </a:spcBef>
              <a:spcAft>
                <a:spcPct val="35000"/>
              </a:spcAft>
              <a:buFont typeface="Arial" panose="020B0604020202020204" pitchFamily="34" charset="0"/>
              <a:buChar char="•"/>
            </a:pPr>
            <a:endParaRPr lang="en-US" sz="2300" dirty="0">
              <a:solidFill>
                <a:schemeClr val="tx1"/>
              </a:solidFill>
            </a:endParaRPr>
          </a:p>
          <a:p>
            <a:pPr marL="342900" indent="-342900" defTabSz="1022350">
              <a:spcBef>
                <a:spcPct val="0"/>
              </a:spcBef>
              <a:spcAft>
                <a:spcPct val="35000"/>
              </a:spcAft>
              <a:buFont typeface="Arial" panose="020B0604020202020204" pitchFamily="34" charset="0"/>
              <a:buChar char="•"/>
            </a:pPr>
            <a:endParaRPr lang="en-US" sz="2300" dirty="0">
              <a:solidFill>
                <a:schemeClr val="tx1"/>
              </a:solidFill>
            </a:endParaRPr>
          </a:p>
          <a:p>
            <a:pPr marL="342900" indent="-342900" defTabSz="1022350">
              <a:spcBef>
                <a:spcPct val="0"/>
              </a:spcBef>
              <a:spcAft>
                <a:spcPct val="35000"/>
              </a:spcAft>
              <a:buFont typeface="Arial" panose="020B0604020202020204" pitchFamily="34" charset="0"/>
              <a:buChar char="•"/>
            </a:pPr>
            <a:endParaRPr lang="en-US" sz="2300" dirty="0">
              <a:solidFill>
                <a:schemeClr val="tx1"/>
              </a:solidFill>
            </a:endParaRPr>
          </a:p>
        </p:txBody>
      </p:sp>
    </p:spTree>
    <p:extLst>
      <p:ext uri="{BB962C8B-B14F-4D97-AF65-F5344CB8AC3E}">
        <p14:creationId xmlns:p14="http://schemas.microsoft.com/office/powerpoint/2010/main" val="30589431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Storage Accounts</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DDF3F-5CD4-4846-2526-3072872D374D}"/>
              </a:ext>
              <a:ext uri="{C183D7F6-B498-43B3-948B-1728B52AA6E4}">
                <adec:decorative xmlns:adec="http://schemas.microsoft.com/office/drawing/2017/decorative" val="0"/>
              </a:ext>
            </a:extLst>
          </p:cNvPr>
          <p:cNvSpPr>
            <a:spLocks noGrp="1"/>
          </p:cNvSpPr>
          <p:nvPr>
            <p:ph type="title"/>
          </p:nvPr>
        </p:nvSpPr>
        <p:spPr/>
        <p:txBody>
          <a:bodyPr/>
          <a:lstStyle/>
          <a:p>
            <a:r>
              <a:rPr lang="en-US" dirty="0"/>
              <a:t>Storage Accounts and Blobs whiteboard</a:t>
            </a:r>
          </a:p>
        </p:txBody>
      </p:sp>
      <p:sp>
        <p:nvSpPr>
          <p:cNvPr id="17" name="TextBox 16">
            <a:extLst>
              <a:ext uri="{FF2B5EF4-FFF2-40B4-BE49-F238E27FC236}">
                <a16:creationId xmlns:a16="http://schemas.microsoft.com/office/drawing/2014/main" id="{9F26572C-D210-2401-4937-D607FBBFCA33}"/>
              </a:ext>
            </a:extLst>
          </p:cNvPr>
          <p:cNvSpPr txBox="1"/>
          <p:nvPr/>
        </p:nvSpPr>
        <p:spPr>
          <a:xfrm>
            <a:off x="840445" y="1719962"/>
            <a:ext cx="3518189" cy="1477328"/>
          </a:xfrm>
          <a:prstGeom prst="rect">
            <a:avLst/>
          </a:prstGeom>
          <a:noFill/>
        </p:spPr>
        <p:txBody>
          <a:bodyPr wrap="square">
            <a:spAutoFit/>
          </a:bodyPr>
          <a:lstStyle/>
          <a:p>
            <a:pPr defTabSz="932597"/>
            <a:r>
              <a:rPr lang="en-US" b="1" u="sng" dirty="0">
                <a:solidFill>
                  <a:srgbClr val="0078D4">
                    <a:lumMod val="50000"/>
                  </a:srgbClr>
                </a:solidFill>
                <a:latin typeface="Segoe UI"/>
                <a:ea typeface="Segoe UI" pitchFamily="34" charset="0"/>
                <a:cs typeface="Segoe UI" pitchFamily="34" charset="0"/>
              </a:rPr>
              <a:t>Account types</a:t>
            </a:r>
            <a:endParaRPr lang="en-US" b="1" u="sng" dirty="0">
              <a:solidFill>
                <a:srgbClr val="0078D4">
                  <a:lumMod val="50000"/>
                </a:srgbClr>
              </a:solidFill>
              <a:latin typeface="Segoe UI"/>
            </a:endParaRP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Standard general purpose v2</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Premium block blobs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Premium file shares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Premium page blobs</a:t>
            </a:r>
            <a:endParaRPr lang="en-US" dirty="0">
              <a:solidFill>
                <a:srgbClr val="000000"/>
              </a:solidFill>
              <a:latin typeface="Segoe UI"/>
            </a:endParaRPr>
          </a:p>
        </p:txBody>
      </p:sp>
      <p:sp>
        <p:nvSpPr>
          <p:cNvPr id="21" name="TextBox 20">
            <a:extLst>
              <a:ext uri="{FF2B5EF4-FFF2-40B4-BE49-F238E27FC236}">
                <a16:creationId xmlns:a16="http://schemas.microsoft.com/office/drawing/2014/main" id="{0D651EDA-C82A-BEE2-5AB3-B11EC95EFE48}"/>
              </a:ext>
            </a:extLst>
          </p:cNvPr>
          <p:cNvSpPr txBox="1"/>
          <p:nvPr/>
        </p:nvSpPr>
        <p:spPr>
          <a:xfrm>
            <a:off x="4616371" y="1393676"/>
            <a:ext cx="2779891" cy="1477328"/>
          </a:xfrm>
          <a:prstGeom prst="rect">
            <a:avLst/>
          </a:prstGeom>
          <a:noFill/>
        </p:spPr>
        <p:txBody>
          <a:bodyPr wrap="square">
            <a:spAutoFit/>
          </a:bodyPr>
          <a:lstStyle/>
          <a:p>
            <a:pPr algn="ctr" defTabSz="932597"/>
            <a:r>
              <a:rPr lang="en-US" b="1" u="sng" dirty="0">
                <a:solidFill>
                  <a:srgbClr val="0078D4">
                    <a:lumMod val="50000"/>
                  </a:srgbClr>
                </a:solidFill>
                <a:latin typeface="Segoe UI"/>
                <a:cs typeface="Segoe UI" pitchFamily="34" charset="0"/>
              </a:rPr>
              <a:t>Redundancy</a:t>
            </a:r>
          </a:p>
          <a:p>
            <a:pPr marL="166688" indent="-166688"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LRS/ZRS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GRS/GZRS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RA-GRS/RA-GZRS</a:t>
            </a:r>
            <a:endParaRPr lang="en-US" dirty="0">
              <a:solidFill>
                <a:srgbClr val="000000"/>
              </a:solidFill>
              <a:latin typeface="Segoe UI"/>
            </a:endParaRPr>
          </a:p>
          <a:p>
            <a:pPr algn="ctr" defTabSz="932597"/>
            <a:endParaRPr lang="en-US" b="1" dirty="0">
              <a:solidFill>
                <a:srgbClr val="0078D4">
                  <a:lumMod val="50000"/>
                </a:srgbClr>
              </a:solidFill>
              <a:latin typeface="Segoe UI"/>
              <a:cs typeface="Segoe UI" pitchFamily="34" charset="0"/>
            </a:endParaRPr>
          </a:p>
        </p:txBody>
      </p:sp>
      <p:sp>
        <p:nvSpPr>
          <p:cNvPr id="14" name="Oval 13">
            <a:extLst>
              <a:ext uri="{FF2B5EF4-FFF2-40B4-BE49-F238E27FC236}">
                <a16:creationId xmlns:a16="http://schemas.microsoft.com/office/drawing/2014/main" id="{66AB6268-3120-4E98-B6EF-72AAD3ABCCFE}"/>
              </a:ext>
            </a:extLst>
          </p:cNvPr>
          <p:cNvSpPr/>
          <p:nvPr/>
        </p:nvSpPr>
        <p:spPr bwMode="auto">
          <a:xfrm>
            <a:off x="4079517" y="3199059"/>
            <a:ext cx="3665870" cy="1144030"/>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93260" rIns="93260" bIns="93260"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b="1" dirty="0">
                <a:solidFill>
                  <a:srgbClr val="0078D4">
                    <a:lumMod val="50000"/>
                  </a:srgbClr>
                </a:solidFill>
                <a:latin typeface="Segoe UI"/>
                <a:cs typeface="Segoe UI" pitchFamily="34" charset="0"/>
              </a:rPr>
              <a:t>Non-relational storage (storage accounts and blobs)</a:t>
            </a:r>
          </a:p>
        </p:txBody>
      </p:sp>
      <p:sp>
        <p:nvSpPr>
          <p:cNvPr id="23" name="TextBox 22">
            <a:extLst>
              <a:ext uri="{FF2B5EF4-FFF2-40B4-BE49-F238E27FC236}">
                <a16:creationId xmlns:a16="http://schemas.microsoft.com/office/drawing/2014/main" id="{BD4A03E0-CDED-30FA-9CB3-19EAE02635D2}"/>
              </a:ext>
            </a:extLst>
          </p:cNvPr>
          <p:cNvSpPr txBox="1"/>
          <p:nvPr/>
        </p:nvSpPr>
        <p:spPr>
          <a:xfrm>
            <a:off x="8171871" y="1604322"/>
            <a:ext cx="3916049" cy="1477328"/>
          </a:xfrm>
          <a:prstGeom prst="rect">
            <a:avLst/>
          </a:prstGeom>
          <a:noFill/>
        </p:spPr>
        <p:txBody>
          <a:bodyPr wrap="square">
            <a:spAutoFit/>
          </a:bodyPr>
          <a:lstStyle/>
          <a:p>
            <a:pPr defTabSz="932597"/>
            <a:r>
              <a:rPr lang="en-US" b="1" u="sng" dirty="0">
                <a:solidFill>
                  <a:srgbClr val="0078D4">
                    <a:lumMod val="50000"/>
                  </a:srgbClr>
                </a:solidFill>
                <a:latin typeface="Segoe UI"/>
                <a:cs typeface="Segoe UI" pitchFamily="34" charset="0"/>
              </a:rPr>
              <a:t>Authentication/authorization</a:t>
            </a:r>
          </a:p>
          <a:p>
            <a:pPr marL="166688" indent="-166688"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Storage endpoints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Private vs anonymous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Storage account keys</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Shared access signatures</a:t>
            </a:r>
          </a:p>
        </p:txBody>
      </p:sp>
      <p:sp>
        <p:nvSpPr>
          <p:cNvPr id="10" name="TextBox 9">
            <a:extLst>
              <a:ext uri="{FF2B5EF4-FFF2-40B4-BE49-F238E27FC236}">
                <a16:creationId xmlns:a16="http://schemas.microsoft.com/office/drawing/2014/main" id="{08EAAA57-08D6-C03D-F809-149905C29217}"/>
              </a:ext>
            </a:extLst>
          </p:cNvPr>
          <p:cNvSpPr txBox="1"/>
          <p:nvPr/>
        </p:nvSpPr>
        <p:spPr>
          <a:xfrm>
            <a:off x="984901" y="4169344"/>
            <a:ext cx="3229278" cy="1200329"/>
          </a:xfrm>
          <a:prstGeom prst="rect">
            <a:avLst/>
          </a:prstGeom>
          <a:noFill/>
        </p:spPr>
        <p:txBody>
          <a:bodyPr wrap="square">
            <a:spAutoFit/>
          </a:bodyPr>
          <a:lstStyle/>
          <a:p>
            <a:pPr defTabSz="932597"/>
            <a:r>
              <a:rPr lang="en-US" b="1" u="sng" dirty="0">
                <a:solidFill>
                  <a:srgbClr val="0078D4">
                    <a:lumMod val="50000"/>
                  </a:srgbClr>
                </a:solidFill>
                <a:latin typeface="Segoe UI"/>
                <a:cs typeface="Segoe UI" pitchFamily="34" charset="0"/>
              </a:rPr>
              <a:t>Data protection</a:t>
            </a:r>
            <a:endParaRPr lang="en-US" u="sng" dirty="0">
              <a:solidFill>
                <a:srgbClr val="000000"/>
              </a:solidFill>
              <a:latin typeface="Segoe UI"/>
            </a:endParaRPr>
          </a:p>
          <a:p>
            <a:pPr marL="166688" indent="-166688"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Soft delete</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Blob versioning</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Point in time restore</a:t>
            </a:r>
            <a:endParaRPr lang="en-US" dirty="0">
              <a:solidFill>
                <a:srgbClr val="000000"/>
              </a:solidFill>
              <a:latin typeface="Segoe UI"/>
            </a:endParaRPr>
          </a:p>
        </p:txBody>
      </p:sp>
      <p:sp>
        <p:nvSpPr>
          <p:cNvPr id="29" name="TextBox 28">
            <a:extLst>
              <a:ext uri="{FF2B5EF4-FFF2-40B4-BE49-F238E27FC236}">
                <a16:creationId xmlns:a16="http://schemas.microsoft.com/office/drawing/2014/main" id="{0E10596B-6E2F-98B0-5503-1F942186507A}"/>
              </a:ext>
            </a:extLst>
          </p:cNvPr>
          <p:cNvSpPr txBox="1"/>
          <p:nvPr/>
        </p:nvSpPr>
        <p:spPr>
          <a:xfrm>
            <a:off x="4187777" y="4996237"/>
            <a:ext cx="3449349" cy="1200329"/>
          </a:xfrm>
          <a:prstGeom prst="rect">
            <a:avLst/>
          </a:prstGeom>
          <a:noFill/>
        </p:spPr>
        <p:txBody>
          <a:bodyPr wrap="square">
            <a:spAutoFit/>
          </a:bodyPr>
          <a:lstStyle/>
          <a:p>
            <a:pPr algn="ctr" defTabSz="932597"/>
            <a:r>
              <a:rPr lang="en-US" b="1" u="sng" dirty="0">
                <a:solidFill>
                  <a:srgbClr val="0078D4">
                    <a:lumMod val="50000"/>
                  </a:srgbClr>
                </a:solidFill>
                <a:latin typeface="Segoe UI"/>
                <a:cs typeface="Segoe UI" pitchFamily="34" charset="0"/>
              </a:rPr>
              <a:t>Administration</a:t>
            </a:r>
            <a:endParaRPr lang="en-US" u="sng" dirty="0">
              <a:solidFill>
                <a:srgbClr val="000000"/>
              </a:solidFill>
              <a:latin typeface="Segoe UI"/>
            </a:endParaRPr>
          </a:p>
          <a:p>
            <a:pPr marL="166688" indent="-166688"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Object replication</a:t>
            </a:r>
          </a:p>
          <a:p>
            <a:pPr marL="166688" indent="-166688"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Lifecycle blob management</a:t>
            </a:r>
          </a:p>
          <a:p>
            <a:pPr marL="166688" indent="-166688" defTabSz="932597">
              <a:buFont typeface="Arial" panose="020B0604020202020204" pitchFamily="34" charset="0"/>
              <a:buChar char="•"/>
            </a:pPr>
            <a:r>
              <a:rPr lang="en-US" dirty="0">
                <a:solidFill>
                  <a:srgbClr val="000000"/>
                </a:solidFill>
                <a:latin typeface="Segoe UI"/>
                <a:cs typeface="Segoe UI" pitchFamily="34" charset="0"/>
              </a:rPr>
              <a:t>Storage tools</a:t>
            </a:r>
            <a:endParaRPr lang="en-US" dirty="0">
              <a:solidFill>
                <a:srgbClr val="000000"/>
              </a:solidFill>
              <a:latin typeface="Segoe UI"/>
            </a:endParaRPr>
          </a:p>
        </p:txBody>
      </p:sp>
      <p:sp>
        <p:nvSpPr>
          <p:cNvPr id="25" name="TextBox 24">
            <a:extLst>
              <a:ext uri="{FF2B5EF4-FFF2-40B4-BE49-F238E27FC236}">
                <a16:creationId xmlns:a16="http://schemas.microsoft.com/office/drawing/2014/main" id="{96DA1507-3B24-6AEE-57B6-7911D1F6DAAD}"/>
              </a:ext>
            </a:extLst>
          </p:cNvPr>
          <p:cNvSpPr txBox="1"/>
          <p:nvPr/>
        </p:nvSpPr>
        <p:spPr>
          <a:xfrm>
            <a:off x="8196207" y="4072907"/>
            <a:ext cx="2822403" cy="923330"/>
          </a:xfrm>
          <a:prstGeom prst="rect">
            <a:avLst/>
          </a:prstGeom>
          <a:noFill/>
        </p:spPr>
        <p:txBody>
          <a:bodyPr wrap="square">
            <a:spAutoFit/>
          </a:bodyPr>
          <a:lstStyle/>
          <a:p>
            <a:pPr defTabSz="932597"/>
            <a:r>
              <a:rPr lang="en-US" b="1" u="sng" dirty="0">
                <a:solidFill>
                  <a:srgbClr val="0078D4">
                    <a:lumMod val="50000"/>
                  </a:srgbClr>
                </a:solidFill>
                <a:latin typeface="Segoe UI"/>
                <a:cs typeface="Segoe UI" pitchFamily="34" charset="0"/>
              </a:rPr>
              <a:t>Storage tier (cost)</a:t>
            </a:r>
          </a:p>
          <a:p>
            <a:pPr marL="234950" indent="-234950" defTabSz="932597">
              <a:buFont typeface="Arial" panose="020B0604020202020204" pitchFamily="34" charset="0"/>
              <a:buChar char="•"/>
            </a:pPr>
            <a:r>
              <a:rPr lang="en-US" dirty="0">
                <a:solidFill>
                  <a:srgbClr val="000000"/>
                </a:solidFill>
                <a:latin typeface="Segoe UI"/>
                <a:ea typeface="Segoe UI" pitchFamily="34" charset="0"/>
                <a:cs typeface="Segoe UI" pitchFamily="34" charset="0"/>
              </a:rPr>
              <a:t>Premium</a:t>
            </a:r>
          </a:p>
          <a:p>
            <a:pPr marL="234950" indent="-234950" defTabSz="932597">
              <a:buFont typeface="Arial" panose="020B0604020202020204" pitchFamily="34" charset="0"/>
              <a:buChar char="•"/>
            </a:pPr>
            <a:r>
              <a:rPr lang="en-US" dirty="0">
                <a:solidFill>
                  <a:srgbClr val="000000"/>
                </a:solidFill>
                <a:latin typeface="Segoe UI"/>
                <a:cs typeface="Segoe UI" pitchFamily="34" charset="0"/>
              </a:rPr>
              <a:t>Hot/cool/archive</a:t>
            </a:r>
            <a:endParaRPr lang="en-US" dirty="0">
              <a:solidFill>
                <a:srgbClr val="000000"/>
              </a:solidFill>
              <a:latin typeface="Segoe UI"/>
            </a:endParaRPr>
          </a:p>
        </p:txBody>
      </p:sp>
      <p:cxnSp>
        <p:nvCxnSpPr>
          <p:cNvPr id="37" name="Straight Connector 36">
            <a:extLst>
              <a:ext uri="{FF2B5EF4-FFF2-40B4-BE49-F238E27FC236}">
                <a16:creationId xmlns:a16="http://schemas.microsoft.com/office/drawing/2014/main" id="{E96B62D7-B50D-57B8-984D-0FE5D1827138}"/>
              </a:ext>
              <a:ext uri="{C183D7F6-B498-43B3-948B-1728B52AA6E4}">
                <adec:decorative xmlns:adec="http://schemas.microsoft.com/office/drawing/2017/decorative" val="1"/>
              </a:ext>
            </a:extLst>
          </p:cNvPr>
          <p:cNvCxnSpPr>
            <a:cxnSpLocks/>
            <a:stCxn id="14" idx="7"/>
          </p:cNvCxnSpPr>
          <p:nvPr/>
        </p:nvCxnSpPr>
        <p:spPr>
          <a:xfrm flipV="1">
            <a:off x="7208533" y="2622097"/>
            <a:ext cx="963338" cy="74450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8A1C13-D564-88E3-589E-ED9571CEDF49}"/>
              </a:ext>
              <a:ext uri="{C183D7F6-B498-43B3-948B-1728B52AA6E4}">
                <adec:decorative xmlns:adec="http://schemas.microsoft.com/office/drawing/2017/decorative" val="1"/>
              </a:ext>
            </a:extLst>
          </p:cNvPr>
          <p:cNvCxnSpPr>
            <a:cxnSpLocks/>
            <a:stCxn id="14" idx="5"/>
          </p:cNvCxnSpPr>
          <p:nvPr/>
        </p:nvCxnSpPr>
        <p:spPr>
          <a:xfrm>
            <a:off x="7208533" y="4175550"/>
            <a:ext cx="987674" cy="43318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4D7982D-3FC1-BA00-C3BB-CB6D0310544D}"/>
              </a:ext>
              <a:ext uri="{C183D7F6-B498-43B3-948B-1728B52AA6E4}">
                <adec:decorative xmlns:adec="http://schemas.microsoft.com/office/drawing/2017/decorative" val="1"/>
              </a:ext>
            </a:extLst>
          </p:cNvPr>
          <p:cNvCxnSpPr>
            <a:cxnSpLocks/>
            <a:stCxn id="14" idx="0"/>
          </p:cNvCxnSpPr>
          <p:nvPr/>
        </p:nvCxnSpPr>
        <p:spPr>
          <a:xfrm flipV="1">
            <a:off x="5912452" y="2658678"/>
            <a:ext cx="1" cy="5403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F7ACFB2-28C6-5FEB-058B-0877D6B0B64A}"/>
              </a:ext>
              <a:ext uri="{C183D7F6-B498-43B3-948B-1728B52AA6E4}">
                <adec:decorative xmlns:adec="http://schemas.microsoft.com/office/drawing/2017/decorative" val="1"/>
              </a:ext>
            </a:extLst>
          </p:cNvPr>
          <p:cNvCxnSpPr>
            <a:cxnSpLocks/>
            <a:stCxn id="14" idx="1"/>
          </p:cNvCxnSpPr>
          <p:nvPr/>
        </p:nvCxnSpPr>
        <p:spPr>
          <a:xfrm flipH="1" flipV="1">
            <a:off x="3481910" y="2772639"/>
            <a:ext cx="1134461" cy="59395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40B746A-D3CF-F670-AC74-DCD3F7041B67}"/>
              </a:ext>
              <a:ext uri="{C183D7F6-B498-43B3-948B-1728B52AA6E4}">
                <adec:decorative xmlns:adec="http://schemas.microsoft.com/office/drawing/2017/decorative" val="1"/>
              </a:ext>
            </a:extLst>
          </p:cNvPr>
          <p:cNvCxnSpPr>
            <a:cxnSpLocks/>
            <a:stCxn id="14" idx="3"/>
          </p:cNvCxnSpPr>
          <p:nvPr/>
        </p:nvCxnSpPr>
        <p:spPr>
          <a:xfrm flipH="1">
            <a:off x="2908820" y="4175550"/>
            <a:ext cx="1707551" cy="24203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E8D70A6-B29A-EEBD-1461-421A525C4690}"/>
              </a:ext>
              <a:ext uri="{C183D7F6-B498-43B3-948B-1728B52AA6E4}">
                <adec:decorative xmlns:adec="http://schemas.microsoft.com/office/drawing/2017/decorative" val="1"/>
              </a:ext>
            </a:extLst>
          </p:cNvPr>
          <p:cNvCxnSpPr>
            <a:cxnSpLocks/>
            <a:stCxn id="14" idx="4"/>
            <a:endCxn id="29" idx="0"/>
          </p:cNvCxnSpPr>
          <p:nvPr/>
        </p:nvCxnSpPr>
        <p:spPr>
          <a:xfrm>
            <a:off x="5912452" y="4343089"/>
            <a:ext cx="0" cy="65314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9241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36BC-719D-45C5-872C-A705A220D04C}"/>
              </a:ext>
            </a:extLst>
          </p:cNvPr>
          <p:cNvSpPr>
            <a:spLocks noGrp="1"/>
          </p:cNvSpPr>
          <p:nvPr>
            <p:ph type="title"/>
          </p:nvPr>
        </p:nvSpPr>
        <p:spPr/>
        <p:txBody>
          <a:bodyPr/>
          <a:lstStyle/>
          <a:p>
            <a:r>
              <a:rPr lang="en-US" dirty="0"/>
              <a:t>Learning Objectives - Configure Storage Accounts</a:t>
            </a:r>
          </a:p>
        </p:txBody>
      </p:sp>
      <p:sp>
        <p:nvSpPr>
          <p:cNvPr id="5" name="TextBox 4">
            <a:extLst>
              <a:ext uri="{FF2B5EF4-FFF2-40B4-BE49-F238E27FC236}">
                <a16:creationId xmlns:a16="http://schemas.microsoft.com/office/drawing/2014/main" id="{0EFBCDC8-639A-4BD5-B359-42B32A6CA28E}"/>
              </a:ext>
            </a:extLst>
          </p:cNvPr>
          <p:cNvSpPr txBox="1"/>
          <p:nvPr/>
        </p:nvSpPr>
        <p:spPr>
          <a:xfrm>
            <a:off x="465138" y="1789102"/>
            <a:ext cx="5584788" cy="3416320"/>
          </a:xfrm>
          <a:prstGeom prst="rect">
            <a:avLst/>
          </a:prstGeom>
          <a:noFill/>
        </p:spPr>
        <p:txBody>
          <a:bodyPr wrap="square" lIns="0" tIns="0" rIns="0" bIns="0" rtlCol="0">
            <a:spAutoFit/>
          </a:bodyPr>
          <a:lstStyle/>
          <a:p>
            <a:pPr marL="342900" indent="-342900">
              <a:spcAft>
                <a:spcPts val="600"/>
              </a:spcAft>
              <a:buFont typeface="Arial" panose="020B0604020202020204" pitchFamily="34" charset="0"/>
              <a:buChar char="•"/>
            </a:pPr>
            <a:r>
              <a:rPr lang="en-US" sz="2400" dirty="0"/>
              <a:t>Explore Azure Storage Services</a:t>
            </a:r>
          </a:p>
          <a:p>
            <a:pPr marL="342900" indent="-342900">
              <a:spcAft>
                <a:spcPts val="600"/>
              </a:spcAft>
              <a:buFont typeface="Arial" panose="020B0604020202020204" pitchFamily="34" charset="0"/>
              <a:buChar char="•"/>
            </a:pPr>
            <a:r>
              <a:rPr lang="en-US" sz="2400" dirty="0"/>
              <a:t>Determine Storage Account Kinds</a:t>
            </a:r>
          </a:p>
          <a:p>
            <a:pPr marL="342900" indent="-342900">
              <a:spcAft>
                <a:spcPts val="600"/>
              </a:spcAft>
              <a:buFont typeface="Arial" panose="020B0604020202020204" pitchFamily="34" charset="0"/>
              <a:buChar char="•"/>
            </a:pPr>
            <a:r>
              <a:rPr lang="en-US" sz="2400" dirty="0"/>
              <a:t>Determine Replication Strategies</a:t>
            </a:r>
          </a:p>
          <a:p>
            <a:pPr marL="342900" indent="-342900">
              <a:spcAft>
                <a:spcPts val="600"/>
              </a:spcAft>
              <a:buFont typeface="Arial" panose="020B0604020202020204" pitchFamily="34" charset="0"/>
              <a:buChar char="•"/>
            </a:pPr>
            <a:r>
              <a:rPr lang="en-US" sz="2400" dirty="0"/>
              <a:t>Access Storage</a:t>
            </a:r>
          </a:p>
          <a:p>
            <a:pPr marL="342900" indent="-342900">
              <a:spcAft>
                <a:spcPts val="600"/>
              </a:spcAft>
              <a:buFont typeface="Arial" panose="020B0604020202020204" pitchFamily="34" charset="0"/>
              <a:buChar char="•"/>
            </a:pPr>
            <a:r>
              <a:rPr lang="en-US" sz="2400" dirty="0"/>
              <a:t>Secure Storage Endpoints</a:t>
            </a:r>
          </a:p>
          <a:p>
            <a:pPr marL="342900" indent="-342900">
              <a:spcAft>
                <a:spcPts val="600"/>
              </a:spcAft>
              <a:buFont typeface="Arial" panose="020B0604020202020204" pitchFamily="34" charset="0"/>
              <a:buChar char="•"/>
            </a:pPr>
            <a:r>
              <a:rPr lang="en-US" sz="2400" dirty="0"/>
              <a:t>Demonstration – Configure a storage account</a:t>
            </a:r>
          </a:p>
          <a:p>
            <a:pPr marL="342900" indent="-342900">
              <a:spcAft>
                <a:spcPts val="600"/>
              </a:spcAft>
              <a:buFont typeface="Arial" panose="020B0604020202020204" pitchFamily="34" charset="0"/>
              <a:buChar char="•"/>
            </a:pPr>
            <a:r>
              <a:rPr lang="en-US" sz="2400" dirty="0"/>
              <a:t>Learning Recap</a:t>
            </a:r>
          </a:p>
        </p:txBody>
      </p:sp>
      <p:sp>
        <p:nvSpPr>
          <p:cNvPr id="3" name="TextBox 2">
            <a:extLst>
              <a:ext uri="{FF2B5EF4-FFF2-40B4-BE49-F238E27FC236}">
                <a16:creationId xmlns:a16="http://schemas.microsoft.com/office/drawing/2014/main" id="{540E373D-54DE-8CCD-5654-361B699911B8}"/>
              </a:ext>
            </a:extLst>
          </p:cNvPr>
          <p:cNvSpPr txBox="1"/>
          <p:nvPr/>
        </p:nvSpPr>
        <p:spPr>
          <a:xfrm>
            <a:off x="6386550" y="1696769"/>
            <a:ext cx="4605129" cy="352404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storage (15–20%): Configure and manage storage accounts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Create and configure storage accounts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Azure Storage redundancy</a:t>
            </a:r>
            <a:endParaRPr lang="en-US" sz="2000" kern="0" dirty="0">
              <a:solidFill>
                <a:srgbClr val="000000"/>
              </a:solidFill>
            </a:endParaRP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lvl="0" defTabSz="914400">
              <a:defRPr/>
            </a:pPr>
            <a:r>
              <a:rPr lang="en-US" sz="2000" kern="0" dirty="0">
                <a:solidFill>
                  <a:srgbClr val="243A5E"/>
                </a:solidFill>
              </a:rPr>
              <a:t>Implement and manage storage (15–20%): Configure access to storage</a:t>
            </a:r>
          </a:p>
          <a:p>
            <a:pPr marL="285750" indent="-285750">
              <a:buFont typeface="Arial" panose="020B0604020202020204" pitchFamily="34" charset="0"/>
              <a:buChar char="•"/>
            </a:pPr>
            <a:r>
              <a:rPr lang="en-US" sz="2000" kern="0" dirty="0">
                <a:solidFill>
                  <a:srgbClr val="000000"/>
                </a:solidFill>
              </a:rPr>
              <a:t>Configure Azure Storage firewalls and virtual networks</a:t>
            </a:r>
          </a:p>
        </p:txBody>
      </p:sp>
    </p:spTree>
    <p:extLst>
      <p:ext uri="{BB962C8B-B14F-4D97-AF65-F5344CB8AC3E}">
        <p14:creationId xmlns:p14="http://schemas.microsoft.com/office/powerpoint/2010/main" val="30651524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A8DC-7D85-43DE-962C-11EEECC7013A}"/>
              </a:ext>
            </a:extLst>
          </p:cNvPr>
          <p:cNvSpPr>
            <a:spLocks noGrp="1"/>
          </p:cNvSpPr>
          <p:nvPr>
            <p:ph type="title"/>
          </p:nvPr>
        </p:nvSpPr>
        <p:spPr/>
        <p:txBody>
          <a:bodyPr/>
          <a:lstStyle/>
          <a:p>
            <a:r>
              <a:rPr lang="en-US" dirty="0"/>
              <a:t>Explore Azure Storage Services </a:t>
            </a:r>
          </a:p>
        </p:txBody>
      </p:sp>
      <p:sp>
        <p:nvSpPr>
          <p:cNvPr id="8" name="Text Placeholder 7">
            <a:extLst>
              <a:ext uri="{FF2B5EF4-FFF2-40B4-BE49-F238E27FC236}">
                <a16:creationId xmlns:a16="http://schemas.microsoft.com/office/drawing/2014/main" id="{EDA8837C-15EE-FD64-FA99-E20BAE2CF75A}"/>
              </a:ext>
            </a:extLst>
          </p:cNvPr>
          <p:cNvSpPr>
            <a:spLocks noGrp="1"/>
          </p:cNvSpPr>
          <p:nvPr>
            <p:ph type="body" sz="quarter" idx="10"/>
          </p:nvPr>
        </p:nvSpPr>
        <p:spPr>
          <a:xfrm>
            <a:off x="440753" y="998040"/>
            <a:ext cx="11568684" cy="783035"/>
          </a:xfrm>
        </p:spPr>
        <p:txBody>
          <a:bodyPr/>
          <a:lstStyle/>
          <a:p>
            <a:r>
              <a:rPr lang="en-US" dirty="0"/>
              <a:t>A service that you can use to store files, messages, tables, and other types of information</a:t>
            </a:r>
          </a:p>
          <a:p>
            <a:endParaRPr lang="en-US" dirty="0"/>
          </a:p>
        </p:txBody>
      </p:sp>
      <p:sp>
        <p:nvSpPr>
          <p:cNvPr id="3" name="Rectangle 2">
            <a:extLst>
              <a:ext uri="{FF2B5EF4-FFF2-40B4-BE49-F238E27FC236}">
                <a16:creationId xmlns:a16="http://schemas.microsoft.com/office/drawing/2014/main" id="{D47B29EB-3142-4345-AD8D-BC66B8836995}"/>
              </a:ext>
            </a:extLst>
          </p:cNvPr>
          <p:cNvSpPr/>
          <p:nvPr/>
        </p:nvSpPr>
        <p:spPr>
          <a:xfrm>
            <a:off x="386745" y="1653676"/>
            <a:ext cx="4924850" cy="127098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Containers: </a:t>
            </a:r>
            <a:r>
              <a:rPr lang="en-US" sz="2157" dirty="0">
                <a:solidFill>
                  <a:schemeClr val="tx1"/>
                </a:solidFill>
              </a:rPr>
              <a:t>A massively scalable object store for</a:t>
            </a:r>
            <a:br>
              <a:rPr lang="en-US" sz="2157" dirty="0">
                <a:solidFill>
                  <a:schemeClr val="tx1"/>
                </a:solidFill>
              </a:rPr>
            </a:br>
            <a:r>
              <a:rPr lang="en-US" sz="2157" dirty="0">
                <a:solidFill>
                  <a:schemeClr val="tx1"/>
                </a:solidFill>
              </a:rPr>
              <a:t>text and binary data</a:t>
            </a:r>
          </a:p>
        </p:txBody>
      </p:sp>
      <p:sp>
        <p:nvSpPr>
          <p:cNvPr id="5" name="Rectangle 4">
            <a:extLst>
              <a:ext uri="{FF2B5EF4-FFF2-40B4-BE49-F238E27FC236}">
                <a16:creationId xmlns:a16="http://schemas.microsoft.com/office/drawing/2014/main" id="{B3E9460A-2567-4410-996C-AC53019384C2}"/>
              </a:ext>
            </a:extLst>
          </p:cNvPr>
          <p:cNvSpPr/>
          <p:nvPr/>
        </p:nvSpPr>
        <p:spPr>
          <a:xfrm>
            <a:off x="386745" y="3056127"/>
            <a:ext cx="4924849" cy="94172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Tables: </a:t>
            </a:r>
            <a:r>
              <a:rPr lang="en-US" sz="2157" dirty="0">
                <a:solidFill>
                  <a:schemeClr val="tx1"/>
                </a:solidFill>
                <a:cs typeface="Segoe UI Semilight"/>
              </a:rPr>
              <a:t>Ideal for storing structured, non-relational data</a:t>
            </a:r>
          </a:p>
        </p:txBody>
      </p:sp>
      <p:sp>
        <p:nvSpPr>
          <p:cNvPr id="6" name="Rectangle 5">
            <a:extLst>
              <a:ext uri="{FF2B5EF4-FFF2-40B4-BE49-F238E27FC236}">
                <a16:creationId xmlns:a16="http://schemas.microsoft.com/office/drawing/2014/main" id="{B4E3BD49-0351-4760-A551-A5594A4A892E}"/>
              </a:ext>
            </a:extLst>
          </p:cNvPr>
          <p:cNvSpPr/>
          <p:nvPr/>
        </p:nvSpPr>
        <p:spPr>
          <a:xfrm>
            <a:off x="397640" y="4129312"/>
            <a:ext cx="4924848" cy="94172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Queues:</a:t>
            </a:r>
            <a:r>
              <a:rPr lang="en-US" sz="2157" dirty="0">
                <a:solidFill>
                  <a:schemeClr val="tx1"/>
                </a:solidFill>
              </a:rPr>
              <a:t> A messaging store for reliable messaging between application components</a:t>
            </a:r>
          </a:p>
        </p:txBody>
      </p:sp>
      <p:sp>
        <p:nvSpPr>
          <p:cNvPr id="4" name="Rectangle 3">
            <a:extLst>
              <a:ext uri="{FF2B5EF4-FFF2-40B4-BE49-F238E27FC236}">
                <a16:creationId xmlns:a16="http://schemas.microsoft.com/office/drawing/2014/main" id="{660ACD2D-B5A6-4593-A7E4-A509DB6788AB}"/>
              </a:ext>
            </a:extLst>
          </p:cNvPr>
          <p:cNvSpPr/>
          <p:nvPr/>
        </p:nvSpPr>
        <p:spPr>
          <a:xfrm>
            <a:off x="397638" y="5204884"/>
            <a:ext cx="4924849" cy="103228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2157" dirty="0">
                <a:solidFill>
                  <a:schemeClr val="tx1"/>
                </a:solidFill>
                <a:latin typeface="+mj-lt"/>
                <a:cs typeface="Segoe UI Semilight"/>
              </a:rPr>
              <a:t>Azure Files: </a:t>
            </a:r>
            <a:r>
              <a:rPr lang="en-US" sz="2157" dirty="0">
                <a:solidFill>
                  <a:schemeClr val="tx1"/>
                </a:solidFill>
              </a:rPr>
              <a:t>Managed file shares for cloud or on-premises deployments</a:t>
            </a:r>
          </a:p>
        </p:txBody>
      </p:sp>
      <p:pic>
        <p:nvPicPr>
          <p:cNvPr id="18" name="Picture 17" descr="A resource group contains a storage account with containers, tables, queues, files, blobs, entities, messages, and directories. ">
            <a:extLst>
              <a:ext uri="{FF2B5EF4-FFF2-40B4-BE49-F238E27FC236}">
                <a16:creationId xmlns:a16="http://schemas.microsoft.com/office/drawing/2014/main" id="{05EBE329-BFD9-4E4F-8907-1E9725A5D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0758" y="1944476"/>
            <a:ext cx="6418972" cy="3691544"/>
          </a:xfrm>
          <a:prstGeom prst="rect">
            <a:avLst/>
          </a:prstGeom>
        </p:spPr>
      </p:pic>
    </p:spTree>
    <p:extLst>
      <p:ext uri="{BB962C8B-B14F-4D97-AF65-F5344CB8AC3E}">
        <p14:creationId xmlns:p14="http://schemas.microsoft.com/office/powerpoint/2010/main" val="4128166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6521B-8ABE-4268-A82D-7695AAF02440}"/>
              </a:ext>
            </a:extLst>
          </p:cNvPr>
          <p:cNvSpPr>
            <a:spLocks noGrp="1"/>
          </p:cNvSpPr>
          <p:nvPr>
            <p:ph type="title"/>
          </p:nvPr>
        </p:nvSpPr>
        <p:spPr/>
        <p:txBody>
          <a:bodyPr/>
          <a:lstStyle/>
          <a:p>
            <a:r>
              <a:rPr lang="en-US" dirty="0"/>
              <a:t>Determine Storage Account Kinds</a:t>
            </a:r>
          </a:p>
        </p:txBody>
      </p:sp>
      <p:sp>
        <p:nvSpPr>
          <p:cNvPr id="3" name="Text Placeholder 2">
            <a:extLst>
              <a:ext uri="{FF2B5EF4-FFF2-40B4-BE49-F238E27FC236}">
                <a16:creationId xmlns:a16="http://schemas.microsoft.com/office/drawing/2014/main" id="{D0F58239-08D4-D277-A26E-9B7FA14B9D58}"/>
              </a:ext>
            </a:extLst>
          </p:cNvPr>
          <p:cNvSpPr>
            <a:spLocks noGrp="1"/>
          </p:cNvSpPr>
          <p:nvPr>
            <p:ph type="body" sz="quarter" idx="10"/>
          </p:nvPr>
        </p:nvSpPr>
        <p:spPr/>
        <p:txBody>
          <a:bodyPr/>
          <a:lstStyle/>
          <a:p>
            <a:r>
              <a:rPr lang="en-US" dirty="0"/>
              <a:t>All storage accounts are encrypted using Storage Service Encryption (SSE) for data at rest</a:t>
            </a:r>
          </a:p>
        </p:txBody>
      </p:sp>
      <p:graphicFrame>
        <p:nvGraphicFramePr>
          <p:cNvPr id="7" name="Table 6">
            <a:extLst>
              <a:ext uri="{FF2B5EF4-FFF2-40B4-BE49-F238E27FC236}">
                <a16:creationId xmlns:a16="http://schemas.microsoft.com/office/drawing/2014/main" id="{29473BDD-26B3-4FB0-8364-A49E871A0A29}"/>
              </a:ext>
            </a:extLst>
          </p:cNvPr>
          <p:cNvGraphicFramePr>
            <a:graphicFrameLocks noGrp="1"/>
          </p:cNvGraphicFramePr>
          <p:nvPr>
            <p:extLst>
              <p:ext uri="{D42A27DB-BD31-4B8C-83A1-F6EECF244321}">
                <p14:modId xmlns:p14="http://schemas.microsoft.com/office/powerpoint/2010/main" val="83562633"/>
              </p:ext>
            </p:extLst>
          </p:nvPr>
        </p:nvGraphicFramePr>
        <p:xfrm>
          <a:off x="427038" y="1779218"/>
          <a:ext cx="11283040" cy="3619956"/>
        </p:xfrm>
        <a:graphic>
          <a:graphicData uri="http://schemas.openxmlformats.org/drawingml/2006/table">
            <a:tbl>
              <a:tblPr firstRow="1">
                <a:tableStyleId>{2D5ABB26-0587-4C30-8999-92F81FD0307C}</a:tableStyleId>
              </a:tblPr>
              <a:tblGrid>
                <a:gridCol w="3351720">
                  <a:extLst>
                    <a:ext uri="{9D8B030D-6E8A-4147-A177-3AD203B41FA5}">
                      <a16:colId xmlns:a16="http://schemas.microsoft.com/office/drawing/2014/main" val="565760015"/>
                    </a:ext>
                  </a:extLst>
                </a:gridCol>
                <a:gridCol w="7931320">
                  <a:extLst>
                    <a:ext uri="{9D8B030D-6E8A-4147-A177-3AD203B41FA5}">
                      <a16:colId xmlns:a16="http://schemas.microsoft.com/office/drawing/2014/main" val="67243231"/>
                    </a:ext>
                  </a:extLst>
                </a:gridCol>
              </a:tblGrid>
              <a:tr h="463510">
                <a:tc>
                  <a:txBody>
                    <a:bodyPr/>
                    <a:lstStyle/>
                    <a:p>
                      <a:pPr algn="ctr"/>
                      <a:r>
                        <a:rPr lang="en-US" sz="2000" b="0" dirty="0">
                          <a:solidFill>
                            <a:schemeClr val="bg1"/>
                          </a:solidFill>
                          <a:effectLst/>
                          <a:latin typeface="+mj-lt"/>
                        </a:rPr>
                        <a:t>Storage Account</a:t>
                      </a:r>
                    </a:p>
                  </a:txBody>
                  <a:tcPr marL="137160" marR="137160" marT="91440" marB="9144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chemeClr val="tx2">
                        <a:lumMod val="50000"/>
                      </a:schemeClr>
                    </a:solidFill>
                  </a:tcPr>
                </a:tc>
                <a:tc>
                  <a:txBody>
                    <a:bodyPr/>
                    <a:lstStyle/>
                    <a:p>
                      <a:pPr algn="l"/>
                      <a:r>
                        <a:rPr lang="en-US" sz="2000" dirty="0">
                          <a:solidFill>
                            <a:schemeClr val="bg1"/>
                          </a:solidFill>
                          <a:effectLst/>
                          <a:latin typeface="+mj-lt"/>
                        </a:rPr>
                        <a:t>Recommended usage</a:t>
                      </a:r>
                      <a:endParaRPr lang="en-US" sz="2000" b="0" dirty="0">
                        <a:solidFill>
                          <a:schemeClr val="bg1"/>
                        </a:solidFill>
                        <a:effectLst/>
                        <a:latin typeface="+mj-lt"/>
                      </a:endParaRPr>
                    </a:p>
                  </a:txBody>
                  <a:tcPr marL="137160" marR="137160"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917331877"/>
                  </a:ext>
                </a:extLst>
              </a:tr>
              <a:tr h="783069">
                <a:tc>
                  <a:txBody>
                    <a:bodyPr/>
                    <a:lstStyle/>
                    <a:p>
                      <a:pPr algn="l"/>
                      <a:r>
                        <a:rPr lang="en-US" sz="1800" dirty="0">
                          <a:solidFill>
                            <a:schemeClr val="tx1"/>
                          </a:solidFill>
                          <a:effectLst/>
                        </a:rPr>
                        <a:t>Standard general-purpose v2</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Most scenarios including Blob, File, Queue, Table, and Data Lake Storage.</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1086412"/>
                  </a:ext>
                </a:extLst>
              </a:tr>
              <a:tr h="783069">
                <a:tc>
                  <a:txBody>
                    <a:bodyPr/>
                    <a:lstStyle/>
                    <a:p>
                      <a:pPr algn="l"/>
                      <a:r>
                        <a:rPr lang="en-US" sz="1800" dirty="0">
                          <a:solidFill>
                            <a:schemeClr val="tx1"/>
                          </a:solidFill>
                          <a:effectLst/>
                        </a:rPr>
                        <a:t>Premium block blobs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Block blob scenarios with high transactions rates, or scenarios that use smaller objects or require consistently low storage latency.</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47334802"/>
                  </a:ext>
                </a:extLst>
              </a:tr>
              <a:tr h="783069">
                <a:tc>
                  <a:txBody>
                    <a:bodyPr/>
                    <a:lstStyle/>
                    <a:p>
                      <a:pPr algn="l"/>
                      <a:r>
                        <a:rPr lang="en-US" sz="1800" dirty="0">
                          <a:solidFill>
                            <a:schemeClr val="tx1"/>
                          </a:solidFill>
                          <a:effectLst/>
                        </a:rPr>
                        <a:t>Premium file shares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Enterprise or high-performance file share applications.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9226042"/>
                  </a:ext>
                </a:extLst>
              </a:tr>
              <a:tr h="783069">
                <a:tc>
                  <a:txBody>
                    <a:bodyPr/>
                    <a:lstStyle/>
                    <a:p>
                      <a:pPr algn="l"/>
                      <a:r>
                        <a:rPr lang="en-US" sz="1800" dirty="0">
                          <a:solidFill>
                            <a:schemeClr val="tx1"/>
                          </a:solidFill>
                          <a:effectLst/>
                        </a:rPr>
                        <a:t>Premium page blobs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en-US" sz="1800" dirty="0">
                          <a:solidFill>
                            <a:schemeClr val="tx1"/>
                          </a:solidFill>
                          <a:effectLst/>
                        </a:rPr>
                        <a:t>Premium high-performance page blob scenarios.</a:t>
                      </a:r>
                    </a:p>
                  </a:txBody>
                  <a:tcPr marL="137160" marR="137160" marT="91440" marB="9144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9097423"/>
                  </a:ext>
                </a:extLst>
              </a:tr>
            </a:tbl>
          </a:graphicData>
        </a:graphic>
      </p:graphicFrame>
    </p:spTree>
    <p:extLst>
      <p:ext uri="{BB962C8B-B14F-4D97-AF65-F5344CB8AC3E}">
        <p14:creationId xmlns:p14="http://schemas.microsoft.com/office/powerpoint/2010/main" val="134959753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8136B78-4C6D-4B19-AB77-9AF26568D313}"/>
              </a:ext>
            </a:extLst>
          </p:cNvPr>
          <p:cNvSpPr>
            <a:spLocks noGrp="1"/>
          </p:cNvSpPr>
          <p:nvPr>
            <p:ph type="title"/>
          </p:nvPr>
        </p:nvSpPr>
        <p:spPr/>
        <p:txBody>
          <a:bodyPr/>
          <a:lstStyle/>
          <a:p>
            <a:r>
              <a:rPr lang="en-US" sz="2800" dirty="0"/>
              <a:t>Determine Replication Strategies (1 of 2)</a:t>
            </a:r>
          </a:p>
        </p:txBody>
      </p:sp>
      <p:sp>
        <p:nvSpPr>
          <p:cNvPr id="4" name="Rectangle 3">
            <a:extLst>
              <a:ext uri="{FF2B5EF4-FFF2-40B4-BE49-F238E27FC236}">
                <a16:creationId xmlns:a16="http://schemas.microsoft.com/office/drawing/2014/main" id="{FD4E110A-8573-4099-B67E-487931949E82}"/>
              </a:ext>
            </a:extLst>
          </p:cNvPr>
          <p:cNvSpPr/>
          <p:nvPr/>
        </p:nvSpPr>
        <p:spPr bwMode="auto">
          <a:xfrm>
            <a:off x="23213" y="3936652"/>
            <a:ext cx="2970548"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1836"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LRS</a:t>
            </a:r>
            <a:endParaRPr lang="en-US"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Three replicas, one region</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Protects against disk, node, rack failures</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Write is acknowledged when all replicas are committed</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Superior to dual-parity RAID</a:t>
            </a:r>
          </a:p>
          <a:p>
            <a:pPr defTabSz="932293" fontAlgn="base">
              <a:spcBef>
                <a:spcPct val="0"/>
              </a:spcBef>
              <a:spcAft>
                <a:spcPct val="0"/>
              </a:spcAft>
              <a:defRPr/>
            </a:pPr>
            <a:endParaRPr lang="en-US" sz="1599" dirty="0">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41" name="Rectangle 40">
            <a:extLst>
              <a:ext uri="{FF2B5EF4-FFF2-40B4-BE49-F238E27FC236}">
                <a16:creationId xmlns:a16="http://schemas.microsoft.com/office/drawing/2014/main" id="{48D10DF9-8798-4F25-9B04-1ADDDEF5A8C3}"/>
              </a:ext>
            </a:extLst>
          </p:cNvPr>
          <p:cNvSpPr/>
          <p:nvPr/>
        </p:nvSpPr>
        <p:spPr bwMode="auto">
          <a:xfrm>
            <a:off x="2887580" y="3952981"/>
            <a:ext cx="2850704"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1836"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ZRS</a:t>
            </a:r>
            <a:endParaRPr lang="en-US"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Three replicas, three zones, one region</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Protects against disk, node, rack, and zone failures</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Synchronous writes to all three zones</a:t>
            </a:r>
          </a:p>
          <a:p>
            <a:pPr defTabSz="932293" fontAlgn="base">
              <a:spcBef>
                <a:spcPct val="0"/>
              </a:spcBef>
              <a:spcAft>
                <a:spcPct val="0"/>
              </a:spcAft>
              <a:defRPr/>
            </a:pPr>
            <a:endParaRPr lang="en-US" sz="1599" dirty="0">
              <a:gradFill>
                <a:gsLst>
                  <a:gs pos="0">
                    <a:srgbClr val="FFFFFF"/>
                  </a:gs>
                  <a:gs pos="100000">
                    <a:srgbClr val="FFFFFF"/>
                  </a:gs>
                </a:gsLst>
                <a:lin ang="5400000" scaled="0"/>
              </a:gradFill>
              <a:latin typeface="Segoe UI Semilight"/>
              <a:ea typeface="Segoe UI" pitchFamily="34" charset="0"/>
              <a:cs typeface="Segoe UI" pitchFamily="34" charset="0"/>
            </a:endParaRPr>
          </a:p>
        </p:txBody>
      </p:sp>
      <p:sp>
        <p:nvSpPr>
          <p:cNvPr id="12" name="Rectangle 11">
            <a:extLst>
              <a:ext uri="{FF2B5EF4-FFF2-40B4-BE49-F238E27FC236}">
                <a16:creationId xmlns:a16="http://schemas.microsoft.com/office/drawing/2014/main" id="{0A0D0FC9-C3C3-42EC-91F3-84256B768264}"/>
              </a:ext>
            </a:extLst>
          </p:cNvPr>
          <p:cNvSpPr/>
          <p:nvPr/>
        </p:nvSpPr>
        <p:spPr bwMode="auto">
          <a:xfrm>
            <a:off x="5895976" y="3977702"/>
            <a:ext cx="3070537"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563">
              <a:spcAft>
                <a:spcPts val="600"/>
              </a:spcAft>
              <a:defRPr/>
            </a:pPr>
            <a:r>
              <a:rPr lang="en-US" sz="1632" dirty="0">
                <a:solidFill>
                  <a:schemeClr val="accent1">
                    <a:lumMod val="50000"/>
                  </a:schemeClr>
                </a:solidFill>
                <a:latin typeface="Segoe UI Semibold" panose="020B0702040204020203" pitchFamily="34" charset="0"/>
                <a:cs typeface="Segoe UI Semibold" panose="020B0702040204020203" pitchFamily="34" charset="0"/>
              </a:rPr>
              <a:t>GRS</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Six replicas, two regions (three per region)</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Protects against major regional disasters</a:t>
            </a:r>
          </a:p>
          <a:p>
            <a:pPr marL="291436" indent="-291436" defTabSz="932563">
              <a:spcAft>
                <a:spcPts val="612"/>
              </a:spcAft>
              <a:buFont typeface="Arial" panose="020B0604020202020204" pitchFamily="34" charset="0"/>
              <a:buChar char="•"/>
              <a:defRPr/>
            </a:pPr>
            <a:r>
              <a:rPr lang="en-US" sz="1428" dirty="0">
                <a:solidFill>
                  <a:srgbClr val="2F2F2F"/>
                </a:solidFill>
                <a:latin typeface="Segoe UI" panose="020B0502040204020203" pitchFamily="34" charset="0"/>
                <a:cs typeface="Segoe UI" panose="020B0502040204020203" pitchFamily="34" charset="0"/>
              </a:rPr>
              <a:t>Asynchronous copy to secondary</a:t>
            </a:r>
          </a:p>
          <a:p>
            <a:pPr marL="285695" indent="-285695" defTabSz="932563">
              <a:buFont typeface="Arial" panose="020B0604020202020204" pitchFamily="34" charset="0"/>
              <a:buChar char="•"/>
              <a:defRPr/>
            </a:pPr>
            <a:endParaRPr lang="en-US" sz="1428" dirty="0">
              <a:solidFill>
                <a:srgbClr val="2F2F2F"/>
              </a:solidFill>
              <a:latin typeface="Segoe UI Semilight"/>
            </a:endParaRPr>
          </a:p>
          <a:p>
            <a:pPr defTabSz="932563">
              <a:lnSpc>
                <a:spcPct val="90000"/>
              </a:lnSpc>
              <a:spcAft>
                <a:spcPts val="600"/>
              </a:spcAft>
              <a:defRPr/>
            </a:pPr>
            <a:endParaRPr lang="en-US" dirty="0">
              <a:solidFill>
                <a:srgbClr val="FFFFFF"/>
              </a:solidFill>
              <a:latin typeface="Segoe UI Semilight"/>
            </a:endParaRPr>
          </a:p>
          <a:p>
            <a:pPr defTabSz="932563">
              <a:lnSpc>
                <a:spcPct val="90000"/>
              </a:lnSpc>
              <a:spcAft>
                <a:spcPts val="600"/>
              </a:spcAft>
              <a:defRPr/>
            </a:pPr>
            <a:endParaRPr lang="en-US" dirty="0">
              <a:solidFill>
                <a:srgbClr val="FFFFFF"/>
              </a:solidFill>
              <a:latin typeface="Segoe UI Semilight"/>
            </a:endParaRPr>
          </a:p>
        </p:txBody>
      </p:sp>
      <p:sp>
        <p:nvSpPr>
          <p:cNvPr id="48" name="Rectangle 47">
            <a:extLst>
              <a:ext uri="{FF2B5EF4-FFF2-40B4-BE49-F238E27FC236}">
                <a16:creationId xmlns:a16="http://schemas.microsoft.com/office/drawing/2014/main" id="{21B3E5DA-84AA-4B4C-ACB6-2F82677A83E9}"/>
              </a:ext>
            </a:extLst>
          </p:cNvPr>
          <p:cNvSpPr/>
          <p:nvPr/>
        </p:nvSpPr>
        <p:spPr bwMode="auto">
          <a:xfrm>
            <a:off x="8966513" y="3977702"/>
            <a:ext cx="3203054"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563">
              <a:spcAft>
                <a:spcPts val="600"/>
              </a:spcAft>
              <a:defRPr/>
            </a:pPr>
            <a:r>
              <a:rPr lang="en-US" sz="1632" dirty="0">
                <a:solidFill>
                  <a:schemeClr val="accent1">
                    <a:lumMod val="50000"/>
                  </a:schemeClr>
                </a:solidFill>
                <a:latin typeface="Segoe UI Semibold" panose="020B0702040204020203" pitchFamily="34" charset="0"/>
                <a:cs typeface="Segoe UI Semibold" panose="020B0702040204020203" pitchFamily="34" charset="0"/>
              </a:rPr>
              <a:t>RA-GRS</a:t>
            </a:r>
            <a:endParaRPr lang="en-US" dirty="0">
              <a:solidFill>
                <a:srgbClr val="FFFFFF"/>
              </a:solidFill>
              <a:latin typeface="Segoe UI Semilight"/>
            </a:endParaRP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GRS + read access to secondary</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Separate secondary endpoint</a:t>
            </a:r>
          </a:p>
          <a:p>
            <a:pPr marL="291436" indent="-291436" defTabSz="932293" fontAlgn="base">
              <a:spcBef>
                <a:spcPct val="0"/>
              </a:spcBef>
              <a:spcAft>
                <a:spcPts val="612"/>
              </a:spcAft>
              <a:buFont typeface="Arial" panose="020B0604020202020204" pitchFamily="34" charset="0"/>
              <a:buChar char="•"/>
              <a:defRPr/>
            </a:pPr>
            <a:r>
              <a:rPr lang="en-US" sz="1428" dirty="0">
                <a:solidFill>
                  <a:srgbClr val="2F2F2F"/>
                </a:solidFill>
                <a:latin typeface="Segoe UI" panose="020B0502040204020203" pitchFamily="34" charset="0"/>
                <a:ea typeface="Segoe UI" panose="020B0502040204020203" pitchFamily="34" charset="0"/>
                <a:cs typeface="Segoe UI" panose="020B0502040204020203" pitchFamily="34" charset="0"/>
              </a:rPr>
              <a:t>Recovery point objective (RPO) delay to secondary can be queried</a:t>
            </a:r>
            <a:endParaRPr lang="en-US" sz="1428" dirty="0">
              <a:solidFill>
                <a:srgbClr val="2F2F2F"/>
              </a:solidFill>
              <a:latin typeface="Segoe UI Semilight"/>
            </a:endParaRPr>
          </a:p>
          <a:p>
            <a:pPr defTabSz="932563">
              <a:lnSpc>
                <a:spcPct val="90000"/>
              </a:lnSpc>
              <a:spcAft>
                <a:spcPts val="600"/>
              </a:spcAft>
              <a:defRPr/>
            </a:pPr>
            <a:endParaRPr lang="en-US" dirty="0">
              <a:solidFill>
                <a:srgbClr val="FFFFFF"/>
              </a:solidFill>
              <a:latin typeface="Segoe UI Semilight"/>
            </a:endParaRPr>
          </a:p>
          <a:p>
            <a:pPr defTabSz="932563">
              <a:lnSpc>
                <a:spcPct val="90000"/>
              </a:lnSpc>
              <a:spcAft>
                <a:spcPts val="600"/>
              </a:spcAft>
              <a:defRPr/>
            </a:pPr>
            <a:endParaRPr lang="en-US" dirty="0">
              <a:solidFill>
                <a:srgbClr val="FFFFFF"/>
              </a:solidFill>
              <a:latin typeface="Segoe UI Semilight"/>
            </a:endParaRPr>
          </a:p>
        </p:txBody>
      </p:sp>
      <p:grpSp>
        <p:nvGrpSpPr>
          <p:cNvPr id="73" name="Group 72">
            <a:extLst>
              <a:ext uri="{FF2B5EF4-FFF2-40B4-BE49-F238E27FC236}">
                <a16:creationId xmlns:a16="http://schemas.microsoft.com/office/drawing/2014/main" id="{19490555-67E3-4CBF-8C68-841058217530}"/>
              </a:ext>
              <a:ext uri="{C183D7F6-B498-43B3-948B-1728B52AA6E4}">
                <adec:decorative xmlns:adec="http://schemas.microsoft.com/office/drawing/2017/decorative" val="1"/>
              </a:ext>
            </a:extLst>
          </p:cNvPr>
          <p:cNvGrpSpPr/>
          <p:nvPr/>
        </p:nvGrpSpPr>
        <p:grpSpPr>
          <a:xfrm>
            <a:off x="3577364" y="1752136"/>
            <a:ext cx="1478006" cy="1723178"/>
            <a:chOff x="3577364" y="1752136"/>
            <a:chExt cx="1478006" cy="1723178"/>
          </a:xfrm>
        </p:grpSpPr>
        <p:cxnSp>
          <p:nvCxnSpPr>
            <p:cNvPr id="29" name="Straight Arrow Connector 28">
              <a:extLst>
                <a:ext uri="{FF2B5EF4-FFF2-40B4-BE49-F238E27FC236}">
                  <a16:creationId xmlns:a16="http://schemas.microsoft.com/office/drawing/2014/main" id="{330F8381-DFEF-419D-BF63-D6668620FF73}"/>
                </a:ext>
              </a:extLst>
            </p:cNvPr>
            <p:cNvCxnSpPr>
              <a:cxnSpLocks/>
            </p:cNvCxnSpPr>
            <p:nvPr/>
          </p:nvCxnSpPr>
          <p:spPr>
            <a:xfrm>
              <a:off x="4312932" y="1752136"/>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7ACBB2D-DFB5-4837-B5D7-122B2CE8F6C5}"/>
                </a:ext>
              </a:extLst>
            </p:cNvPr>
            <p:cNvCxnSpPr>
              <a:cxnSpLocks/>
            </p:cNvCxnSpPr>
            <p:nvPr/>
          </p:nvCxnSpPr>
          <p:spPr>
            <a:xfrm flipH="1">
              <a:off x="3752870" y="1898337"/>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3341885-A8E7-4FED-B2D0-6D362795CEB1}"/>
                </a:ext>
              </a:extLst>
            </p:cNvPr>
            <p:cNvCxnSpPr>
              <a:cxnSpLocks/>
            </p:cNvCxnSpPr>
            <p:nvPr/>
          </p:nvCxnSpPr>
          <p:spPr>
            <a:xfrm>
              <a:off x="4421745" y="1898337"/>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7" name="Database_EFC7" title="Icon of a cylinder">
              <a:extLst>
                <a:ext uri="{FF2B5EF4-FFF2-40B4-BE49-F238E27FC236}">
                  <a16:creationId xmlns:a16="http://schemas.microsoft.com/office/drawing/2014/main" id="{6BD37084-7B03-4360-8B49-0EEA5BFCED42}"/>
                </a:ext>
              </a:extLst>
            </p:cNvPr>
            <p:cNvSpPr>
              <a:spLocks noChangeAspect="1" noEditPoints="1"/>
            </p:cNvSpPr>
            <p:nvPr/>
          </p:nvSpPr>
          <p:spPr bwMode="auto">
            <a:xfrm>
              <a:off x="3577364" y="2924150"/>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sp>
          <p:nvSpPr>
            <p:cNvPr id="69" name="Database_EFC7" title="Icon of a cylinder">
              <a:extLst>
                <a:ext uri="{FF2B5EF4-FFF2-40B4-BE49-F238E27FC236}">
                  <a16:creationId xmlns:a16="http://schemas.microsoft.com/office/drawing/2014/main" id="{F4AEF71C-DDF0-451F-921A-36A905A3A143}"/>
                </a:ext>
              </a:extLst>
            </p:cNvPr>
            <p:cNvSpPr>
              <a:spLocks noChangeAspect="1" noEditPoints="1"/>
            </p:cNvSpPr>
            <p:nvPr/>
          </p:nvSpPr>
          <p:spPr bwMode="auto">
            <a:xfrm>
              <a:off x="4656946" y="2935049"/>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71" name="Database_EFC7" title="Icon of a cylinder">
              <a:extLst>
                <a:ext uri="{FF2B5EF4-FFF2-40B4-BE49-F238E27FC236}">
                  <a16:creationId xmlns:a16="http://schemas.microsoft.com/office/drawing/2014/main" id="{1F535F18-FF6C-4912-A13E-9A80E0B2BB13}"/>
                </a:ext>
              </a:extLst>
            </p:cNvPr>
            <p:cNvSpPr>
              <a:spLocks noChangeAspect="1" noEditPoints="1"/>
            </p:cNvSpPr>
            <p:nvPr/>
          </p:nvSpPr>
          <p:spPr bwMode="auto">
            <a:xfrm>
              <a:off x="4103698" y="2323661"/>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grpSp>
        <p:nvGrpSpPr>
          <p:cNvPr id="74" name="Group 73">
            <a:extLst>
              <a:ext uri="{FF2B5EF4-FFF2-40B4-BE49-F238E27FC236}">
                <a16:creationId xmlns:a16="http://schemas.microsoft.com/office/drawing/2014/main" id="{AD2F9267-FB75-4E40-9EFA-A738EA5C8B01}"/>
              </a:ext>
              <a:ext uri="{C183D7F6-B498-43B3-948B-1728B52AA6E4}">
                <adec:decorative xmlns:adec="http://schemas.microsoft.com/office/drawing/2017/decorative" val="1"/>
              </a:ext>
            </a:extLst>
          </p:cNvPr>
          <p:cNvGrpSpPr/>
          <p:nvPr/>
        </p:nvGrpSpPr>
        <p:grpSpPr>
          <a:xfrm>
            <a:off x="6305157" y="1952189"/>
            <a:ext cx="2577506" cy="1956476"/>
            <a:chOff x="6305157" y="1952189"/>
            <a:chExt cx="2577506" cy="1956476"/>
          </a:xfrm>
        </p:grpSpPr>
        <p:sp>
          <p:nvSpPr>
            <p:cNvPr id="13" name="Rectangle 12">
              <a:extLst>
                <a:ext uri="{FF2B5EF4-FFF2-40B4-BE49-F238E27FC236}">
                  <a16:creationId xmlns:a16="http://schemas.microsoft.com/office/drawing/2014/main" id="{E2CC7B60-55E6-4A2A-86C7-2D13D867FBE1}"/>
                </a:ext>
              </a:extLst>
            </p:cNvPr>
            <p:cNvSpPr>
              <a:spLocks noChangeAspect="1"/>
            </p:cNvSpPr>
            <p:nvPr/>
          </p:nvSpPr>
          <p:spPr bwMode="auto">
            <a:xfrm>
              <a:off x="6382176" y="2531003"/>
              <a:ext cx="1066649" cy="1013317"/>
            </a:xfrm>
            <a:prstGeom prst="rect">
              <a:avLst/>
            </a:prstGeom>
            <a:noFill/>
            <a:ln>
              <a:noFill/>
              <a:headEnd type="none" w="med" len="med"/>
              <a:tailEnd type="none" w="med"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dirty="0">
                <a:solidFill>
                  <a:schemeClr val="accent1">
                    <a:lumMod val="50000"/>
                  </a:schemeClr>
                </a:solidFill>
                <a:latin typeface="Segoe UI Semilight"/>
                <a:ea typeface="Segoe UI" pitchFamily="34" charset="0"/>
                <a:cs typeface="Segoe UI" pitchFamily="34" charset="0"/>
              </a:endParaRPr>
            </a:p>
          </p:txBody>
        </p:sp>
        <p:sp>
          <p:nvSpPr>
            <p:cNvPr id="14" name="TextBox 13">
              <a:extLst>
                <a:ext uri="{FF2B5EF4-FFF2-40B4-BE49-F238E27FC236}">
                  <a16:creationId xmlns:a16="http://schemas.microsoft.com/office/drawing/2014/main" id="{B3CA7A34-D154-4F87-9CA5-DAA2AB70D0EC}"/>
                </a:ext>
              </a:extLst>
            </p:cNvPr>
            <p:cNvSpPr txBox="1"/>
            <p:nvPr/>
          </p:nvSpPr>
          <p:spPr>
            <a:xfrm>
              <a:off x="6581071" y="2021463"/>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Typically, &gt;300mi</a:t>
              </a:r>
            </a:p>
          </p:txBody>
        </p:sp>
        <p:sp>
          <p:nvSpPr>
            <p:cNvPr id="15" name="TextBox 14">
              <a:extLst>
                <a:ext uri="{FF2B5EF4-FFF2-40B4-BE49-F238E27FC236}">
                  <a16:creationId xmlns:a16="http://schemas.microsoft.com/office/drawing/2014/main" id="{DA1B1187-4FC6-4DC4-95D9-C01D2A06C875}"/>
                </a:ext>
              </a:extLst>
            </p:cNvPr>
            <p:cNvSpPr txBox="1"/>
            <p:nvPr/>
          </p:nvSpPr>
          <p:spPr>
            <a:xfrm>
              <a:off x="7062922" y="2723042"/>
              <a:ext cx="832548" cy="489322"/>
            </a:xfrm>
            <a:prstGeom prst="rect">
              <a:avLst/>
            </a:prstGeom>
            <a:solidFill>
              <a:srgbClr val="FFFFFF"/>
            </a:solid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Async</a:t>
              </a:r>
            </a:p>
          </p:txBody>
        </p:sp>
        <p:sp>
          <p:nvSpPr>
            <p:cNvPr id="16" name="TextBox 15">
              <a:extLst>
                <a:ext uri="{FF2B5EF4-FFF2-40B4-BE49-F238E27FC236}">
                  <a16:creationId xmlns:a16="http://schemas.microsoft.com/office/drawing/2014/main" id="{43DBF20F-D8F3-440E-8283-D6BB1635E9D0}"/>
                </a:ext>
              </a:extLst>
            </p:cNvPr>
            <p:cNvSpPr txBox="1"/>
            <p:nvPr/>
          </p:nvSpPr>
          <p:spPr>
            <a:xfrm>
              <a:off x="6305157" y="3419343"/>
              <a:ext cx="977587"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Primary</a:t>
              </a:r>
            </a:p>
          </p:txBody>
        </p:sp>
        <p:sp>
          <p:nvSpPr>
            <p:cNvPr id="17" name="TextBox 16">
              <a:extLst>
                <a:ext uri="{FF2B5EF4-FFF2-40B4-BE49-F238E27FC236}">
                  <a16:creationId xmlns:a16="http://schemas.microsoft.com/office/drawing/2014/main" id="{DC9D8381-88B6-4510-A8F2-F1C24DF455EB}"/>
                </a:ext>
              </a:extLst>
            </p:cNvPr>
            <p:cNvSpPr txBox="1"/>
            <p:nvPr/>
          </p:nvSpPr>
          <p:spPr>
            <a:xfrm>
              <a:off x="7679053" y="3418692"/>
              <a:ext cx="1203610"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Secondary</a:t>
              </a:r>
            </a:p>
          </p:txBody>
        </p:sp>
        <p:sp>
          <p:nvSpPr>
            <p:cNvPr id="19" name="Database_EFC7" title="Icon of a cylinder">
              <a:extLst>
                <a:ext uri="{FF2B5EF4-FFF2-40B4-BE49-F238E27FC236}">
                  <a16:creationId xmlns:a16="http://schemas.microsoft.com/office/drawing/2014/main" id="{F1173F8D-7502-4F4D-96F5-78034AA7A375}"/>
                </a:ext>
              </a:extLst>
            </p:cNvPr>
            <p:cNvSpPr>
              <a:spLocks noChangeAspect="1" noEditPoints="1"/>
            </p:cNvSpPr>
            <p:nvPr/>
          </p:nvSpPr>
          <p:spPr bwMode="auto">
            <a:xfrm>
              <a:off x="6423545" y="262580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20" name="Database_EFC7" title="Icon of a cylinder">
              <a:extLst>
                <a:ext uri="{FF2B5EF4-FFF2-40B4-BE49-F238E27FC236}">
                  <a16:creationId xmlns:a16="http://schemas.microsoft.com/office/drawing/2014/main" id="{6F425934-3AB0-4965-89D8-59B1AB68CC2E}"/>
                </a:ext>
              </a:extLst>
            </p:cNvPr>
            <p:cNvSpPr>
              <a:spLocks noChangeAspect="1" noEditPoints="1"/>
            </p:cNvSpPr>
            <p:nvPr/>
          </p:nvSpPr>
          <p:spPr bwMode="auto">
            <a:xfrm>
              <a:off x="6578979" y="2781236"/>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21" name="Database_EFC7" title="Icon of a cylinder">
              <a:extLst>
                <a:ext uri="{FF2B5EF4-FFF2-40B4-BE49-F238E27FC236}">
                  <a16:creationId xmlns:a16="http://schemas.microsoft.com/office/drawing/2014/main" id="{8072FDB5-2C31-4FFD-B316-8E9B75C48FA3}"/>
                </a:ext>
              </a:extLst>
            </p:cNvPr>
            <p:cNvSpPr>
              <a:spLocks noChangeAspect="1" noEditPoints="1"/>
            </p:cNvSpPr>
            <p:nvPr/>
          </p:nvSpPr>
          <p:spPr bwMode="auto">
            <a:xfrm>
              <a:off x="6734413" y="2936670"/>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22" name="Straight Arrow Connector 21">
              <a:extLst>
                <a:ext uri="{FF2B5EF4-FFF2-40B4-BE49-F238E27FC236}">
                  <a16:creationId xmlns:a16="http://schemas.microsoft.com/office/drawing/2014/main" id="{7B20CC4D-73AB-43BF-80EC-79750C451609}"/>
                </a:ext>
              </a:extLst>
            </p:cNvPr>
            <p:cNvCxnSpPr>
              <a:cxnSpLocks/>
            </p:cNvCxnSpPr>
            <p:nvPr/>
          </p:nvCxnSpPr>
          <p:spPr>
            <a:xfrm flipV="1">
              <a:off x="6647600" y="1952189"/>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AC4C654-E5C5-4918-925D-F9978938ED39}"/>
                </a:ext>
              </a:extLst>
            </p:cNvPr>
            <p:cNvCxnSpPr>
              <a:cxnSpLocks/>
            </p:cNvCxnSpPr>
            <p:nvPr/>
          </p:nvCxnSpPr>
          <p:spPr>
            <a:xfrm flipH="1">
              <a:off x="6501937" y="197679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Database_EFC7" title="Icon of a cylinder">
              <a:extLst>
                <a:ext uri="{FF2B5EF4-FFF2-40B4-BE49-F238E27FC236}">
                  <a16:creationId xmlns:a16="http://schemas.microsoft.com/office/drawing/2014/main" id="{51C20421-8C6C-4A36-ADB7-5CD4D1D7C544}"/>
                </a:ext>
              </a:extLst>
            </p:cNvPr>
            <p:cNvSpPr>
              <a:spLocks noChangeAspect="1" noEditPoints="1"/>
            </p:cNvSpPr>
            <p:nvPr/>
          </p:nvSpPr>
          <p:spPr bwMode="auto">
            <a:xfrm>
              <a:off x="7836542" y="264297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25" name="Database_EFC7" title="Icon of a cylinder">
              <a:extLst>
                <a:ext uri="{FF2B5EF4-FFF2-40B4-BE49-F238E27FC236}">
                  <a16:creationId xmlns:a16="http://schemas.microsoft.com/office/drawing/2014/main" id="{F6AE8D94-5647-43E7-BF68-DF5AB83C34B3}"/>
                </a:ext>
              </a:extLst>
            </p:cNvPr>
            <p:cNvSpPr>
              <a:spLocks noChangeAspect="1" noEditPoints="1"/>
            </p:cNvSpPr>
            <p:nvPr/>
          </p:nvSpPr>
          <p:spPr bwMode="auto">
            <a:xfrm>
              <a:off x="7991975" y="2798408"/>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26" name="Database_EFC7" title="Icon of a cylinder">
              <a:extLst>
                <a:ext uri="{FF2B5EF4-FFF2-40B4-BE49-F238E27FC236}">
                  <a16:creationId xmlns:a16="http://schemas.microsoft.com/office/drawing/2014/main" id="{40F3F6A8-D332-4640-8DD0-E8304FDDD401}"/>
                </a:ext>
              </a:extLst>
            </p:cNvPr>
            <p:cNvSpPr>
              <a:spLocks noChangeAspect="1" noEditPoints="1"/>
            </p:cNvSpPr>
            <p:nvPr/>
          </p:nvSpPr>
          <p:spPr bwMode="auto">
            <a:xfrm>
              <a:off x="8147409" y="295384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27" name="Straight Arrow Connector 26">
              <a:extLst>
                <a:ext uri="{FF2B5EF4-FFF2-40B4-BE49-F238E27FC236}">
                  <a16:creationId xmlns:a16="http://schemas.microsoft.com/office/drawing/2014/main" id="{2EF64D43-C12C-4D05-81BA-9F9850107574}"/>
                </a:ext>
              </a:extLst>
            </p:cNvPr>
            <p:cNvCxnSpPr>
              <a:cxnSpLocks/>
            </p:cNvCxnSpPr>
            <p:nvPr/>
          </p:nvCxnSpPr>
          <p:spPr>
            <a:xfrm>
              <a:off x="7106353" y="2778949"/>
              <a:ext cx="666634"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E7F01885-2FF5-44BD-BE99-2942745780D4}"/>
              </a:ext>
              <a:ext uri="{C183D7F6-B498-43B3-948B-1728B52AA6E4}">
                <adec:decorative xmlns:adec="http://schemas.microsoft.com/office/drawing/2017/decorative" val="1"/>
              </a:ext>
            </a:extLst>
          </p:cNvPr>
          <p:cNvGrpSpPr/>
          <p:nvPr/>
        </p:nvGrpSpPr>
        <p:grpSpPr>
          <a:xfrm>
            <a:off x="9356350" y="1910144"/>
            <a:ext cx="2623943" cy="1986434"/>
            <a:chOff x="9356350" y="1910144"/>
            <a:chExt cx="2623943" cy="1986434"/>
          </a:xfrm>
        </p:grpSpPr>
        <p:sp>
          <p:nvSpPr>
            <p:cNvPr id="50" name="TextBox 49">
              <a:extLst>
                <a:ext uri="{FF2B5EF4-FFF2-40B4-BE49-F238E27FC236}">
                  <a16:creationId xmlns:a16="http://schemas.microsoft.com/office/drawing/2014/main" id="{F8B54B12-ED89-4EE0-8528-4BDB100FAA4A}"/>
                </a:ext>
              </a:extLst>
            </p:cNvPr>
            <p:cNvSpPr txBox="1"/>
            <p:nvPr/>
          </p:nvSpPr>
          <p:spPr>
            <a:xfrm>
              <a:off x="9564157" y="2016210"/>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Typically, &gt;300mi</a:t>
              </a:r>
            </a:p>
          </p:txBody>
        </p:sp>
        <p:sp>
          <p:nvSpPr>
            <p:cNvPr id="51" name="TextBox 50">
              <a:extLst>
                <a:ext uri="{FF2B5EF4-FFF2-40B4-BE49-F238E27FC236}">
                  <a16:creationId xmlns:a16="http://schemas.microsoft.com/office/drawing/2014/main" id="{CD2E673F-FA46-4EE7-B0D4-53AE25F22787}"/>
                </a:ext>
              </a:extLst>
            </p:cNvPr>
            <p:cNvSpPr txBox="1"/>
            <p:nvPr/>
          </p:nvSpPr>
          <p:spPr>
            <a:xfrm>
              <a:off x="10125949" y="2664069"/>
              <a:ext cx="832548" cy="489322"/>
            </a:xfrm>
            <a:prstGeom prst="rect">
              <a:avLst/>
            </a:prstGeom>
            <a:solidFill>
              <a:srgbClr val="FFFFFF"/>
            </a:solid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Async</a:t>
              </a:r>
            </a:p>
          </p:txBody>
        </p:sp>
        <p:sp>
          <p:nvSpPr>
            <p:cNvPr id="52" name="TextBox 51">
              <a:extLst>
                <a:ext uri="{FF2B5EF4-FFF2-40B4-BE49-F238E27FC236}">
                  <a16:creationId xmlns:a16="http://schemas.microsoft.com/office/drawing/2014/main" id="{A41BC2A0-B464-446B-BB54-5A0ABF7DEAF2}"/>
                </a:ext>
              </a:extLst>
            </p:cNvPr>
            <p:cNvSpPr txBox="1"/>
            <p:nvPr/>
          </p:nvSpPr>
          <p:spPr>
            <a:xfrm>
              <a:off x="9451266" y="3407256"/>
              <a:ext cx="977587"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Primary</a:t>
              </a:r>
            </a:p>
          </p:txBody>
        </p:sp>
        <p:sp>
          <p:nvSpPr>
            <p:cNvPr id="53" name="TextBox 52">
              <a:extLst>
                <a:ext uri="{FF2B5EF4-FFF2-40B4-BE49-F238E27FC236}">
                  <a16:creationId xmlns:a16="http://schemas.microsoft.com/office/drawing/2014/main" id="{6D9965F9-E879-4F01-8287-189EBC91E269}"/>
                </a:ext>
              </a:extLst>
            </p:cNvPr>
            <p:cNvSpPr txBox="1"/>
            <p:nvPr/>
          </p:nvSpPr>
          <p:spPr>
            <a:xfrm>
              <a:off x="10776683" y="3386537"/>
              <a:ext cx="1203610"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solidFill>
                    <a:schemeClr val="accent1">
                      <a:lumMod val="50000"/>
                    </a:schemeClr>
                  </a:solidFill>
                </a:rPr>
                <a:t>Secondary</a:t>
              </a:r>
            </a:p>
          </p:txBody>
        </p:sp>
        <p:sp>
          <p:nvSpPr>
            <p:cNvPr id="54" name="Rectangle 53">
              <a:extLst>
                <a:ext uri="{FF2B5EF4-FFF2-40B4-BE49-F238E27FC236}">
                  <a16:creationId xmlns:a16="http://schemas.microsoft.com/office/drawing/2014/main" id="{042DE131-C600-4966-9DDE-6AD1FB4D04BB}"/>
                </a:ext>
              </a:extLst>
            </p:cNvPr>
            <p:cNvSpPr>
              <a:spLocks noChangeAspect="1"/>
            </p:cNvSpPr>
            <p:nvPr/>
          </p:nvSpPr>
          <p:spPr bwMode="auto">
            <a:xfrm>
              <a:off x="9356350" y="2440380"/>
              <a:ext cx="1066649" cy="1013317"/>
            </a:xfrm>
            <a:prstGeom prst="rect">
              <a:avLst/>
            </a:prstGeom>
            <a:noFill/>
            <a:ln>
              <a:noFill/>
              <a:headEnd type="none" w="med" len="med"/>
              <a:tailEnd type="none" w="med"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defRPr/>
              </a:pPr>
              <a:endParaRPr lang="en-US" sz="2400" dirty="0">
                <a:solidFill>
                  <a:schemeClr val="accent1">
                    <a:lumMod val="50000"/>
                  </a:schemeClr>
                </a:solidFill>
                <a:latin typeface="Segoe UI Semilight"/>
                <a:ea typeface="Segoe UI" pitchFamily="34" charset="0"/>
                <a:cs typeface="Segoe UI" pitchFamily="34" charset="0"/>
              </a:endParaRPr>
            </a:p>
          </p:txBody>
        </p:sp>
        <p:sp>
          <p:nvSpPr>
            <p:cNvPr id="55" name="Database_EFC7" title="Icon of a cylinder">
              <a:extLst>
                <a:ext uri="{FF2B5EF4-FFF2-40B4-BE49-F238E27FC236}">
                  <a16:creationId xmlns:a16="http://schemas.microsoft.com/office/drawing/2014/main" id="{4EF9980E-06FC-4996-919C-032C694844D7}"/>
                </a:ext>
              </a:extLst>
            </p:cNvPr>
            <p:cNvSpPr>
              <a:spLocks noChangeAspect="1" noEditPoints="1"/>
            </p:cNvSpPr>
            <p:nvPr/>
          </p:nvSpPr>
          <p:spPr bwMode="auto">
            <a:xfrm>
              <a:off x="9494082" y="259379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56" name="Database_EFC7" title="Icon of a cylinder">
              <a:extLst>
                <a:ext uri="{FF2B5EF4-FFF2-40B4-BE49-F238E27FC236}">
                  <a16:creationId xmlns:a16="http://schemas.microsoft.com/office/drawing/2014/main" id="{94EFC49E-B185-45B8-ACDB-92000FB7FCAA}"/>
                </a:ext>
              </a:extLst>
            </p:cNvPr>
            <p:cNvSpPr>
              <a:spLocks noChangeAspect="1" noEditPoints="1"/>
            </p:cNvSpPr>
            <p:nvPr/>
          </p:nvSpPr>
          <p:spPr bwMode="auto">
            <a:xfrm>
              <a:off x="9649516" y="2749228"/>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57" name="Database_EFC7" title="Icon of a cylinder">
              <a:extLst>
                <a:ext uri="{FF2B5EF4-FFF2-40B4-BE49-F238E27FC236}">
                  <a16:creationId xmlns:a16="http://schemas.microsoft.com/office/drawing/2014/main" id="{C02399F0-70AF-4E17-AA05-8D9E1F4B0012}"/>
                </a:ext>
              </a:extLst>
            </p:cNvPr>
            <p:cNvSpPr>
              <a:spLocks noChangeAspect="1" noEditPoints="1"/>
            </p:cNvSpPr>
            <p:nvPr/>
          </p:nvSpPr>
          <p:spPr bwMode="auto">
            <a:xfrm>
              <a:off x="9804950" y="2904662"/>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58" name="Straight Arrow Connector 57">
              <a:extLst>
                <a:ext uri="{FF2B5EF4-FFF2-40B4-BE49-F238E27FC236}">
                  <a16:creationId xmlns:a16="http://schemas.microsoft.com/office/drawing/2014/main" id="{AD3CA4C0-A1D3-4C87-B441-44E7CD4A965B}"/>
                </a:ext>
              </a:extLst>
            </p:cNvPr>
            <p:cNvCxnSpPr>
              <a:cxnSpLocks/>
            </p:cNvCxnSpPr>
            <p:nvPr/>
          </p:nvCxnSpPr>
          <p:spPr>
            <a:xfrm flipV="1">
              <a:off x="9677062" y="191014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DD0494E-3892-49DA-A5D5-B5120BAFD9DB}"/>
                </a:ext>
              </a:extLst>
            </p:cNvPr>
            <p:cNvCxnSpPr>
              <a:cxnSpLocks/>
            </p:cNvCxnSpPr>
            <p:nvPr/>
          </p:nvCxnSpPr>
          <p:spPr>
            <a:xfrm flipH="1">
              <a:off x="9564186" y="194219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Database_EFC7" title="Icon of a cylinder">
              <a:extLst>
                <a:ext uri="{FF2B5EF4-FFF2-40B4-BE49-F238E27FC236}">
                  <a16:creationId xmlns:a16="http://schemas.microsoft.com/office/drawing/2014/main" id="{B77EB9CD-A562-4BEF-AF0C-586D61063D05}"/>
                </a:ext>
              </a:extLst>
            </p:cNvPr>
            <p:cNvSpPr>
              <a:spLocks noChangeAspect="1" noEditPoints="1"/>
            </p:cNvSpPr>
            <p:nvPr/>
          </p:nvSpPr>
          <p:spPr bwMode="auto">
            <a:xfrm>
              <a:off x="10907079" y="2610966"/>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61" name="Database_EFC7" title="Icon of a cylinder">
              <a:extLst>
                <a:ext uri="{FF2B5EF4-FFF2-40B4-BE49-F238E27FC236}">
                  <a16:creationId xmlns:a16="http://schemas.microsoft.com/office/drawing/2014/main" id="{F8F71878-43E3-45FE-BD45-42B1B91EB606}"/>
                </a:ext>
              </a:extLst>
            </p:cNvPr>
            <p:cNvSpPr>
              <a:spLocks noChangeAspect="1" noEditPoints="1"/>
            </p:cNvSpPr>
            <p:nvPr/>
          </p:nvSpPr>
          <p:spPr bwMode="auto">
            <a:xfrm>
              <a:off x="11062512" y="2766400"/>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62" name="Database_EFC7" title="Icon of a cylinder">
              <a:extLst>
                <a:ext uri="{FF2B5EF4-FFF2-40B4-BE49-F238E27FC236}">
                  <a16:creationId xmlns:a16="http://schemas.microsoft.com/office/drawing/2014/main" id="{1F91B0D3-0A22-4745-B4F5-998E47A607D3}"/>
                </a:ext>
              </a:extLst>
            </p:cNvPr>
            <p:cNvSpPr>
              <a:spLocks noChangeAspect="1" noEditPoints="1"/>
            </p:cNvSpPr>
            <p:nvPr/>
          </p:nvSpPr>
          <p:spPr bwMode="auto">
            <a:xfrm>
              <a:off x="11217946" y="2921834"/>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63" name="Straight Arrow Connector 62">
              <a:extLst>
                <a:ext uri="{FF2B5EF4-FFF2-40B4-BE49-F238E27FC236}">
                  <a16:creationId xmlns:a16="http://schemas.microsoft.com/office/drawing/2014/main" id="{B9A9B3A0-461E-4602-BC27-EC149D4E8F57}"/>
                </a:ext>
              </a:extLst>
            </p:cNvPr>
            <p:cNvCxnSpPr>
              <a:cxnSpLocks/>
            </p:cNvCxnSpPr>
            <p:nvPr/>
          </p:nvCxnSpPr>
          <p:spPr>
            <a:xfrm>
              <a:off x="10176890" y="2746941"/>
              <a:ext cx="666634"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90700A4-559B-4CD2-AE5E-CEBA11884266}"/>
                </a:ext>
              </a:extLst>
            </p:cNvPr>
            <p:cNvCxnSpPr>
              <a:cxnSpLocks/>
            </p:cNvCxnSpPr>
            <p:nvPr/>
          </p:nvCxnSpPr>
          <p:spPr>
            <a:xfrm flipV="1">
              <a:off x="11160708" y="193277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4" name="Rectangle 63">
            <a:extLst>
              <a:ext uri="{FF2B5EF4-FFF2-40B4-BE49-F238E27FC236}">
                <a16:creationId xmlns:a16="http://schemas.microsoft.com/office/drawing/2014/main" id="{B555D60E-B23B-48FF-9602-7C6B83C6A068}"/>
              </a:ext>
              <a:ext uri="{C183D7F6-B498-43B3-948B-1728B52AA6E4}">
                <adec:decorative xmlns:adec="http://schemas.microsoft.com/office/drawing/2017/decorative" val="1"/>
              </a:ext>
            </a:extLst>
          </p:cNvPr>
          <p:cNvSpPr/>
          <p:nvPr/>
        </p:nvSpPr>
        <p:spPr bwMode="auto">
          <a:xfrm>
            <a:off x="1289031" y="1314468"/>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Single region</a:t>
            </a:r>
          </a:p>
        </p:txBody>
      </p:sp>
      <p:sp>
        <p:nvSpPr>
          <p:cNvPr id="65" name="Rectangle 64">
            <a:extLst>
              <a:ext uri="{FF2B5EF4-FFF2-40B4-BE49-F238E27FC236}">
                <a16:creationId xmlns:a16="http://schemas.microsoft.com/office/drawing/2014/main" id="{0E4B901D-D2C6-4A7F-8355-B6C92737B3BB}"/>
              </a:ext>
              <a:ext uri="{C183D7F6-B498-43B3-948B-1728B52AA6E4}">
                <adec:decorative xmlns:adec="http://schemas.microsoft.com/office/drawing/2017/decorative" val="1"/>
              </a:ext>
            </a:extLst>
          </p:cNvPr>
          <p:cNvSpPr/>
          <p:nvPr/>
        </p:nvSpPr>
        <p:spPr bwMode="auto">
          <a:xfrm>
            <a:off x="7296124" y="1432360"/>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Multiple regions</a:t>
            </a:r>
          </a:p>
        </p:txBody>
      </p:sp>
      <p:grpSp>
        <p:nvGrpSpPr>
          <p:cNvPr id="5" name="Group 4">
            <a:extLst>
              <a:ext uri="{FF2B5EF4-FFF2-40B4-BE49-F238E27FC236}">
                <a16:creationId xmlns:a16="http://schemas.microsoft.com/office/drawing/2014/main" id="{61380D71-157C-426B-B4FD-1A05DAC74D5E}"/>
              </a:ext>
              <a:ext uri="{C183D7F6-B498-43B3-948B-1728B52AA6E4}">
                <adec:decorative xmlns:adec="http://schemas.microsoft.com/office/drawing/2017/decorative" val="1"/>
              </a:ext>
            </a:extLst>
          </p:cNvPr>
          <p:cNvGrpSpPr/>
          <p:nvPr/>
        </p:nvGrpSpPr>
        <p:grpSpPr>
          <a:xfrm>
            <a:off x="1055242" y="1898337"/>
            <a:ext cx="698448" cy="1546887"/>
            <a:chOff x="1055242" y="1898337"/>
            <a:chExt cx="698448" cy="1546887"/>
          </a:xfrm>
        </p:grpSpPr>
        <p:sp>
          <p:nvSpPr>
            <p:cNvPr id="6" name="Database_EFC7" title="Icon of a cylinder">
              <a:extLst>
                <a:ext uri="{FF2B5EF4-FFF2-40B4-BE49-F238E27FC236}">
                  <a16:creationId xmlns:a16="http://schemas.microsoft.com/office/drawing/2014/main" id="{EBEA1E8F-157E-4DAB-A971-F76AE9516F37}"/>
                </a:ext>
              </a:extLst>
            </p:cNvPr>
            <p:cNvSpPr>
              <a:spLocks noChangeAspect="1" noEditPoints="1"/>
            </p:cNvSpPr>
            <p:nvPr/>
          </p:nvSpPr>
          <p:spPr bwMode="auto">
            <a:xfrm>
              <a:off x="1055242" y="2630565"/>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7" name="Database_EFC7" title="Icon of a cylinder">
              <a:extLst>
                <a:ext uri="{FF2B5EF4-FFF2-40B4-BE49-F238E27FC236}">
                  <a16:creationId xmlns:a16="http://schemas.microsoft.com/office/drawing/2014/main" id="{A9B1EB3E-90B8-4768-9D38-BAE6A76CBD61}"/>
                </a:ext>
              </a:extLst>
            </p:cNvPr>
            <p:cNvSpPr>
              <a:spLocks noChangeAspect="1" noEditPoints="1"/>
            </p:cNvSpPr>
            <p:nvPr/>
          </p:nvSpPr>
          <p:spPr bwMode="auto">
            <a:xfrm>
              <a:off x="1210676" y="278599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sp>
          <p:nvSpPr>
            <p:cNvPr id="8" name="Database_EFC7" title="Icon of a cylinder">
              <a:extLst>
                <a:ext uri="{FF2B5EF4-FFF2-40B4-BE49-F238E27FC236}">
                  <a16:creationId xmlns:a16="http://schemas.microsoft.com/office/drawing/2014/main" id="{A55671CF-7A7C-4977-9AE7-B6B950AA6C25}"/>
                </a:ext>
              </a:extLst>
            </p:cNvPr>
            <p:cNvSpPr>
              <a:spLocks noChangeAspect="1" noEditPoints="1"/>
            </p:cNvSpPr>
            <p:nvPr/>
          </p:nvSpPr>
          <p:spPr bwMode="auto">
            <a:xfrm>
              <a:off x="1366110" y="294143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95000"/>
              </a:schemeClr>
            </a:solidFill>
            <a:ln w="19050" cap="sq">
              <a:solidFill>
                <a:schemeClr val="tx1"/>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chemeClr val="accent1">
                    <a:lumMod val="50000"/>
                  </a:schemeClr>
                </a:solidFill>
                <a:latin typeface="Segoe UI"/>
              </a:endParaRPr>
            </a:p>
          </p:txBody>
        </p:sp>
        <p:cxnSp>
          <p:nvCxnSpPr>
            <p:cNvPr id="9" name="Straight Arrow Connector 8">
              <a:extLst>
                <a:ext uri="{FF2B5EF4-FFF2-40B4-BE49-F238E27FC236}">
                  <a16:creationId xmlns:a16="http://schemas.microsoft.com/office/drawing/2014/main" id="{44225306-D914-401F-895C-D814AC2D4F99}"/>
                </a:ext>
              </a:extLst>
            </p:cNvPr>
            <p:cNvCxnSpPr>
              <a:cxnSpLocks/>
            </p:cNvCxnSpPr>
            <p:nvPr/>
          </p:nvCxnSpPr>
          <p:spPr>
            <a:xfrm flipV="1">
              <a:off x="1535861" y="189833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75F169A-C125-4882-BCB1-C358CB3CDB70}"/>
                </a:ext>
              </a:extLst>
            </p:cNvPr>
            <p:cNvCxnSpPr>
              <a:cxnSpLocks/>
            </p:cNvCxnSpPr>
            <p:nvPr/>
          </p:nvCxnSpPr>
          <p:spPr>
            <a:xfrm flipH="1">
              <a:off x="1245541" y="1898337"/>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77" name="Text Placeholder 2">
            <a:extLst>
              <a:ext uri="{FF2B5EF4-FFF2-40B4-BE49-F238E27FC236}">
                <a16:creationId xmlns:a16="http://schemas.microsoft.com/office/drawing/2014/main" id="{EFCA695E-1481-49BD-92A8-00A130CD0CE5}"/>
              </a:ext>
              <a:ext uri="{C183D7F6-B498-43B3-948B-1728B52AA6E4}">
                <adec:decorative xmlns:adec="http://schemas.microsoft.com/office/drawing/2017/decorative" val="1"/>
              </a:ext>
            </a:extLst>
          </p:cNvPr>
          <p:cNvSpPr txBox="1">
            <a:spLocks/>
          </p:cNvSpPr>
          <p:nvPr/>
        </p:nvSpPr>
        <p:spPr>
          <a:xfrm>
            <a:off x="9770859" y="6235997"/>
            <a:ext cx="2011647" cy="246221"/>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spc="0" dirty="0">
                <a:solidFill>
                  <a:schemeClr val="tx1"/>
                </a:solidFill>
                <a:latin typeface="+mn-lt"/>
                <a:cs typeface="Segoe UI Semilight"/>
              </a:rPr>
              <a:t>Continued next slide</a:t>
            </a:r>
          </a:p>
        </p:txBody>
      </p:sp>
      <p:sp>
        <p:nvSpPr>
          <p:cNvPr id="79" name="arrow_15">
            <a:extLst>
              <a:ext uri="{FF2B5EF4-FFF2-40B4-BE49-F238E27FC236}">
                <a16:creationId xmlns:a16="http://schemas.microsoft.com/office/drawing/2014/main" id="{0534DDE5-4651-4455-9B8E-E3DAC3730A77}"/>
              </a:ext>
              <a:ext uri="{C183D7F6-B498-43B3-948B-1728B52AA6E4}">
                <adec:decorative xmlns:adec="http://schemas.microsoft.com/office/drawing/2017/decorative" val="1"/>
              </a:ext>
            </a:extLst>
          </p:cNvPr>
          <p:cNvSpPr>
            <a:spLocks noChangeAspect="1" noEditPoints="1"/>
          </p:cNvSpPr>
          <p:nvPr/>
        </p:nvSpPr>
        <p:spPr bwMode="auto">
          <a:xfrm>
            <a:off x="11905361" y="6246655"/>
            <a:ext cx="225932" cy="224905"/>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Tree>
    <p:custDataLst>
      <p:tags r:id="rId1"/>
    </p:custDataLst>
    <p:extLst>
      <p:ext uri="{BB962C8B-B14F-4D97-AF65-F5344CB8AC3E}">
        <p14:creationId xmlns:p14="http://schemas.microsoft.com/office/powerpoint/2010/main" val="311539815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itle 57">
            <a:extLst>
              <a:ext uri="{FF2B5EF4-FFF2-40B4-BE49-F238E27FC236}">
                <a16:creationId xmlns:a16="http://schemas.microsoft.com/office/drawing/2014/main" id="{481E6AC7-4CA9-499A-B6D2-226954A9DC93}"/>
              </a:ext>
            </a:extLst>
          </p:cNvPr>
          <p:cNvSpPr>
            <a:spLocks noGrp="1"/>
          </p:cNvSpPr>
          <p:nvPr>
            <p:ph type="title"/>
          </p:nvPr>
        </p:nvSpPr>
        <p:spPr/>
        <p:txBody>
          <a:bodyPr/>
          <a:lstStyle/>
          <a:p>
            <a:r>
              <a:rPr lang="en-US" sz="2800" dirty="0"/>
              <a:t>Determine Replication Strategies (2 of 2)</a:t>
            </a:r>
          </a:p>
        </p:txBody>
      </p:sp>
      <p:sp>
        <p:nvSpPr>
          <p:cNvPr id="132" name="Rectangle 131">
            <a:extLst>
              <a:ext uri="{FF2B5EF4-FFF2-40B4-BE49-F238E27FC236}">
                <a16:creationId xmlns:a16="http://schemas.microsoft.com/office/drawing/2014/main" id="{AD2D99D5-3F83-4427-BE32-DB815A336476}"/>
              </a:ext>
            </a:extLst>
          </p:cNvPr>
          <p:cNvSpPr/>
          <p:nvPr/>
        </p:nvSpPr>
        <p:spPr bwMode="auto">
          <a:xfrm>
            <a:off x="665280" y="3884625"/>
            <a:ext cx="4668893"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2000" b="1" dirty="0">
                <a:solidFill>
                  <a:schemeClr val="accent1">
                    <a:lumMod val="50000"/>
                  </a:schemeClr>
                </a:solidFill>
                <a:ea typeface="Segoe UI" pitchFamily="34" charset="0"/>
                <a:cs typeface="Segoe UI Semibold" panose="020B0702040204020203" pitchFamily="34" charset="0"/>
              </a:rPr>
              <a:t>GZRS</a:t>
            </a:r>
            <a:endParaRPr lang="en-US" sz="2000" b="1" dirty="0">
              <a:gradFill>
                <a:gsLst>
                  <a:gs pos="0">
                    <a:srgbClr val="FFFFFF"/>
                  </a:gs>
                  <a:gs pos="100000">
                    <a:srgbClr val="FFFFFF"/>
                  </a:gs>
                </a:gsLst>
                <a:lin ang="5400000" scaled="0"/>
              </a:gradFill>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Six replicas, 3+1 zones, two regions</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Protects against disk, node, rack, zone, and region failures</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Synchronous writes to all three zones and a</a:t>
            </a:r>
            <a:r>
              <a:rPr lang="en-US" sz="2000" dirty="0">
                <a:solidFill>
                  <a:srgbClr val="2F2F2F"/>
                </a:solidFill>
                <a:cs typeface="Segoe UI" panose="020B0502040204020203" pitchFamily="34" charset="0"/>
              </a:rPr>
              <a:t>synchronous copy to secondary</a:t>
            </a:r>
            <a:endParaRPr lang="en-US" sz="2000" dirty="0">
              <a:solidFill>
                <a:srgbClr val="2F2F2F"/>
              </a:solidFill>
              <a:ea typeface="Segoe UI" panose="020B0502040204020203" pitchFamily="34" charset="0"/>
              <a:cs typeface="Segoe UI" panose="020B0502040204020203" pitchFamily="34" charset="0"/>
            </a:endParaRPr>
          </a:p>
          <a:p>
            <a:pPr defTabSz="932293" fontAlgn="base">
              <a:spcBef>
                <a:spcPct val="0"/>
              </a:spcBef>
              <a:spcAft>
                <a:spcPct val="0"/>
              </a:spcAft>
              <a:defRPr/>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57" name="Rectangle 156">
            <a:extLst>
              <a:ext uri="{FF2B5EF4-FFF2-40B4-BE49-F238E27FC236}">
                <a16:creationId xmlns:a16="http://schemas.microsoft.com/office/drawing/2014/main" id="{7697DBDF-2EB8-445E-A1D0-2EE1647A136F}"/>
              </a:ext>
            </a:extLst>
          </p:cNvPr>
          <p:cNvSpPr/>
          <p:nvPr/>
        </p:nvSpPr>
        <p:spPr bwMode="auto">
          <a:xfrm>
            <a:off x="6532609" y="3930022"/>
            <a:ext cx="3986447" cy="255244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ts val="600"/>
              </a:spcAft>
              <a:defRPr/>
            </a:pPr>
            <a:r>
              <a:rPr lang="en-US" sz="2000" b="1" dirty="0">
                <a:solidFill>
                  <a:schemeClr val="accent1">
                    <a:lumMod val="50000"/>
                  </a:schemeClr>
                </a:solidFill>
                <a:latin typeface="Segoe UI Semibold" panose="020B0702040204020203" pitchFamily="34" charset="0"/>
                <a:ea typeface="Segoe UI" pitchFamily="34" charset="0"/>
                <a:cs typeface="Segoe UI Semibold" panose="020B0702040204020203" pitchFamily="34" charset="0"/>
              </a:rPr>
              <a:t>RA-GZRS</a:t>
            </a:r>
            <a:endParaRPr lang="en-US" b="1" dirty="0">
              <a:gradFill>
                <a:gsLst>
                  <a:gs pos="0">
                    <a:srgbClr val="FFFFFF"/>
                  </a:gs>
                  <a:gs pos="100000">
                    <a:srgbClr val="FFFFFF"/>
                  </a:gs>
                </a:gsLst>
                <a:lin ang="5400000" scaled="0"/>
              </a:gradFill>
              <a:latin typeface="Segoe UI Semilight"/>
              <a:ea typeface="Segoe UI" pitchFamily="34" charset="0"/>
              <a:cs typeface="Segoe UI" pitchFamily="34" charset="0"/>
            </a:endParaRP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GZRS + read access to secondary</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Separate secondary endpoint</a:t>
            </a:r>
          </a:p>
          <a:p>
            <a:pPr marL="291436" indent="-291436" defTabSz="932293" fontAlgn="base">
              <a:spcBef>
                <a:spcPct val="0"/>
              </a:spcBef>
              <a:spcAft>
                <a:spcPts val="612"/>
              </a:spcAft>
              <a:buFont typeface="Arial" panose="020B0604020202020204" pitchFamily="34" charset="0"/>
              <a:buChar char="•"/>
              <a:defRPr/>
            </a:pPr>
            <a:r>
              <a:rPr lang="en-US" sz="2000" dirty="0">
                <a:solidFill>
                  <a:srgbClr val="2F2F2F"/>
                </a:solidFill>
                <a:ea typeface="Segoe UI" panose="020B0502040204020203" pitchFamily="34" charset="0"/>
                <a:cs typeface="Segoe UI" panose="020B0502040204020203" pitchFamily="34" charset="0"/>
              </a:rPr>
              <a:t>RPO delay to secondary can be queried</a:t>
            </a:r>
            <a:endParaRPr lang="en-US" sz="2000" dirty="0">
              <a:solidFill>
                <a:srgbClr val="2F2F2F"/>
              </a:solidFill>
            </a:endParaRPr>
          </a:p>
        </p:txBody>
      </p:sp>
      <p:sp>
        <p:nvSpPr>
          <p:cNvPr id="59" name="Rectangle 58">
            <a:extLst>
              <a:ext uri="{FF2B5EF4-FFF2-40B4-BE49-F238E27FC236}">
                <a16:creationId xmlns:a16="http://schemas.microsoft.com/office/drawing/2014/main" id="{634504BE-E85C-446A-ADDD-2B9FB035FA0C}"/>
              </a:ext>
              <a:ext uri="{C183D7F6-B498-43B3-948B-1728B52AA6E4}">
                <adec:decorative xmlns:adec="http://schemas.microsoft.com/office/drawing/2017/decorative" val="1"/>
              </a:ext>
            </a:extLst>
          </p:cNvPr>
          <p:cNvSpPr/>
          <p:nvPr/>
        </p:nvSpPr>
        <p:spPr bwMode="auto">
          <a:xfrm>
            <a:off x="4687159" y="1343108"/>
            <a:ext cx="2850704" cy="3817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54" tIns="146283" rIns="182854" bIns="146283"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293" fontAlgn="base">
              <a:spcBef>
                <a:spcPct val="0"/>
              </a:spcBef>
              <a:spcAft>
                <a:spcPct val="0"/>
              </a:spcAft>
              <a:defRPr/>
            </a:pPr>
            <a:r>
              <a:rPr lang="en-US" dirty="0">
                <a:solidFill>
                  <a:srgbClr val="1A1A1A"/>
                </a:solidFill>
                <a:latin typeface="Segoe UI Semibold" panose="020B0702040204020203" pitchFamily="34" charset="0"/>
                <a:ea typeface="Segoe UI" pitchFamily="34" charset="0"/>
                <a:cs typeface="Segoe UI Semibold" panose="020B0702040204020203" pitchFamily="34" charset="0"/>
              </a:rPr>
              <a:t>Multiple regions</a:t>
            </a:r>
          </a:p>
        </p:txBody>
      </p:sp>
      <p:sp>
        <p:nvSpPr>
          <p:cNvPr id="138" name="TextBox 137">
            <a:extLst>
              <a:ext uri="{FF2B5EF4-FFF2-40B4-BE49-F238E27FC236}">
                <a16:creationId xmlns:a16="http://schemas.microsoft.com/office/drawing/2014/main" id="{C7BBC525-2A7C-410A-ACDC-7C7EB36D0E79}"/>
              </a:ext>
              <a:ext uri="{C183D7F6-B498-43B3-948B-1728B52AA6E4}">
                <adec:decorative xmlns:adec="http://schemas.microsoft.com/office/drawing/2017/decorative" val="1"/>
              </a:ext>
            </a:extLst>
          </p:cNvPr>
          <p:cNvSpPr txBox="1"/>
          <p:nvPr/>
        </p:nvSpPr>
        <p:spPr>
          <a:xfrm>
            <a:off x="8387273" y="1731392"/>
            <a:ext cx="1091616" cy="683222"/>
          </a:xfrm>
          <a:prstGeom prst="rect">
            <a:avLst/>
          </a:prstGeom>
          <a:noFill/>
        </p:spPr>
        <p:txBody>
          <a:bodyPr wrap="square" lIns="182854" tIns="146283" rIns="182854" bIns="146283" rtlCol="0">
            <a:spAutoFit/>
          </a:bodyPr>
          <a:lstStyle/>
          <a:p>
            <a:pPr defTabSz="932563">
              <a:lnSpc>
                <a:spcPct val="90000"/>
              </a:lnSpc>
              <a:spcAft>
                <a:spcPts val="600"/>
              </a:spcAft>
              <a:defRPr/>
            </a:pPr>
            <a:r>
              <a:rPr lang="en-US" sz="1400" dirty="0"/>
              <a:t>Typically, &gt;300mi</a:t>
            </a:r>
          </a:p>
        </p:txBody>
      </p:sp>
      <p:sp>
        <p:nvSpPr>
          <p:cNvPr id="139" name="TextBox 138">
            <a:extLst>
              <a:ext uri="{FF2B5EF4-FFF2-40B4-BE49-F238E27FC236}">
                <a16:creationId xmlns:a16="http://schemas.microsoft.com/office/drawing/2014/main" id="{77DFDAD8-66D3-4C28-AFC4-D41D1F405946}"/>
              </a:ext>
              <a:ext uri="{C183D7F6-B498-43B3-948B-1728B52AA6E4}">
                <adec:decorative xmlns:adec="http://schemas.microsoft.com/office/drawing/2017/decorative" val="1"/>
              </a:ext>
            </a:extLst>
          </p:cNvPr>
          <p:cNvSpPr txBox="1"/>
          <p:nvPr/>
        </p:nvSpPr>
        <p:spPr>
          <a:xfrm>
            <a:off x="8936307" y="3160087"/>
            <a:ext cx="890982" cy="683222"/>
          </a:xfrm>
          <a:prstGeom prst="rect">
            <a:avLst/>
          </a:prstGeom>
          <a:noFill/>
        </p:spPr>
        <p:txBody>
          <a:bodyPr wrap="square" lIns="182854" tIns="146283" rIns="182854" bIns="146283" rtlCol="0">
            <a:spAutoFit/>
          </a:bodyPr>
          <a:lstStyle/>
          <a:p>
            <a:pPr defTabSz="932563">
              <a:lnSpc>
                <a:spcPct val="90000"/>
              </a:lnSpc>
              <a:spcAft>
                <a:spcPts val="600"/>
              </a:spcAft>
              <a:defRPr/>
            </a:pPr>
            <a:r>
              <a:rPr lang="en-US" sz="1400" dirty="0"/>
              <a:t>Async   Read</a:t>
            </a:r>
          </a:p>
        </p:txBody>
      </p:sp>
      <p:sp>
        <p:nvSpPr>
          <p:cNvPr id="140" name="TextBox 139">
            <a:extLst>
              <a:ext uri="{FF2B5EF4-FFF2-40B4-BE49-F238E27FC236}">
                <a16:creationId xmlns:a16="http://schemas.microsoft.com/office/drawing/2014/main" id="{50D1E592-8749-420E-8E44-27A592D3EB04}"/>
              </a:ext>
              <a:ext uri="{C183D7F6-B498-43B3-948B-1728B52AA6E4}">
                <adec:decorative xmlns:adec="http://schemas.microsoft.com/office/drawing/2017/decorative" val="1"/>
              </a:ext>
            </a:extLst>
          </p:cNvPr>
          <p:cNvSpPr txBox="1"/>
          <p:nvPr/>
        </p:nvSpPr>
        <p:spPr>
          <a:xfrm>
            <a:off x="10188628" y="2734435"/>
            <a:ext cx="1080655" cy="461600"/>
          </a:xfrm>
          <a:prstGeom prst="rect">
            <a:avLst/>
          </a:prstGeom>
          <a:noFill/>
        </p:spPr>
        <p:txBody>
          <a:bodyPr wrap="none" lIns="182854" tIns="146283" rIns="182854" bIns="146283" rtlCol="0">
            <a:spAutoFit/>
          </a:bodyPr>
          <a:lstStyle/>
          <a:p>
            <a:pPr defTabSz="932563">
              <a:lnSpc>
                <a:spcPct val="90000"/>
              </a:lnSpc>
              <a:spcAft>
                <a:spcPts val="600"/>
              </a:spcAft>
              <a:defRPr/>
            </a:pPr>
            <a:r>
              <a:rPr lang="en-US" sz="1400" dirty="0"/>
              <a:t>Secondary</a:t>
            </a:r>
          </a:p>
        </p:txBody>
      </p:sp>
      <p:grpSp>
        <p:nvGrpSpPr>
          <p:cNvPr id="12" name="Group 11">
            <a:extLst>
              <a:ext uri="{FF2B5EF4-FFF2-40B4-BE49-F238E27FC236}">
                <a16:creationId xmlns:a16="http://schemas.microsoft.com/office/drawing/2014/main" id="{025A8E61-A31B-40A8-AECE-A5DADB25B278}"/>
              </a:ext>
              <a:ext uri="{C183D7F6-B498-43B3-948B-1728B52AA6E4}">
                <adec:decorative xmlns:adec="http://schemas.microsoft.com/office/drawing/2017/decorative" val="1"/>
              </a:ext>
            </a:extLst>
          </p:cNvPr>
          <p:cNvGrpSpPr/>
          <p:nvPr/>
        </p:nvGrpSpPr>
        <p:grpSpPr>
          <a:xfrm>
            <a:off x="7408467" y="1731392"/>
            <a:ext cx="2885762" cy="1719939"/>
            <a:chOff x="7408467" y="1731392"/>
            <a:chExt cx="2885762" cy="1719939"/>
          </a:xfrm>
        </p:grpSpPr>
        <p:cxnSp>
          <p:nvCxnSpPr>
            <p:cNvPr id="145" name="Straight Arrow Connector 144">
              <a:extLst>
                <a:ext uri="{FF2B5EF4-FFF2-40B4-BE49-F238E27FC236}">
                  <a16:creationId xmlns:a16="http://schemas.microsoft.com/office/drawing/2014/main" id="{A0A3E8EC-E9FA-46E0-A464-3CB8AC382258}"/>
                </a:ext>
              </a:extLst>
            </p:cNvPr>
            <p:cNvCxnSpPr>
              <a:cxnSpLocks/>
            </p:cNvCxnSpPr>
            <p:nvPr/>
          </p:nvCxnSpPr>
          <p:spPr>
            <a:xfrm>
              <a:off x="8124302" y="1731392"/>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9" name="Database_EFC7" title="Icon of a cylinder">
              <a:extLst>
                <a:ext uri="{FF2B5EF4-FFF2-40B4-BE49-F238E27FC236}">
                  <a16:creationId xmlns:a16="http://schemas.microsoft.com/office/drawing/2014/main" id="{C11FFDED-8A23-43F8-8AE8-1763CB479598}"/>
                </a:ext>
              </a:extLst>
            </p:cNvPr>
            <p:cNvSpPr>
              <a:spLocks noChangeAspect="1" noEditPoints="1"/>
            </p:cNvSpPr>
            <p:nvPr/>
          </p:nvSpPr>
          <p:spPr bwMode="auto">
            <a:xfrm>
              <a:off x="7408467" y="2900167"/>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cxnSp>
          <p:nvCxnSpPr>
            <p:cNvPr id="148" name="Straight Arrow Connector 147">
              <a:extLst>
                <a:ext uri="{FF2B5EF4-FFF2-40B4-BE49-F238E27FC236}">
                  <a16:creationId xmlns:a16="http://schemas.microsoft.com/office/drawing/2014/main" id="{24FBC4AD-951E-4CD8-9904-A2A2177632BD}"/>
                </a:ext>
              </a:extLst>
            </p:cNvPr>
            <p:cNvCxnSpPr>
              <a:cxnSpLocks/>
            </p:cNvCxnSpPr>
            <p:nvPr/>
          </p:nvCxnSpPr>
          <p:spPr>
            <a:xfrm flipH="1">
              <a:off x="7564239" y="1877593"/>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4D781B0-921C-4788-9C74-A310DD2D6923}"/>
                </a:ext>
              </a:extLst>
            </p:cNvPr>
            <p:cNvCxnSpPr>
              <a:cxnSpLocks/>
            </p:cNvCxnSpPr>
            <p:nvPr/>
          </p:nvCxnSpPr>
          <p:spPr>
            <a:xfrm>
              <a:off x="8233115" y="1877593"/>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Database_EFC7" title="Icon of a cylinder">
              <a:extLst>
                <a:ext uri="{FF2B5EF4-FFF2-40B4-BE49-F238E27FC236}">
                  <a16:creationId xmlns:a16="http://schemas.microsoft.com/office/drawing/2014/main" id="{610797FC-F96C-438F-A8AF-712F8437D5EF}"/>
                </a:ext>
              </a:extLst>
            </p:cNvPr>
            <p:cNvSpPr>
              <a:spLocks noChangeAspect="1" noEditPoints="1"/>
            </p:cNvSpPr>
            <p:nvPr/>
          </p:nvSpPr>
          <p:spPr bwMode="auto">
            <a:xfrm>
              <a:off x="9595781" y="254055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sp>
          <p:nvSpPr>
            <p:cNvPr id="142" name="Database_EFC7" title="Icon of a cylinder">
              <a:extLst>
                <a:ext uri="{FF2B5EF4-FFF2-40B4-BE49-F238E27FC236}">
                  <a16:creationId xmlns:a16="http://schemas.microsoft.com/office/drawing/2014/main" id="{B82DF049-6CA2-4B4D-8B1D-9074FD20ADFA}"/>
                </a:ext>
              </a:extLst>
            </p:cNvPr>
            <p:cNvSpPr>
              <a:spLocks noChangeAspect="1" noEditPoints="1"/>
            </p:cNvSpPr>
            <p:nvPr/>
          </p:nvSpPr>
          <p:spPr bwMode="auto">
            <a:xfrm>
              <a:off x="9751215" y="269599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sp>
          <p:nvSpPr>
            <p:cNvPr id="143" name="Database_EFC7" title="Icon of a cylinder">
              <a:extLst>
                <a:ext uri="{FF2B5EF4-FFF2-40B4-BE49-F238E27FC236}">
                  <a16:creationId xmlns:a16="http://schemas.microsoft.com/office/drawing/2014/main" id="{851023B1-0B4C-4601-98CA-0B82808230F2}"/>
                </a:ext>
              </a:extLst>
            </p:cNvPr>
            <p:cNvSpPr>
              <a:spLocks noChangeAspect="1" noEditPoints="1"/>
            </p:cNvSpPr>
            <p:nvPr/>
          </p:nvSpPr>
          <p:spPr bwMode="auto">
            <a:xfrm>
              <a:off x="9906649" y="2851427"/>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836" dirty="0">
                <a:solidFill>
                  <a:srgbClr val="2F2F2F"/>
                </a:solidFill>
                <a:latin typeface="Segoe UI"/>
              </a:endParaRPr>
            </a:p>
          </p:txBody>
        </p:sp>
        <p:cxnSp>
          <p:nvCxnSpPr>
            <p:cNvPr id="144" name="Straight Arrow Connector 143">
              <a:extLst>
                <a:ext uri="{FF2B5EF4-FFF2-40B4-BE49-F238E27FC236}">
                  <a16:creationId xmlns:a16="http://schemas.microsoft.com/office/drawing/2014/main" id="{19EE37D4-44FF-4B43-84BC-7728668F04D2}"/>
                </a:ext>
              </a:extLst>
            </p:cNvPr>
            <p:cNvCxnSpPr>
              <a:cxnSpLocks/>
            </p:cNvCxnSpPr>
            <p:nvPr/>
          </p:nvCxnSpPr>
          <p:spPr>
            <a:xfrm>
              <a:off x="9041907" y="3204360"/>
              <a:ext cx="666634" cy="0"/>
            </a:xfrm>
            <a:prstGeom prst="straightConnector1">
              <a:avLst/>
            </a:prstGeom>
            <a:ln w="28575">
              <a:solidFill>
                <a:schemeClr val="accent2">
                  <a:lumMod val="90000"/>
                  <a:lumOff val="1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Database_EFC7" title="Icon of a cylinder">
              <a:extLst>
                <a:ext uri="{FF2B5EF4-FFF2-40B4-BE49-F238E27FC236}">
                  <a16:creationId xmlns:a16="http://schemas.microsoft.com/office/drawing/2014/main" id="{A6F1D5E1-DC9A-4248-96FC-5E741DF305A3}"/>
                </a:ext>
              </a:extLst>
            </p:cNvPr>
            <p:cNvSpPr>
              <a:spLocks noChangeAspect="1" noEditPoints="1"/>
            </p:cNvSpPr>
            <p:nvPr/>
          </p:nvSpPr>
          <p:spPr bwMode="auto">
            <a:xfrm>
              <a:off x="8488049" y="2911066"/>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4" name="Database_EFC7" title="Icon of a cylinder">
              <a:extLst>
                <a:ext uri="{FF2B5EF4-FFF2-40B4-BE49-F238E27FC236}">
                  <a16:creationId xmlns:a16="http://schemas.microsoft.com/office/drawing/2014/main" id="{1632DE39-13A5-4936-8A67-61C6D2D41C9A}"/>
                </a:ext>
              </a:extLst>
            </p:cNvPr>
            <p:cNvSpPr>
              <a:spLocks noChangeAspect="1" noEditPoints="1"/>
            </p:cNvSpPr>
            <p:nvPr/>
          </p:nvSpPr>
          <p:spPr bwMode="auto">
            <a:xfrm>
              <a:off x="7934801" y="2299678"/>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sp>
        <p:nvSpPr>
          <p:cNvPr id="113" name="TextBox 112">
            <a:extLst>
              <a:ext uri="{FF2B5EF4-FFF2-40B4-BE49-F238E27FC236}">
                <a16:creationId xmlns:a16="http://schemas.microsoft.com/office/drawing/2014/main" id="{4F0729A7-182F-41B0-B820-80E571A417E0}"/>
              </a:ext>
              <a:ext uri="{C183D7F6-B498-43B3-948B-1728B52AA6E4}">
                <adec:decorative xmlns:adec="http://schemas.microsoft.com/office/drawing/2017/decorative" val="1"/>
              </a:ext>
            </a:extLst>
          </p:cNvPr>
          <p:cNvSpPr txBox="1"/>
          <p:nvPr/>
        </p:nvSpPr>
        <p:spPr>
          <a:xfrm>
            <a:off x="3126428" y="2115034"/>
            <a:ext cx="1725869" cy="489322"/>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t>Typically</a:t>
            </a:r>
            <a:r>
              <a:rPr lang="en-US" sz="1400" dirty="0">
                <a:gradFill>
                  <a:gsLst>
                    <a:gs pos="2917">
                      <a:srgbClr val="505050"/>
                    </a:gs>
                    <a:gs pos="30000">
                      <a:srgbClr val="505050"/>
                    </a:gs>
                  </a:gsLst>
                  <a:lin ang="5400000" scaled="0"/>
                </a:gradFill>
              </a:rPr>
              <a:t>, &gt;300mi</a:t>
            </a:r>
          </a:p>
        </p:txBody>
      </p:sp>
      <p:sp>
        <p:nvSpPr>
          <p:cNvPr id="114" name="TextBox 113">
            <a:extLst>
              <a:ext uri="{FF2B5EF4-FFF2-40B4-BE49-F238E27FC236}">
                <a16:creationId xmlns:a16="http://schemas.microsoft.com/office/drawing/2014/main" id="{D13DD411-294D-4401-9109-2633B2F1CF09}"/>
              </a:ext>
              <a:ext uri="{C183D7F6-B498-43B3-948B-1728B52AA6E4}">
                <adec:decorative xmlns:adec="http://schemas.microsoft.com/office/drawing/2017/decorative" val="1"/>
              </a:ext>
            </a:extLst>
          </p:cNvPr>
          <p:cNvSpPr txBox="1"/>
          <p:nvPr/>
        </p:nvSpPr>
        <p:spPr>
          <a:xfrm>
            <a:off x="3528024" y="3160087"/>
            <a:ext cx="765165" cy="461600"/>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gradFill>
                  <a:gsLst>
                    <a:gs pos="2917">
                      <a:srgbClr val="505050"/>
                    </a:gs>
                    <a:gs pos="30000">
                      <a:srgbClr val="505050"/>
                    </a:gs>
                  </a:gsLst>
                  <a:lin ang="5400000" scaled="0"/>
                </a:gradFill>
              </a:rPr>
              <a:t>Async</a:t>
            </a:r>
          </a:p>
        </p:txBody>
      </p:sp>
      <p:sp>
        <p:nvSpPr>
          <p:cNvPr id="115" name="TextBox 114">
            <a:extLst>
              <a:ext uri="{FF2B5EF4-FFF2-40B4-BE49-F238E27FC236}">
                <a16:creationId xmlns:a16="http://schemas.microsoft.com/office/drawing/2014/main" id="{636C51C0-42B4-4EDF-B3DA-AAED4EC0EB3D}"/>
              </a:ext>
              <a:ext uri="{C183D7F6-B498-43B3-948B-1728B52AA6E4}">
                <adec:decorative xmlns:adec="http://schemas.microsoft.com/office/drawing/2017/decorative" val="1"/>
              </a:ext>
            </a:extLst>
          </p:cNvPr>
          <p:cNvSpPr txBox="1"/>
          <p:nvPr/>
        </p:nvSpPr>
        <p:spPr>
          <a:xfrm>
            <a:off x="4768375" y="2688659"/>
            <a:ext cx="1080655" cy="461600"/>
          </a:xfrm>
          <a:prstGeom prst="rect">
            <a:avLst/>
          </a:prstGeom>
          <a:noFill/>
          <a:ln>
            <a:noFill/>
          </a:ln>
        </p:spPr>
        <p:txBody>
          <a:bodyPr wrap="none" lIns="182854" tIns="146283" rIns="182854" bIns="146283" rtlCol="0">
            <a:spAutoFit/>
          </a:bodyPr>
          <a:lstStyle/>
          <a:p>
            <a:pPr defTabSz="932563">
              <a:lnSpc>
                <a:spcPct val="90000"/>
              </a:lnSpc>
              <a:spcAft>
                <a:spcPts val="600"/>
              </a:spcAft>
              <a:defRPr/>
            </a:pPr>
            <a:r>
              <a:rPr lang="en-US" sz="1400" dirty="0">
                <a:gradFill>
                  <a:gsLst>
                    <a:gs pos="2917">
                      <a:srgbClr val="505050"/>
                    </a:gs>
                    <a:gs pos="30000">
                      <a:srgbClr val="505050"/>
                    </a:gs>
                  </a:gsLst>
                  <a:lin ang="5400000" scaled="0"/>
                </a:gradFill>
              </a:rPr>
              <a:t>Secondary</a:t>
            </a:r>
          </a:p>
        </p:txBody>
      </p:sp>
      <p:grpSp>
        <p:nvGrpSpPr>
          <p:cNvPr id="11" name="Group 10">
            <a:extLst>
              <a:ext uri="{FF2B5EF4-FFF2-40B4-BE49-F238E27FC236}">
                <a16:creationId xmlns:a16="http://schemas.microsoft.com/office/drawing/2014/main" id="{B4B20743-D01D-4CD6-B26C-9C2136AE965C}"/>
              </a:ext>
              <a:ext uri="{C183D7F6-B498-43B3-948B-1728B52AA6E4}">
                <adec:decorative xmlns:adec="http://schemas.microsoft.com/office/drawing/2017/decorative" val="1"/>
              </a:ext>
            </a:extLst>
          </p:cNvPr>
          <p:cNvGrpSpPr/>
          <p:nvPr/>
        </p:nvGrpSpPr>
        <p:grpSpPr>
          <a:xfrm>
            <a:off x="1950441" y="1731392"/>
            <a:ext cx="2903832" cy="1690687"/>
            <a:chOff x="1950441" y="1731392"/>
            <a:chExt cx="2903832" cy="1690687"/>
          </a:xfrm>
        </p:grpSpPr>
        <p:cxnSp>
          <p:nvCxnSpPr>
            <p:cNvPr id="120" name="Straight Arrow Connector 119">
              <a:extLst>
                <a:ext uri="{FF2B5EF4-FFF2-40B4-BE49-F238E27FC236}">
                  <a16:creationId xmlns:a16="http://schemas.microsoft.com/office/drawing/2014/main" id="{C1A1FF69-D726-4651-93F8-1C8F9FAE44BD}"/>
                </a:ext>
              </a:extLst>
            </p:cNvPr>
            <p:cNvCxnSpPr>
              <a:cxnSpLocks/>
            </p:cNvCxnSpPr>
            <p:nvPr/>
          </p:nvCxnSpPr>
          <p:spPr>
            <a:xfrm>
              <a:off x="2684346" y="1731392"/>
              <a:ext cx="0" cy="474532"/>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DBB7A66D-3468-44D9-9CEA-4B48C47C92A4}"/>
                </a:ext>
              </a:extLst>
            </p:cNvPr>
            <p:cNvCxnSpPr>
              <a:cxnSpLocks/>
            </p:cNvCxnSpPr>
            <p:nvPr/>
          </p:nvCxnSpPr>
          <p:spPr>
            <a:xfrm flipH="1">
              <a:off x="2124283" y="1877593"/>
              <a:ext cx="452472" cy="896108"/>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A9EC4FE1-2061-426A-93AB-694B54EE44F1}"/>
                </a:ext>
              </a:extLst>
            </p:cNvPr>
            <p:cNvCxnSpPr>
              <a:cxnSpLocks/>
            </p:cNvCxnSpPr>
            <p:nvPr/>
          </p:nvCxnSpPr>
          <p:spPr>
            <a:xfrm>
              <a:off x="2793159" y="1877593"/>
              <a:ext cx="413137" cy="910047"/>
            </a:xfrm>
            <a:prstGeom prst="straightConnector1">
              <a:avLst/>
            </a:prstGeom>
            <a:ln w="28575">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16" name="Database_EFC7" title="Icon of a cylinder">
              <a:extLst>
                <a:ext uri="{FF2B5EF4-FFF2-40B4-BE49-F238E27FC236}">
                  <a16:creationId xmlns:a16="http://schemas.microsoft.com/office/drawing/2014/main" id="{01FC8375-42E1-4932-A0AA-3D248053C553}"/>
                </a:ext>
              </a:extLst>
            </p:cNvPr>
            <p:cNvSpPr>
              <a:spLocks noChangeAspect="1" noEditPoints="1"/>
            </p:cNvSpPr>
            <p:nvPr/>
          </p:nvSpPr>
          <p:spPr bwMode="auto">
            <a:xfrm>
              <a:off x="4155825" y="2540559"/>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sp>
          <p:nvSpPr>
            <p:cNvPr id="117" name="Database_EFC7" title="Icon of a cylinder">
              <a:extLst>
                <a:ext uri="{FF2B5EF4-FFF2-40B4-BE49-F238E27FC236}">
                  <a16:creationId xmlns:a16="http://schemas.microsoft.com/office/drawing/2014/main" id="{68C7CFF3-4CBF-4CF0-94BC-7FB7B38F639D}"/>
                </a:ext>
              </a:extLst>
            </p:cNvPr>
            <p:cNvSpPr>
              <a:spLocks noChangeAspect="1" noEditPoints="1"/>
            </p:cNvSpPr>
            <p:nvPr/>
          </p:nvSpPr>
          <p:spPr bwMode="auto">
            <a:xfrm>
              <a:off x="4311259" y="2695993"/>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sp>
          <p:nvSpPr>
            <p:cNvPr id="118" name="Database_EFC7" title="Icon of a cylinder">
              <a:extLst>
                <a:ext uri="{FF2B5EF4-FFF2-40B4-BE49-F238E27FC236}">
                  <a16:creationId xmlns:a16="http://schemas.microsoft.com/office/drawing/2014/main" id="{150DC6A9-CD24-48BC-8D50-747A3B0CDE01}"/>
                </a:ext>
              </a:extLst>
            </p:cNvPr>
            <p:cNvSpPr>
              <a:spLocks noChangeAspect="1" noEditPoints="1"/>
            </p:cNvSpPr>
            <p:nvPr/>
          </p:nvSpPr>
          <p:spPr bwMode="auto">
            <a:xfrm>
              <a:off x="4466693" y="2851427"/>
              <a:ext cx="387580" cy="503791"/>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chemeClr val="bg1">
                <a:lumMod val="85000"/>
              </a:schemeClr>
            </a:solidFill>
            <a:ln w="19050" cap="sq">
              <a:solidFill>
                <a:schemeClr val="bg1">
                  <a:lumMod val="50000"/>
                </a:schemeClr>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defRPr/>
              </a:pPr>
              <a:endParaRPr lang="en-US" sz="1400" dirty="0">
                <a:solidFill>
                  <a:srgbClr val="2F2F2F"/>
                </a:solidFill>
              </a:endParaRPr>
            </a:p>
          </p:txBody>
        </p:sp>
        <p:cxnSp>
          <p:nvCxnSpPr>
            <p:cNvPr id="119" name="Straight Arrow Connector 118">
              <a:extLst>
                <a:ext uri="{FF2B5EF4-FFF2-40B4-BE49-F238E27FC236}">
                  <a16:creationId xmlns:a16="http://schemas.microsoft.com/office/drawing/2014/main" id="{BCE0FD44-A828-4871-8834-AD8C14551E6E}"/>
                </a:ext>
              </a:extLst>
            </p:cNvPr>
            <p:cNvCxnSpPr>
              <a:cxnSpLocks/>
            </p:cNvCxnSpPr>
            <p:nvPr/>
          </p:nvCxnSpPr>
          <p:spPr>
            <a:xfrm>
              <a:off x="3588513" y="3199784"/>
              <a:ext cx="680072" cy="4576"/>
            </a:xfrm>
            <a:prstGeom prst="straightConnector1">
              <a:avLst/>
            </a:prstGeom>
            <a:ln w="28575">
              <a:solidFill>
                <a:schemeClr val="accent2">
                  <a:lumMod val="90000"/>
                  <a:lumOff val="1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 name="Database_EFC7" title="Icon of a cylinder">
              <a:extLst>
                <a:ext uri="{FF2B5EF4-FFF2-40B4-BE49-F238E27FC236}">
                  <a16:creationId xmlns:a16="http://schemas.microsoft.com/office/drawing/2014/main" id="{5C814C6C-2AB1-419B-B45D-CB24D003CF22}"/>
                </a:ext>
              </a:extLst>
            </p:cNvPr>
            <p:cNvSpPr>
              <a:spLocks noChangeAspect="1" noEditPoints="1"/>
            </p:cNvSpPr>
            <p:nvPr/>
          </p:nvSpPr>
          <p:spPr bwMode="auto">
            <a:xfrm>
              <a:off x="1950441" y="2870915"/>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Z2</a:t>
              </a:r>
            </a:p>
          </p:txBody>
        </p:sp>
        <p:sp>
          <p:nvSpPr>
            <p:cNvPr id="6" name="Database_EFC7" title="Icon of a cylinder">
              <a:extLst>
                <a:ext uri="{FF2B5EF4-FFF2-40B4-BE49-F238E27FC236}">
                  <a16:creationId xmlns:a16="http://schemas.microsoft.com/office/drawing/2014/main" id="{AEB358A2-4423-4AEA-8C5F-D4957B5DB7C0}"/>
                </a:ext>
              </a:extLst>
            </p:cNvPr>
            <p:cNvSpPr>
              <a:spLocks noChangeAspect="1" noEditPoints="1"/>
            </p:cNvSpPr>
            <p:nvPr/>
          </p:nvSpPr>
          <p:spPr bwMode="auto">
            <a:xfrm>
              <a:off x="3030023" y="2881814"/>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Z3</a:t>
              </a:r>
            </a:p>
          </p:txBody>
        </p:sp>
        <p:sp>
          <p:nvSpPr>
            <p:cNvPr id="7" name="Database_EFC7" title="Icon of a cylinder">
              <a:extLst>
                <a:ext uri="{FF2B5EF4-FFF2-40B4-BE49-F238E27FC236}">
                  <a16:creationId xmlns:a16="http://schemas.microsoft.com/office/drawing/2014/main" id="{33892286-54F7-4F4F-B08E-6BAB9B52B2BA}"/>
                </a:ext>
              </a:extLst>
            </p:cNvPr>
            <p:cNvSpPr>
              <a:spLocks noChangeAspect="1" noEditPoints="1"/>
            </p:cNvSpPr>
            <p:nvPr/>
          </p:nvSpPr>
          <p:spPr bwMode="auto">
            <a:xfrm>
              <a:off x="2476775" y="2270426"/>
              <a:ext cx="398424" cy="54026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noFill/>
            <a:ln w="1905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ctr" anchorCtr="0" compatLnSpc="1">
              <a:prstTxWarp prst="textNoShape">
                <a:avLst/>
              </a:prstTxWarp>
            </a:bodyPr>
            <a:lstStyle/>
            <a:p>
              <a:pPr defTabSz="932597">
                <a:lnSpc>
                  <a:spcPct val="150000"/>
                </a:lnSpc>
                <a:defRPr/>
              </a:pPr>
              <a:r>
                <a:rPr lang="en-US" sz="1400" b="1" dirty="0">
                  <a:solidFill>
                    <a:srgbClr val="2F2F2F"/>
                  </a:solidFill>
                  <a:latin typeface="Segoe UI"/>
                </a:rPr>
                <a:t>Z1</a:t>
              </a:r>
            </a:p>
          </p:txBody>
        </p:sp>
      </p:grpSp>
      <p:cxnSp>
        <p:nvCxnSpPr>
          <p:cNvPr id="2" name="Straight Arrow Connector 1">
            <a:extLst>
              <a:ext uri="{FF2B5EF4-FFF2-40B4-BE49-F238E27FC236}">
                <a16:creationId xmlns:a16="http://schemas.microsoft.com/office/drawing/2014/main" id="{CADD650F-5887-438B-8866-97687F723245}"/>
              </a:ext>
              <a:ext uri="{C183D7F6-B498-43B3-948B-1728B52AA6E4}">
                <adec:decorative xmlns:adec="http://schemas.microsoft.com/office/drawing/2017/decorative" val="1"/>
              </a:ext>
            </a:extLst>
          </p:cNvPr>
          <p:cNvCxnSpPr>
            <a:cxnSpLocks/>
          </p:cNvCxnSpPr>
          <p:nvPr/>
        </p:nvCxnSpPr>
        <p:spPr>
          <a:xfrm flipV="1">
            <a:off x="9728283" y="1894414"/>
            <a:ext cx="0" cy="52020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2705521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Access Storage</a:t>
            </a:r>
          </a:p>
        </p:txBody>
      </p:sp>
      <p:sp>
        <p:nvSpPr>
          <p:cNvPr id="5" name="Text Placeholder 4">
            <a:extLst>
              <a:ext uri="{FF2B5EF4-FFF2-40B4-BE49-F238E27FC236}">
                <a16:creationId xmlns:a16="http://schemas.microsoft.com/office/drawing/2014/main" id="{0FAFB903-BC06-C8E5-688B-59F0C70A8AE0}"/>
              </a:ext>
            </a:extLst>
          </p:cNvPr>
          <p:cNvSpPr>
            <a:spLocks noGrp="1"/>
          </p:cNvSpPr>
          <p:nvPr>
            <p:ph type="body" sz="quarter" idx="10"/>
          </p:nvPr>
        </p:nvSpPr>
        <p:spPr/>
        <p:txBody>
          <a:bodyPr/>
          <a:lstStyle/>
          <a:p>
            <a:r>
              <a:rPr lang="en-US" dirty="0"/>
              <a:t>Every object has a unique URL address – based on account name and storage type</a:t>
            </a:r>
          </a:p>
          <a:p>
            <a:endParaRPr lang="en-US" dirty="0"/>
          </a:p>
        </p:txBody>
      </p:sp>
      <p:sp>
        <p:nvSpPr>
          <p:cNvPr id="4" name="TextBox 3">
            <a:extLst>
              <a:ext uri="{FF2B5EF4-FFF2-40B4-BE49-F238E27FC236}">
                <a16:creationId xmlns:a16="http://schemas.microsoft.com/office/drawing/2014/main" id="{67B99117-ED40-4C25-978B-574D9D94418A}"/>
              </a:ext>
            </a:extLst>
          </p:cNvPr>
          <p:cNvSpPr txBox="1"/>
          <p:nvPr/>
        </p:nvSpPr>
        <p:spPr>
          <a:xfrm>
            <a:off x="1847370" y="1895552"/>
            <a:ext cx="8956653" cy="1477328"/>
          </a:xfrm>
          <a:prstGeom prst="rect">
            <a:avLst/>
          </a:prstGeom>
          <a:noFill/>
        </p:spPr>
        <p:txBody>
          <a:bodyPr wrap="square">
            <a:spAutoFit/>
          </a:bodyPr>
          <a:lstStyle/>
          <a:p>
            <a:pPr>
              <a:spcBef>
                <a:spcPts val="300"/>
              </a:spcBef>
            </a:pPr>
            <a:r>
              <a:rPr lang="en-US" sz="2000" dirty="0">
                <a:solidFill>
                  <a:schemeClr val="tx1"/>
                </a:solidFill>
              </a:rPr>
              <a:t>Container service: https://</a:t>
            </a:r>
            <a:r>
              <a:rPr lang="en-US" sz="2000" i="1" dirty="0">
                <a:solidFill>
                  <a:schemeClr val="tx1"/>
                </a:solidFill>
              </a:rPr>
              <a:t>mystorageaccount</a:t>
            </a:r>
            <a:r>
              <a:rPr lang="en-US" sz="2000" dirty="0">
                <a:solidFill>
                  <a:schemeClr val="tx1"/>
                </a:solidFill>
              </a:rPr>
              <a:t>.blob.core.windows.net</a:t>
            </a:r>
          </a:p>
          <a:p>
            <a:pPr>
              <a:spcBef>
                <a:spcPts val="400"/>
              </a:spcBef>
            </a:pPr>
            <a:r>
              <a:rPr lang="en-US" sz="2000" dirty="0">
                <a:solidFill>
                  <a:schemeClr val="tx1"/>
                </a:solidFill>
              </a:rPr>
              <a:t>Table service: https://</a:t>
            </a:r>
            <a:r>
              <a:rPr lang="en-US" sz="2000" i="1" dirty="0">
                <a:solidFill>
                  <a:schemeClr val="tx1"/>
                </a:solidFill>
              </a:rPr>
              <a:t>mystorageaccount</a:t>
            </a:r>
            <a:r>
              <a:rPr lang="en-US" sz="2000" dirty="0">
                <a:solidFill>
                  <a:schemeClr val="tx1"/>
                </a:solidFill>
              </a:rPr>
              <a:t>.table.core.windows.net</a:t>
            </a:r>
          </a:p>
          <a:p>
            <a:pPr>
              <a:spcBef>
                <a:spcPts val="400"/>
              </a:spcBef>
            </a:pPr>
            <a:r>
              <a:rPr lang="en-US" sz="2000" dirty="0">
                <a:solidFill>
                  <a:schemeClr val="tx1"/>
                </a:solidFill>
              </a:rPr>
              <a:t>Queue service: https://</a:t>
            </a:r>
            <a:r>
              <a:rPr lang="en-US" sz="2000" i="1" dirty="0">
                <a:solidFill>
                  <a:schemeClr val="tx1"/>
                </a:solidFill>
              </a:rPr>
              <a:t>mystorageaccount</a:t>
            </a:r>
            <a:r>
              <a:rPr lang="en-US" sz="2000" dirty="0">
                <a:solidFill>
                  <a:schemeClr val="tx1"/>
                </a:solidFill>
              </a:rPr>
              <a:t>.queue.core.windows.net</a:t>
            </a:r>
          </a:p>
          <a:p>
            <a:pPr>
              <a:spcBef>
                <a:spcPts val="400"/>
              </a:spcBef>
            </a:pPr>
            <a:r>
              <a:rPr lang="en-US" sz="2000" dirty="0">
                <a:solidFill>
                  <a:schemeClr val="tx1"/>
                </a:solidFill>
              </a:rPr>
              <a:t>File service: https://</a:t>
            </a:r>
            <a:r>
              <a:rPr lang="en-US" sz="2000" i="1" dirty="0">
                <a:solidFill>
                  <a:schemeClr val="tx1"/>
                </a:solidFill>
              </a:rPr>
              <a:t>mystorageaccount</a:t>
            </a:r>
            <a:r>
              <a:rPr lang="en-US" sz="2000" dirty="0">
                <a:solidFill>
                  <a:schemeClr val="tx1"/>
                </a:solidFill>
              </a:rPr>
              <a:t>.file.core.windows.net</a:t>
            </a:r>
          </a:p>
        </p:txBody>
      </p:sp>
      <p:sp>
        <p:nvSpPr>
          <p:cNvPr id="6" name="Rectangle 5">
            <a:extLst>
              <a:ext uri="{FF2B5EF4-FFF2-40B4-BE49-F238E27FC236}">
                <a16:creationId xmlns:a16="http://schemas.microsoft.com/office/drawing/2014/main" id="{634C59F2-5DD6-4F96-89DE-2FC833C50196}"/>
              </a:ext>
            </a:extLst>
          </p:cNvPr>
          <p:cNvSpPr/>
          <p:nvPr/>
        </p:nvSpPr>
        <p:spPr>
          <a:xfrm>
            <a:off x="341977" y="3621645"/>
            <a:ext cx="8620449" cy="50913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pPr marL="233363" indent="-233363">
              <a:buFont typeface="Arial" panose="020B0604020202020204" pitchFamily="34" charset="0"/>
              <a:buChar char="•"/>
            </a:pPr>
            <a:r>
              <a:rPr lang="en-US" sz="2200" dirty="0">
                <a:solidFill>
                  <a:schemeClr val="tx1"/>
                </a:solidFill>
                <a:cs typeface="Segoe UI Semilight"/>
              </a:rPr>
              <a:t>If you prefer you can configure a custom domain name</a:t>
            </a:r>
          </a:p>
        </p:txBody>
      </p:sp>
      <p:graphicFrame>
        <p:nvGraphicFramePr>
          <p:cNvPr id="2" name="Table 1">
            <a:extLst>
              <a:ext uri="{FF2B5EF4-FFF2-40B4-BE49-F238E27FC236}">
                <a16:creationId xmlns:a16="http://schemas.microsoft.com/office/drawing/2014/main" id="{77DB3633-2098-45B2-8865-261FCE888857}"/>
              </a:ext>
            </a:extLst>
          </p:cNvPr>
          <p:cNvGraphicFramePr>
            <a:graphicFrameLocks noGrp="1"/>
          </p:cNvGraphicFramePr>
          <p:nvPr>
            <p:extLst>
              <p:ext uri="{D42A27DB-BD31-4B8C-83A1-F6EECF244321}">
                <p14:modId xmlns:p14="http://schemas.microsoft.com/office/powerpoint/2010/main" val="1570551375"/>
              </p:ext>
            </p:extLst>
          </p:nvPr>
        </p:nvGraphicFramePr>
        <p:xfrm>
          <a:off x="470387" y="4218605"/>
          <a:ext cx="11049529" cy="1006602"/>
        </p:xfrm>
        <a:graphic>
          <a:graphicData uri="http://schemas.openxmlformats.org/drawingml/2006/table">
            <a:tbl>
              <a:tblPr firstRow="1" firstCol="1" bandRow="1">
                <a:tableStyleId>{2D5ABB26-0587-4C30-8999-92F81FD0307C}</a:tableStyleId>
              </a:tblPr>
              <a:tblGrid>
                <a:gridCol w="4273628">
                  <a:extLst>
                    <a:ext uri="{9D8B030D-6E8A-4147-A177-3AD203B41FA5}">
                      <a16:colId xmlns:a16="http://schemas.microsoft.com/office/drawing/2014/main" val="2137939042"/>
                    </a:ext>
                  </a:extLst>
                </a:gridCol>
                <a:gridCol w="6775901">
                  <a:extLst>
                    <a:ext uri="{9D8B030D-6E8A-4147-A177-3AD203B41FA5}">
                      <a16:colId xmlns:a16="http://schemas.microsoft.com/office/drawing/2014/main" val="2937731976"/>
                    </a:ext>
                  </a:extLst>
                </a:gridCol>
              </a:tblGrid>
              <a:tr h="270404">
                <a:tc>
                  <a:txBody>
                    <a:bodyPr/>
                    <a:lstStyle/>
                    <a:p>
                      <a:pPr marL="0" marR="0">
                        <a:lnSpc>
                          <a:spcPct val="107000"/>
                        </a:lnSpc>
                        <a:spcBef>
                          <a:spcPts val="0"/>
                        </a:spcBef>
                        <a:spcAft>
                          <a:spcPts val="0"/>
                        </a:spcAft>
                      </a:pPr>
                      <a:r>
                        <a:rPr lang="en-US" sz="2200" dirty="0">
                          <a:solidFill>
                            <a:schemeClr val="bg1"/>
                          </a:solidFill>
                          <a:effectLst/>
                          <a:latin typeface="+mj-lt"/>
                        </a:rPr>
                        <a:t>CNAME record</a:t>
                      </a:r>
                      <a:endParaRPr lang="en-US" sz="2200" b="0" dirty="0">
                        <a:solidFill>
                          <a:schemeClr val="bg1"/>
                        </a:solidFill>
                        <a:effectLst/>
                        <a:latin typeface="+mj-lt"/>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lumMod val="50000"/>
                      </a:schemeClr>
                    </a:solidFill>
                  </a:tcPr>
                </a:tc>
                <a:tc>
                  <a:txBody>
                    <a:bodyPr/>
                    <a:lstStyle/>
                    <a:p>
                      <a:pPr marL="0" marR="0">
                        <a:lnSpc>
                          <a:spcPct val="107000"/>
                        </a:lnSpc>
                        <a:spcBef>
                          <a:spcPts val="0"/>
                        </a:spcBef>
                        <a:spcAft>
                          <a:spcPts val="0"/>
                        </a:spcAft>
                      </a:pPr>
                      <a:r>
                        <a:rPr lang="en-US" sz="2200" dirty="0">
                          <a:solidFill>
                            <a:schemeClr val="bg1"/>
                          </a:solidFill>
                          <a:effectLst/>
                          <a:latin typeface="+mj-lt"/>
                        </a:rPr>
                        <a:t>Target</a:t>
                      </a:r>
                      <a:endParaRPr lang="en-US" sz="2200" b="0" dirty="0">
                        <a:solidFill>
                          <a:schemeClr val="bg1"/>
                        </a:solidFill>
                        <a:effectLst/>
                        <a:latin typeface="+mj-lt"/>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944396381"/>
                  </a:ext>
                </a:extLst>
              </a:tr>
              <a:tr h="351567">
                <a:tc>
                  <a:txBody>
                    <a:bodyPr/>
                    <a:lstStyle/>
                    <a:p>
                      <a:pPr marL="0" marR="0">
                        <a:lnSpc>
                          <a:spcPct val="107000"/>
                        </a:lnSpc>
                        <a:spcBef>
                          <a:spcPts val="0"/>
                        </a:spcBef>
                        <a:spcAft>
                          <a:spcPts val="0"/>
                        </a:spcAft>
                      </a:pPr>
                      <a:r>
                        <a:rPr lang="en-US" sz="2000" dirty="0">
                          <a:solidFill>
                            <a:schemeClr val="tx1"/>
                          </a:solidFill>
                          <a:effectLst/>
                        </a:rPr>
                        <a:t>blobs.contoso.com</a:t>
                      </a:r>
                      <a:endParaRPr lang="en-US" sz="2000" b="0" dirty="0">
                        <a:solidFill>
                          <a:schemeClr val="tx1"/>
                        </a:solidFill>
                        <a:effectLst/>
                        <a:latin typeface="Open Sans" panose="020B0606030504020204"/>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solidFill>
                            <a:schemeClr val="tx1"/>
                          </a:solidFill>
                          <a:effectLst/>
                        </a:rPr>
                        <a:t>contosoblobs.blob.core.windows.net</a:t>
                      </a:r>
                      <a:endParaRPr lang="en-US" sz="2000" dirty="0">
                        <a:solidFill>
                          <a:schemeClr val="tx1"/>
                        </a:solidFill>
                        <a:effectLst/>
                        <a:latin typeface="Open Sans" panose="020B0606030504020204"/>
                        <a:ea typeface="Calibri" panose="020F0502020204030204" pitchFamily="34" charset="0"/>
                        <a:cs typeface="Times New Roman" panose="02020603050405020304" pitchFamily="18"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39293230"/>
                  </a:ext>
                </a:extLst>
              </a:tr>
            </a:tbl>
          </a:graphicData>
        </a:graphic>
      </p:graphicFrame>
    </p:spTree>
    <p:extLst>
      <p:ext uri="{BB962C8B-B14F-4D97-AF65-F5344CB8AC3E}">
        <p14:creationId xmlns:p14="http://schemas.microsoft.com/office/powerpoint/2010/main" val="205445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Secure Storage Endpoints</a:t>
            </a:r>
          </a:p>
        </p:txBody>
      </p:sp>
      <p:sp>
        <p:nvSpPr>
          <p:cNvPr id="12" name="Rectangle 11">
            <a:extLst>
              <a:ext uri="{FF2B5EF4-FFF2-40B4-BE49-F238E27FC236}">
                <a16:creationId xmlns:a16="http://schemas.microsoft.com/office/drawing/2014/main" id="{46E71CD1-F3CC-4D20-85C1-05857C0AC18B}"/>
              </a:ext>
            </a:extLst>
          </p:cNvPr>
          <p:cNvSpPr/>
          <p:nvPr/>
        </p:nvSpPr>
        <p:spPr>
          <a:xfrm>
            <a:off x="477331" y="1582264"/>
            <a:ext cx="4971594" cy="14020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rPr>
              <a:t>Firewalls and Virtual Networks restrict access to the Storage Account from specific Subnets on Virtual Networks or public IP’s</a:t>
            </a:r>
          </a:p>
        </p:txBody>
      </p:sp>
      <p:sp>
        <p:nvSpPr>
          <p:cNvPr id="13" name="Rectangle 12">
            <a:extLst>
              <a:ext uri="{FF2B5EF4-FFF2-40B4-BE49-F238E27FC236}">
                <a16:creationId xmlns:a16="http://schemas.microsoft.com/office/drawing/2014/main" id="{E7984C8D-AEC1-4762-BB1F-2474A407137D}"/>
              </a:ext>
            </a:extLst>
          </p:cNvPr>
          <p:cNvSpPr/>
          <p:nvPr/>
        </p:nvSpPr>
        <p:spPr>
          <a:xfrm>
            <a:off x="477331" y="3236005"/>
            <a:ext cx="4971594" cy="140209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rPr>
              <a:t>Subnets and Virtual Networks must exist</a:t>
            </a:r>
            <a:br>
              <a:rPr lang="en-US" sz="2000" dirty="0">
                <a:solidFill>
                  <a:schemeClr val="tx1"/>
                </a:solidFill>
              </a:rPr>
            </a:br>
            <a:r>
              <a:rPr lang="en-US" sz="2000" dirty="0">
                <a:solidFill>
                  <a:schemeClr val="tx1"/>
                </a:solidFill>
              </a:rPr>
              <a:t>in the same Azure Region or Region Pair</a:t>
            </a:r>
            <a:br>
              <a:rPr lang="en-US" sz="2000" dirty="0">
                <a:solidFill>
                  <a:schemeClr val="tx1"/>
                </a:solidFill>
              </a:rPr>
            </a:br>
            <a:r>
              <a:rPr lang="en-US" sz="2000" dirty="0">
                <a:solidFill>
                  <a:schemeClr val="tx1"/>
                </a:solidFill>
              </a:rPr>
              <a:t>as the Storage Account </a:t>
            </a:r>
          </a:p>
        </p:txBody>
      </p:sp>
      <p:pic>
        <p:nvPicPr>
          <p:cNvPr id="14" name="Picture 13" descr="Screenshot of the secure storage endpoints page. ">
            <a:extLst>
              <a:ext uri="{FF2B5EF4-FFF2-40B4-BE49-F238E27FC236}">
                <a16:creationId xmlns:a16="http://schemas.microsoft.com/office/drawing/2014/main" id="{5324DDD1-47A6-C4CC-9775-5FF8C4F1A4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430" y="1240361"/>
            <a:ext cx="5505450" cy="4314825"/>
          </a:xfrm>
          <a:prstGeom prst="rect">
            <a:avLst/>
          </a:prstGeom>
        </p:spPr>
      </p:pic>
    </p:spTree>
    <p:extLst>
      <p:ext uri="{BB962C8B-B14F-4D97-AF65-F5344CB8AC3E}">
        <p14:creationId xmlns:p14="http://schemas.microsoft.com/office/powerpoint/2010/main" val="359580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E5A68-9C1B-490A-B2C1-3410BE0EFA20}"/>
              </a:ext>
            </a:extLst>
          </p:cNvPr>
          <p:cNvSpPr>
            <a:spLocks noGrp="1"/>
          </p:cNvSpPr>
          <p:nvPr>
            <p:ph type="title"/>
          </p:nvPr>
        </p:nvSpPr>
        <p:spPr/>
        <p:txBody>
          <a:bodyPr/>
          <a:lstStyle/>
          <a:p>
            <a:r>
              <a:rPr lang="en-US" dirty="0"/>
              <a:t>Demonstration – Configure a storage account</a:t>
            </a:r>
          </a:p>
        </p:txBody>
      </p:sp>
      <p:sp>
        <p:nvSpPr>
          <p:cNvPr id="5" name="TextBox 4">
            <a:extLst>
              <a:ext uri="{FF2B5EF4-FFF2-40B4-BE49-F238E27FC236}">
                <a16:creationId xmlns:a16="http://schemas.microsoft.com/office/drawing/2014/main" id="{76CC0DBD-E4D3-4EA4-AF2E-1DB198220BC9}"/>
              </a:ext>
            </a:extLst>
          </p:cNvPr>
          <p:cNvSpPr txBox="1"/>
          <p:nvPr/>
        </p:nvSpPr>
        <p:spPr>
          <a:xfrm>
            <a:off x="969168" y="1833298"/>
            <a:ext cx="7175372" cy="892552"/>
          </a:xfrm>
          <a:prstGeom prst="rect">
            <a:avLst/>
          </a:prstGeom>
          <a:noFill/>
        </p:spPr>
        <p:txBody>
          <a:bodyPr wrap="square" lIns="0" tIns="0" rIns="0" bIns="0" rtlCol="0" anchor="ctr">
            <a:spAutoFit/>
          </a:bodyPr>
          <a:lstStyle/>
          <a:p>
            <a:pPr marL="342900" indent="-342900">
              <a:spcBef>
                <a:spcPts val="600"/>
              </a:spcBef>
              <a:spcAft>
                <a:spcPts val="600"/>
              </a:spcAft>
              <a:buFont typeface="Arial" panose="020B0604020202020204" pitchFamily="34" charset="0"/>
              <a:buChar char="•"/>
            </a:pPr>
            <a:r>
              <a:rPr lang="en-US" sz="2400" dirty="0"/>
              <a:t>Create a storage account</a:t>
            </a:r>
          </a:p>
          <a:p>
            <a:pPr marL="342900" indent="-342900">
              <a:spcBef>
                <a:spcPts val="600"/>
              </a:spcBef>
              <a:spcAft>
                <a:spcPts val="600"/>
              </a:spcAft>
              <a:buFont typeface="Arial" panose="020B0604020202020204" pitchFamily="34" charset="0"/>
              <a:buChar char="•"/>
            </a:pPr>
            <a:r>
              <a:rPr lang="en-US" sz="2400" dirty="0"/>
              <a:t>Configure storage account settings </a:t>
            </a:r>
          </a:p>
        </p:txBody>
      </p:sp>
    </p:spTree>
    <p:extLst>
      <p:ext uri="{BB962C8B-B14F-4D97-AF65-F5344CB8AC3E}">
        <p14:creationId xmlns:p14="http://schemas.microsoft.com/office/powerpoint/2010/main" val="9630132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Storage Accounts</a:t>
            </a:r>
          </a:p>
        </p:txBody>
      </p:sp>
      <p:sp>
        <p:nvSpPr>
          <p:cNvPr id="20" name="Rectangle 19">
            <a:extLst>
              <a:ext uri="{FF2B5EF4-FFF2-40B4-BE49-F238E27FC236}">
                <a16:creationId xmlns:a16="http://schemas.microsoft.com/office/drawing/2014/main" id="{E97F4EA7-296C-4D6C-822A-7BCC364625B3}"/>
              </a:ext>
            </a:extLst>
          </p:cNvPr>
          <p:cNvSpPr/>
          <p:nvPr/>
        </p:nvSpPr>
        <p:spPr>
          <a:xfrm>
            <a:off x="3954838" y="2356962"/>
            <a:ext cx="7137400" cy="103694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ctr" anchorCtr="0">
            <a:noAutofit/>
          </a:bodyPr>
          <a:lstStyle/>
          <a:p>
            <a:pPr marL="342900" indent="-342900" defTabSz="800100">
              <a:spcBef>
                <a:spcPct val="0"/>
              </a:spcBef>
              <a:spcAft>
                <a:spcPts val="600"/>
              </a:spcAft>
              <a:buClr>
                <a:schemeClr val="tx1"/>
              </a:buClr>
              <a:buFont typeface="Arial" panose="020B0604020202020204" pitchFamily="34" charset="0"/>
              <a:buChar char="•"/>
            </a:pPr>
            <a:r>
              <a:rPr lang="en-US" dirty="0">
                <a:hlinkClick r:id="rId3"/>
              </a:rPr>
              <a:t>Configure storage accounts</a:t>
            </a:r>
            <a:endParaRPr lang="en-US" dirty="0"/>
          </a:p>
          <a:p>
            <a:pPr marL="342900" indent="-342900" defTabSz="800100">
              <a:spcBef>
                <a:spcPct val="0"/>
              </a:spcBef>
              <a:spcAft>
                <a:spcPts val="600"/>
              </a:spcAft>
              <a:buClr>
                <a:schemeClr val="tx1"/>
              </a:buClr>
              <a:buFont typeface="Arial" panose="020B0604020202020204" pitchFamily="34" charset="0"/>
              <a:buChar char="•"/>
            </a:pPr>
            <a:r>
              <a:rPr lang="en-US" dirty="0">
                <a:hlinkClick r:id="rId4"/>
              </a:rPr>
              <a:t>Describe Azure storage services </a:t>
            </a:r>
            <a:endParaRPr lang="en-US" dirty="0">
              <a:hlinkClick r:id="rId5"/>
            </a:endParaRPr>
          </a:p>
        </p:txBody>
      </p:sp>
    </p:spTree>
    <p:extLst>
      <p:ext uri="{BB962C8B-B14F-4D97-AF65-F5344CB8AC3E}">
        <p14:creationId xmlns:p14="http://schemas.microsoft.com/office/powerpoint/2010/main" val="60890828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Blob Storage</a:t>
            </a:r>
          </a:p>
        </p:txBody>
      </p:sp>
    </p:spTree>
    <p:extLst>
      <p:ext uri="{BB962C8B-B14F-4D97-AF65-F5344CB8AC3E}">
        <p14:creationId xmlns:p14="http://schemas.microsoft.com/office/powerpoint/2010/main" val="102134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6AA0-8232-4708-9EE0-515ECB8BDAEF}"/>
              </a:ext>
            </a:extLst>
          </p:cNvPr>
          <p:cNvSpPr>
            <a:spLocks noGrp="1"/>
          </p:cNvSpPr>
          <p:nvPr>
            <p:ph type="title"/>
          </p:nvPr>
        </p:nvSpPr>
        <p:spPr/>
        <p:txBody>
          <a:bodyPr/>
          <a:lstStyle/>
          <a:p>
            <a:r>
              <a:rPr lang="en-US" dirty="0"/>
              <a:t>Learning Objectives - Blob </a:t>
            </a:r>
            <a:r>
              <a:rPr lang="en-US"/>
              <a:t>Storage </a:t>
            </a:r>
            <a:endParaRPr lang="en-US" dirty="0"/>
          </a:p>
        </p:txBody>
      </p:sp>
      <p:sp>
        <p:nvSpPr>
          <p:cNvPr id="6" name="TextBox 5">
            <a:extLst>
              <a:ext uri="{FF2B5EF4-FFF2-40B4-BE49-F238E27FC236}">
                <a16:creationId xmlns:a16="http://schemas.microsoft.com/office/drawing/2014/main" id="{8D4688DA-0901-4029-82F8-A71FFA958C05}"/>
              </a:ext>
            </a:extLst>
          </p:cNvPr>
          <p:cNvSpPr txBox="1"/>
          <p:nvPr/>
        </p:nvSpPr>
        <p:spPr>
          <a:xfrm>
            <a:off x="465138" y="1514435"/>
            <a:ext cx="5312976" cy="4533677"/>
          </a:xfrm>
          <a:prstGeom prst="rect">
            <a:avLst/>
          </a:prstGeom>
          <a:noFill/>
        </p:spPr>
        <p:txBody>
          <a:bodyPr wrap="square" lIns="0" tIns="0" rIns="0" bIns="0" rtlCol="0">
            <a:spAutoFit/>
          </a:bodyPr>
          <a:lstStyle/>
          <a:p>
            <a:pPr marL="342900" indent="-342900">
              <a:lnSpc>
                <a:spcPct val="150000"/>
              </a:lnSpc>
              <a:spcAft>
                <a:spcPts val="1000"/>
              </a:spcAft>
              <a:buFont typeface="Arial" panose="020B0604020202020204" pitchFamily="34" charset="0"/>
              <a:buChar char="•"/>
            </a:pPr>
            <a:r>
              <a:rPr lang="en-US" sz="2000" dirty="0"/>
              <a:t>Implement Blob Storage</a:t>
            </a:r>
          </a:p>
          <a:p>
            <a:pPr marL="342900" indent="-342900">
              <a:lnSpc>
                <a:spcPct val="150000"/>
              </a:lnSpc>
              <a:spcAft>
                <a:spcPts val="1000"/>
              </a:spcAft>
              <a:buFont typeface="Arial" panose="020B0604020202020204" pitchFamily="34" charset="0"/>
              <a:buChar char="•"/>
            </a:pPr>
            <a:r>
              <a:rPr lang="en-US" sz="2000" dirty="0"/>
              <a:t>Create Blob Containers</a:t>
            </a:r>
          </a:p>
          <a:p>
            <a:pPr marL="342900" indent="-342900">
              <a:lnSpc>
                <a:spcPct val="150000"/>
              </a:lnSpc>
              <a:spcAft>
                <a:spcPts val="1000"/>
              </a:spcAft>
              <a:buFont typeface="Arial" panose="020B0604020202020204" pitchFamily="34" charset="0"/>
              <a:buChar char="•"/>
            </a:pPr>
            <a:r>
              <a:rPr lang="en-US" sz="2000" dirty="0"/>
              <a:t>Create Blob Access Tiers</a:t>
            </a:r>
          </a:p>
          <a:p>
            <a:pPr marL="342900" indent="-342900">
              <a:lnSpc>
                <a:spcPct val="150000"/>
              </a:lnSpc>
              <a:spcAft>
                <a:spcPts val="1000"/>
              </a:spcAft>
              <a:buFont typeface="Arial" panose="020B0604020202020204" pitchFamily="34" charset="0"/>
              <a:buChar char="•"/>
            </a:pPr>
            <a:r>
              <a:rPr lang="en-US" sz="2000" dirty="0"/>
              <a:t>Add Blob Lifecycle Management Rules</a:t>
            </a:r>
          </a:p>
          <a:p>
            <a:pPr marL="342900" indent="-342900">
              <a:lnSpc>
                <a:spcPct val="150000"/>
              </a:lnSpc>
              <a:spcAft>
                <a:spcPts val="1000"/>
              </a:spcAft>
              <a:buFont typeface="Arial" panose="020B0604020202020204" pitchFamily="34" charset="0"/>
              <a:buChar char="•"/>
            </a:pPr>
            <a:r>
              <a:rPr lang="en-US" sz="2000" dirty="0"/>
              <a:t>Determine Blob Object Replication</a:t>
            </a:r>
          </a:p>
          <a:p>
            <a:pPr marL="342900" indent="-342900">
              <a:lnSpc>
                <a:spcPct val="150000"/>
              </a:lnSpc>
              <a:spcAft>
                <a:spcPts val="1000"/>
              </a:spcAft>
              <a:buFont typeface="Arial" panose="020B0604020202020204" pitchFamily="34" charset="0"/>
              <a:buChar char="•"/>
            </a:pPr>
            <a:r>
              <a:rPr lang="en-US" sz="2000" dirty="0"/>
              <a:t>Demonstration – Configure Blob Storage</a:t>
            </a:r>
          </a:p>
          <a:p>
            <a:pPr marL="342900" indent="-342900">
              <a:lnSpc>
                <a:spcPct val="150000"/>
              </a:lnSpc>
              <a:spcAft>
                <a:spcPts val="1000"/>
              </a:spcAft>
              <a:buFont typeface="Arial" panose="020B0604020202020204" pitchFamily="34" charset="0"/>
              <a:buChar char="•"/>
            </a:pPr>
            <a:r>
              <a:rPr lang="en-US" sz="2000" dirty="0"/>
              <a:t>Learning Recap</a:t>
            </a:r>
          </a:p>
          <a:p>
            <a:pPr marL="342900" indent="-342900">
              <a:lnSpc>
                <a:spcPct val="150000"/>
              </a:lnSpc>
              <a:spcAft>
                <a:spcPts val="1000"/>
              </a:spcAft>
              <a:buFont typeface="Arial" panose="020B0604020202020204" pitchFamily="34" charset="0"/>
              <a:buChar char="•"/>
            </a:pPr>
            <a:endParaRPr lang="en-US" sz="2000" dirty="0"/>
          </a:p>
        </p:txBody>
      </p:sp>
      <p:sp>
        <p:nvSpPr>
          <p:cNvPr id="7" name="TextBox 6">
            <a:extLst>
              <a:ext uri="{FF2B5EF4-FFF2-40B4-BE49-F238E27FC236}">
                <a16:creationId xmlns:a16="http://schemas.microsoft.com/office/drawing/2014/main" id="{439D1B7A-C06C-4518-691B-6AA8F2EA9BCC}"/>
              </a:ext>
            </a:extLst>
          </p:cNvPr>
          <p:cNvSpPr txBox="1"/>
          <p:nvPr/>
        </p:nvSpPr>
        <p:spPr>
          <a:xfrm>
            <a:off x="6472355" y="1716224"/>
            <a:ext cx="4605129" cy="286232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storage (15–20%): Configure Azure Files and Azure Blob Storage</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Create and configure a container in Blob Storage</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storage tiers</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blob lifecycle management</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blob versioning</a:t>
            </a:r>
          </a:p>
        </p:txBody>
      </p:sp>
    </p:spTree>
    <p:extLst>
      <p:ext uri="{BB962C8B-B14F-4D97-AF65-F5344CB8AC3E}">
        <p14:creationId xmlns:p14="http://schemas.microsoft.com/office/powerpoint/2010/main" val="409774400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Blob Storage</a:t>
            </a:r>
          </a:p>
        </p:txBody>
      </p:sp>
      <p:sp>
        <p:nvSpPr>
          <p:cNvPr id="4" name="Rectangle 3">
            <a:extLst>
              <a:ext uri="{FF2B5EF4-FFF2-40B4-BE49-F238E27FC236}">
                <a16:creationId xmlns:a16="http://schemas.microsoft.com/office/drawing/2014/main" id="{FD4CDC27-1599-48FD-B322-F3D1EC2E8CF4}"/>
              </a:ext>
            </a:extLst>
          </p:cNvPr>
          <p:cNvSpPr/>
          <p:nvPr/>
        </p:nvSpPr>
        <p:spPr>
          <a:xfrm>
            <a:off x="427034" y="1192214"/>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a:solidFill>
                  <a:schemeClr val="tx1"/>
                </a:solidFill>
              </a:rPr>
              <a:t>Stores unstructured data in the cloud </a:t>
            </a:r>
          </a:p>
        </p:txBody>
      </p:sp>
      <p:sp>
        <p:nvSpPr>
          <p:cNvPr id="5" name="Rectangle 4">
            <a:extLst>
              <a:ext uri="{FF2B5EF4-FFF2-40B4-BE49-F238E27FC236}">
                <a16:creationId xmlns:a16="http://schemas.microsoft.com/office/drawing/2014/main" id="{B29A874E-29FA-4EE1-829F-8A4F76500092}"/>
              </a:ext>
            </a:extLst>
          </p:cNvPr>
          <p:cNvSpPr/>
          <p:nvPr/>
        </p:nvSpPr>
        <p:spPr>
          <a:xfrm>
            <a:off x="427034" y="1813497"/>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a:solidFill>
                  <a:schemeClr val="tx1"/>
                </a:solidFill>
              </a:rPr>
              <a:t>Can store any type of text or binary data</a:t>
            </a:r>
          </a:p>
        </p:txBody>
      </p:sp>
      <p:sp>
        <p:nvSpPr>
          <p:cNvPr id="6" name="Rectangle 5">
            <a:extLst>
              <a:ext uri="{FF2B5EF4-FFF2-40B4-BE49-F238E27FC236}">
                <a16:creationId xmlns:a16="http://schemas.microsoft.com/office/drawing/2014/main" id="{54D0C5A4-BB1C-4455-9A79-CE9A59A26465}"/>
              </a:ext>
            </a:extLst>
          </p:cNvPr>
          <p:cNvSpPr/>
          <p:nvPr/>
        </p:nvSpPr>
        <p:spPr>
          <a:xfrm>
            <a:off x="427033" y="2434780"/>
            <a:ext cx="4854771" cy="4730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dirty="0">
                <a:solidFill>
                  <a:schemeClr val="tx1"/>
                </a:solidFill>
              </a:rPr>
              <a:t>Also referred to as </a:t>
            </a:r>
            <a:r>
              <a:rPr lang="en-US" i="1" dirty="0">
                <a:solidFill>
                  <a:schemeClr val="tx1"/>
                </a:solidFill>
              </a:rPr>
              <a:t>object storage</a:t>
            </a:r>
          </a:p>
        </p:txBody>
      </p:sp>
      <p:sp>
        <p:nvSpPr>
          <p:cNvPr id="7" name="Rectangle 6">
            <a:extLst>
              <a:ext uri="{FF2B5EF4-FFF2-40B4-BE49-F238E27FC236}">
                <a16:creationId xmlns:a16="http://schemas.microsoft.com/office/drawing/2014/main" id="{97F78B0A-F64E-45EF-A193-73E0C73512E8}"/>
              </a:ext>
            </a:extLst>
          </p:cNvPr>
          <p:cNvSpPr/>
          <p:nvPr/>
        </p:nvSpPr>
        <p:spPr>
          <a:xfrm>
            <a:off x="427032" y="3056062"/>
            <a:ext cx="4854771" cy="33056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dirty="0">
                <a:solidFill>
                  <a:schemeClr val="tx1"/>
                </a:solidFill>
              </a:rPr>
              <a:t>Common uses:</a:t>
            </a:r>
          </a:p>
          <a:p>
            <a:pPr marL="347663" lvl="1" indent="-225425">
              <a:spcBef>
                <a:spcPts val="300"/>
              </a:spcBef>
              <a:spcAft>
                <a:spcPts val="600"/>
              </a:spcAft>
              <a:buFont typeface="Arial" panose="020B0604020202020204" pitchFamily="34" charset="0"/>
              <a:buChar char="•"/>
            </a:pPr>
            <a:r>
              <a:rPr lang="en-US" dirty="0">
                <a:solidFill>
                  <a:schemeClr val="tx1"/>
                </a:solidFill>
              </a:rPr>
              <a:t>Serving images or documents directly to a browser</a:t>
            </a:r>
          </a:p>
          <a:p>
            <a:pPr marL="347663" lvl="1" indent="-225425">
              <a:spcBef>
                <a:spcPts val="300"/>
              </a:spcBef>
              <a:spcAft>
                <a:spcPts val="600"/>
              </a:spcAft>
              <a:buFont typeface="Arial" panose="020B0604020202020204" pitchFamily="34" charset="0"/>
              <a:buChar char="•"/>
            </a:pPr>
            <a:r>
              <a:rPr lang="en-US" dirty="0">
                <a:solidFill>
                  <a:schemeClr val="tx1"/>
                </a:solidFill>
              </a:rPr>
              <a:t>Storing files for distributed access</a:t>
            </a:r>
          </a:p>
          <a:p>
            <a:pPr marL="347663" lvl="1" indent="-225425">
              <a:spcBef>
                <a:spcPts val="300"/>
              </a:spcBef>
              <a:spcAft>
                <a:spcPts val="600"/>
              </a:spcAft>
              <a:buFont typeface="Arial" panose="020B0604020202020204" pitchFamily="34" charset="0"/>
              <a:buChar char="•"/>
            </a:pPr>
            <a:r>
              <a:rPr lang="en-US" dirty="0">
                <a:solidFill>
                  <a:schemeClr val="tx1"/>
                </a:solidFill>
              </a:rPr>
              <a:t>Streaming video and audio</a:t>
            </a:r>
          </a:p>
          <a:p>
            <a:pPr marL="347663" lvl="1" indent="-225425">
              <a:spcBef>
                <a:spcPts val="300"/>
              </a:spcBef>
              <a:spcAft>
                <a:spcPts val="600"/>
              </a:spcAft>
              <a:buFont typeface="Arial" panose="020B0604020202020204" pitchFamily="34" charset="0"/>
              <a:buChar char="•"/>
            </a:pPr>
            <a:r>
              <a:rPr lang="en-US" dirty="0">
                <a:solidFill>
                  <a:schemeClr val="tx1"/>
                </a:solidFill>
              </a:rPr>
              <a:t>Storing data for backup and restore, disaster recovery, archiving</a:t>
            </a:r>
          </a:p>
          <a:p>
            <a:pPr marL="347663" lvl="1" indent="-225425">
              <a:spcBef>
                <a:spcPts val="300"/>
              </a:spcBef>
              <a:spcAft>
                <a:spcPts val="600"/>
              </a:spcAft>
              <a:buFont typeface="Arial" panose="020B0604020202020204" pitchFamily="34" charset="0"/>
              <a:buChar char="•"/>
            </a:pPr>
            <a:r>
              <a:rPr lang="en-US" dirty="0">
                <a:solidFill>
                  <a:schemeClr val="tx1"/>
                </a:solidFill>
              </a:rPr>
              <a:t>Storing data for analysis by an on-premises or Azure-hosted service</a:t>
            </a:r>
          </a:p>
        </p:txBody>
      </p:sp>
      <p:grpSp>
        <p:nvGrpSpPr>
          <p:cNvPr id="56324" name="Group 56323" descr="A storage account has a container and the container has blobs. ">
            <a:extLst>
              <a:ext uri="{FF2B5EF4-FFF2-40B4-BE49-F238E27FC236}">
                <a16:creationId xmlns:a16="http://schemas.microsoft.com/office/drawing/2014/main" id="{F5636A0F-A8E3-4628-8C25-C51FE5F714EE}"/>
              </a:ext>
            </a:extLst>
          </p:cNvPr>
          <p:cNvGrpSpPr/>
          <p:nvPr/>
        </p:nvGrpSpPr>
        <p:grpSpPr>
          <a:xfrm>
            <a:off x="5602869" y="2286507"/>
            <a:ext cx="6280926" cy="2856186"/>
            <a:chOff x="5602869" y="2286507"/>
            <a:chExt cx="6280926" cy="2856186"/>
          </a:xfrm>
        </p:grpSpPr>
        <p:sp>
          <p:nvSpPr>
            <p:cNvPr id="2" name="Rectangle 1">
              <a:extLst>
                <a:ext uri="{FF2B5EF4-FFF2-40B4-BE49-F238E27FC236}">
                  <a16:creationId xmlns:a16="http://schemas.microsoft.com/office/drawing/2014/main" id="{D1731419-2BED-4413-9E3F-57BD7EF4D971}"/>
                </a:ext>
              </a:extLst>
            </p:cNvPr>
            <p:cNvSpPr/>
            <p:nvPr/>
          </p:nvSpPr>
          <p:spPr>
            <a:xfrm>
              <a:off x="5602869" y="2286509"/>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Storage Account</a:t>
              </a:r>
            </a:p>
          </p:txBody>
        </p:sp>
        <p:sp>
          <p:nvSpPr>
            <p:cNvPr id="8" name="Rectangle 7">
              <a:extLst>
                <a:ext uri="{FF2B5EF4-FFF2-40B4-BE49-F238E27FC236}">
                  <a16:creationId xmlns:a16="http://schemas.microsoft.com/office/drawing/2014/main" id="{D4E4592D-5AC8-4C03-82B8-AF81BFBB93F7}"/>
                </a:ext>
              </a:extLst>
            </p:cNvPr>
            <p:cNvSpPr/>
            <p:nvPr/>
          </p:nvSpPr>
          <p:spPr>
            <a:xfrm>
              <a:off x="7747776" y="2297659"/>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Container</a:t>
              </a:r>
            </a:p>
          </p:txBody>
        </p:sp>
        <p:sp>
          <p:nvSpPr>
            <p:cNvPr id="10" name="Rectangle 9">
              <a:extLst>
                <a:ext uri="{FF2B5EF4-FFF2-40B4-BE49-F238E27FC236}">
                  <a16:creationId xmlns:a16="http://schemas.microsoft.com/office/drawing/2014/main" id="{20C8FF9D-4F7A-49DD-975F-2551757B4BD9}"/>
                </a:ext>
              </a:extLst>
            </p:cNvPr>
            <p:cNvSpPr/>
            <p:nvPr/>
          </p:nvSpPr>
          <p:spPr>
            <a:xfrm>
              <a:off x="9892683" y="2286507"/>
              <a:ext cx="1991112" cy="580325"/>
            </a:xfrm>
            <a:prstGeom prst="rect">
              <a:avLst/>
            </a:prstGeom>
            <a:solidFill>
              <a:schemeClr val="tx2">
                <a:lumMod val="5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bg1"/>
                  </a:solidFill>
                </a:rPr>
                <a:t>Blob</a:t>
              </a:r>
            </a:p>
          </p:txBody>
        </p:sp>
        <p:sp>
          <p:nvSpPr>
            <p:cNvPr id="12" name="Rectangle 11">
              <a:extLst>
                <a:ext uri="{FF2B5EF4-FFF2-40B4-BE49-F238E27FC236}">
                  <a16:creationId xmlns:a16="http://schemas.microsoft.com/office/drawing/2014/main" id="{162E438C-64DC-4B3C-8165-9089EDA134F0}"/>
                </a:ext>
              </a:extLst>
            </p:cNvPr>
            <p:cNvSpPr/>
            <p:nvPr/>
          </p:nvSpPr>
          <p:spPr>
            <a:xfrm>
              <a:off x="5757263" y="3762370"/>
              <a:ext cx="1581636" cy="416094"/>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Production</a:t>
              </a:r>
            </a:p>
          </p:txBody>
        </p:sp>
        <p:sp>
          <p:nvSpPr>
            <p:cNvPr id="14" name="Rectangle 13">
              <a:extLst>
                <a:ext uri="{FF2B5EF4-FFF2-40B4-BE49-F238E27FC236}">
                  <a16:creationId xmlns:a16="http://schemas.microsoft.com/office/drawing/2014/main" id="{F3A43577-CD0F-4EBD-BC55-D4F8DCD019B8}"/>
                </a:ext>
              </a:extLst>
            </p:cNvPr>
            <p:cNvSpPr/>
            <p:nvPr/>
          </p:nvSpPr>
          <p:spPr>
            <a:xfrm>
              <a:off x="7939550" y="3182045"/>
              <a:ext cx="1550138" cy="580325"/>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Pictures</a:t>
              </a:r>
            </a:p>
          </p:txBody>
        </p:sp>
        <p:sp>
          <p:nvSpPr>
            <p:cNvPr id="16" name="Rectangle 15">
              <a:extLst>
                <a:ext uri="{FF2B5EF4-FFF2-40B4-BE49-F238E27FC236}">
                  <a16:creationId xmlns:a16="http://schemas.microsoft.com/office/drawing/2014/main" id="{97FDD4B6-765B-4FE2-B0C8-1E0045F07831}"/>
                </a:ext>
              </a:extLst>
            </p:cNvPr>
            <p:cNvSpPr/>
            <p:nvPr/>
          </p:nvSpPr>
          <p:spPr>
            <a:xfrm>
              <a:off x="7939550" y="4211499"/>
              <a:ext cx="1550138" cy="580325"/>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Movies</a:t>
              </a:r>
            </a:p>
          </p:txBody>
        </p:sp>
        <p:sp>
          <p:nvSpPr>
            <p:cNvPr id="20" name="Rectangle 19">
              <a:extLst>
                <a:ext uri="{FF2B5EF4-FFF2-40B4-BE49-F238E27FC236}">
                  <a16:creationId xmlns:a16="http://schemas.microsoft.com/office/drawing/2014/main" id="{8756F95E-2BD7-4631-AAD1-39D934C2CFCD}"/>
                </a:ext>
              </a:extLst>
            </p:cNvPr>
            <p:cNvSpPr/>
            <p:nvPr/>
          </p:nvSpPr>
          <p:spPr>
            <a:xfrm>
              <a:off x="9926671" y="3011030"/>
              <a:ext cx="1821105" cy="472537"/>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img001.jpg</a:t>
              </a:r>
            </a:p>
          </p:txBody>
        </p:sp>
        <p:sp>
          <p:nvSpPr>
            <p:cNvPr id="22" name="Rectangle 21">
              <a:extLst>
                <a:ext uri="{FF2B5EF4-FFF2-40B4-BE49-F238E27FC236}">
                  <a16:creationId xmlns:a16="http://schemas.microsoft.com/office/drawing/2014/main" id="{2175F31D-BF84-4DEF-B409-7617D5823C38}"/>
                </a:ext>
              </a:extLst>
            </p:cNvPr>
            <p:cNvSpPr/>
            <p:nvPr/>
          </p:nvSpPr>
          <p:spPr>
            <a:xfrm>
              <a:off x="9926670" y="3554143"/>
              <a:ext cx="1821105" cy="472537"/>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r"/>
              <a:r>
                <a:rPr lang="en-US" dirty="0">
                  <a:solidFill>
                    <a:schemeClr val="tx1"/>
                  </a:solidFill>
                </a:rPr>
                <a:t>img002.jpg</a:t>
              </a:r>
            </a:p>
          </p:txBody>
        </p:sp>
        <p:sp>
          <p:nvSpPr>
            <p:cNvPr id="24" name="Rectangle 23">
              <a:extLst>
                <a:ext uri="{FF2B5EF4-FFF2-40B4-BE49-F238E27FC236}">
                  <a16:creationId xmlns:a16="http://schemas.microsoft.com/office/drawing/2014/main" id="{152E8EC9-9490-47E8-A000-D7F8B9BDBE82}"/>
                </a:ext>
              </a:extLst>
            </p:cNvPr>
            <p:cNvSpPr/>
            <p:nvPr/>
          </p:nvSpPr>
          <p:spPr>
            <a:xfrm>
              <a:off x="10017548" y="4318313"/>
              <a:ext cx="1719075" cy="378766"/>
            </a:xfrm>
            <a:prstGeom prst="rect">
              <a:avLst/>
            </a:prstGeom>
            <a:solidFill>
              <a:schemeClr val="tx2">
                <a:lumMod val="20000"/>
                <a:lumOff val="80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  mov1.avi</a:t>
              </a:r>
            </a:p>
          </p:txBody>
        </p:sp>
        <p:pic>
          <p:nvPicPr>
            <p:cNvPr id="27" name="Graphic 26" descr="Image with solid fill">
              <a:extLst>
                <a:ext uri="{FF2B5EF4-FFF2-40B4-BE49-F238E27FC236}">
                  <a16:creationId xmlns:a16="http://schemas.microsoft.com/office/drawing/2014/main" id="{27873E16-2CDD-4B7E-9054-F5481F2CFF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06454" y="3228103"/>
              <a:ext cx="457200" cy="457200"/>
            </a:xfrm>
            <a:prstGeom prst="rect">
              <a:avLst/>
            </a:prstGeom>
          </p:spPr>
        </p:pic>
        <p:pic>
          <p:nvPicPr>
            <p:cNvPr id="28" name="Graphic 27" descr="Image with solid fill">
              <a:extLst>
                <a:ext uri="{FF2B5EF4-FFF2-40B4-BE49-F238E27FC236}">
                  <a16:creationId xmlns:a16="http://schemas.microsoft.com/office/drawing/2014/main" id="{3C6E9FC1-0A34-4761-B3A3-5B47BD10C6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71754" y="2979229"/>
              <a:ext cx="457200" cy="457200"/>
            </a:xfrm>
            <a:prstGeom prst="rect">
              <a:avLst/>
            </a:prstGeom>
          </p:spPr>
        </p:pic>
        <p:pic>
          <p:nvPicPr>
            <p:cNvPr id="30" name="Graphic 29" descr="Image with solid fill">
              <a:extLst>
                <a:ext uri="{FF2B5EF4-FFF2-40B4-BE49-F238E27FC236}">
                  <a16:creationId xmlns:a16="http://schemas.microsoft.com/office/drawing/2014/main" id="{CCAC0AF3-D369-4BBC-A43F-93D6DBA05C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78251" y="3569481"/>
              <a:ext cx="457200" cy="457200"/>
            </a:xfrm>
            <a:prstGeom prst="rect">
              <a:avLst/>
            </a:prstGeom>
          </p:spPr>
        </p:pic>
        <p:pic>
          <p:nvPicPr>
            <p:cNvPr id="33" name="Graphic 32" descr="Video camera with solid fill">
              <a:extLst>
                <a:ext uri="{FF2B5EF4-FFF2-40B4-BE49-F238E27FC236}">
                  <a16:creationId xmlns:a16="http://schemas.microsoft.com/office/drawing/2014/main" id="{3F6625B0-5614-48C3-B471-4D2A2CB3B3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06454" y="4234791"/>
              <a:ext cx="457200" cy="457200"/>
            </a:xfrm>
            <a:prstGeom prst="rect">
              <a:avLst/>
            </a:prstGeom>
          </p:spPr>
        </p:pic>
        <p:pic>
          <p:nvPicPr>
            <p:cNvPr id="34" name="Graphic 33" descr="Video camera with solid fill">
              <a:extLst>
                <a:ext uri="{FF2B5EF4-FFF2-40B4-BE49-F238E27FC236}">
                  <a16:creationId xmlns:a16="http://schemas.microsoft.com/office/drawing/2014/main" id="{F02529E1-F3F6-4E99-B6EB-A9179822528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17548" y="4273492"/>
              <a:ext cx="457200" cy="457200"/>
            </a:xfrm>
            <a:prstGeom prst="rect">
              <a:avLst/>
            </a:prstGeom>
          </p:spPr>
        </p:pic>
        <p:sp>
          <p:nvSpPr>
            <p:cNvPr id="36" name="Rectangle 35">
              <a:extLst>
                <a:ext uri="{FF2B5EF4-FFF2-40B4-BE49-F238E27FC236}">
                  <a16:creationId xmlns:a16="http://schemas.microsoft.com/office/drawing/2014/main" id="{50042DE3-3D68-4B25-B450-DEB74F270345}"/>
                </a:ext>
                <a:ext uri="{C183D7F6-B498-43B3-948B-1728B52AA6E4}">
                  <adec:decorative xmlns:adec="http://schemas.microsoft.com/office/drawing/2017/decorative" val="1"/>
                </a:ext>
              </a:extLst>
            </p:cNvPr>
            <p:cNvSpPr/>
            <p:nvPr/>
          </p:nvSpPr>
          <p:spPr bwMode="auto">
            <a:xfrm>
              <a:off x="5609837" y="2866834"/>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E26C475C-34CB-4D90-BFD5-CE25D83E5F15}"/>
                </a:ext>
                <a:ext uri="{C183D7F6-B498-43B3-948B-1728B52AA6E4}">
                  <adec:decorative xmlns:adec="http://schemas.microsoft.com/office/drawing/2017/decorative" val="1"/>
                </a:ext>
              </a:extLst>
            </p:cNvPr>
            <p:cNvSpPr/>
            <p:nvPr/>
          </p:nvSpPr>
          <p:spPr bwMode="auto">
            <a:xfrm>
              <a:off x="7768820" y="2913077"/>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897A1DC2-8A8F-4DBD-A163-FBD01AD28FA2}"/>
                </a:ext>
                <a:ext uri="{C183D7F6-B498-43B3-948B-1728B52AA6E4}">
                  <adec:decorative xmlns:adec="http://schemas.microsoft.com/office/drawing/2017/decorative" val="1"/>
                </a:ext>
              </a:extLst>
            </p:cNvPr>
            <p:cNvSpPr/>
            <p:nvPr/>
          </p:nvSpPr>
          <p:spPr bwMode="auto">
            <a:xfrm>
              <a:off x="9892684" y="2911872"/>
              <a:ext cx="1934236" cy="222961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cxnSp>
          <p:nvCxnSpPr>
            <p:cNvPr id="43" name="Connector: Elbow 42">
              <a:extLst>
                <a:ext uri="{FF2B5EF4-FFF2-40B4-BE49-F238E27FC236}">
                  <a16:creationId xmlns:a16="http://schemas.microsoft.com/office/drawing/2014/main" id="{72EA0FA8-6695-4E95-918D-A06A0D57A198}"/>
                </a:ext>
              </a:extLst>
            </p:cNvPr>
            <p:cNvCxnSpPr>
              <a:cxnSpLocks/>
              <a:stCxn id="12" idx="3"/>
              <a:endCxn id="14" idx="1"/>
            </p:cNvCxnSpPr>
            <p:nvPr/>
          </p:nvCxnSpPr>
          <p:spPr>
            <a:xfrm flipV="1">
              <a:off x="7338899" y="3472208"/>
              <a:ext cx="600651" cy="498209"/>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0258804-6703-47BD-82CA-0BE8CA52EA70}"/>
                </a:ext>
              </a:extLst>
            </p:cNvPr>
            <p:cNvCxnSpPr>
              <a:cxnSpLocks/>
              <a:stCxn id="12" idx="3"/>
              <a:endCxn id="16" idx="1"/>
            </p:cNvCxnSpPr>
            <p:nvPr/>
          </p:nvCxnSpPr>
          <p:spPr>
            <a:xfrm>
              <a:off x="7338899" y="3970417"/>
              <a:ext cx="600651" cy="531245"/>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412CC36C-0B7C-4272-ACE5-162DFE9D1C8D}"/>
                </a:ext>
              </a:extLst>
            </p:cNvPr>
            <p:cNvCxnSpPr>
              <a:cxnSpLocks/>
              <a:stCxn id="14" idx="3"/>
              <a:endCxn id="20" idx="1"/>
            </p:cNvCxnSpPr>
            <p:nvPr/>
          </p:nvCxnSpPr>
          <p:spPr>
            <a:xfrm flipV="1">
              <a:off x="9489688" y="3247299"/>
              <a:ext cx="436983" cy="224909"/>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8E311DB2-F95C-4AF3-AB2E-5F1CC327C445}"/>
                </a:ext>
              </a:extLst>
            </p:cNvPr>
            <p:cNvCxnSpPr>
              <a:cxnSpLocks/>
              <a:stCxn id="14" idx="3"/>
              <a:endCxn id="22" idx="1"/>
            </p:cNvCxnSpPr>
            <p:nvPr/>
          </p:nvCxnSpPr>
          <p:spPr>
            <a:xfrm>
              <a:off x="9489688" y="3472208"/>
              <a:ext cx="436982" cy="318204"/>
            </a:xfrm>
            <a:prstGeom prst="bentConnector3">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B63B9C06-48C8-4BF4-87BC-D062C1BB1D7E}"/>
                </a:ext>
              </a:extLst>
            </p:cNvPr>
            <p:cNvCxnSpPr>
              <a:cxnSpLocks/>
              <a:stCxn id="16" idx="3"/>
              <a:endCxn id="34" idx="1"/>
            </p:cNvCxnSpPr>
            <p:nvPr/>
          </p:nvCxnSpPr>
          <p:spPr>
            <a:xfrm>
              <a:off x="9489688" y="4501662"/>
              <a:ext cx="527860" cy="430"/>
            </a:xfrm>
            <a:prstGeom prst="bentConnector3">
              <a:avLst>
                <a:gd name="adj1" fmla="val 50000"/>
              </a:avLst>
            </a:prstGeom>
            <a:ln>
              <a:solidFill>
                <a:schemeClr val="tx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970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Blob Containers</a:t>
            </a:r>
          </a:p>
        </p:txBody>
      </p:sp>
      <p:sp>
        <p:nvSpPr>
          <p:cNvPr id="4" name="Rectangle 3">
            <a:extLst>
              <a:ext uri="{FF2B5EF4-FFF2-40B4-BE49-F238E27FC236}">
                <a16:creationId xmlns:a16="http://schemas.microsoft.com/office/drawing/2014/main" id="{55CE7CD1-7290-42FD-86F2-9062AF1939A4}"/>
              </a:ext>
            </a:extLst>
          </p:cNvPr>
          <p:cNvSpPr/>
          <p:nvPr/>
        </p:nvSpPr>
        <p:spPr>
          <a:xfrm>
            <a:off x="465138" y="2069883"/>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All blobs must be in a container</a:t>
            </a:r>
          </a:p>
        </p:txBody>
      </p:sp>
      <p:sp>
        <p:nvSpPr>
          <p:cNvPr id="9" name="Rectangle 8">
            <a:extLst>
              <a:ext uri="{FF2B5EF4-FFF2-40B4-BE49-F238E27FC236}">
                <a16:creationId xmlns:a16="http://schemas.microsoft.com/office/drawing/2014/main" id="{68AE329A-ED5A-4D8E-8779-EF30634BB045}"/>
              </a:ext>
            </a:extLst>
          </p:cNvPr>
          <p:cNvSpPr/>
          <p:nvPr/>
        </p:nvSpPr>
        <p:spPr>
          <a:xfrm>
            <a:off x="465138" y="2825768"/>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Accounts have unlimited containers</a:t>
            </a:r>
          </a:p>
        </p:txBody>
      </p:sp>
      <p:sp>
        <p:nvSpPr>
          <p:cNvPr id="10" name="Rectangle 9">
            <a:extLst>
              <a:ext uri="{FF2B5EF4-FFF2-40B4-BE49-F238E27FC236}">
                <a16:creationId xmlns:a16="http://schemas.microsoft.com/office/drawing/2014/main" id="{0268521A-A65C-4840-9271-15BFC812F343}"/>
              </a:ext>
            </a:extLst>
          </p:cNvPr>
          <p:cNvSpPr/>
          <p:nvPr/>
        </p:nvSpPr>
        <p:spPr>
          <a:xfrm>
            <a:off x="465138" y="3581653"/>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Containers can have unlimited blobs</a:t>
            </a:r>
          </a:p>
        </p:txBody>
      </p:sp>
      <p:sp>
        <p:nvSpPr>
          <p:cNvPr id="11" name="Rectangle 10">
            <a:extLst>
              <a:ext uri="{FF2B5EF4-FFF2-40B4-BE49-F238E27FC236}">
                <a16:creationId xmlns:a16="http://schemas.microsoft.com/office/drawing/2014/main" id="{9D37B2E8-4A8B-4A80-A39F-4B634FEC74A9}"/>
              </a:ext>
            </a:extLst>
          </p:cNvPr>
          <p:cNvSpPr/>
          <p:nvPr/>
        </p:nvSpPr>
        <p:spPr>
          <a:xfrm>
            <a:off x="465138" y="4337538"/>
            <a:ext cx="5753099" cy="51787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Restrict access using the public access level </a:t>
            </a:r>
          </a:p>
        </p:txBody>
      </p:sp>
      <p:pic>
        <p:nvPicPr>
          <p:cNvPr id="8" name="Picture 7" descr="Screenshot of the Create Container portal page. ">
            <a:extLst>
              <a:ext uri="{FF2B5EF4-FFF2-40B4-BE49-F238E27FC236}">
                <a16:creationId xmlns:a16="http://schemas.microsoft.com/office/drawing/2014/main" id="{4E611F59-B1FD-5D85-D66A-4F36D982EF57}"/>
              </a:ext>
            </a:extLst>
          </p:cNvPr>
          <p:cNvPicPr>
            <a:picLocks noChangeAspect="1"/>
          </p:cNvPicPr>
          <p:nvPr/>
        </p:nvPicPr>
        <p:blipFill>
          <a:blip r:embed="rId3"/>
          <a:stretch>
            <a:fillRect/>
          </a:stretch>
        </p:blipFill>
        <p:spPr>
          <a:xfrm>
            <a:off x="6927296" y="1733803"/>
            <a:ext cx="4514850" cy="3695700"/>
          </a:xfrm>
          <a:prstGeom prst="rect">
            <a:avLst/>
          </a:prstGeom>
        </p:spPr>
      </p:pic>
    </p:spTree>
    <p:extLst>
      <p:ext uri="{BB962C8B-B14F-4D97-AF65-F5344CB8AC3E}">
        <p14:creationId xmlns:p14="http://schemas.microsoft.com/office/powerpoint/2010/main" val="4990527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BE4D-6C02-450A-801D-51813AC223EE}"/>
              </a:ext>
            </a:extLst>
          </p:cNvPr>
          <p:cNvSpPr>
            <a:spLocks noGrp="1"/>
          </p:cNvSpPr>
          <p:nvPr>
            <p:ph type="title"/>
          </p:nvPr>
        </p:nvSpPr>
        <p:spPr/>
        <p:txBody>
          <a:bodyPr/>
          <a:lstStyle/>
          <a:p>
            <a:r>
              <a:rPr lang="en-US" dirty="0">
                <a:cs typeface="Segoe UI"/>
              </a:rPr>
              <a:t>Create Blob Access Tiers</a:t>
            </a:r>
          </a:p>
        </p:txBody>
      </p:sp>
      <p:sp>
        <p:nvSpPr>
          <p:cNvPr id="4" name="Rectangle 3">
            <a:extLst>
              <a:ext uri="{FF2B5EF4-FFF2-40B4-BE49-F238E27FC236}">
                <a16:creationId xmlns:a16="http://schemas.microsoft.com/office/drawing/2014/main" id="{19773AE3-8604-4505-B660-E2880C552C12}"/>
              </a:ext>
            </a:extLst>
          </p:cNvPr>
          <p:cNvSpPr/>
          <p:nvPr/>
        </p:nvSpPr>
        <p:spPr>
          <a:xfrm>
            <a:off x="478855" y="1397477"/>
            <a:ext cx="5777483" cy="9075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Hot tier – </a:t>
            </a:r>
            <a:r>
              <a:rPr lang="en-US" sz="2000" dirty="0">
                <a:solidFill>
                  <a:schemeClr val="tx1"/>
                </a:solidFill>
              </a:rPr>
              <a:t>Data that is accessed or modified frequently</a:t>
            </a:r>
          </a:p>
        </p:txBody>
      </p:sp>
      <p:sp>
        <p:nvSpPr>
          <p:cNvPr id="7" name="Rectangle 6">
            <a:extLst>
              <a:ext uri="{FF2B5EF4-FFF2-40B4-BE49-F238E27FC236}">
                <a16:creationId xmlns:a16="http://schemas.microsoft.com/office/drawing/2014/main" id="{919B5628-28EB-4EC4-BE73-812644CE452A}"/>
              </a:ext>
            </a:extLst>
          </p:cNvPr>
          <p:cNvSpPr/>
          <p:nvPr/>
        </p:nvSpPr>
        <p:spPr>
          <a:xfrm>
            <a:off x="478855" y="2432998"/>
            <a:ext cx="5777483" cy="108790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Cool tier –</a:t>
            </a:r>
            <a:r>
              <a:rPr lang="en-US" sz="2000" dirty="0">
                <a:solidFill>
                  <a:schemeClr val="tx1"/>
                </a:solidFill>
                <a:latin typeface="+mj-lt"/>
              </a:rPr>
              <a:t> </a:t>
            </a:r>
            <a:r>
              <a:rPr lang="en-US" sz="2000" dirty="0">
                <a:solidFill>
                  <a:schemeClr val="tx1"/>
                </a:solidFill>
              </a:rPr>
              <a:t>Data that is infrequently accessed or modified and stored for at least 30 days</a:t>
            </a:r>
          </a:p>
        </p:txBody>
      </p:sp>
      <p:sp>
        <p:nvSpPr>
          <p:cNvPr id="15" name="Rectangle 14">
            <a:extLst>
              <a:ext uri="{FF2B5EF4-FFF2-40B4-BE49-F238E27FC236}">
                <a16:creationId xmlns:a16="http://schemas.microsoft.com/office/drawing/2014/main" id="{965CBD9F-A177-247C-56A2-5EDA0C14F086}"/>
              </a:ext>
            </a:extLst>
          </p:cNvPr>
          <p:cNvSpPr/>
          <p:nvPr/>
        </p:nvSpPr>
        <p:spPr>
          <a:xfrm>
            <a:off x="465138" y="3574178"/>
            <a:ext cx="5777483" cy="108790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Cold tier – </a:t>
            </a:r>
            <a:r>
              <a:rPr lang="en-US" sz="2000" dirty="0">
                <a:solidFill>
                  <a:schemeClr val="tx1"/>
                </a:solidFill>
              </a:rPr>
              <a:t>Data that is infrequently accessed or modified and stored for at least 90 days</a:t>
            </a:r>
          </a:p>
        </p:txBody>
      </p:sp>
      <p:sp>
        <p:nvSpPr>
          <p:cNvPr id="8" name="Rectangle 7">
            <a:extLst>
              <a:ext uri="{FF2B5EF4-FFF2-40B4-BE49-F238E27FC236}">
                <a16:creationId xmlns:a16="http://schemas.microsoft.com/office/drawing/2014/main" id="{2213AE58-CF44-4B8C-9E16-3F988706AE82}"/>
              </a:ext>
            </a:extLst>
          </p:cNvPr>
          <p:cNvSpPr/>
          <p:nvPr/>
        </p:nvSpPr>
        <p:spPr>
          <a:xfrm>
            <a:off x="465139" y="4790060"/>
            <a:ext cx="5777483" cy="108482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b="1" dirty="0">
                <a:solidFill>
                  <a:schemeClr val="tx1"/>
                </a:solidFill>
                <a:latin typeface="+mj-lt"/>
              </a:rPr>
              <a:t>Archive</a:t>
            </a:r>
            <a:r>
              <a:rPr lang="en-US" sz="2000" dirty="0">
                <a:solidFill>
                  <a:schemeClr val="tx1"/>
                </a:solidFill>
                <a:latin typeface="+mj-lt"/>
              </a:rPr>
              <a:t> – </a:t>
            </a:r>
            <a:r>
              <a:rPr lang="en-US" sz="2000" dirty="0">
                <a:solidFill>
                  <a:schemeClr val="tx1"/>
                </a:solidFill>
              </a:rPr>
              <a:t>Data that can tolerate several hours of retrieval latency and will remain in the Archive tier for at least 180 days</a:t>
            </a:r>
          </a:p>
        </p:txBody>
      </p:sp>
      <p:pic>
        <p:nvPicPr>
          <p:cNvPr id="14" name="Picture 13" descr="Screenshot access tiers">
            <a:extLst>
              <a:ext uri="{FF2B5EF4-FFF2-40B4-BE49-F238E27FC236}">
                <a16:creationId xmlns:a16="http://schemas.microsoft.com/office/drawing/2014/main" id="{A47426A8-0C5B-5380-0BBA-9C216B3A3C09}"/>
              </a:ext>
            </a:extLst>
          </p:cNvPr>
          <p:cNvPicPr>
            <a:picLocks noChangeAspect="1"/>
          </p:cNvPicPr>
          <p:nvPr/>
        </p:nvPicPr>
        <p:blipFill>
          <a:blip r:embed="rId3"/>
          <a:stretch>
            <a:fillRect/>
          </a:stretch>
        </p:blipFill>
        <p:spPr>
          <a:xfrm>
            <a:off x="6827302" y="1683655"/>
            <a:ext cx="4295775" cy="3371850"/>
          </a:xfrm>
          <a:prstGeom prst="rect">
            <a:avLst/>
          </a:prstGeom>
        </p:spPr>
      </p:pic>
    </p:spTree>
    <p:extLst>
      <p:ext uri="{BB962C8B-B14F-4D97-AF65-F5344CB8AC3E}">
        <p14:creationId xmlns:p14="http://schemas.microsoft.com/office/powerpoint/2010/main" val="214288686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BE4D-6C02-450A-801D-51813AC223EE}"/>
              </a:ext>
            </a:extLst>
          </p:cNvPr>
          <p:cNvSpPr>
            <a:spLocks noGrp="1"/>
          </p:cNvSpPr>
          <p:nvPr>
            <p:ph type="title"/>
          </p:nvPr>
        </p:nvSpPr>
        <p:spPr>
          <a:xfrm>
            <a:off x="465138" y="567457"/>
            <a:ext cx="11530584" cy="830020"/>
          </a:xfrm>
        </p:spPr>
        <p:txBody>
          <a:bodyPr/>
          <a:lstStyle/>
          <a:p>
            <a:r>
              <a:rPr lang="en-US" dirty="0"/>
              <a:t>Add Blob Lifecycle Management Rules</a:t>
            </a:r>
          </a:p>
        </p:txBody>
      </p:sp>
      <p:sp>
        <p:nvSpPr>
          <p:cNvPr id="7" name="Rectangle 6">
            <a:extLst>
              <a:ext uri="{FF2B5EF4-FFF2-40B4-BE49-F238E27FC236}">
                <a16:creationId xmlns:a16="http://schemas.microsoft.com/office/drawing/2014/main" id="{C587FE07-6C4C-4065-9F45-6786FC1AC3F8}"/>
              </a:ext>
            </a:extLst>
          </p:cNvPr>
          <p:cNvSpPr/>
          <p:nvPr/>
        </p:nvSpPr>
        <p:spPr>
          <a:xfrm>
            <a:off x="465138" y="1659326"/>
            <a:ext cx="5187210" cy="1293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Transitioning of blobs to a cooler storage tier to optimize for performance and cost</a:t>
            </a:r>
            <a:endParaRPr lang="en-US" sz="2000" dirty="0">
              <a:solidFill>
                <a:schemeClr val="tx1"/>
              </a:solidFill>
            </a:endParaRPr>
          </a:p>
        </p:txBody>
      </p:sp>
      <p:sp>
        <p:nvSpPr>
          <p:cNvPr id="4" name="Rectangle 3">
            <a:extLst>
              <a:ext uri="{FF2B5EF4-FFF2-40B4-BE49-F238E27FC236}">
                <a16:creationId xmlns:a16="http://schemas.microsoft.com/office/drawing/2014/main" id="{739DD699-70F4-448D-B4B6-B2237FC65F27}"/>
              </a:ext>
            </a:extLst>
          </p:cNvPr>
          <p:cNvSpPr/>
          <p:nvPr/>
        </p:nvSpPr>
        <p:spPr>
          <a:xfrm>
            <a:off x="465138" y="3106564"/>
            <a:ext cx="5187210" cy="1293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Delete blobs at the end of their lifecycle</a:t>
            </a:r>
            <a:endParaRPr lang="en-US" sz="2000" dirty="0">
              <a:solidFill>
                <a:schemeClr val="tx1"/>
              </a:solidFill>
            </a:endParaRPr>
          </a:p>
        </p:txBody>
      </p:sp>
      <p:sp>
        <p:nvSpPr>
          <p:cNvPr id="9" name="Rectangle 8">
            <a:extLst>
              <a:ext uri="{FF2B5EF4-FFF2-40B4-BE49-F238E27FC236}">
                <a16:creationId xmlns:a16="http://schemas.microsoft.com/office/drawing/2014/main" id="{AC86CEC4-05EB-4FF1-8CB5-5456A83B01D3}"/>
              </a:ext>
            </a:extLst>
          </p:cNvPr>
          <p:cNvSpPr/>
          <p:nvPr/>
        </p:nvSpPr>
        <p:spPr>
          <a:xfrm>
            <a:off x="465138" y="4624461"/>
            <a:ext cx="5187210" cy="126464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600"/>
              </a:spcBef>
              <a:spcAft>
                <a:spcPts val="600"/>
              </a:spcAft>
            </a:pPr>
            <a:r>
              <a:rPr lang="en-US" sz="2000" dirty="0">
                <a:solidFill>
                  <a:schemeClr val="tx1"/>
                </a:solidFill>
                <a:cs typeface="Segoe UI Semilight"/>
              </a:rPr>
              <a:t>Apply rules to filtered paths in the Storage Account</a:t>
            </a:r>
            <a:endParaRPr lang="en-US" sz="2000" dirty="0">
              <a:solidFill>
                <a:schemeClr val="tx1"/>
              </a:solidFill>
            </a:endParaRPr>
          </a:p>
        </p:txBody>
      </p:sp>
      <p:pic>
        <p:nvPicPr>
          <p:cNvPr id="5" name="Picture 4" descr="Screenshot of the Add a rule page with If and Then conditions. ">
            <a:extLst>
              <a:ext uri="{FF2B5EF4-FFF2-40B4-BE49-F238E27FC236}">
                <a16:creationId xmlns:a16="http://schemas.microsoft.com/office/drawing/2014/main" id="{BA85CF44-8240-2F6C-AC9A-8304BA1DE336}"/>
              </a:ext>
            </a:extLst>
          </p:cNvPr>
          <p:cNvPicPr>
            <a:picLocks noChangeAspect="1"/>
          </p:cNvPicPr>
          <p:nvPr/>
        </p:nvPicPr>
        <p:blipFill>
          <a:blip r:embed="rId3"/>
          <a:stretch>
            <a:fillRect/>
          </a:stretch>
        </p:blipFill>
        <p:spPr>
          <a:xfrm>
            <a:off x="5946155" y="1196931"/>
            <a:ext cx="6025182" cy="5230137"/>
          </a:xfrm>
          <a:prstGeom prst="rect">
            <a:avLst/>
          </a:prstGeom>
        </p:spPr>
      </p:pic>
    </p:spTree>
    <p:extLst>
      <p:ext uri="{BB962C8B-B14F-4D97-AF65-F5344CB8AC3E}">
        <p14:creationId xmlns:p14="http://schemas.microsoft.com/office/powerpoint/2010/main" val="26091513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C634-6DE4-41E6-A110-B0B8D1A263D3}"/>
              </a:ext>
            </a:extLst>
          </p:cNvPr>
          <p:cNvSpPr>
            <a:spLocks noGrp="1"/>
          </p:cNvSpPr>
          <p:nvPr>
            <p:ph type="title"/>
          </p:nvPr>
        </p:nvSpPr>
        <p:spPr/>
        <p:txBody>
          <a:bodyPr/>
          <a:lstStyle/>
          <a:p>
            <a:r>
              <a:rPr lang="en-US" dirty="0"/>
              <a:t>Determine Blob Object Replication</a:t>
            </a:r>
          </a:p>
        </p:txBody>
      </p:sp>
      <p:sp>
        <p:nvSpPr>
          <p:cNvPr id="11" name="Rectangle 10">
            <a:extLst>
              <a:ext uri="{FF2B5EF4-FFF2-40B4-BE49-F238E27FC236}">
                <a16:creationId xmlns:a16="http://schemas.microsoft.com/office/drawing/2014/main" id="{A2E6447B-BC7C-4BD8-BE5A-DCD7436E6ED5}"/>
              </a:ext>
            </a:extLst>
          </p:cNvPr>
          <p:cNvSpPr/>
          <p:nvPr/>
        </p:nvSpPr>
        <p:spPr>
          <a:xfrm>
            <a:off x="502208" y="1601788"/>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Asynchronous to any other Region</a:t>
            </a:r>
          </a:p>
        </p:txBody>
      </p:sp>
      <p:sp>
        <p:nvSpPr>
          <p:cNvPr id="13" name="Rectangle 12">
            <a:extLst>
              <a:ext uri="{FF2B5EF4-FFF2-40B4-BE49-F238E27FC236}">
                <a16:creationId xmlns:a16="http://schemas.microsoft.com/office/drawing/2014/main" id="{5111BEFA-B2B5-413C-88A0-19B718E0CD84}"/>
              </a:ext>
            </a:extLst>
          </p:cNvPr>
          <p:cNvSpPr/>
          <p:nvPr/>
        </p:nvSpPr>
        <p:spPr>
          <a:xfrm>
            <a:off x="502208" y="2427892"/>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Minimizes latency for read requests</a:t>
            </a:r>
          </a:p>
        </p:txBody>
      </p:sp>
      <p:sp>
        <p:nvSpPr>
          <p:cNvPr id="15" name="Rectangle 14">
            <a:extLst>
              <a:ext uri="{FF2B5EF4-FFF2-40B4-BE49-F238E27FC236}">
                <a16:creationId xmlns:a16="http://schemas.microsoft.com/office/drawing/2014/main" id="{D18DD1E0-FF9B-47F2-BEC8-57443B263572}"/>
              </a:ext>
            </a:extLst>
          </p:cNvPr>
          <p:cNvSpPr/>
          <p:nvPr/>
        </p:nvSpPr>
        <p:spPr>
          <a:xfrm>
            <a:off x="502208" y="3253996"/>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Increases efficiency for compute workloads</a:t>
            </a:r>
          </a:p>
        </p:txBody>
      </p:sp>
      <p:sp>
        <p:nvSpPr>
          <p:cNvPr id="17" name="Rectangle 16">
            <a:extLst>
              <a:ext uri="{FF2B5EF4-FFF2-40B4-BE49-F238E27FC236}">
                <a16:creationId xmlns:a16="http://schemas.microsoft.com/office/drawing/2014/main" id="{BCE77B71-16AE-490E-81EB-8CFCF3185209}"/>
              </a:ext>
            </a:extLst>
          </p:cNvPr>
          <p:cNvSpPr/>
          <p:nvPr/>
        </p:nvSpPr>
        <p:spPr>
          <a:xfrm>
            <a:off x="502207" y="4080100"/>
            <a:ext cx="5716029" cy="565986"/>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lvl="0"/>
            <a:r>
              <a:rPr lang="en-US" sz="2000" dirty="0">
                <a:solidFill>
                  <a:schemeClr val="tx1"/>
                </a:solidFill>
              </a:rPr>
              <a:t>Optimizes data distribution</a:t>
            </a:r>
          </a:p>
        </p:txBody>
      </p:sp>
      <p:sp>
        <p:nvSpPr>
          <p:cNvPr id="19" name="Rectangle 18">
            <a:extLst>
              <a:ext uri="{FF2B5EF4-FFF2-40B4-BE49-F238E27FC236}">
                <a16:creationId xmlns:a16="http://schemas.microsoft.com/office/drawing/2014/main" id="{A4139FDE-B6ED-4ACB-8E55-8FC5F9209E5C}"/>
              </a:ext>
            </a:extLst>
          </p:cNvPr>
          <p:cNvSpPr/>
          <p:nvPr/>
        </p:nvSpPr>
        <p:spPr>
          <a:xfrm>
            <a:off x="502208" y="4906205"/>
            <a:ext cx="5716029" cy="777534"/>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Optimizes costs</a:t>
            </a:r>
          </a:p>
        </p:txBody>
      </p:sp>
      <p:pic>
        <p:nvPicPr>
          <p:cNvPr id="7" name="Picture 6" descr="Asynchronous replication of blob containers from one region to another. ">
            <a:extLst>
              <a:ext uri="{FF2B5EF4-FFF2-40B4-BE49-F238E27FC236}">
                <a16:creationId xmlns:a16="http://schemas.microsoft.com/office/drawing/2014/main" id="{40D18A55-0556-4B91-AB63-37C28A9D00CD}"/>
              </a:ext>
            </a:extLst>
          </p:cNvPr>
          <p:cNvPicPr>
            <a:picLocks noChangeAspect="1"/>
          </p:cNvPicPr>
          <p:nvPr/>
        </p:nvPicPr>
        <p:blipFill>
          <a:blip r:embed="rId3"/>
          <a:stretch>
            <a:fillRect/>
          </a:stretch>
        </p:blipFill>
        <p:spPr>
          <a:xfrm>
            <a:off x="6437817" y="1803807"/>
            <a:ext cx="5729351" cy="3571346"/>
          </a:xfrm>
          <a:prstGeom prst="rect">
            <a:avLst/>
          </a:prstGeom>
        </p:spPr>
      </p:pic>
    </p:spTree>
    <p:extLst>
      <p:ext uri="{BB962C8B-B14F-4D97-AF65-F5344CB8AC3E}">
        <p14:creationId xmlns:p14="http://schemas.microsoft.com/office/powerpoint/2010/main" val="79454738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6356-AFAA-4DCE-8895-CBE367E877F4}"/>
              </a:ext>
            </a:extLst>
          </p:cNvPr>
          <p:cNvSpPr>
            <a:spLocks noGrp="1"/>
          </p:cNvSpPr>
          <p:nvPr>
            <p:ph type="title"/>
          </p:nvPr>
        </p:nvSpPr>
        <p:spPr/>
        <p:txBody>
          <a:bodyPr/>
          <a:lstStyle/>
          <a:p>
            <a:r>
              <a:rPr lang="en-US" dirty="0"/>
              <a:t>Demonstration – Configure Blob Storage</a:t>
            </a:r>
          </a:p>
        </p:txBody>
      </p:sp>
      <p:sp>
        <p:nvSpPr>
          <p:cNvPr id="7" name="TextBox 6">
            <a:extLst>
              <a:ext uri="{FF2B5EF4-FFF2-40B4-BE49-F238E27FC236}">
                <a16:creationId xmlns:a16="http://schemas.microsoft.com/office/drawing/2014/main" id="{D3BB4CA4-2EFB-2759-FA19-BBFF752A7C37}"/>
              </a:ext>
            </a:extLst>
          </p:cNvPr>
          <p:cNvSpPr txBox="1"/>
          <p:nvPr/>
        </p:nvSpPr>
        <p:spPr>
          <a:xfrm>
            <a:off x="893134" y="1752501"/>
            <a:ext cx="5465136" cy="1044901"/>
          </a:xfrm>
          <a:prstGeom prst="rect">
            <a:avLst/>
          </a:prstGeom>
          <a:noFill/>
        </p:spPr>
        <p:txBody>
          <a:bodyPr wrap="square">
            <a:spAutoFit/>
          </a:bodyPr>
          <a:lstStyle/>
          <a:p>
            <a:pPr marL="285750" indent="-285750" defTabSz="932472" fontAlgn="base">
              <a:lnSpc>
                <a:spcPct val="150000"/>
              </a:lnSpc>
              <a:spcBef>
                <a:spcPct val="0"/>
              </a:spcBef>
              <a:spcAft>
                <a:spcPct val="0"/>
              </a:spcAft>
              <a:buFont typeface="Arial" panose="020B0604020202020204" pitchFamily="34" charset="0"/>
              <a:buChar char="•"/>
            </a:pPr>
            <a:r>
              <a:rPr lang="en-US" sz="2200" dirty="0">
                <a:solidFill>
                  <a:schemeClr val="tx1"/>
                </a:solidFill>
              </a:rPr>
              <a:t>Create and configure a container</a:t>
            </a:r>
          </a:p>
          <a:p>
            <a:pPr marL="285750" indent="-285750" defTabSz="932472" fontAlgn="base">
              <a:lnSpc>
                <a:spcPct val="150000"/>
              </a:lnSpc>
              <a:spcBef>
                <a:spcPct val="0"/>
              </a:spcBef>
              <a:spcAft>
                <a:spcPct val="0"/>
              </a:spcAft>
              <a:buFont typeface="Arial" panose="020B0604020202020204" pitchFamily="34" charset="0"/>
              <a:buChar char="•"/>
            </a:pPr>
            <a:r>
              <a:rPr lang="en-US" sz="2200" dirty="0">
                <a:solidFill>
                  <a:schemeClr val="tx1"/>
                </a:solidFill>
              </a:rPr>
              <a:t>Manage </a:t>
            </a:r>
            <a:r>
              <a:rPr lang="en-US" sz="2200" dirty="0"/>
              <a:t>blobs in the container</a:t>
            </a:r>
            <a:endParaRPr lang="en-US" sz="2200" dirty="0">
              <a:solidFill>
                <a:schemeClr val="tx1"/>
              </a:solidFill>
            </a:endParaRPr>
          </a:p>
        </p:txBody>
      </p:sp>
    </p:spTree>
    <p:extLst>
      <p:ext uri="{BB962C8B-B14F-4D97-AF65-F5344CB8AC3E}">
        <p14:creationId xmlns:p14="http://schemas.microsoft.com/office/powerpoint/2010/main" val="382391561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Blob Storage</a:t>
            </a:r>
          </a:p>
        </p:txBody>
      </p:sp>
      <p:sp>
        <p:nvSpPr>
          <p:cNvPr id="33" name="Rectangle 32">
            <a:extLst>
              <a:ext uri="{FF2B5EF4-FFF2-40B4-BE49-F238E27FC236}">
                <a16:creationId xmlns:a16="http://schemas.microsoft.com/office/drawing/2014/main" id="{17C3AFC9-2701-49D4-AE5D-9C4661590F98}"/>
              </a:ext>
            </a:extLst>
          </p:cNvPr>
          <p:cNvSpPr/>
          <p:nvPr/>
        </p:nvSpPr>
        <p:spPr>
          <a:xfrm>
            <a:off x="3979788" y="2348478"/>
            <a:ext cx="7137400" cy="210742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ts val="600"/>
              </a:spcAft>
              <a:buClr>
                <a:schemeClr val="tx1"/>
              </a:buClr>
              <a:buFont typeface="Arial" panose="020B0604020202020204" pitchFamily="34" charset="0"/>
              <a:buChar char="•"/>
            </a:pPr>
            <a:r>
              <a:rPr lang="en-US" dirty="0">
                <a:hlinkClick r:id="rId3"/>
              </a:rPr>
              <a:t>Configure Azure Blob Storage </a:t>
            </a:r>
            <a:endParaRPr lang="en-US" dirty="0"/>
          </a:p>
          <a:p>
            <a:pPr marL="342900" indent="-342900" defTabSz="800100">
              <a:spcBef>
                <a:spcPct val="0"/>
              </a:spcBef>
              <a:spcAft>
                <a:spcPts val="600"/>
              </a:spcAft>
              <a:buClr>
                <a:schemeClr val="tx1"/>
              </a:buClr>
              <a:buFont typeface="Arial" panose="020B0604020202020204" pitchFamily="34" charset="0"/>
              <a:buChar char="•"/>
            </a:pPr>
            <a:r>
              <a:rPr lang="en-US" dirty="0">
                <a:hlinkClick r:id="rId4"/>
              </a:rPr>
              <a:t>Manage the Azure Blob storage lifecycle</a:t>
            </a:r>
            <a:endParaRPr lang="en-US" dirty="0"/>
          </a:p>
          <a:p>
            <a:pPr marL="342900" indent="-342900" defTabSz="800100">
              <a:spcBef>
                <a:spcPct val="0"/>
              </a:spcBef>
              <a:spcAft>
                <a:spcPts val="600"/>
              </a:spcAft>
              <a:buClr>
                <a:schemeClr val="tx1"/>
              </a:buClr>
              <a:buFont typeface="Arial" panose="020B0604020202020204" pitchFamily="34" charset="0"/>
              <a:buChar char="•"/>
            </a:pPr>
            <a:r>
              <a:rPr lang="en-US" dirty="0">
                <a:hlinkClick r:id="rId5"/>
              </a:rPr>
              <a:t>Guided Project - Azure Files and Azure Blobs </a:t>
            </a:r>
            <a:endParaRPr lang="en-IN" dirty="0">
              <a:solidFill>
                <a:schemeClr val="tx1"/>
              </a:solidFill>
            </a:endParaRPr>
          </a:p>
          <a:p>
            <a:pPr marL="342900" indent="-342900" defTabSz="800100">
              <a:spcBef>
                <a:spcPct val="0"/>
              </a:spcBef>
              <a:spcAft>
                <a:spcPts val="600"/>
              </a:spcAft>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92638056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Configure Storage Security</a:t>
            </a:r>
          </a:p>
        </p:txBody>
      </p:sp>
    </p:spTree>
    <p:extLst>
      <p:ext uri="{BB962C8B-B14F-4D97-AF65-F5344CB8AC3E}">
        <p14:creationId xmlns:p14="http://schemas.microsoft.com/office/powerpoint/2010/main" val="1789238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77EB-9215-B9AA-FB01-4364ED2C75CC}"/>
              </a:ext>
            </a:extLst>
          </p:cNvPr>
          <p:cNvSpPr>
            <a:spLocks noGrp="1"/>
          </p:cNvSpPr>
          <p:nvPr>
            <p:ph type="title"/>
          </p:nvPr>
        </p:nvSpPr>
        <p:spPr/>
        <p:txBody>
          <a:bodyPr/>
          <a:lstStyle/>
          <a:p>
            <a:r>
              <a:rPr lang="en-US" dirty="0"/>
              <a:t>Storage Security whiteboard</a:t>
            </a:r>
          </a:p>
        </p:txBody>
      </p:sp>
      <p:sp>
        <p:nvSpPr>
          <p:cNvPr id="34" name="TextBox 33">
            <a:extLst>
              <a:ext uri="{FF2B5EF4-FFF2-40B4-BE49-F238E27FC236}">
                <a16:creationId xmlns:a16="http://schemas.microsoft.com/office/drawing/2014/main" id="{298EE26F-F467-1732-AB70-48782A16E79C}"/>
              </a:ext>
            </a:extLst>
          </p:cNvPr>
          <p:cNvSpPr txBox="1"/>
          <p:nvPr/>
        </p:nvSpPr>
        <p:spPr>
          <a:xfrm>
            <a:off x="799683" y="2238612"/>
            <a:ext cx="1472509" cy="400110"/>
          </a:xfrm>
          <a:prstGeom prst="rect">
            <a:avLst/>
          </a:prstGeom>
          <a:noFill/>
        </p:spPr>
        <p:txBody>
          <a:bodyPr wrap="square">
            <a:spAutoFit/>
          </a:bodyPr>
          <a:lstStyle/>
          <a:p>
            <a:pPr algn="ctr"/>
            <a:r>
              <a:rPr lang="en-US" sz="2000" b="1" dirty="0">
                <a:solidFill>
                  <a:schemeClr val="accent4">
                    <a:lumMod val="50000"/>
                  </a:schemeClr>
                </a:solidFill>
                <a:cs typeface="Segoe UI" pitchFamily="34" charset="0"/>
              </a:rPr>
              <a:t>firewall</a:t>
            </a:r>
          </a:p>
        </p:txBody>
      </p:sp>
      <p:sp>
        <p:nvSpPr>
          <p:cNvPr id="6" name="TextBox 5">
            <a:extLst>
              <a:ext uri="{FF2B5EF4-FFF2-40B4-BE49-F238E27FC236}">
                <a16:creationId xmlns:a16="http://schemas.microsoft.com/office/drawing/2014/main" id="{743E7ED8-264D-9DE8-1C94-1254C829F97D}"/>
              </a:ext>
            </a:extLst>
          </p:cNvPr>
          <p:cNvSpPr txBox="1"/>
          <p:nvPr/>
        </p:nvSpPr>
        <p:spPr>
          <a:xfrm>
            <a:off x="3676289" y="1450958"/>
            <a:ext cx="2080056" cy="707886"/>
          </a:xfrm>
          <a:prstGeom prst="rect">
            <a:avLst/>
          </a:prstGeom>
          <a:noFill/>
        </p:spPr>
        <p:txBody>
          <a:bodyPr wrap="square" anchor="ctr">
            <a:spAutoFit/>
          </a:bodyPr>
          <a:lstStyle/>
          <a:p>
            <a:pPr algn="ctr"/>
            <a:r>
              <a:rPr lang="en-US" sz="2000" b="1" dirty="0">
                <a:solidFill>
                  <a:schemeClr val="accent4">
                    <a:lumMod val="50000"/>
                  </a:schemeClr>
                </a:solidFill>
                <a:ea typeface="Segoe UI" pitchFamily="34" charset="0"/>
                <a:cs typeface="Segoe UI" pitchFamily="34" charset="0"/>
              </a:rPr>
              <a:t>private endpoints</a:t>
            </a:r>
            <a:endParaRPr lang="en-US" sz="2000" b="1" dirty="0">
              <a:solidFill>
                <a:schemeClr val="accent4">
                  <a:lumMod val="50000"/>
                </a:schemeClr>
              </a:solidFill>
            </a:endParaRPr>
          </a:p>
        </p:txBody>
      </p:sp>
      <p:sp>
        <p:nvSpPr>
          <p:cNvPr id="9" name="TextBox 8">
            <a:extLst>
              <a:ext uri="{FF2B5EF4-FFF2-40B4-BE49-F238E27FC236}">
                <a16:creationId xmlns:a16="http://schemas.microsoft.com/office/drawing/2014/main" id="{DF19B523-A3C3-03FB-7117-383B2DE523B1}"/>
              </a:ext>
            </a:extLst>
          </p:cNvPr>
          <p:cNvSpPr txBox="1"/>
          <p:nvPr/>
        </p:nvSpPr>
        <p:spPr>
          <a:xfrm>
            <a:off x="7295785" y="1587331"/>
            <a:ext cx="3765392" cy="1323439"/>
          </a:xfrm>
          <a:prstGeom prst="rect">
            <a:avLst/>
          </a:prstGeom>
          <a:noFill/>
        </p:spPr>
        <p:txBody>
          <a:bodyPr wrap="square">
            <a:spAutoFit/>
          </a:bodyPr>
          <a:lstStyle/>
          <a:p>
            <a:r>
              <a:rPr lang="en-US" sz="2000" b="1" u="sng" dirty="0">
                <a:solidFill>
                  <a:schemeClr val="accent4">
                    <a:lumMod val="50000"/>
                  </a:schemeClr>
                </a:solidFill>
                <a:cs typeface="Segoe UI" pitchFamily="34" charset="0"/>
              </a:rPr>
              <a:t>Authentication/ authorization</a:t>
            </a:r>
          </a:p>
          <a:p>
            <a:pPr marL="234950" indent="-234950">
              <a:buFont typeface="Arial" panose="020B0604020202020204" pitchFamily="34" charset="0"/>
              <a:buChar char="•"/>
            </a:pPr>
            <a:r>
              <a:rPr lang="en-US" sz="2000" dirty="0">
                <a:latin typeface="Segoe UI" panose="020B0502040204020203" pitchFamily="34" charset="0"/>
                <a:ea typeface="Segoe UI" panose="020B0502040204020203" pitchFamily="34" charset="0"/>
                <a:cs typeface="Segoe UI" panose="020B0502040204020203" pitchFamily="34" charset="0"/>
              </a:rPr>
              <a:t>Service SAS</a:t>
            </a:r>
          </a:p>
          <a:p>
            <a:pPr marL="234950" indent="-234950">
              <a:buFont typeface="Arial" panose="020B0604020202020204" pitchFamily="34" charset="0"/>
              <a:buChar char="•"/>
            </a:pPr>
            <a:r>
              <a:rPr lang="en-US" sz="2000" dirty="0">
                <a:latin typeface="Segoe UI" panose="020B0502040204020203" pitchFamily="34" charset="0"/>
                <a:ea typeface="Segoe UI" panose="020B0502040204020203" pitchFamily="34" charset="0"/>
                <a:cs typeface="Segoe UI" panose="020B0502040204020203" pitchFamily="34" charset="0"/>
              </a:rPr>
              <a:t>Account SAS</a:t>
            </a:r>
          </a:p>
          <a:p>
            <a:pPr marL="234950" indent="-234950">
              <a:buFont typeface="Arial" panose="020B0604020202020204" pitchFamily="34" charset="0"/>
              <a:buChar char="•"/>
            </a:pPr>
            <a:r>
              <a:rPr lang="en-US" sz="2000" dirty="0">
                <a:latin typeface="Segoe UI" panose="020B0502040204020203" pitchFamily="34" charset="0"/>
                <a:ea typeface="Segoe UI" panose="020B0502040204020203" pitchFamily="34" charset="0"/>
                <a:cs typeface="Segoe UI" panose="020B0502040204020203" pitchFamily="34" charset="0"/>
              </a:rPr>
              <a:t>User delegation SAS</a:t>
            </a:r>
          </a:p>
        </p:txBody>
      </p:sp>
      <p:sp>
        <p:nvSpPr>
          <p:cNvPr id="3" name="Oval 2">
            <a:extLst>
              <a:ext uri="{FF2B5EF4-FFF2-40B4-BE49-F238E27FC236}">
                <a16:creationId xmlns:a16="http://schemas.microsoft.com/office/drawing/2014/main" id="{78AE18E7-731B-6682-2C32-E072D758EFF2}"/>
              </a:ext>
            </a:extLst>
          </p:cNvPr>
          <p:cNvSpPr/>
          <p:nvPr/>
        </p:nvSpPr>
        <p:spPr bwMode="auto">
          <a:xfrm>
            <a:off x="3323061" y="2776212"/>
            <a:ext cx="2765503" cy="1015663"/>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9217" rIns="91440"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2000" b="1" dirty="0">
                <a:solidFill>
                  <a:schemeClr val="accent4">
                    <a:lumMod val="50000"/>
                  </a:schemeClr>
                </a:solidFill>
                <a:latin typeface="Segoe UI" panose="020B0502040204020203" pitchFamily="34" charset="0"/>
                <a:cs typeface="Segoe UI" panose="020B0502040204020203" pitchFamily="34" charset="0"/>
              </a:rPr>
              <a:t>Azure storage security</a:t>
            </a:r>
          </a:p>
        </p:txBody>
      </p:sp>
      <p:sp>
        <p:nvSpPr>
          <p:cNvPr id="10" name="TextBox 9">
            <a:extLst>
              <a:ext uri="{FF2B5EF4-FFF2-40B4-BE49-F238E27FC236}">
                <a16:creationId xmlns:a16="http://schemas.microsoft.com/office/drawing/2014/main" id="{92C9F7F7-5A5C-FE9B-B600-E447528FE717}"/>
              </a:ext>
            </a:extLst>
          </p:cNvPr>
          <p:cNvSpPr txBox="1"/>
          <p:nvPr/>
        </p:nvSpPr>
        <p:spPr>
          <a:xfrm>
            <a:off x="427038" y="4190233"/>
            <a:ext cx="2017664" cy="400110"/>
          </a:xfrm>
          <a:prstGeom prst="rect">
            <a:avLst/>
          </a:prstGeom>
          <a:noFill/>
        </p:spPr>
        <p:txBody>
          <a:bodyPr wrap="square" anchor="ctr">
            <a:spAutoFit/>
          </a:bodyPr>
          <a:lstStyle/>
          <a:p>
            <a:pPr algn="ctr"/>
            <a:r>
              <a:rPr lang="en-US" sz="2000" b="1" dirty="0">
                <a:solidFill>
                  <a:schemeClr val="accent4">
                    <a:lumMod val="50000"/>
                  </a:schemeClr>
                </a:solidFill>
                <a:cs typeface="Segoe UI" pitchFamily="34" charset="0"/>
              </a:rPr>
              <a:t>secure transfer</a:t>
            </a:r>
            <a:endParaRPr lang="en-US" sz="2000" dirty="0"/>
          </a:p>
        </p:txBody>
      </p:sp>
      <p:sp>
        <p:nvSpPr>
          <p:cNvPr id="12" name="TextBox 11">
            <a:extLst>
              <a:ext uri="{FF2B5EF4-FFF2-40B4-BE49-F238E27FC236}">
                <a16:creationId xmlns:a16="http://schemas.microsoft.com/office/drawing/2014/main" id="{04D23E7B-FB46-5279-366D-B4C5EFA40D2B}"/>
              </a:ext>
            </a:extLst>
          </p:cNvPr>
          <p:cNvSpPr txBox="1"/>
          <p:nvPr/>
        </p:nvSpPr>
        <p:spPr>
          <a:xfrm>
            <a:off x="3550906" y="5189190"/>
            <a:ext cx="2306854" cy="400110"/>
          </a:xfrm>
          <a:prstGeom prst="rect">
            <a:avLst/>
          </a:prstGeom>
          <a:noFill/>
        </p:spPr>
        <p:txBody>
          <a:bodyPr wrap="square">
            <a:spAutoFit/>
          </a:bodyPr>
          <a:lstStyle/>
          <a:p>
            <a:pPr algn="ctr"/>
            <a:r>
              <a:rPr lang="en-US" sz="2000" b="1" dirty="0">
                <a:solidFill>
                  <a:schemeClr val="accent4">
                    <a:lumMod val="50000"/>
                  </a:schemeClr>
                </a:solidFill>
                <a:cs typeface="Segoe UI" pitchFamily="34" charset="0"/>
              </a:rPr>
              <a:t>service endpoints</a:t>
            </a:r>
          </a:p>
        </p:txBody>
      </p:sp>
      <p:sp>
        <p:nvSpPr>
          <p:cNvPr id="4" name="TextBox 3">
            <a:extLst>
              <a:ext uri="{FF2B5EF4-FFF2-40B4-BE49-F238E27FC236}">
                <a16:creationId xmlns:a16="http://schemas.microsoft.com/office/drawing/2014/main" id="{0281ABB4-8581-E39D-0FFB-15070B74928B}"/>
              </a:ext>
            </a:extLst>
          </p:cNvPr>
          <p:cNvSpPr txBox="1"/>
          <p:nvPr/>
        </p:nvSpPr>
        <p:spPr>
          <a:xfrm>
            <a:off x="7350994" y="3725602"/>
            <a:ext cx="4424694" cy="1015663"/>
          </a:xfrm>
          <a:prstGeom prst="rect">
            <a:avLst/>
          </a:prstGeom>
          <a:noFill/>
        </p:spPr>
        <p:txBody>
          <a:bodyPr wrap="square">
            <a:spAutoFit/>
          </a:bodyPr>
          <a:lstStyle/>
          <a:p>
            <a:r>
              <a:rPr lang="en-US" sz="2000" b="1" u="sng" dirty="0">
                <a:solidFill>
                  <a:schemeClr val="accent4">
                    <a:lumMod val="50000"/>
                  </a:schemeClr>
                </a:solidFill>
                <a:cs typeface="Segoe UI" pitchFamily="34" charset="0"/>
              </a:rPr>
              <a:t>Encryption</a:t>
            </a:r>
            <a:endParaRPr lang="en-US" sz="2000" u="sng" dirty="0">
              <a:latin typeface="Segoe Print" panose="02000600000000000000" pitchFamily="2" charset="0"/>
              <a:cs typeface="Segoe UI" pitchFamily="34" charset="0"/>
            </a:endParaRPr>
          </a:p>
          <a:p>
            <a:pPr marL="234950" indent="-234950">
              <a:buFont typeface="Arial" panose="020B0604020202020204" pitchFamily="34" charset="0"/>
              <a:buChar char="•"/>
            </a:pPr>
            <a:r>
              <a:rPr lang="en-US" sz="2000" dirty="0">
                <a:cs typeface="Segoe UI" pitchFamily="34" charset="0"/>
              </a:rPr>
              <a:t>Microsoft managed key</a:t>
            </a:r>
          </a:p>
          <a:p>
            <a:pPr marL="234950" indent="-234950">
              <a:buFont typeface="Arial" panose="020B0604020202020204" pitchFamily="34" charset="0"/>
              <a:buChar char="•"/>
            </a:pPr>
            <a:r>
              <a:rPr lang="en-US" sz="2000" dirty="0">
                <a:cs typeface="Segoe UI" pitchFamily="34" charset="0"/>
              </a:rPr>
              <a:t>Customer managed key</a:t>
            </a:r>
            <a:endParaRPr lang="en-US" sz="2000" dirty="0"/>
          </a:p>
        </p:txBody>
      </p:sp>
      <p:cxnSp>
        <p:nvCxnSpPr>
          <p:cNvPr id="18" name="Straight Connector 17">
            <a:extLst>
              <a:ext uri="{FF2B5EF4-FFF2-40B4-BE49-F238E27FC236}">
                <a16:creationId xmlns:a16="http://schemas.microsoft.com/office/drawing/2014/main" id="{460C0F19-6800-A7B7-EF2C-550D978F6609}"/>
              </a:ext>
              <a:ext uri="{C183D7F6-B498-43B3-948B-1728B52AA6E4}">
                <adec:decorative xmlns:adec="http://schemas.microsoft.com/office/drawing/2017/decorative" val="1"/>
              </a:ext>
            </a:extLst>
          </p:cNvPr>
          <p:cNvCxnSpPr>
            <a:cxnSpLocks/>
            <a:stCxn id="3" idx="7"/>
          </p:cNvCxnSpPr>
          <p:nvPr/>
        </p:nvCxnSpPr>
        <p:spPr>
          <a:xfrm flipV="1">
            <a:off x="5683565" y="2517622"/>
            <a:ext cx="1642724" cy="40733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C4FBE7-C1FE-1B57-B057-0C8ACBA38730}"/>
              </a:ext>
              <a:ext uri="{C183D7F6-B498-43B3-948B-1728B52AA6E4}">
                <adec:decorative xmlns:adec="http://schemas.microsoft.com/office/drawing/2017/decorative" val="1"/>
              </a:ext>
            </a:extLst>
          </p:cNvPr>
          <p:cNvCxnSpPr>
            <a:cxnSpLocks/>
            <a:stCxn id="3" idx="4"/>
            <a:endCxn id="12" idx="0"/>
          </p:cNvCxnSpPr>
          <p:nvPr/>
        </p:nvCxnSpPr>
        <p:spPr>
          <a:xfrm flipH="1">
            <a:off x="4704333" y="3791875"/>
            <a:ext cx="1480" cy="139731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A23E81-BD02-600E-A3FE-BA1D115048B3}"/>
              </a:ext>
              <a:ext uri="{C183D7F6-B498-43B3-948B-1728B52AA6E4}">
                <adec:decorative xmlns:adec="http://schemas.microsoft.com/office/drawing/2017/decorative" val="1"/>
              </a:ext>
            </a:extLst>
          </p:cNvPr>
          <p:cNvCxnSpPr>
            <a:cxnSpLocks/>
            <a:stCxn id="3" idx="5"/>
          </p:cNvCxnSpPr>
          <p:nvPr/>
        </p:nvCxnSpPr>
        <p:spPr>
          <a:xfrm>
            <a:off x="5683565" y="3643135"/>
            <a:ext cx="1642723" cy="62179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2B9485B-07AB-8537-9598-2C196451CF9D}"/>
              </a:ext>
              <a:ext uri="{C183D7F6-B498-43B3-948B-1728B52AA6E4}">
                <adec:decorative xmlns:adec="http://schemas.microsoft.com/office/drawing/2017/decorative" val="1"/>
              </a:ext>
            </a:extLst>
          </p:cNvPr>
          <p:cNvCxnSpPr>
            <a:cxnSpLocks/>
            <a:stCxn id="3" idx="0"/>
            <a:endCxn id="6" idx="2"/>
          </p:cNvCxnSpPr>
          <p:nvPr/>
        </p:nvCxnSpPr>
        <p:spPr>
          <a:xfrm flipV="1">
            <a:off x="4705813" y="2158844"/>
            <a:ext cx="10504" cy="61736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B95EB5-6E0E-2AC9-B299-FE8C9452330E}"/>
              </a:ext>
              <a:ext uri="{C183D7F6-B498-43B3-948B-1728B52AA6E4}">
                <adec:decorative xmlns:adec="http://schemas.microsoft.com/office/drawing/2017/decorative" val="1"/>
              </a:ext>
            </a:extLst>
          </p:cNvPr>
          <p:cNvCxnSpPr>
            <a:cxnSpLocks/>
            <a:stCxn id="3" idx="3"/>
            <a:endCxn id="10" idx="3"/>
          </p:cNvCxnSpPr>
          <p:nvPr/>
        </p:nvCxnSpPr>
        <p:spPr>
          <a:xfrm flipH="1">
            <a:off x="2444702" y="3643135"/>
            <a:ext cx="1283358" cy="74715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27AD4E-EEC1-9430-9B0D-0AB7E1839229}"/>
              </a:ext>
              <a:ext uri="{C183D7F6-B498-43B3-948B-1728B52AA6E4}">
                <adec:decorative xmlns:adec="http://schemas.microsoft.com/office/drawing/2017/decorative" val="1"/>
              </a:ext>
            </a:extLst>
          </p:cNvPr>
          <p:cNvCxnSpPr>
            <a:cxnSpLocks/>
            <a:stCxn id="3" idx="1"/>
          </p:cNvCxnSpPr>
          <p:nvPr/>
        </p:nvCxnSpPr>
        <p:spPr>
          <a:xfrm flipH="1" flipV="1">
            <a:off x="2235469" y="2497945"/>
            <a:ext cx="1492591" cy="42700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3157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ECD4C-A642-48D7-8AB3-D5EE9290AB7E}"/>
              </a:ext>
            </a:extLst>
          </p:cNvPr>
          <p:cNvSpPr>
            <a:spLocks noGrp="1"/>
          </p:cNvSpPr>
          <p:nvPr>
            <p:ph type="title"/>
          </p:nvPr>
        </p:nvSpPr>
        <p:spPr/>
        <p:txBody>
          <a:bodyPr/>
          <a:lstStyle/>
          <a:p>
            <a:r>
              <a:rPr lang="en-US" dirty="0"/>
              <a:t>Learning Objectives - Configure Storage Security </a:t>
            </a:r>
          </a:p>
        </p:txBody>
      </p:sp>
      <p:sp>
        <p:nvSpPr>
          <p:cNvPr id="54" name="Rectangle 53">
            <a:extLst>
              <a:ext uri="{FF2B5EF4-FFF2-40B4-BE49-F238E27FC236}">
                <a16:creationId xmlns:a16="http://schemas.microsoft.com/office/drawing/2014/main" id="{97CA2088-602E-4B1D-88FE-7D2C0ED42888}"/>
              </a:ext>
            </a:extLst>
          </p:cNvPr>
          <p:cNvSpPr/>
          <p:nvPr/>
        </p:nvSpPr>
        <p:spPr bwMode="auto">
          <a:xfrm>
            <a:off x="465138" y="1397476"/>
            <a:ext cx="5493227" cy="443979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Review Storage Security Strategies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Create Shared Access Signatures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Identify URI and SAS Parameters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Demonstration – Configure Storage Security</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Determine Storage Service Encryption</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Create Customer Managed Keys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Appy Storage Security Best Practices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Learning Recap</a:t>
            </a:r>
          </a:p>
        </p:txBody>
      </p:sp>
      <p:sp>
        <p:nvSpPr>
          <p:cNvPr id="3" name="TextBox 2">
            <a:extLst>
              <a:ext uri="{FF2B5EF4-FFF2-40B4-BE49-F238E27FC236}">
                <a16:creationId xmlns:a16="http://schemas.microsoft.com/office/drawing/2014/main" id="{DC4C6CAE-2B44-89D8-7178-6AB8E6CA6816}"/>
              </a:ext>
            </a:extLst>
          </p:cNvPr>
          <p:cNvSpPr txBox="1"/>
          <p:nvPr/>
        </p:nvSpPr>
        <p:spPr>
          <a:xfrm>
            <a:off x="6472355" y="1716224"/>
            <a:ext cx="4753833" cy="363176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storage (15 –20%): Configure access to storage</a:t>
            </a:r>
          </a:p>
          <a:p>
            <a:pPr marL="231775" marR="0" lvl="0" indent="-231775"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Create and use shared access signature (SAS) tokens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 Configure stored access policies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 Manage access keys</a:t>
            </a:r>
          </a:p>
          <a:p>
            <a:pPr defTabSz="914400">
              <a:spcBef>
                <a:spcPts val="600"/>
              </a:spcBef>
              <a:defRPr/>
            </a:pPr>
            <a:r>
              <a:rPr kumimoji="0" lang="en-US" sz="2000" b="0" i="0" u="none" strike="noStrike" kern="0" cap="none" spc="0" normalizeH="0" baseline="0" noProof="0" dirty="0">
                <a:ln>
                  <a:noFill/>
                </a:ln>
                <a:solidFill>
                  <a:srgbClr val="243A5E"/>
                </a:solidFill>
                <a:effectLst/>
                <a:uLnTx/>
                <a:uFillTx/>
              </a:rPr>
              <a:t>Implement and manage storage (15 –20%): Configure and manage storage accounts</a:t>
            </a:r>
          </a:p>
          <a:p>
            <a:pPr marL="231775" indent="-231775" defTabSz="914400">
              <a:buFont typeface="Arial" panose="020B0604020202020204" pitchFamily="34" charset="0"/>
              <a:buChar char="•"/>
              <a:defRPr/>
            </a:pPr>
            <a:r>
              <a:rPr lang="en-US" sz="2000" kern="0" dirty="0">
                <a:solidFill>
                  <a:srgbClr val="000000"/>
                </a:solidFill>
              </a:rPr>
              <a:t>Configure storage account encryption</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9907456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1FCE-64F4-4472-AA65-D063EFDC413D}"/>
              </a:ext>
            </a:extLst>
          </p:cNvPr>
          <p:cNvSpPr>
            <a:spLocks noGrp="1"/>
          </p:cNvSpPr>
          <p:nvPr>
            <p:ph type="title"/>
          </p:nvPr>
        </p:nvSpPr>
        <p:spPr/>
        <p:txBody>
          <a:bodyPr/>
          <a:lstStyle/>
          <a:p>
            <a:r>
              <a:rPr lang="en-US" dirty="0"/>
              <a:t>Review Storage Security Strategies</a:t>
            </a:r>
          </a:p>
        </p:txBody>
      </p:sp>
      <p:pic>
        <p:nvPicPr>
          <p:cNvPr id="75" name="Picture 74" descr="Icon of three squares and a cloud">
            <a:extLst>
              <a:ext uri="{FF2B5EF4-FFF2-40B4-BE49-F238E27FC236}">
                <a16:creationId xmlns:a16="http://schemas.microsoft.com/office/drawing/2014/main" id="{BD09B1E5-9E71-4BAC-B421-AB878F2A0DA3}"/>
              </a:ext>
            </a:extLst>
          </p:cNvPr>
          <p:cNvPicPr>
            <a:picLocks noChangeAspect="1"/>
          </p:cNvPicPr>
          <p:nvPr/>
        </p:nvPicPr>
        <p:blipFill>
          <a:blip r:embed="rId3"/>
          <a:stretch>
            <a:fillRect/>
          </a:stretch>
        </p:blipFill>
        <p:spPr>
          <a:xfrm>
            <a:off x="420688" y="1435979"/>
            <a:ext cx="859536" cy="859536"/>
          </a:xfrm>
          <a:prstGeom prst="rect">
            <a:avLst/>
          </a:prstGeom>
        </p:spPr>
      </p:pic>
      <p:sp>
        <p:nvSpPr>
          <p:cNvPr id="5" name="Rectangle 4">
            <a:extLst>
              <a:ext uri="{FF2B5EF4-FFF2-40B4-BE49-F238E27FC236}">
                <a16:creationId xmlns:a16="http://schemas.microsoft.com/office/drawing/2014/main" id="{F867F038-7F9A-4FBC-A71E-BE7618D9FB88}"/>
              </a:ext>
            </a:extLst>
          </p:cNvPr>
          <p:cNvSpPr/>
          <p:nvPr/>
        </p:nvSpPr>
        <p:spPr bwMode="auto">
          <a:xfrm>
            <a:off x="1547335" y="1349374"/>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r>
              <a:rPr lang="en-US" sz="2200" dirty="0">
                <a:solidFill>
                  <a:schemeClr val="tx1"/>
                </a:solidFill>
              </a:rPr>
              <a:t>Storage Service Encryption</a:t>
            </a:r>
          </a:p>
        </p:txBody>
      </p:sp>
      <p:cxnSp>
        <p:nvCxnSpPr>
          <p:cNvPr id="24" name="Straight Connector 23">
            <a:extLst>
              <a:ext uri="{FF2B5EF4-FFF2-40B4-BE49-F238E27FC236}">
                <a16:creationId xmlns:a16="http://schemas.microsoft.com/office/drawing/2014/main" id="{F802C021-9677-4A24-8E23-C5C6014E06BA}"/>
              </a:ext>
              <a:ext uri="{C183D7F6-B498-43B3-948B-1728B52AA6E4}">
                <adec:decorative xmlns:adec="http://schemas.microsoft.com/office/drawing/2017/decorative" val="1"/>
              </a:ext>
            </a:extLst>
          </p:cNvPr>
          <p:cNvCxnSpPr>
            <a:cxnSpLocks/>
          </p:cNvCxnSpPr>
          <p:nvPr/>
        </p:nvCxnSpPr>
        <p:spPr>
          <a:xfrm>
            <a:off x="1552575" y="2533943"/>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4" name="Picture 73" descr="Icon of a webpage showing six squares">
            <a:extLst>
              <a:ext uri="{FF2B5EF4-FFF2-40B4-BE49-F238E27FC236}">
                <a16:creationId xmlns:a16="http://schemas.microsoft.com/office/drawing/2014/main" id="{F1054FBC-4522-448C-9F32-BE490B9F5DAF}"/>
              </a:ext>
            </a:extLst>
          </p:cNvPr>
          <p:cNvPicPr>
            <a:picLocks noChangeAspect="1"/>
          </p:cNvPicPr>
          <p:nvPr/>
        </p:nvPicPr>
        <p:blipFill>
          <a:blip r:embed="rId4"/>
          <a:stretch>
            <a:fillRect/>
          </a:stretch>
        </p:blipFill>
        <p:spPr>
          <a:xfrm>
            <a:off x="420688" y="2773948"/>
            <a:ext cx="859536" cy="859536"/>
          </a:xfrm>
          <a:prstGeom prst="rect">
            <a:avLst/>
          </a:prstGeom>
        </p:spPr>
      </p:pic>
      <p:sp>
        <p:nvSpPr>
          <p:cNvPr id="9" name="Rectangle 8">
            <a:extLst>
              <a:ext uri="{FF2B5EF4-FFF2-40B4-BE49-F238E27FC236}">
                <a16:creationId xmlns:a16="http://schemas.microsoft.com/office/drawing/2014/main" id="{1B5F96A3-CD83-42C3-99AD-7A37BC4090F9}"/>
              </a:ext>
            </a:extLst>
          </p:cNvPr>
          <p:cNvSpPr/>
          <p:nvPr/>
        </p:nvSpPr>
        <p:spPr bwMode="auto">
          <a:xfrm>
            <a:off x="1547335" y="2694168"/>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dirty="0">
                <a:solidFill>
                  <a:schemeClr val="tx1"/>
                </a:solidFill>
              </a:rPr>
              <a:t>Authentication with Entra ID and RBAC</a:t>
            </a:r>
          </a:p>
        </p:txBody>
      </p:sp>
      <p:cxnSp>
        <p:nvCxnSpPr>
          <p:cNvPr id="26" name="Straight Connector 25">
            <a:extLst>
              <a:ext uri="{FF2B5EF4-FFF2-40B4-BE49-F238E27FC236}">
                <a16:creationId xmlns:a16="http://schemas.microsoft.com/office/drawing/2014/main" id="{C6D63593-9B1E-436B-AB77-4F037A6BE647}"/>
              </a:ext>
              <a:ext uri="{C183D7F6-B498-43B3-948B-1728B52AA6E4}">
                <adec:decorative xmlns:adec="http://schemas.microsoft.com/office/drawing/2017/decorative" val="1"/>
              </a:ext>
            </a:extLst>
          </p:cNvPr>
          <p:cNvCxnSpPr>
            <a:cxnSpLocks/>
          </p:cNvCxnSpPr>
          <p:nvPr/>
        </p:nvCxnSpPr>
        <p:spPr>
          <a:xfrm>
            <a:off x="1552575" y="3871912"/>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3" name="Picture 72" descr="Icon of three squares and a cloud">
            <a:extLst>
              <a:ext uri="{FF2B5EF4-FFF2-40B4-BE49-F238E27FC236}">
                <a16:creationId xmlns:a16="http://schemas.microsoft.com/office/drawing/2014/main" id="{67AE4003-F2A5-455D-B9EE-4161A7FFEAA2}"/>
              </a:ext>
            </a:extLst>
          </p:cNvPr>
          <p:cNvPicPr>
            <a:picLocks noChangeAspect="1"/>
          </p:cNvPicPr>
          <p:nvPr/>
        </p:nvPicPr>
        <p:blipFill>
          <a:blip r:embed="rId5"/>
          <a:stretch>
            <a:fillRect/>
          </a:stretch>
        </p:blipFill>
        <p:spPr>
          <a:xfrm>
            <a:off x="420688" y="4111917"/>
            <a:ext cx="859536" cy="859536"/>
          </a:xfrm>
          <a:prstGeom prst="rect">
            <a:avLst/>
          </a:prstGeom>
        </p:spPr>
      </p:pic>
      <p:sp>
        <p:nvSpPr>
          <p:cNvPr id="13" name="Rectangle 12">
            <a:extLst>
              <a:ext uri="{FF2B5EF4-FFF2-40B4-BE49-F238E27FC236}">
                <a16:creationId xmlns:a16="http://schemas.microsoft.com/office/drawing/2014/main" id="{A24C3C7C-F8B8-4269-A9A0-0F19526072E6}"/>
              </a:ext>
            </a:extLst>
          </p:cNvPr>
          <p:cNvSpPr/>
          <p:nvPr/>
        </p:nvSpPr>
        <p:spPr bwMode="auto">
          <a:xfrm>
            <a:off x="1547335" y="4038962"/>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Client-side encryption, HTTPS, and SMB 3.0 for data in transit</a:t>
            </a:r>
          </a:p>
        </p:txBody>
      </p:sp>
      <p:cxnSp>
        <p:nvCxnSpPr>
          <p:cNvPr id="28" name="Straight Connector 27">
            <a:extLst>
              <a:ext uri="{FF2B5EF4-FFF2-40B4-BE49-F238E27FC236}">
                <a16:creationId xmlns:a16="http://schemas.microsoft.com/office/drawing/2014/main" id="{88682E27-138F-4B0B-95F1-AF371E30305D}"/>
              </a:ext>
              <a:ext uri="{C183D7F6-B498-43B3-948B-1728B52AA6E4}">
                <adec:decorative xmlns:adec="http://schemas.microsoft.com/office/drawing/2017/decorative" val="1"/>
              </a:ext>
            </a:extLst>
          </p:cNvPr>
          <p:cNvCxnSpPr>
            <a:cxnSpLocks/>
          </p:cNvCxnSpPr>
          <p:nvPr/>
        </p:nvCxnSpPr>
        <p:spPr>
          <a:xfrm>
            <a:off x="1552575" y="5209881"/>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2" name="Picture 71" descr="Icon of three squares and a cloud">
            <a:extLst>
              <a:ext uri="{FF2B5EF4-FFF2-40B4-BE49-F238E27FC236}">
                <a16:creationId xmlns:a16="http://schemas.microsoft.com/office/drawing/2014/main" id="{57F42D86-85CF-4283-A33E-172753B1E4FC}"/>
              </a:ext>
            </a:extLst>
          </p:cNvPr>
          <p:cNvPicPr>
            <a:picLocks noChangeAspect="1"/>
          </p:cNvPicPr>
          <p:nvPr/>
        </p:nvPicPr>
        <p:blipFill>
          <a:blip r:embed="rId6"/>
          <a:stretch>
            <a:fillRect/>
          </a:stretch>
        </p:blipFill>
        <p:spPr>
          <a:xfrm>
            <a:off x="420688" y="5449887"/>
            <a:ext cx="859536" cy="859536"/>
          </a:xfrm>
          <a:prstGeom prst="rect">
            <a:avLst/>
          </a:prstGeom>
        </p:spPr>
      </p:pic>
      <p:sp>
        <p:nvSpPr>
          <p:cNvPr id="17" name="Rectangle 16">
            <a:extLst>
              <a:ext uri="{FF2B5EF4-FFF2-40B4-BE49-F238E27FC236}">
                <a16:creationId xmlns:a16="http://schemas.microsoft.com/office/drawing/2014/main" id="{788E45D8-A6FC-4D75-8457-9C47C23CDE66}"/>
              </a:ext>
            </a:extLst>
          </p:cNvPr>
          <p:cNvSpPr/>
          <p:nvPr/>
        </p:nvSpPr>
        <p:spPr bwMode="auto">
          <a:xfrm>
            <a:off x="1547335" y="5383754"/>
            <a:ext cx="4023360"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Azure disk encryption</a:t>
            </a:r>
          </a:p>
        </p:txBody>
      </p:sp>
      <p:pic>
        <p:nvPicPr>
          <p:cNvPr id="93" name="Picture 92" descr="Icon of a magnifying glass">
            <a:extLst>
              <a:ext uri="{FF2B5EF4-FFF2-40B4-BE49-F238E27FC236}">
                <a16:creationId xmlns:a16="http://schemas.microsoft.com/office/drawing/2014/main" id="{626E9B21-D3AB-4459-B1B4-B6FF077DAE0F}"/>
              </a:ext>
            </a:extLst>
          </p:cNvPr>
          <p:cNvPicPr>
            <a:picLocks noChangeAspect="1"/>
          </p:cNvPicPr>
          <p:nvPr/>
        </p:nvPicPr>
        <p:blipFill>
          <a:blip r:embed="rId7"/>
          <a:stretch>
            <a:fillRect/>
          </a:stretch>
        </p:blipFill>
        <p:spPr>
          <a:xfrm>
            <a:off x="6275387" y="1435979"/>
            <a:ext cx="859536" cy="859536"/>
          </a:xfrm>
          <a:prstGeom prst="rect">
            <a:avLst/>
          </a:prstGeom>
        </p:spPr>
      </p:pic>
      <p:sp>
        <p:nvSpPr>
          <p:cNvPr id="7" name="Rectangle 6">
            <a:extLst>
              <a:ext uri="{FF2B5EF4-FFF2-40B4-BE49-F238E27FC236}">
                <a16:creationId xmlns:a16="http://schemas.microsoft.com/office/drawing/2014/main" id="{EC4FF88A-4B6E-4808-B1CE-DA5E78D31219}"/>
              </a:ext>
            </a:extLst>
          </p:cNvPr>
          <p:cNvSpPr/>
          <p:nvPr/>
        </p:nvSpPr>
        <p:spPr bwMode="auto">
          <a:xfrm>
            <a:off x="7411713" y="1349374"/>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Shared Access Signatures – delegated access</a:t>
            </a:r>
          </a:p>
        </p:txBody>
      </p:sp>
      <p:cxnSp>
        <p:nvCxnSpPr>
          <p:cNvPr id="44" name="Straight Connector 43">
            <a:extLst>
              <a:ext uri="{FF2B5EF4-FFF2-40B4-BE49-F238E27FC236}">
                <a16:creationId xmlns:a16="http://schemas.microsoft.com/office/drawing/2014/main" id="{1F5D36FE-AEFD-4F0F-8964-F34A8D624A57}"/>
              </a:ext>
              <a:ext uri="{C183D7F6-B498-43B3-948B-1728B52AA6E4}">
                <adec:decorative xmlns:adec="http://schemas.microsoft.com/office/drawing/2017/decorative" val="1"/>
              </a:ext>
            </a:extLst>
          </p:cNvPr>
          <p:cNvCxnSpPr>
            <a:cxnSpLocks/>
          </p:cNvCxnSpPr>
          <p:nvPr/>
        </p:nvCxnSpPr>
        <p:spPr>
          <a:xfrm>
            <a:off x="7407274" y="2533943"/>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2" name="Picture 91" descr="Icon of four circles connected by lines and arranged in a diamond pattern">
            <a:extLst>
              <a:ext uri="{FF2B5EF4-FFF2-40B4-BE49-F238E27FC236}">
                <a16:creationId xmlns:a16="http://schemas.microsoft.com/office/drawing/2014/main" id="{F8E67CD4-A3B3-48BD-A0A8-5BEADA8542E4}"/>
              </a:ext>
            </a:extLst>
          </p:cNvPr>
          <p:cNvPicPr>
            <a:picLocks noChangeAspect="1"/>
          </p:cNvPicPr>
          <p:nvPr/>
        </p:nvPicPr>
        <p:blipFill>
          <a:blip r:embed="rId8"/>
          <a:stretch>
            <a:fillRect/>
          </a:stretch>
        </p:blipFill>
        <p:spPr>
          <a:xfrm>
            <a:off x="6275387" y="2773948"/>
            <a:ext cx="859536" cy="859536"/>
          </a:xfrm>
          <a:prstGeom prst="rect">
            <a:avLst/>
          </a:prstGeom>
        </p:spPr>
      </p:pic>
      <p:sp>
        <p:nvSpPr>
          <p:cNvPr id="11" name="Rectangle 10">
            <a:extLst>
              <a:ext uri="{FF2B5EF4-FFF2-40B4-BE49-F238E27FC236}">
                <a16:creationId xmlns:a16="http://schemas.microsoft.com/office/drawing/2014/main" id="{B68B0A2C-F302-4E7F-8353-C9FD84AFB11D}"/>
              </a:ext>
            </a:extLst>
          </p:cNvPr>
          <p:cNvSpPr/>
          <p:nvPr/>
        </p:nvSpPr>
        <p:spPr bwMode="auto">
          <a:xfrm>
            <a:off x="7411713" y="2694168"/>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Shared Key – encrypted</a:t>
            </a:r>
            <a:br>
              <a:rPr lang="en-US" sz="2200">
                <a:solidFill>
                  <a:schemeClr val="tx1"/>
                </a:solidFill>
              </a:rPr>
            </a:br>
            <a:r>
              <a:rPr lang="en-US" sz="2200">
                <a:solidFill>
                  <a:schemeClr val="tx1"/>
                </a:solidFill>
              </a:rPr>
              <a:t>signature string</a:t>
            </a:r>
          </a:p>
        </p:txBody>
      </p:sp>
      <p:cxnSp>
        <p:nvCxnSpPr>
          <p:cNvPr id="45" name="Straight Connector 44">
            <a:extLst>
              <a:ext uri="{FF2B5EF4-FFF2-40B4-BE49-F238E27FC236}">
                <a16:creationId xmlns:a16="http://schemas.microsoft.com/office/drawing/2014/main" id="{A70B2096-3890-43F2-96CE-EAF31D6FED02}"/>
              </a:ext>
              <a:ext uri="{C183D7F6-B498-43B3-948B-1728B52AA6E4}">
                <adec:decorative xmlns:adec="http://schemas.microsoft.com/office/drawing/2017/decorative" val="1"/>
              </a:ext>
            </a:extLst>
          </p:cNvPr>
          <p:cNvCxnSpPr>
            <a:cxnSpLocks/>
          </p:cNvCxnSpPr>
          <p:nvPr/>
        </p:nvCxnSpPr>
        <p:spPr>
          <a:xfrm>
            <a:off x="7407274" y="3871912"/>
            <a:ext cx="433387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1" name="Picture 90" descr="Icon of a person">
            <a:extLst>
              <a:ext uri="{FF2B5EF4-FFF2-40B4-BE49-F238E27FC236}">
                <a16:creationId xmlns:a16="http://schemas.microsoft.com/office/drawing/2014/main" id="{90FBDF48-2D76-49C3-8B11-4210D3433F9A}"/>
              </a:ext>
            </a:extLst>
          </p:cNvPr>
          <p:cNvPicPr>
            <a:picLocks noChangeAspect="1"/>
          </p:cNvPicPr>
          <p:nvPr/>
        </p:nvPicPr>
        <p:blipFill>
          <a:blip r:embed="rId9"/>
          <a:stretch>
            <a:fillRect/>
          </a:stretch>
        </p:blipFill>
        <p:spPr>
          <a:xfrm>
            <a:off x="6275387" y="4111917"/>
            <a:ext cx="859536" cy="859536"/>
          </a:xfrm>
          <a:prstGeom prst="rect">
            <a:avLst/>
          </a:prstGeom>
        </p:spPr>
      </p:pic>
      <p:sp>
        <p:nvSpPr>
          <p:cNvPr id="15" name="Rectangle 14">
            <a:extLst>
              <a:ext uri="{FF2B5EF4-FFF2-40B4-BE49-F238E27FC236}">
                <a16:creationId xmlns:a16="http://schemas.microsoft.com/office/drawing/2014/main" id="{5C775A3F-182B-418E-9C76-A1284ACBA548}"/>
              </a:ext>
            </a:extLst>
          </p:cNvPr>
          <p:cNvSpPr/>
          <p:nvPr/>
        </p:nvSpPr>
        <p:spPr bwMode="auto">
          <a:xfrm>
            <a:off x="7411713" y="4038962"/>
            <a:ext cx="4459922"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2200">
                <a:solidFill>
                  <a:schemeClr val="tx1"/>
                </a:solidFill>
              </a:rPr>
              <a:t>Anonymous access to containers and blobs</a:t>
            </a:r>
          </a:p>
        </p:txBody>
      </p:sp>
    </p:spTree>
    <p:extLst>
      <p:ext uri="{BB962C8B-B14F-4D97-AF65-F5344CB8AC3E}">
        <p14:creationId xmlns:p14="http://schemas.microsoft.com/office/powerpoint/2010/main" val="152629383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Shared Access Signatures</a:t>
            </a:r>
          </a:p>
        </p:txBody>
      </p:sp>
      <p:sp>
        <p:nvSpPr>
          <p:cNvPr id="4" name="Rectangle 3">
            <a:extLst>
              <a:ext uri="{FF2B5EF4-FFF2-40B4-BE49-F238E27FC236}">
                <a16:creationId xmlns:a16="http://schemas.microsoft.com/office/drawing/2014/main" id="{D21C2D20-EA91-4F53-B85E-B75510065DAB}"/>
              </a:ext>
            </a:extLst>
          </p:cNvPr>
          <p:cNvSpPr/>
          <p:nvPr/>
        </p:nvSpPr>
        <p:spPr>
          <a:xfrm>
            <a:off x="427038" y="1192214"/>
            <a:ext cx="6326187" cy="8020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Provides delegated access to resources</a:t>
            </a:r>
          </a:p>
        </p:txBody>
      </p:sp>
      <p:sp>
        <p:nvSpPr>
          <p:cNvPr id="5" name="Rectangle 4">
            <a:extLst>
              <a:ext uri="{FF2B5EF4-FFF2-40B4-BE49-F238E27FC236}">
                <a16:creationId xmlns:a16="http://schemas.microsoft.com/office/drawing/2014/main" id="{1FEFBB92-C2EE-4284-A760-2136EACCEF4A}"/>
              </a:ext>
            </a:extLst>
          </p:cNvPr>
          <p:cNvSpPr/>
          <p:nvPr/>
        </p:nvSpPr>
        <p:spPr>
          <a:xfrm>
            <a:off x="427038" y="2240308"/>
            <a:ext cx="6326187" cy="8020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cs typeface="Segoe UI Semilight"/>
              </a:rPr>
              <a:t>Grants access to clients without sharing your storage account keys</a:t>
            </a:r>
          </a:p>
        </p:txBody>
      </p:sp>
      <p:sp>
        <p:nvSpPr>
          <p:cNvPr id="6" name="Rectangle 5">
            <a:extLst>
              <a:ext uri="{FF2B5EF4-FFF2-40B4-BE49-F238E27FC236}">
                <a16:creationId xmlns:a16="http://schemas.microsoft.com/office/drawing/2014/main" id="{6D561000-F35F-4894-9337-37332DB6A435}"/>
              </a:ext>
            </a:extLst>
          </p:cNvPr>
          <p:cNvSpPr/>
          <p:nvPr/>
        </p:nvSpPr>
        <p:spPr>
          <a:xfrm>
            <a:off x="427038" y="3288403"/>
            <a:ext cx="6326187" cy="10208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cs typeface="Segoe UI Semilight"/>
              </a:rPr>
              <a:t>The account SAS delegates access</a:t>
            </a:r>
            <a:br>
              <a:rPr lang="en-US" sz="2000">
                <a:solidFill>
                  <a:schemeClr val="tx1"/>
                </a:solidFill>
                <a:cs typeface="Segoe UI Semilight"/>
              </a:rPr>
            </a:br>
            <a:r>
              <a:rPr lang="en-US" sz="2000">
                <a:solidFill>
                  <a:schemeClr val="tx1"/>
                </a:solidFill>
                <a:cs typeface="Segoe UI Semilight"/>
              </a:rPr>
              <a:t>to resources in one or more of the storage services</a:t>
            </a:r>
          </a:p>
        </p:txBody>
      </p:sp>
      <p:sp>
        <p:nvSpPr>
          <p:cNvPr id="7" name="Rectangle 6">
            <a:extLst>
              <a:ext uri="{FF2B5EF4-FFF2-40B4-BE49-F238E27FC236}">
                <a16:creationId xmlns:a16="http://schemas.microsoft.com/office/drawing/2014/main" id="{DA09981A-B29B-4AA0-ACAA-CCA21A89588E}"/>
              </a:ext>
            </a:extLst>
          </p:cNvPr>
          <p:cNvSpPr/>
          <p:nvPr/>
        </p:nvSpPr>
        <p:spPr>
          <a:xfrm>
            <a:off x="427038" y="4588852"/>
            <a:ext cx="6326187" cy="102083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The service SAS delegates access</a:t>
            </a:r>
            <a:br>
              <a:rPr lang="en-US" sz="2000">
                <a:solidFill>
                  <a:schemeClr val="tx1"/>
                </a:solidFill>
              </a:rPr>
            </a:br>
            <a:r>
              <a:rPr lang="en-US" sz="2000">
                <a:solidFill>
                  <a:schemeClr val="tx1"/>
                </a:solidFill>
              </a:rPr>
              <a:t>to a resource in just one of the storage services</a:t>
            </a:r>
          </a:p>
        </p:txBody>
      </p:sp>
      <p:pic>
        <p:nvPicPr>
          <p:cNvPr id="8" name="Picture 7" descr="Screenshot of the Generate SAS token and URL page. ">
            <a:extLst>
              <a:ext uri="{FF2B5EF4-FFF2-40B4-BE49-F238E27FC236}">
                <a16:creationId xmlns:a16="http://schemas.microsoft.com/office/drawing/2014/main" id="{5F7BCDBB-994C-4044-A9BD-BE5B370A307A}"/>
              </a:ext>
            </a:extLst>
          </p:cNvPr>
          <p:cNvPicPr>
            <a:picLocks noChangeAspect="1"/>
          </p:cNvPicPr>
          <p:nvPr/>
        </p:nvPicPr>
        <p:blipFill>
          <a:blip r:embed="rId3"/>
          <a:stretch>
            <a:fillRect/>
          </a:stretch>
        </p:blipFill>
        <p:spPr>
          <a:xfrm>
            <a:off x="7664736" y="982467"/>
            <a:ext cx="3419474" cy="4793732"/>
          </a:xfrm>
          <a:prstGeom prst="rect">
            <a:avLst/>
          </a:prstGeom>
        </p:spPr>
      </p:pic>
    </p:spTree>
    <p:extLst>
      <p:ext uri="{BB962C8B-B14F-4D97-AF65-F5344CB8AC3E}">
        <p14:creationId xmlns:p14="http://schemas.microsoft.com/office/powerpoint/2010/main" val="905075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Identify URI and SAS Parameters</a:t>
            </a:r>
          </a:p>
        </p:txBody>
      </p:sp>
      <p:sp>
        <p:nvSpPr>
          <p:cNvPr id="10" name="Rectangle 9">
            <a:extLst>
              <a:ext uri="{FF2B5EF4-FFF2-40B4-BE49-F238E27FC236}">
                <a16:creationId xmlns:a16="http://schemas.microsoft.com/office/drawing/2014/main" id="{D277871D-5719-422C-8758-FCFC4444AD1F}"/>
              </a:ext>
            </a:extLst>
          </p:cNvPr>
          <p:cNvSpPr/>
          <p:nvPr/>
        </p:nvSpPr>
        <p:spPr>
          <a:xfrm>
            <a:off x="427033" y="1192212"/>
            <a:ext cx="11582399" cy="1220788"/>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marL="290513" indent="-290513">
              <a:spcAft>
                <a:spcPts val="1200"/>
              </a:spcAft>
              <a:buFont typeface="Arial" panose="020B0604020202020204" pitchFamily="34" charset="0"/>
              <a:buChar char="•"/>
            </a:pPr>
            <a:r>
              <a:rPr lang="en-US" sz="2400">
                <a:solidFill>
                  <a:schemeClr val="tx1"/>
                </a:solidFill>
              </a:rPr>
              <a:t>A SAS is a signed URI that points to one or more storage resources </a:t>
            </a:r>
          </a:p>
          <a:p>
            <a:pPr marL="290513" indent="-290513">
              <a:spcAft>
                <a:spcPts val="1200"/>
              </a:spcAft>
              <a:buFont typeface="Arial" panose="020B0604020202020204" pitchFamily="34" charset="0"/>
              <a:buChar char="•"/>
            </a:pPr>
            <a:r>
              <a:rPr lang="en-US" sz="2400">
                <a:solidFill>
                  <a:schemeClr val="tx1"/>
                </a:solidFill>
              </a:rPr>
              <a:t>Consists of a storage resource URI and the SAS token</a:t>
            </a:r>
          </a:p>
        </p:txBody>
      </p:sp>
      <p:sp>
        <p:nvSpPr>
          <p:cNvPr id="8" name="Rectangle 7">
            <a:extLst>
              <a:ext uri="{FF2B5EF4-FFF2-40B4-BE49-F238E27FC236}">
                <a16:creationId xmlns:a16="http://schemas.microsoft.com/office/drawing/2014/main" id="{1AF8CDA7-ECC6-4841-9C08-13F5D4830D71}"/>
              </a:ext>
              <a:ext uri="{C183D7F6-B498-43B3-948B-1728B52AA6E4}">
                <adec:decorative xmlns:adec="http://schemas.microsoft.com/office/drawing/2017/decorative" val="1"/>
              </a:ext>
            </a:extLst>
          </p:cNvPr>
          <p:cNvSpPr/>
          <p:nvPr/>
        </p:nvSpPr>
        <p:spPr bwMode="auto">
          <a:xfrm>
            <a:off x="427039" y="2525856"/>
            <a:ext cx="11582400" cy="233401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A diagram showing that the Storage Resource and the SAS token combine to form the URI">
            <a:extLst>
              <a:ext uri="{FF2B5EF4-FFF2-40B4-BE49-F238E27FC236}">
                <a16:creationId xmlns:a16="http://schemas.microsoft.com/office/drawing/2014/main" id="{BD235AD3-F791-4F89-9528-1114B01C78C1}"/>
              </a:ext>
            </a:extLst>
          </p:cNvPr>
          <p:cNvPicPr>
            <a:picLocks noChangeAspect="1"/>
          </p:cNvPicPr>
          <p:nvPr/>
        </p:nvPicPr>
        <p:blipFill>
          <a:blip r:embed="rId3"/>
          <a:stretch>
            <a:fillRect/>
          </a:stretch>
        </p:blipFill>
        <p:spPr>
          <a:xfrm>
            <a:off x="3285290" y="2561271"/>
            <a:ext cx="5854775" cy="1094850"/>
          </a:xfrm>
          <a:prstGeom prst="rect">
            <a:avLst/>
          </a:prstGeom>
        </p:spPr>
      </p:pic>
      <p:sp>
        <p:nvSpPr>
          <p:cNvPr id="6" name="Rectangle 5">
            <a:extLst>
              <a:ext uri="{FF2B5EF4-FFF2-40B4-BE49-F238E27FC236}">
                <a16:creationId xmlns:a16="http://schemas.microsoft.com/office/drawing/2014/main" id="{AB9DEA76-A2F5-431D-B039-3BA131E91FED}"/>
              </a:ext>
            </a:extLst>
          </p:cNvPr>
          <p:cNvSpPr/>
          <p:nvPr/>
        </p:nvSpPr>
        <p:spPr>
          <a:xfrm>
            <a:off x="2218267" y="3810953"/>
            <a:ext cx="7786930" cy="923330"/>
          </a:xfrm>
          <a:prstGeom prst="rect">
            <a:avLst/>
          </a:prstGeom>
        </p:spPr>
        <p:txBody>
          <a:bodyPr wrap="square">
            <a:spAutoFit/>
          </a:bodyPr>
          <a:lstStyle/>
          <a:p>
            <a:r>
              <a:rPr lang="en-US" dirty="0">
                <a:solidFill>
                  <a:srgbClr val="A31515"/>
                </a:solidFill>
                <a:latin typeface="Consolas" panose="020B0609020204030204" pitchFamily="49" charset="0"/>
              </a:rPr>
              <a:t>https://myaccount.blob.core.windows.net/?sp=r&amp;st=2020-05-11T18:31:43Z&amp;se=2020-05-12T02:31:43Z&amp;spr=https&amp;sv=2019-10-10&amp;sr=b&amp;sig=jOqABJZHfUVeBQ3yVn7kWiCKlO0sxCiK1rzEchfAz8U%3D</a:t>
            </a:r>
          </a:p>
        </p:txBody>
      </p:sp>
      <p:sp>
        <p:nvSpPr>
          <p:cNvPr id="11" name="Rectangle 10">
            <a:extLst>
              <a:ext uri="{FF2B5EF4-FFF2-40B4-BE49-F238E27FC236}">
                <a16:creationId xmlns:a16="http://schemas.microsoft.com/office/drawing/2014/main" id="{98E57CC1-A90D-4A61-80B9-8D1866BFDFDF}"/>
              </a:ext>
            </a:extLst>
          </p:cNvPr>
          <p:cNvSpPr/>
          <p:nvPr/>
        </p:nvSpPr>
        <p:spPr>
          <a:xfrm>
            <a:off x="427033" y="5019138"/>
            <a:ext cx="11571291" cy="134260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Aft>
                <a:spcPts val="1200"/>
              </a:spcAft>
            </a:pPr>
            <a:r>
              <a:rPr lang="en-US" sz="2400" dirty="0">
                <a:solidFill>
                  <a:schemeClr val="tx1"/>
                </a:solidFill>
              </a:rPr>
              <a:t>Includes parameters for resource URI, storage services version, services,</a:t>
            </a:r>
            <a:br>
              <a:rPr lang="en-US" sz="2400" dirty="0">
                <a:solidFill>
                  <a:schemeClr val="tx1"/>
                </a:solidFill>
              </a:rPr>
            </a:br>
            <a:r>
              <a:rPr lang="en-US" sz="2400" dirty="0">
                <a:solidFill>
                  <a:schemeClr val="tx1"/>
                </a:solidFill>
              </a:rPr>
              <a:t>resource types, start time, expiry time, resource, permissions, IP range, protocol, signature</a:t>
            </a:r>
          </a:p>
        </p:txBody>
      </p:sp>
    </p:spTree>
    <p:extLst>
      <p:ext uri="{BB962C8B-B14F-4D97-AF65-F5344CB8AC3E}">
        <p14:creationId xmlns:p14="http://schemas.microsoft.com/office/powerpoint/2010/main" val="1732842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90069-FE4F-40DC-9D2D-460EC467B03C}"/>
              </a:ext>
            </a:extLst>
          </p:cNvPr>
          <p:cNvSpPr>
            <a:spLocks noGrp="1"/>
          </p:cNvSpPr>
          <p:nvPr>
            <p:ph type="title"/>
          </p:nvPr>
        </p:nvSpPr>
        <p:spPr/>
        <p:txBody>
          <a:bodyPr/>
          <a:lstStyle/>
          <a:p>
            <a:r>
              <a:rPr lang="en-US" dirty="0"/>
              <a:t>Demonstration – Configure storage security</a:t>
            </a:r>
          </a:p>
        </p:txBody>
      </p:sp>
      <p:sp>
        <p:nvSpPr>
          <p:cNvPr id="4" name="TextBox 3">
            <a:extLst>
              <a:ext uri="{FF2B5EF4-FFF2-40B4-BE49-F238E27FC236}">
                <a16:creationId xmlns:a16="http://schemas.microsoft.com/office/drawing/2014/main" id="{5BED6B52-261C-F286-07AB-2BFF71A86EEC}"/>
              </a:ext>
            </a:extLst>
          </p:cNvPr>
          <p:cNvSpPr txBox="1"/>
          <p:nvPr/>
        </p:nvSpPr>
        <p:spPr>
          <a:xfrm>
            <a:off x="677825" y="1730603"/>
            <a:ext cx="6626742" cy="1685526"/>
          </a:xfrm>
          <a:prstGeom prst="rect">
            <a:avLst/>
          </a:prstGeom>
          <a:noFill/>
        </p:spPr>
        <p:txBody>
          <a:bodyPr wrap="square">
            <a:spAutoFit/>
          </a:bodyPr>
          <a:lstStyle/>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Generate a shared access signature</a:t>
            </a:r>
          </a:p>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Review the configuration permissions</a:t>
            </a:r>
          </a:p>
          <a:p>
            <a:pPr marL="285750" indent="-285750" defTabSz="932472" fontAlgn="base">
              <a:lnSpc>
                <a:spcPct val="150000"/>
              </a:lnSpc>
              <a:spcBef>
                <a:spcPct val="0"/>
              </a:spcBef>
              <a:spcAft>
                <a:spcPct val="0"/>
              </a:spcAft>
              <a:buFont typeface="Arial" panose="020B0604020202020204" pitchFamily="34" charset="0"/>
              <a:buChar char="•"/>
            </a:pPr>
            <a:r>
              <a:rPr lang="en-US" sz="2400" dirty="0">
                <a:solidFill>
                  <a:schemeClr val="tx1"/>
                </a:solidFill>
              </a:rPr>
              <a:t>Use the SAS URL to test the permissions</a:t>
            </a:r>
          </a:p>
        </p:txBody>
      </p:sp>
    </p:spTree>
    <p:extLst>
      <p:ext uri="{BB962C8B-B14F-4D97-AF65-F5344CB8AC3E}">
        <p14:creationId xmlns:p14="http://schemas.microsoft.com/office/powerpoint/2010/main" val="193890132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8DC61-0E62-49F2-8573-F72976BFE085}"/>
              </a:ext>
            </a:extLst>
          </p:cNvPr>
          <p:cNvSpPr>
            <a:spLocks noGrp="1"/>
          </p:cNvSpPr>
          <p:nvPr>
            <p:ph type="title"/>
          </p:nvPr>
        </p:nvSpPr>
        <p:spPr/>
        <p:txBody>
          <a:bodyPr/>
          <a:lstStyle/>
          <a:p>
            <a:r>
              <a:rPr lang="en-US" dirty="0"/>
              <a:t>Determine Storage Service Encryption</a:t>
            </a:r>
          </a:p>
        </p:txBody>
      </p:sp>
      <p:sp>
        <p:nvSpPr>
          <p:cNvPr id="8" name="Text Placeholder 7">
            <a:extLst>
              <a:ext uri="{FF2B5EF4-FFF2-40B4-BE49-F238E27FC236}">
                <a16:creationId xmlns:a16="http://schemas.microsoft.com/office/drawing/2014/main" id="{F50FDDFB-676D-F646-05A9-E4FF791B00D0}"/>
              </a:ext>
            </a:extLst>
          </p:cNvPr>
          <p:cNvSpPr>
            <a:spLocks noGrp="1"/>
          </p:cNvSpPr>
          <p:nvPr>
            <p:ph type="body" sz="quarter" idx="10"/>
          </p:nvPr>
        </p:nvSpPr>
        <p:spPr/>
        <p:txBody>
          <a:bodyPr/>
          <a:lstStyle/>
          <a:p>
            <a:r>
              <a:rPr lang="en-US" dirty="0"/>
              <a:t>You can use your own key (next topic)</a:t>
            </a:r>
          </a:p>
        </p:txBody>
      </p:sp>
      <p:sp>
        <p:nvSpPr>
          <p:cNvPr id="4" name="Rectangle 3">
            <a:extLst>
              <a:ext uri="{FF2B5EF4-FFF2-40B4-BE49-F238E27FC236}">
                <a16:creationId xmlns:a16="http://schemas.microsoft.com/office/drawing/2014/main" id="{936145C1-4E6E-44B0-B6F2-8CA20C34BBB1}"/>
              </a:ext>
            </a:extLst>
          </p:cNvPr>
          <p:cNvSpPr/>
          <p:nvPr/>
        </p:nvSpPr>
        <p:spPr>
          <a:xfrm>
            <a:off x="427034" y="1734619"/>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Protects your data for security and compliance</a:t>
            </a:r>
          </a:p>
        </p:txBody>
      </p:sp>
      <p:sp>
        <p:nvSpPr>
          <p:cNvPr id="5" name="Rectangle 4">
            <a:extLst>
              <a:ext uri="{FF2B5EF4-FFF2-40B4-BE49-F238E27FC236}">
                <a16:creationId xmlns:a16="http://schemas.microsoft.com/office/drawing/2014/main" id="{43A2A113-8349-4878-91FE-A3227E23F12A}"/>
              </a:ext>
            </a:extLst>
          </p:cNvPr>
          <p:cNvSpPr/>
          <p:nvPr/>
        </p:nvSpPr>
        <p:spPr>
          <a:xfrm>
            <a:off x="427034" y="2708243"/>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Automatically encrypts and decrypts</a:t>
            </a:r>
            <a:br>
              <a:rPr lang="en-US" sz="2000">
                <a:solidFill>
                  <a:schemeClr val="tx1"/>
                </a:solidFill>
              </a:rPr>
            </a:br>
            <a:r>
              <a:rPr lang="en-US" sz="2000">
                <a:solidFill>
                  <a:schemeClr val="tx1"/>
                </a:solidFill>
              </a:rPr>
              <a:t>your data</a:t>
            </a:r>
          </a:p>
        </p:txBody>
      </p:sp>
      <p:sp>
        <p:nvSpPr>
          <p:cNvPr id="6" name="Rectangle 5">
            <a:extLst>
              <a:ext uri="{FF2B5EF4-FFF2-40B4-BE49-F238E27FC236}">
                <a16:creationId xmlns:a16="http://schemas.microsoft.com/office/drawing/2014/main" id="{2309AE5D-B9C4-4D16-BAE1-75166F5C389D}"/>
              </a:ext>
            </a:extLst>
          </p:cNvPr>
          <p:cNvSpPr/>
          <p:nvPr/>
        </p:nvSpPr>
        <p:spPr>
          <a:xfrm>
            <a:off x="427034" y="3681866"/>
            <a:ext cx="5084766" cy="49777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Encrypted through 256-bit AES encryption</a:t>
            </a:r>
          </a:p>
        </p:txBody>
      </p:sp>
      <p:sp>
        <p:nvSpPr>
          <p:cNvPr id="7" name="Rectangle 6">
            <a:extLst>
              <a:ext uri="{FF2B5EF4-FFF2-40B4-BE49-F238E27FC236}">
                <a16:creationId xmlns:a16="http://schemas.microsoft.com/office/drawing/2014/main" id="{4D965712-9F3F-42D7-A781-3E41913DDE8C}"/>
              </a:ext>
            </a:extLst>
          </p:cNvPr>
          <p:cNvSpPr/>
          <p:nvPr/>
        </p:nvSpPr>
        <p:spPr>
          <a:xfrm>
            <a:off x="427034" y="4423913"/>
            <a:ext cx="5084766" cy="68444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Is enabled for all new and existing storage accounts and cannot be disabled</a:t>
            </a:r>
          </a:p>
        </p:txBody>
      </p:sp>
      <p:sp>
        <p:nvSpPr>
          <p:cNvPr id="12" name="Rectangle 11">
            <a:extLst>
              <a:ext uri="{FF2B5EF4-FFF2-40B4-BE49-F238E27FC236}">
                <a16:creationId xmlns:a16="http://schemas.microsoft.com/office/drawing/2014/main" id="{661B92A0-6A64-4528-83B8-9003108139FD}"/>
              </a:ext>
            </a:extLst>
          </p:cNvPr>
          <p:cNvSpPr/>
          <p:nvPr/>
        </p:nvSpPr>
        <p:spPr>
          <a:xfrm>
            <a:off x="427034" y="5397534"/>
            <a:ext cx="5084766" cy="49777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Is transparent to users</a:t>
            </a:r>
          </a:p>
        </p:txBody>
      </p:sp>
      <p:pic>
        <p:nvPicPr>
          <p:cNvPr id="14" name="Picture 6" descr="A screenshot that talks about Storage Service Encryption page">
            <a:extLst>
              <a:ext uri="{FF2B5EF4-FFF2-40B4-BE49-F238E27FC236}">
                <a16:creationId xmlns:a16="http://schemas.microsoft.com/office/drawing/2014/main" id="{7DA6E92D-9068-4347-B40D-F007ADC745F8}"/>
              </a:ext>
            </a:extLst>
          </p:cNvPr>
          <p:cNvPicPr>
            <a:picLocks noChangeAspect="1"/>
          </p:cNvPicPr>
          <p:nvPr/>
        </p:nvPicPr>
        <p:blipFill>
          <a:blip r:embed="rId3"/>
          <a:stretch>
            <a:fillRect/>
          </a:stretch>
        </p:blipFill>
        <p:spPr>
          <a:xfrm>
            <a:off x="6218236" y="1653677"/>
            <a:ext cx="5392531" cy="4156962"/>
          </a:xfrm>
          <a:prstGeom prst="rect">
            <a:avLst/>
          </a:prstGeom>
          <a:ln>
            <a:noFill/>
          </a:ln>
        </p:spPr>
      </p:pic>
    </p:spTree>
    <p:extLst>
      <p:ext uri="{BB962C8B-B14F-4D97-AF65-F5344CB8AC3E}">
        <p14:creationId xmlns:p14="http://schemas.microsoft.com/office/powerpoint/2010/main" val="51562915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8D39-0AE7-4BFA-AFA4-5CD03C00368E}"/>
              </a:ext>
            </a:extLst>
          </p:cNvPr>
          <p:cNvSpPr>
            <a:spLocks noGrp="1"/>
          </p:cNvSpPr>
          <p:nvPr>
            <p:ph type="title"/>
          </p:nvPr>
        </p:nvSpPr>
        <p:spPr/>
        <p:txBody>
          <a:bodyPr/>
          <a:lstStyle/>
          <a:p>
            <a:r>
              <a:rPr lang="en-US" dirty="0"/>
              <a:t>Create Customer Managed Keys</a:t>
            </a:r>
          </a:p>
        </p:txBody>
      </p:sp>
      <p:sp>
        <p:nvSpPr>
          <p:cNvPr id="4" name="Rectangle 3">
            <a:extLst>
              <a:ext uri="{FF2B5EF4-FFF2-40B4-BE49-F238E27FC236}">
                <a16:creationId xmlns:a16="http://schemas.microsoft.com/office/drawing/2014/main" id="{0DC4B81D-2BA7-4264-9DC4-6C417AB95390}"/>
              </a:ext>
            </a:extLst>
          </p:cNvPr>
          <p:cNvSpPr/>
          <p:nvPr/>
        </p:nvSpPr>
        <p:spPr>
          <a:xfrm>
            <a:off x="427034" y="1298539"/>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Use the Azure Key Vault to manage your encryption keys</a:t>
            </a:r>
          </a:p>
        </p:txBody>
      </p:sp>
      <p:sp>
        <p:nvSpPr>
          <p:cNvPr id="5" name="Rectangle 4">
            <a:extLst>
              <a:ext uri="{FF2B5EF4-FFF2-40B4-BE49-F238E27FC236}">
                <a16:creationId xmlns:a16="http://schemas.microsoft.com/office/drawing/2014/main" id="{3FCA0867-0F7F-4514-87B3-2B8DD32F0607}"/>
              </a:ext>
            </a:extLst>
          </p:cNvPr>
          <p:cNvSpPr/>
          <p:nvPr/>
        </p:nvSpPr>
        <p:spPr>
          <a:xfrm>
            <a:off x="427034" y="2523339"/>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Create your own encryption keys and</a:t>
            </a:r>
            <a:br>
              <a:rPr lang="en-US" sz="2000">
                <a:solidFill>
                  <a:schemeClr val="tx1"/>
                </a:solidFill>
              </a:rPr>
            </a:br>
            <a:r>
              <a:rPr lang="en-US" sz="2000">
                <a:solidFill>
                  <a:schemeClr val="tx1"/>
                </a:solidFill>
              </a:rPr>
              <a:t>store them in a key vault</a:t>
            </a:r>
          </a:p>
        </p:txBody>
      </p:sp>
      <p:sp>
        <p:nvSpPr>
          <p:cNvPr id="6" name="Rectangle 5">
            <a:extLst>
              <a:ext uri="{FF2B5EF4-FFF2-40B4-BE49-F238E27FC236}">
                <a16:creationId xmlns:a16="http://schemas.microsoft.com/office/drawing/2014/main" id="{AAAF3445-D23C-4BD4-AC57-8E01F0650739}"/>
              </a:ext>
            </a:extLst>
          </p:cNvPr>
          <p:cNvSpPr/>
          <p:nvPr/>
        </p:nvSpPr>
        <p:spPr>
          <a:xfrm>
            <a:off x="427034" y="3748140"/>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Use Azure Key Vault's APIs to generate encryption keys</a:t>
            </a:r>
          </a:p>
        </p:txBody>
      </p:sp>
      <p:sp>
        <p:nvSpPr>
          <p:cNvPr id="8" name="Rectangle 7">
            <a:extLst>
              <a:ext uri="{FF2B5EF4-FFF2-40B4-BE49-F238E27FC236}">
                <a16:creationId xmlns:a16="http://schemas.microsoft.com/office/drawing/2014/main" id="{11DE86F3-48D2-47D2-9403-644519EF8465}"/>
              </a:ext>
            </a:extLst>
          </p:cNvPr>
          <p:cNvSpPr/>
          <p:nvPr/>
        </p:nvSpPr>
        <p:spPr>
          <a:xfrm>
            <a:off x="427034" y="4972940"/>
            <a:ext cx="5084766" cy="11301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a:solidFill>
                  <a:schemeClr val="tx1"/>
                </a:solidFill>
              </a:rPr>
              <a:t>Custom keys give you more flexibility</a:t>
            </a:r>
            <a:br>
              <a:rPr lang="en-US" sz="2000">
                <a:solidFill>
                  <a:schemeClr val="tx1"/>
                </a:solidFill>
              </a:rPr>
            </a:br>
            <a:r>
              <a:rPr lang="en-US" sz="2000">
                <a:solidFill>
                  <a:schemeClr val="tx1"/>
                </a:solidFill>
              </a:rPr>
              <a:t>and control </a:t>
            </a:r>
          </a:p>
        </p:txBody>
      </p:sp>
      <p:pic>
        <p:nvPicPr>
          <p:cNvPr id="11" name="Picture 5" descr="A screenshot of using Customer Managed Keys for encryption, and selecting a key from the Key Vault">
            <a:extLst>
              <a:ext uri="{FF2B5EF4-FFF2-40B4-BE49-F238E27FC236}">
                <a16:creationId xmlns:a16="http://schemas.microsoft.com/office/drawing/2014/main" id="{A9FF4276-D20B-4CE6-BD17-6150393256C4}"/>
              </a:ext>
            </a:extLst>
          </p:cNvPr>
          <p:cNvPicPr>
            <a:picLocks noChangeAspect="1"/>
          </p:cNvPicPr>
          <p:nvPr/>
        </p:nvPicPr>
        <p:blipFill>
          <a:blip r:embed="rId3"/>
          <a:stretch>
            <a:fillRect/>
          </a:stretch>
        </p:blipFill>
        <p:spPr>
          <a:xfrm>
            <a:off x="5785933" y="1846828"/>
            <a:ext cx="6101772" cy="3797756"/>
          </a:xfrm>
          <a:prstGeom prst="rect">
            <a:avLst/>
          </a:prstGeom>
          <a:ln>
            <a:noFill/>
          </a:ln>
        </p:spPr>
      </p:pic>
    </p:spTree>
    <p:extLst>
      <p:ext uri="{BB962C8B-B14F-4D97-AF65-F5344CB8AC3E}">
        <p14:creationId xmlns:p14="http://schemas.microsoft.com/office/powerpoint/2010/main" val="365275889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Apply Storage Security Best Practices</a:t>
            </a:r>
          </a:p>
        </p:txBody>
      </p:sp>
      <p:sp>
        <p:nvSpPr>
          <p:cNvPr id="53" name="TextBox 52">
            <a:extLst>
              <a:ext uri="{FF2B5EF4-FFF2-40B4-BE49-F238E27FC236}">
                <a16:creationId xmlns:a16="http://schemas.microsoft.com/office/drawing/2014/main" id="{8E6A6E4C-A83D-4B4C-A352-18236004FB00}"/>
              </a:ext>
            </a:extLst>
          </p:cNvPr>
          <p:cNvSpPr txBox="1"/>
          <p:nvPr/>
        </p:nvSpPr>
        <p:spPr>
          <a:xfrm>
            <a:off x="1511300" y="1609170"/>
            <a:ext cx="4177120" cy="553998"/>
          </a:xfrm>
          <a:prstGeom prst="rect">
            <a:avLst/>
          </a:prstGeom>
          <a:noFill/>
        </p:spPr>
        <p:txBody>
          <a:bodyPr wrap="square" lIns="0" tIns="0" rIns="0" bIns="0" rtlCol="0" anchor="ctr">
            <a:spAutoFit/>
          </a:bodyPr>
          <a:lstStyle/>
          <a:p>
            <a:pPr>
              <a:spcBef>
                <a:spcPts val="600"/>
              </a:spcBef>
              <a:spcAft>
                <a:spcPts val="600"/>
              </a:spcAft>
            </a:pPr>
            <a:r>
              <a:rPr lang="en-US" dirty="0"/>
              <a:t>Always use HTTPS to create or distribute a SAS</a:t>
            </a:r>
          </a:p>
        </p:txBody>
      </p:sp>
      <p:sp>
        <p:nvSpPr>
          <p:cNvPr id="54" name="TextBox 53">
            <a:extLst>
              <a:ext uri="{FF2B5EF4-FFF2-40B4-BE49-F238E27FC236}">
                <a16:creationId xmlns:a16="http://schemas.microsoft.com/office/drawing/2014/main" id="{31FC4AA5-5562-4E55-96FF-7B1D6A3B8D9A}"/>
              </a:ext>
            </a:extLst>
          </p:cNvPr>
          <p:cNvSpPr txBox="1"/>
          <p:nvPr/>
        </p:nvSpPr>
        <p:spPr>
          <a:xfrm>
            <a:off x="1511299" y="2628680"/>
            <a:ext cx="4047671" cy="553998"/>
          </a:xfrm>
          <a:prstGeom prst="rect">
            <a:avLst/>
          </a:prstGeom>
          <a:noFill/>
        </p:spPr>
        <p:txBody>
          <a:bodyPr wrap="square" lIns="0" tIns="0" rIns="0" bIns="0" rtlCol="0" anchor="ctr">
            <a:spAutoFit/>
          </a:bodyPr>
          <a:lstStyle/>
          <a:p>
            <a:r>
              <a:rPr lang="en-US"/>
              <a:t>Reference stored access policies where possible</a:t>
            </a:r>
          </a:p>
        </p:txBody>
      </p:sp>
      <p:sp>
        <p:nvSpPr>
          <p:cNvPr id="55" name="TextBox 54">
            <a:extLst>
              <a:ext uri="{FF2B5EF4-FFF2-40B4-BE49-F238E27FC236}">
                <a16:creationId xmlns:a16="http://schemas.microsoft.com/office/drawing/2014/main" id="{A4CFEC2D-7B94-4B04-8131-3A579CDE4B3F}"/>
              </a:ext>
            </a:extLst>
          </p:cNvPr>
          <p:cNvSpPr txBox="1"/>
          <p:nvPr/>
        </p:nvSpPr>
        <p:spPr>
          <a:xfrm>
            <a:off x="1511299" y="3663580"/>
            <a:ext cx="4047671" cy="553998"/>
          </a:xfrm>
          <a:prstGeom prst="rect">
            <a:avLst/>
          </a:prstGeom>
          <a:noFill/>
        </p:spPr>
        <p:txBody>
          <a:bodyPr wrap="square" lIns="0" tIns="0" rIns="0" bIns="0" rtlCol="0" anchor="ctr">
            <a:spAutoFit/>
          </a:bodyPr>
          <a:lstStyle/>
          <a:p>
            <a:r>
              <a:rPr lang="en-US"/>
              <a:t>Use near-term expiration times on an ad hoc SAS</a:t>
            </a:r>
          </a:p>
        </p:txBody>
      </p:sp>
      <p:sp>
        <p:nvSpPr>
          <p:cNvPr id="62" name="TextBox 61">
            <a:extLst>
              <a:ext uri="{FF2B5EF4-FFF2-40B4-BE49-F238E27FC236}">
                <a16:creationId xmlns:a16="http://schemas.microsoft.com/office/drawing/2014/main" id="{E6B66279-9E32-4ED4-86F6-3B00D0818F0E}"/>
              </a:ext>
            </a:extLst>
          </p:cNvPr>
          <p:cNvSpPr txBox="1"/>
          <p:nvPr/>
        </p:nvSpPr>
        <p:spPr>
          <a:xfrm>
            <a:off x="1543250" y="4741261"/>
            <a:ext cx="4663995" cy="553998"/>
          </a:xfrm>
          <a:prstGeom prst="rect">
            <a:avLst/>
          </a:prstGeom>
          <a:noFill/>
        </p:spPr>
        <p:txBody>
          <a:bodyPr wrap="square" lIns="0" tIns="0" rIns="0" bIns="0" rtlCol="0" anchor="ctr">
            <a:spAutoFit/>
          </a:bodyPr>
          <a:lstStyle/>
          <a:p>
            <a:r>
              <a:rPr lang="en-US" dirty="0"/>
              <a:t>Use Storage Analytics to monitor your application</a:t>
            </a:r>
          </a:p>
        </p:txBody>
      </p:sp>
      <p:sp>
        <p:nvSpPr>
          <p:cNvPr id="57" name="TextBox 56">
            <a:extLst>
              <a:ext uri="{FF2B5EF4-FFF2-40B4-BE49-F238E27FC236}">
                <a16:creationId xmlns:a16="http://schemas.microsoft.com/office/drawing/2014/main" id="{8F3C5CDA-4205-485D-A41B-E954428080F0}"/>
              </a:ext>
              <a:ext uri="{C183D7F6-B498-43B3-948B-1728B52AA6E4}">
                <adec:decorative xmlns:adec="http://schemas.microsoft.com/office/drawing/2017/decorative" val="0"/>
              </a:ext>
            </a:extLst>
          </p:cNvPr>
          <p:cNvSpPr txBox="1"/>
          <p:nvPr/>
        </p:nvSpPr>
        <p:spPr>
          <a:xfrm>
            <a:off x="1511299" y="5906436"/>
            <a:ext cx="4047671" cy="276999"/>
          </a:xfrm>
          <a:prstGeom prst="rect">
            <a:avLst/>
          </a:prstGeom>
          <a:noFill/>
        </p:spPr>
        <p:txBody>
          <a:bodyPr wrap="square" lIns="0" tIns="0" rIns="0" bIns="0" rtlCol="0" anchor="ctr">
            <a:spAutoFit/>
          </a:bodyPr>
          <a:lstStyle/>
          <a:p>
            <a:r>
              <a:rPr lang="en-US" dirty="0"/>
              <a:t>Be careful with SAS start time</a:t>
            </a:r>
          </a:p>
        </p:txBody>
      </p:sp>
      <p:sp>
        <p:nvSpPr>
          <p:cNvPr id="58" name="TextBox 57">
            <a:extLst>
              <a:ext uri="{FF2B5EF4-FFF2-40B4-BE49-F238E27FC236}">
                <a16:creationId xmlns:a16="http://schemas.microsoft.com/office/drawing/2014/main" id="{5B23CD7B-0222-4A47-97DC-B096452552AC}"/>
              </a:ext>
            </a:extLst>
          </p:cNvPr>
          <p:cNvSpPr txBox="1"/>
          <p:nvPr/>
        </p:nvSpPr>
        <p:spPr>
          <a:xfrm>
            <a:off x="7339318" y="1747669"/>
            <a:ext cx="4663995" cy="276999"/>
          </a:xfrm>
          <a:prstGeom prst="rect">
            <a:avLst/>
          </a:prstGeom>
          <a:noFill/>
        </p:spPr>
        <p:txBody>
          <a:bodyPr wrap="square" lIns="0" tIns="0" rIns="0" bIns="0" rtlCol="0" anchor="ctr">
            <a:spAutoFit/>
          </a:bodyPr>
          <a:lstStyle/>
          <a:p>
            <a:pPr>
              <a:spcBef>
                <a:spcPts val="600"/>
              </a:spcBef>
              <a:spcAft>
                <a:spcPts val="600"/>
              </a:spcAft>
            </a:pPr>
            <a:r>
              <a:rPr lang="en-US"/>
              <a:t>Be specific with the resource to be accessed</a:t>
            </a:r>
          </a:p>
        </p:txBody>
      </p:sp>
      <p:sp>
        <p:nvSpPr>
          <p:cNvPr id="59" name="TextBox 58">
            <a:extLst>
              <a:ext uri="{FF2B5EF4-FFF2-40B4-BE49-F238E27FC236}">
                <a16:creationId xmlns:a16="http://schemas.microsoft.com/office/drawing/2014/main" id="{A0AA03E4-B222-402D-B0B7-A6614AEF144C}"/>
              </a:ext>
            </a:extLst>
          </p:cNvPr>
          <p:cNvSpPr txBox="1"/>
          <p:nvPr/>
        </p:nvSpPr>
        <p:spPr>
          <a:xfrm>
            <a:off x="7339318" y="2628680"/>
            <a:ext cx="4663995" cy="553998"/>
          </a:xfrm>
          <a:prstGeom prst="rect">
            <a:avLst/>
          </a:prstGeom>
          <a:noFill/>
        </p:spPr>
        <p:txBody>
          <a:bodyPr wrap="square" lIns="0" tIns="0" rIns="0" bIns="0" rtlCol="0" anchor="ctr">
            <a:spAutoFit/>
          </a:bodyPr>
          <a:lstStyle/>
          <a:p>
            <a:r>
              <a:rPr lang="en-US"/>
              <a:t>Understand that your account will be billed for any usage</a:t>
            </a:r>
          </a:p>
        </p:txBody>
      </p:sp>
      <p:sp>
        <p:nvSpPr>
          <p:cNvPr id="60" name="TextBox 59">
            <a:extLst>
              <a:ext uri="{FF2B5EF4-FFF2-40B4-BE49-F238E27FC236}">
                <a16:creationId xmlns:a16="http://schemas.microsoft.com/office/drawing/2014/main" id="{64F87851-A142-462A-8EEA-70AA9329985C}"/>
              </a:ext>
            </a:extLst>
          </p:cNvPr>
          <p:cNvSpPr txBox="1"/>
          <p:nvPr/>
        </p:nvSpPr>
        <p:spPr>
          <a:xfrm>
            <a:off x="7339318" y="3802080"/>
            <a:ext cx="4663995" cy="276999"/>
          </a:xfrm>
          <a:prstGeom prst="rect">
            <a:avLst/>
          </a:prstGeom>
          <a:noFill/>
        </p:spPr>
        <p:txBody>
          <a:bodyPr wrap="square" lIns="0" tIns="0" rIns="0" bIns="0" rtlCol="0" anchor="ctr">
            <a:spAutoFit/>
          </a:bodyPr>
          <a:lstStyle/>
          <a:p>
            <a:r>
              <a:rPr lang="en-US"/>
              <a:t>Validate data written using SAS</a:t>
            </a:r>
          </a:p>
        </p:txBody>
      </p:sp>
      <p:sp>
        <p:nvSpPr>
          <p:cNvPr id="61" name="TextBox 60">
            <a:extLst>
              <a:ext uri="{FF2B5EF4-FFF2-40B4-BE49-F238E27FC236}">
                <a16:creationId xmlns:a16="http://schemas.microsoft.com/office/drawing/2014/main" id="{42A28FE7-0DE3-4EFB-85F7-3F2F368B081D}"/>
              </a:ext>
            </a:extLst>
          </p:cNvPr>
          <p:cNvSpPr txBox="1"/>
          <p:nvPr/>
        </p:nvSpPr>
        <p:spPr>
          <a:xfrm>
            <a:off x="7339318" y="4836976"/>
            <a:ext cx="4663995" cy="276999"/>
          </a:xfrm>
          <a:prstGeom prst="rect">
            <a:avLst/>
          </a:prstGeom>
          <a:noFill/>
        </p:spPr>
        <p:txBody>
          <a:bodyPr wrap="square" lIns="0" tIns="0" rIns="0" bIns="0" rtlCol="0" anchor="ctr">
            <a:spAutoFit/>
          </a:bodyPr>
          <a:lstStyle/>
          <a:p>
            <a:r>
              <a:rPr lang="en-US"/>
              <a:t>Don't assume SAS is always the correct choice</a:t>
            </a:r>
          </a:p>
        </p:txBody>
      </p:sp>
      <p:pic>
        <p:nvPicPr>
          <p:cNvPr id="19" name="Picture 18">
            <a:extLst>
              <a:ext uri="{FF2B5EF4-FFF2-40B4-BE49-F238E27FC236}">
                <a16:creationId xmlns:a16="http://schemas.microsoft.com/office/drawing/2014/main" id="{E79AAB12-5DD7-4298-8F11-ECBBDA03491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3388" y="1461379"/>
            <a:ext cx="859536" cy="859536"/>
          </a:xfrm>
          <a:prstGeom prst="rect">
            <a:avLst/>
          </a:prstGeom>
        </p:spPr>
      </p:pic>
      <p:cxnSp>
        <p:nvCxnSpPr>
          <p:cNvPr id="27" name="Straight Connector 26">
            <a:extLst>
              <a:ext uri="{FF2B5EF4-FFF2-40B4-BE49-F238E27FC236}">
                <a16:creationId xmlns:a16="http://schemas.microsoft.com/office/drawing/2014/main" id="{B922378F-C58D-40BC-B926-C6582F2C30B7}"/>
              </a:ext>
              <a:ext uri="{C183D7F6-B498-43B3-948B-1728B52AA6E4}">
                <adec:decorative xmlns:adec="http://schemas.microsoft.com/office/drawing/2017/decorative" val="1"/>
              </a:ext>
            </a:extLst>
          </p:cNvPr>
          <p:cNvCxnSpPr>
            <a:cxnSpLocks/>
          </p:cNvCxnSpPr>
          <p:nvPr/>
        </p:nvCxnSpPr>
        <p:spPr>
          <a:xfrm>
            <a:off x="1514475" y="2411544"/>
            <a:ext cx="40302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8559D7AC-7D56-481A-AAC7-94238B0E888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33388" y="2503750"/>
            <a:ext cx="859536" cy="859536"/>
          </a:xfrm>
          <a:prstGeom prst="rect">
            <a:avLst/>
          </a:prstGeom>
        </p:spPr>
      </p:pic>
      <p:cxnSp>
        <p:nvCxnSpPr>
          <p:cNvPr id="41" name="Straight Connector 40">
            <a:extLst>
              <a:ext uri="{FF2B5EF4-FFF2-40B4-BE49-F238E27FC236}">
                <a16:creationId xmlns:a16="http://schemas.microsoft.com/office/drawing/2014/main" id="{C4ACF37B-CFD6-4E9C-B53D-48D13D1B6693}"/>
              </a:ext>
              <a:ext uri="{C183D7F6-B498-43B3-948B-1728B52AA6E4}">
                <adec:decorative xmlns:adec="http://schemas.microsoft.com/office/drawing/2017/decorative" val="1"/>
              </a:ext>
            </a:extLst>
          </p:cNvPr>
          <p:cNvCxnSpPr>
            <a:cxnSpLocks/>
          </p:cNvCxnSpPr>
          <p:nvPr/>
        </p:nvCxnSpPr>
        <p:spPr>
          <a:xfrm>
            <a:off x="1514475" y="3453915"/>
            <a:ext cx="40302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49B1C62-717D-4254-8CBA-269D888762E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33388" y="3546121"/>
            <a:ext cx="859536" cy="859536"/>
          </a:xfrm>
          <a:prstGeom prst="rect">
            <a:avLst/>
          </a:prstGeom>
        </p:spPr>
      </p:pic>
      <p:cxnSp>
        <p:nvCxnSpPr>
          <p:cNvPr id="42" name="Straight Connector 41">
            <a:extLst>
              <a:ext uri="{FF2B5EF4-FFF2-40B4-BE49-F238E27FC236}">
                <a16:creationId xmlns:a16="http://schemas.microsoft.com/office/drawing/2014/main" id="{5B7FA390-06F6-4185-86BA-952EB2E2FC37}"/>
              </a:ext>
              <a:ext uri="{C183D7F6-B498-43B3-948B-1728B52AA6E4}">
                <adec:decorative xmlns:adec="http://schemas.microsoft.com/office/drawing/2017/decorative" val="1"/>
              </a:ext>
            </a:extLst>
          </p:cNvPr>
          <p:cNvCxnSpPr>
            <a:cxnSpLocks/>
          </p:cNvCxnSpPr>
          <p:nvPr/>
        </p:nvCxnSpPr>
        <p:spPr>
          <a:xfrm>
            <a:off x="1514475" y="4496286"/>
            <a:ext cx="40302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8BA290D-1748-4C48-86E3-F6DEA87BF2F1}"/>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33388" y="4588492"/>
            <a:ext cx="859536" cy="859536"/>
          </a:xfrm>
          <a:prstGeom prst="rect">
            <a:avLst/>
          </a:prstGeom>
        </p:spPr>
      </p:pic>
      <p:cxnSp>
        <p:nvCxnSpPr>
          <p:cNvPr id="43" name="Straight Connector 42">
            <a:extLst>
              <a:ext uri="{FF2B5EF4-FFF2-40B4-BE49-F238E27FC236}">
                <a16:creationId xmlns:a16="http://schemas.microsoft.com/office/drawing/2014/main" id="{605650B0-E0FF-49F0-8DDE-88F6E2CB6937}"/>
              </a:ext>
              <a:ext uri="{C183D7F6-B498-43B3-948B-1728B52AA6E4}">
                <adec:decorative xmlns:adec="http://schemas.microsoft.com/office/drawing/2017/decorative" val="1"/>
              </a:ext>
            </a:extLst>
          </p:cNvPr>
          <p:cNvCxnSpPr>
            <a:cxnSpLocks/>
          </p:cNvCxnSpPr>
          <p:nvPr/>
        </p:nvCxnSpPr>
        <p:spPr>
          <a:xfrm>
            <a:off x="1514475" y="5538657"/>
            <a:ext cx="40302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1CBE36D-78A0-490E-B708-327980248BBC}"/>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33388" y="5630862"/>
            <a:ext cx="859536" cy="859536"/>
          </a:xfrm>
          <a:prstGeom prst="rect">
            <a:avLst/>
          </a:prstGeom>
        </p:spPr>
      </p:pic>
      <p:pic>
        <p:nvPicPr>
          <p:cNvPr id="28" name="Picture 27">
            <a:extLst>
              <a:ext uri="{FF2B5EF4-FFF2-40B4-BE49-F238E27FC236}">
                <a16:creationId xmlns:a16="http://schemas.microsoft.com/office/drawing/2014/main" id="{3B8F49F9-2C7B-4AA7-B31F-EDC13580F2EF}"/>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274981" y="1461379"/>
            <a:ext cx="859536" cy="859536"/>
          </a:xfrm>
          <a:prstGeom prst="rect">
            <a:avLst/>
          </a:prstGeom>
        </p:spPr>
      </p:pic>
      <p:cxnSp>
        <p:nvCxnSpPr>
          <p:cNvPr id="47" name="Straight Connector 46">
            <a:extLst>
              <a:ext uri="{FF2B5EF4-FFF2-40B4-BE49-F238E27FC236}">
                <a16:creationId xmlns:a16="http://schemas.microsoft.com/office/drawing/2014/main" id="{B814FFA0-9038-40C3-8B5D-BE7037F185EE}"/>
              </a:ext>
              <a:ext uri="{C183D7F6-B498-43B3-948B-1728B52AA6E4}">
                <adec:decorative xmlns:adec="http://schemas.microsoft.com/office/drawing/2017/decorative" val="1"/>
              </a:ext>
            </a:extLst>
          </p:cNvPr>
          <p:cNvCxnSpPr>
            <a:cxnSpLocks/>
          </p:cNvCxnSpPr>
          <p:nvPr/>
        </p:nvCxnSpPr>
        <p:spPr>
          <a:xfrm>
            <a:off x="7356068" y="2411544"/>
            <a:ext cx="465337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E346CA0C-6BA4-4A11-8706-759CF3314036}"/>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274981" y="2503750"/>
            <a:ext cx="859536" cy="859536"/>
          </a:xfrm>
          <a:prstGeom prst="rect">
            <a:avLst/>
          </a:prstGeom>
        </p:spPr>
      </p:pic>
      <p:cxnSp>
        <p:nvCxnSpPr>
          <p:cNvPr id="80" name="Straight Connector 79">
            <a:extLst>
              <a:ext uri="{FF2B5EF4-FFF2-40B4-BE49-F238E27FC236}">
                <a16:creationId xmlns:a16="http://schemas.microsoft.com/office/drawing/2014/main" id="{1DD21B25-D79E-460A-AE1A-591BA9638477}"/>
              </a:ext>
              <a:ext uri="{C183D7F6-B498-43B3-948B-1728B52AA6E4}">
                <adec:decorative xmlns:adec="http://schemas.microsoft.com/office/drawing/2017/decorative" val="1"/>
              </a:ext>
            </a:extLst>
          </p:cNvPr>
          <p:cNvCxnSpPr>
            <a:cxnSpLocks/>
          </p:cNvCxnSpPr>
          <p:nvPr/>
        </p:nvCxnSpPr>
        <p:spPr>
          <a:xfrm>
            <a:off x="7356068" y="3453915"/>
            <a:ext cx="465337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55D69AB9-15E4-481C-AF98-5BB0CBB0FA49}"/>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274981" y="3546121"/>
            <a:ext cx="859536" cy="859536"/>
          </a:xfrm>
          <a:prstGeom prst="rect">
            <a:avLst/>
          </a:prstGeom>
        </p:spPr>
      </p:pic>
      <p:cxnSp>
        <p:nvCxnSpPr>
          <p:cNvPr id="81" name="Straight Connector 80">
            <a:extLst>
              <a:ext uri="{FF2B5EF4-FFF2-40B4-BE49-F238E27FC236}">
                <a16:creationId xmlns:a16="http://schemas.microsoft.com/office/drawing/2014/main" id="{FC798D81-C0C4-4D2C-BD64-0DDEBAADB5A2}"/>
              </a:ext>
              <a:ext uri="{C183D7F6-B498-43B3-948B-1728B52AA6E4}">
                <adec:decorative xmlns:adec="http://schemas.microsoft.com/office/drawing/2017/decorative" val="1"/>
              </a:ext>
            </a:extLst>
          </p:cNvPr>
          <p:cNvCxnSpPr>
            <a:cxnSpLocks/>
          </p:cNvCxnSpPr>
          <p:nvPr/>
        </p:nvCxnSpPr>
        <p:spPr>
          <a:xfrm>
            <a:off x="7356068" y="4496286"/>
            <a:ext cx="465337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FBE3F2CD-C9FE-4685-A22E-110F76C3644D}"/>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274981" y="4588492"/>
            <a:ext cx="859536" cy="859536"/>
          </a:xfrm>
          <a:prstGeom prst="rect">
            <a:avLst/>
          </a:prstGeom>
        </p:spPr>
      </p:pic>
      <p:cxnSp>
        <p:nvCxnSpPr>
          <p:cNvPr id="82" name="Straight Connector 81">
            <a:extLst>
              <a:ext uri="{FF2B5EF4-FFF2-40B4-BE49-F238E27FC236}">
                <a16:creationId xmlns:a16="http://schemas.microsoft.com/office/drawing/2014/main" id="{5EF90B67-1FC9-42B3-BB75-949F1102A7CF}"/>
              </a:ext>
              <a:ext uri="{C183D7F6-B498-43B3-948B-1728B52AA6E4}">
                <adec:decorative xmlns:adec="http://schemas.microsoft.com/office/drawing/2017/decorative" val="1"/>
              </a:ext>
            </a:extLst>
          </p:cNvPr>
          <p:cNvCxnSpPr>
            <a:cxnSpLocks/>
          </p:cNvCxnSpPr>
          <p:nvPr/>
        </p:nvCxnSpPr>
        <p:spPr>
          <a:xfrm>
            <a:off x="7356068" y="5538657"/>
            <a:ext cx="465337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4378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Storage Security</a:t>
            </a:r>
          </a:p>
        </p:txBody>
      </p:sp>
      <p:sp>
        <p:nvSpPr>
          <p:cNvPr id="19" name="Rectangle 18">
            <a:extLst>
              <a:ext uri="{FF2B5EF4-FFF2-40B4-BE49-F238E27FC236}">
                <a16:creationId xmlns:a16="http://schemas.microsoft.com/office/drawing/2014/main" id="{0D720A05-CD47-4B79-B8A4-8309E16EE618}"/>
              </a:ext>
            </a:extLst>
          </p:cNvPr>
          <p:cNvSpPr/>
          <p:nvPr/>
        </p:nvSpPr>
        <p:spPr>
          <a:xfrm>
            <a:off x="3926361" y="2403813"/>
            <a:ext cx="7647504" cy="2003923"/>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ts val="1200"/>
              </a:spcAft>
              <a:buClr>
                <a:schemeClr val="tx1"/>
              </a:buClr>
              <a:buFont typeface="Arial" panose="020B0604020202020204" pitchFamily="34" charset="0"/>
              <a:buChar char="•"/>
            </a:pPr>
            <a:r>
              <a:rPr lang="en-US" dirty="0">
                <a:hlinkClick r:id="rId3"/>
              </a:rPr>
              <a:t>Configure Azure Storage security </a:t>
            </a:r>
            <a:endParaRPr lang="en-US" dirty="0">
              <a:hlinkClick r:id="rId4"/>
            </a:endParaRPr>
          </a:p>
          <a:p>
            <a:pPr marL="342900" indent="-342900" defTabSz="800100">
              <a:spcBef>
                <a:spcPct val="0"/>
              </a:spcBef>
              <a:spcAft>
                <a:spcPts val="1200"/>
              </a:spcAft>
              <a:buClr>
                <a:schemeClr val="tx1"/>
              </a:buClr>
              <a:buFont typeface="Arial" panose="020B0604020202020204" pitchFamily="34" charset="0"/>
              <a:buChar char="•"/>
            </a:pPr>
            <a:r>
              <a:rPr lang="en-US" dirty="0">
                <a:hlinkClick r:id="rId4"/>
              </a:rPr>
              <a:t>Secure your Azure Storage account</a:t>
            </a:r>
            <a:endParaRPr lang="en-US" dirty="0"/>
          </a:p>
          <a:p>
            <a:pPr marL="342900" indent="-342900" defTabSz="800100">
              <a:spcBef>
                <a:spcPct val="0"/>
              </a:spcBef>
              <a:spcAft>
                <a:spcPts val="1200"/>
              </a:spcAft>
              <a:buClr>
                <a:schemeClr val="tx1"/>
              </a:buClr>
              <a:buFont typeface="Arial" panose="020B0604020202020204" pitchFamily="34" charset="0"/>
              <a:buChar char="•"/>
            </a:pPr>
            <a:r>
              <a:rPr lang="en-US" dirty="0">
                <a:hlinkClick r:id="rId5"/>
              </a:rPr>
              <a:t>Plan and implement security for storage </a:t>
            </a:r>
            <a:endParaRPr lang="en-US" dirty="0"/>
          </a:p>
          <a:p>
            <a:pPr marL="342900" indent="-342900" defTabSz="800100">
              <a:spcBef>
                <a:spcPct val="0"/>
              </a:spcBef>
              <a:spcAft>
                <a:spcPts val="1200"/>
              </a:spcAft>
              <a:buClr>
                <a:schemeClr val="tx1"/>
              </a:buClr>
              <a:buFont typeface="Arial" panose="020B0604020202020204" pitchFamily="34" charset="0"/>
              <a:buChar char="•"/>
            </a:pPr>
            <a:r>
              <a:rPr lang="en-US" dirty="0">
                <a:hlinkClick r:id="rId6"/>
              </a:rPr>
              <a:t>Implement shared access signatures</a:t>
            </a:r>
            <a:endParaRPr lang="en-IN" dirty="0">
              <a:solidFill>
                <a:schemeClr val="tx1"/>
              </a:solidFill>
            </a:endParaRPr>
          </a:p>
          <a:p>
            <a:pPr marL="342900" indent="-342900" defTabSz="800100">
              <a:spcBef>
                <a:spcPct val="0"/>
              </a:spcBef>
              <a:spcAft>
                <a:spcPts val="1200"/>
              </a:spcAft>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62369217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514705"/>
            <a:ext cx="6472474" cy="565091"/>
          </a:xfrm>
        </p:spPr>
        <p:txBody>
          <a:bodyPr/>
          <a:lstStyle/>
          <a:p>
            <a:r>
              <a:rPr lang="en-US" dirty="0"/>
              <a:t>Configure Azure Files </a:t>
            </a:r>
          </a:p>
        </p:txBody>
      </p:sp>
    </p:spTree>
    <p:extLst>
      <p:ext uri="{BB962C8B-B14F-4D97-AF65-F5344CB8AC3E}">
        <p14:creationId xmlns:p14="http://schemas.microsoft.com/office/powerpoint/2010/main" val="338123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FE75-793B-CBD9-AE99-FF178A05719A}"/>
              </a:ext>
            </a:extLst>
          </p:cNvPr>
          <p:cNvSpPr>
            <a:spLocks noGrp="1"/>
          </p:cNvSpPr>
          <p:nvPr>
            <p:ph type="title"/>
          </p:nvPr>
        </p:nvSpPr>
        <p:spPr/>
        <p:txBody>
          <a:bodyPr/>
          <a:lstStyle/>
          <a:p>
            <a:r>
              <a:rPr lang="en-US" dirty="0"/>
              <a:t>Azure Files whiteboard</a:t>
            </a:r>
          </a:p>
        </p:txBody>
      </p:sp>
      <p:grpSp>
        <p:nvGrpSpPr>
          <p:cNvPr id="9" name="Group 8" descr="whiteboard diagram editable version">
            <a:extLst>
              <a:ext uri="{FF2B5EF4-FFF2-40B4-BE49-F238E27FC236}">
                <a16:creationId xmlns:a16="http://schemas.microsoft.com/office/drawing/2014/main" id="{E23570A0-2B62-61B8-EB21-79CFC6849173}"/>
              </a:ext>
            </a:extLst>
          </p:cNvPr>
          <p:cNvGrpSpPr/>
          <p:nvPr/>
        </p:nvGrpSpPr>
        <p:grpSpPr>
          <a:xfrm>
            <a:off x="817694" y="1523997"/>
            <a:ext cx="11618781" cy="4466658"/>
            <a:chOff x="1017401" y="1078345"/>
            <a:chExt cx="10605804" cy="4656378"/>
          </a:xfrm>
        </p:grpSpPr>
        <p:sp>
          <p:nvSpPr>
            <p:cNvPr id="3" name="Oval 2">
              <a:extLst>
                <a:ext uri="{FF2B5EF4-FFF2-40B4-BE49-F238E27FC236}">
                  <a16:creationId xmlns:a16="http://schemas.microsoft.com/office/drawing/2014/main" id="{97099E5E-7AAB-DA72-77ED-F222B68F039A}"/>
                </a:ext>
              </a:extLst>
            </p:cNvPr>
            <p:cNvSpPr/>
            <p:nvPr/>
          </p:nvSpPr>
          <p:spPr bwMode="auto">
            <a:xfrm>
              <a:off x="4656602" y="1366946"/>
              <a:ext cx="1903287" cy="856164"/>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60" tIns="93260" rIns="93260" bIns="93260"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sz="2000" b="1" dirty="0">
                  <a:solidFill>
                    <a:schemeClr val="accent4">
                      <a:lumMod val="50000"/>
                    </a:schemeClr>
                  </a:solidFill>
                  <a:cs typeface="Segoe UI" pitchFamily="34" charset="0"/>
                </a:rPr>
                <a:t>Azure Files</a:t>
              </a:r>
            </a:p>
          </p:txBody>
        </p:sp>
        <p:sp>
          <p:nvSpPr>
            <p:cNvPr id="6" name="TextBox 5">
              <a:extLst>
                <a:ext uri="{FF2B5EF4-FFF2-40B4-BE49-F238E27FC236}">
                  <a16:creationId xmlns:a16="http://schemas.microsoft.com/office/drawing/2014/main" id="{5757636E-AA43-F05D-E944-C4658311AEFE}"/>
                </a:ext>
              </a:extLst>
            </p:cNvPr>
            <p:cNvSpPr txBox="1"/>
            <p:nvPr/>
          </p:nvSpPr>
          <p:spPr>
            <a:xfrm>
              <a:off x="4656603" y="3414470"/>
              <a:ext cx="1903287" cy="417105"/>
            </a:xfrm>
            <a:prstGeom prst="rect">
              <a:avLst/>
            </a:prstGeom>
            <a:noFill/>
          </p:spPr>
          <p:txBody>
            <a:bodyPr wrap="square">
              <a:spAutoFit/>
            </a:bodyPr>
            <a:lstStyle/>
            <a:p>
              <a:pPr algn="ctr"/>
              <a:r>
                <a:rPr lang="en-US" sz="2000" b="1" dirty="0">
                  <a:solidFill>
                    <a:schemeClr val="accent4">
                      <a:lumMod val="50000"/>
                    </a:schemeClr>
                  </a:solidFill>
                  <a:cs typeface="Segoe UI" pitchFamily="34" charset="0"/>
                </a:rPr>
                <a:t>Access</a:t>
              </a:r>
            </a:p>
          </p:txBody>
        </p:sp>
        <p:sp>
          <p:nvSpPr>
            <p:cNvPr id="7" name="TextBox 6">
              <a:extLst>
                <a:ext uri="{FF2B5EF4-FFF2-40B4-BE49-F238E27FC236}">
                  <a16:creationId xmlns:a16="http://schemas.microsoft.com/office/drawing/2014/main" id="{C9760459-AB3A-0892-102A-9654F6F4B181}"/>
                </a:ext>
              </a:extLst>
            </p:cNvPr>
            <p:cNvSpPr txBox="1"/>
            <p:nvPr/>
          </p:nvSpPr>
          <p:spPr>
            <a:xfrm>
              <a:off x="8350977" y="2963284"/>
              <a:ext cx="3272228" cy="1379652"/>
            </a:xfrm>
            <a:prstGeom prst="rect">
              <a:avLst/>
            </a:prstGeom>
            <a:noFill/>
          </p:spPr>
          <p:txBody>
            <a:bodyPr wrap="square">
              <a:spAutoFit/>
            </a:bodyPr>
            <a:lstStyle/>
            <a:p>
              <a:r>
                <a:rPr lang="en-US" sz="2000" b="1" u="sng" dirty="0">
                  <a:solidFill>
                    <a:schemeClr val="accent4">
                      <a:lumMod val="50000"/>
                    </a:schemeClr>
                  </a:solidFill>
                  <a:cs typeface="Segoe UI" pitchFamily="34" charset="0"/>
                </a:rPr>
                <a:t>Storage tier (cost)</a:t>
              </a:r>
            </a:p>
            <a:p>
              <a:pPr marL="234950" indent="-234950">
                <a:buFont typeface="Arial" panose="020B0604020202020204" pitchFamily="34" charset="0"/>
                <a:buChar char="•"/>
              </a:pPr>
              <a:r>
                <a:rPr lang="en-US" sz="2000" dirty="0">
                  <a:ea typeface="Segoe UI" pitchFamily="34" charset="0"/>
                  <a:cs typeface="Segoe UI" pitchFamily="34" charset="0"/>
                </a:rPr>
                <a:t>Premium</a:t>
              </a:r>
            </a:p>
            <a:p>
              <a:pPr marL="234950" indent="-234950">
                <a:buFont typeface="Arial" panose="020B0604020202020204" pitchFamily="34" charset="0"/>
                <a:buChar char="•"/>
              </a:pPr>
              <a:r>
                <a:rPr lang="en-US" sz="2000" dirty="0">
                  <a:cs typeface="Segoe UI" pitchFamily="34" charset="0"/>
                </a:rPr>
                <a:t>Transaction optimized</a:t>
              </a:r>
            </a:p>
            <a:p>
              <a:pPr marL="234950" indent="-234950">
                <a:buFont typeface="Arial" panose="020B0604020202020204" pitchFamily="34" charset="0"/>
                <a:buChar char="•"/>
              </a:pPr>
              <a:r>
                <a:rPr lang="en-US" sz="2000" dirty="0">
                  <a:cs typeface="Segoe UI" pitchFamily="34" charset="0"/>
                </a:rPr>
                <a:t>Hot/cool/archive</a:t>
              </a:r>
              <a:endParaRPr lang="en-US" sz="2000" dirty="0"/>
            </a:p>
          </p:txBody>
        </p:sp>
        <p:sp>
          <p:nvSpPr>
            <p:cNvPr id="8" name="TextBox 7">
              <a:extLst>
                <a:ext uri="{FF2B5EF4-FFF2-40B4-BE49-F238E27FC236}">
                  <a16:creationId xmlns:a16="http://schemas.microsoft.com/office/drawing/2014/main" id="{9CDC0E06-05DD-CF2F-8EF6-662002DC8411}"/>
                </a:ext>
              </a:extLst>
            </p:cNvPr>
            <p:cNvSpPr txBox="1"/>
            <p:nvPr/>
          </p:nvSpPr>
          <p:spPr>
            <a:xfrm>
              <a:off x="8344667" y="1078345"/>
              <a:ext cx="2940315" cy="1379652"/>
            </a:xfrm>
            <a:prstGeom prst="rect">
              <a:avLst/>
            </a:prstGeom>
            <a:noFill/>
          </p:spPr>
          <p:txBody>
            <a:bodyPr wrap="square">
              <a:spAutoFit/>
            </a:bodyPr>
            <a:lstStyle/>
            <a:p>
              <a:r>
                <a:rPr lang="en-US" sz="2000" b="1" u="sng" dirty="0">
                  <a:solidFill>
                    <a:schemeClr val="accent4">
                      <a:lumMod val="50000"/>
                    </a:schemeClr>
                  </a:solidFill>
                  <a:cs typeface="Segoe UI" pitchFamily="34" charset="0"/>
                </a:rPr>
                <a:t>Redundancy</a:t>
              </a:r>
            </a:p>
            <a:p>
              <a:pPr marL="234950" indent="-234950">
                <a:buFont typeface="Arial" panose="020B0604020202020204" pitchFamily="34" charset="0"/>
                <a:buChar char="•"/>
              </a:pPr>
              <a:r>
                <a:rPr lang="en-US" sz="2000" dirty="0">
                  <a:ea typeface="Segoe UI" pitchFamily="34" charset="0"/>
                  <a:cs typeface="Segoe UI" pitchFamily="34" charset="0"/>
                </a:rPr>
                <a:t>LRS/ZRS</a:t>
              </a:r>
            </a:p>
            <a:p>
              <a:pPr marL="234950" indent="-234950">
                <a:buFont typeface="Arial" panose="020B0604020202020204" pitchFamily="34" charset="0"/>
                <a:buChar char="•"/>
              </a:pPr>
              <a:r>
                <a:rPr lang="en-US" sz="2000" dirty="0">
                  <a:cs typeface="Segoe UI" pitchFamily="34" charset="0"/>
                </a:rPr>
                <a:t>GRS/GZRS</a:t>
              </a:r>
            </a:p>
            <a:p>
              <a:pPr marL="234950" indent="-234950">
                <a:buFont typeface="Arial" panose="020B0604020202020204" pitchFamily="34" charset="0"/>
                <a:buChar char="•"/>
              </a:pPr>
              <a:r>
                <a:rPr lang="en-US" sz="2000" dirty="0">
                  <a:cs typeface="Segoe UI" pitchFamily="34" charset="0"/>
                </a:rPr>
                <a:t>RA options</a:t>
              </a:r>
              <a:endParaRPr lang="en-US" sz="2000" b="1" dirty="0">
                <a:solidFill>
                  <a:schemeClr val="accent4">
                    <a:lumMod val="50000"/>
                  </a:schemeClr>
                </a:solidFill>
                <a:cs typeface="Segoe UI" pitchFamily="34" charset="0"/>
              </a:endParaRPr>
            </a:p>
          </p:txBody>
        </p:sp>
        <p:grpSp>
          <p:nvGrpSpPr>
            <p:cNvPr id="50" name="Group 49">
              <a:extLst>
                <a:ext uri="{FF2B5EF4-FFF2-40B4-BE49-F238E27FC236}">
                  <a16:creationId xmlns:a16="http://schemas.microsoft.com/office/drawing/2014/main" id="{A22F853F-E909-19A6-214C-00FB8BEE7EAC}"/>
                </a:ext>
              </a:extLst>
            </p:cNvPr>
            <p:cNvGrpSpPr/>
            <p:nvPr/>
          </p:nvGrpSpPr>
          <p:grpSpPr>
            <a:xfrm>
              <a:off x="1017401" y="3103248"/>
              <a:ext cx="3365283" cy="1058803"/>
              <a:chOff x="334013" y="1888620"/>
              <a:chExt cx="3365283" cy="1058803"/>
            </a:xfrm>
          </p:grpSpPr>
          <p:sp>
            <p:nvSpPr>
              <p:cNvPr id="4" name="TextBox 3">
                <a:extLst>
                  <a:ext uri="{FF2B5EF4-FFF2-40B4-BE49-F238E27FC236}">
                    <a16:creationId xmlns:a16="http://schemas.microsoft.com/office/drawing/2014/main" id="{3B58C9CC-294C-EE56-87A4-BF7A14BD6B60}"/>
                  </a:ext>
                </a:extLst>
              </p:cNvPr>
              <p:cNvSpPr txBox="1"/>
              <p:nvPr/>
            </p:nvSpPr>
            <p:spPr>
              <a:xfrm>
                <a:off x="994536" y="1946395"/>
                <a:ext cx="2027732" cy="417105"/>
              </a:xfrm>
              <a:prstGeom prst="rect">
                <a:avLst/>
              </a:prstGeom>
              <a:noFill/>
            </p:spPr>
            <p:txBody>
              <a:bodyPr wrap="square">
                <a:spAutoFit/>
              </a:bodyPr>
              <a:lstStyle/>
              <a:p>
                <a:pPr algn="ctr"/>
                <a:endParaRPr lang="en-US" sz="2000" b="1" dirty="0">
                  <a:solidFill>
                    <a:schemeClr val="accent4">
                      <a:lumMod val="50000"/>
                    </a:schemeClr>
                  </a:solidFill>
                </a:endParaRPr>
              </a:p>
            </p:txBody>
          </p:sp>
          <p:sp>
            <p:nvSpPr>
              <p:cNvPr id="10" name="TextBox 9">
                <a:extLst>
                  <a:ext uri="{FF2B5EF4-FFF2-40B4-BE49-F238E27FC236}">
                    <a16:creationId xmlns:a16="http://schemas.microsoft.com/office/drawing/2014/main" id="{4776C1E3-FCAD-BF7C-D232-B5304FA03980}"/>
                  </a:ext>
                </a:extLst>
              </p:cNvPr>
              <p:cNvSpPr txBox="1"/>
              <p:nvPr/>
            </p:nvSpPr>
            <p:spPr>
              <a:xfrm>
                <a:off x="334013" y="1888620"/>
                <a:ext cx="3365283" cy="1058803"/>
              </a:xfrm>
              <a:prstGeom prst="rect">
                <a:avLst/>
              </a:prstGeom>
              <a:noFill/>
            </p:spPr>
            <p:txBody>
              <a:bodyPr wrap="square">
                <a:spAutoFit/>
              </a:bodyPr>
              <a:lstStyle/>
              <a:p>
                <a:r>
                  <a:rPr lang="en-US" sz="2000" b="1" u="sng" dirty="0">
                    <a:solidFill>
                      <a:schemeClr val="accent4">
                        <a:lumMod val="50000"/>
                      </a:schemeClr>
                    </a:solidFill>
                    <a:ea typeface="Segoe UI" pitchFamily="34" charset="0"/>
                    <a:cs typeface="Segoe UI" pitchFamily="34" charset="0"/>
                  </a:rPr>
                  <a:t>Performance</a:t>
                </a:r>
                <a:endParaRPr lang="en-US" sz="2000" u="sng" dirty="0">
                  <a:cs typeface="Segoe UI" pitchFamily="34" charset="0"/>
                </a:endParaRPr>
              </a:p>
              <a:p>
                <a:pPr marL="234950" indent="-234950">
                  <a:buFont typeface="Arial" panose="020B0604020202020204" pitchFamily="34" charset="0"/>
                  <a:buChar char="•"/>
                </a:pPr>
                <a:r>
                  <a:rPr lang="en-US" sz="2000" dirty="0">
                    <a:cs typeface="Segoe UI" pitchFamily="34" charset="0"/>
                  </a:rPr>
                  <a:t>Standard (300 Mbps)</a:t>
                </a:r>
              </a:p>
              <a:p>
                <a:pPr marL="234950" indent="-234950">
                  <a:buFont typeface="Arial" panose="020B0604020202020204" pitchFamily="34" charset="0"/>
                  <a:buChar char="•"/>
                </a:pPr>
                <a:r>
                  <a:rPr lang="en-US" sz="2000" dirty="0">
                    <a:cs typeface="Segoe UI" pitchFamily="34" charset="0"/>
                  </a:rPr>
                  <a:t>Premium (5 Gbps)</a:t>
                </a:r>
              </a:p>
            </p:txBody>
          </p:sp>
        </p:grpSp>
        <p:sp>
          <p:nvSpPr>
            <p:cNvPr id="13" name="TextBox 12">
              <a:extLst>
                <a:ext uri="{FF2B5EF4-FFF2-40B4-BE49-F238E27FC236}">
                  <a16:creationId xmlns:a16="http://schemas.microsoft.com/office/drawing/2014/main" id="{F88D4441-2F98-7F69-5093-773A4C2F5D78}"/>
                </a:ext>
              </a:extLst>
            </p:cNvPr>
            <p:cNvSpPr txBox="1"/>
            <p:nvPr/>
          </p:nvSpPr>
          <p:spPr>
            <a:xfrm>
              <a:off x="2471893" y="4365469"/>
              <a:ext cx="2640835" cy="1058803"/>
            </a:xfrm>
            <a:prstGeom prst="rect">
              <a:avLst/>
            </a:prstGeom>
            <a:noFill/>
          </p:spPr>
          <p:txBody>
            <a:bodyPr wrap="square">
              <a:spAutoFit/>
            </a:bodyPr>
            <a:lstStyle/>
            <a:p>
              <a:pPr algn="ctr"/>
              <a:r>
                <a:rPr lang="en-US" sz="2000" b="1" u="sng" dirty="0">
                  <a:solidFill>
                    <a:schemeClr val="accent4">
                      <a:lumMod val="50000"/>
                    </a:schemeClr>
                  </a:solidFill>
                  <a:cs typeface="Segoe UI" pitchFamily="34" charset="0"/>
                </a:rPr>
                <a:t>Direct mount</a:t>
              </a:r>
            </a:p>
            <a:p>
              <a:pPr marL="234950" indent="-234950" algn="ctr">
                <a:buFont typeface="Arial" panose="020B0604020202020204" pitchFamily="34" charset="0"/>
                <a:buChar char="•"/>
              </a:pPr>
              <a:r>
                <a:rPr lang="en-US" sz="2000" dirty="0">
                  <a:cs typeface="Segoe UI" pitchFamily="34" charset="0"/>
                </a:rPr>
                <a:t>SMB, NFS, HTTP </a:t>
              </a:r>
            </a:p>
            <a:p>
              <a:pPr algn="ctr"/>
              <a:endParaRPr lang="en-US" sz="2000" b="1" dirty="0">
                <a:solidFill>
                  <a:schemeClr val="accent4">
                    <a:lumMod val="50000"/>
                  </a:schemeClr>
                </a:solidFill>
                <a:cs typeface="Segoe UI" pitchFamily="34" charset="0"/>
              </a:endParaRPr>
            </a:p>
          </p:txBody>
        </p:sp>
        <p:sp>
          <p:nvSpPr>
            <p:cNvPr id="14" name="TextBox 13">
              <a:extLst>
                <a:ext uri="{FF2B5EF4-FFF2-40B4-BE49-F238E27FC236}">
                  <a16:creationId xmlns:a16="http://schemas.microsoft.com/office/drawing/2014/main" id="{289CF473-59F8-E797-DBCD-51CE492FF74F}"/>
                </a:ext>
              </a:extLst>
            </p:cNvPr>
            <p:cNvSpPr txBox="1"/>
            <p:nvPr/>
          </p:nvSpPr>
          <p:spPr>
            <a:xfrm>
              <a:off x="6122957" y="4355071"/>
              <a:ext cx="3006436" cy="1379652"/>
            </a:xfrm>
            <a:prstGeom prst="rect">
              <a:avLst/>
            </a:prstGeom>
            <a:noFill/>
          </p:spPr>
          <p:txBody>
            <a:bodyPr wrap="square">
              <a:spAutoFit/>
            </a:bodyPr>
            <a:lstStyle/>
            <a:p>
              <a:r>
                <a:rPr lang="en-US" sz="2000" b="1" u="sng" dirty="0">
                  <a:solidFill>
                    <a:schemeClr val="accent4">
                      <a:lumMod val="50000"/>
                    </a:schemeClr>
                  </a:solidFill>
                  <a:cs typeface="Segoe UI" pitchFamily="34" charset="0"/>
                </a:rPr>
                <a:t>Azure File Sync</a:t>
              </a:r>
            </a:p>
            <a:p>
              <a:pPr marL="234950" indent="-234950">
                <a:buFont typeface="Arial" panose="020B0604020202020204" pitchFamily="34" charset="0"/>
                <a:buChar char="•"/>
              </a:pPr>
              <a:r>
                <a:rPr lang="en-US" sz="2000" dirty="0">
                  <a:cs typeface="Segoe UI" pitchFamily="34" charset="0"/>
                </a:rPr>
                <a:t>Cloud tiering</a:t>
              </a:r>
            </a:p>
            <a:p>
              <a:pPr marL="234950" indent="-234950">
                <a:buFont typeface="Arial" panose="020B0604020202020204" pitchFamily="34" charset="0"/>
                <a:buChar char="•"/>
              </a:pPr>
              <a:r>
                <a:rPr lang="en-US" sz="2000" dirty="0">
                  <a:cs typeface="Segoe UI" pitchFamily="34" charset="0"/>
                </a:rPr>
                <a:t>Multi-site access</a:t>
              </a:r>
            </a:p>
            <a:p>
              <a:pPr marL="234950" indent="-234950">
                <a:buFont typeface="Arial" panose="020B0604020202020204" pitchFamily="34" charset="0"/>
                <a:buChar char="•"/>
              </a:pPr>
              <a:r>
                <a:rPr lang="en-US" sz="2000" dirty="0">
                  <a:cs typeface="Segoe UI" pitchFamily="34" charset="0"/>
                </a:rPr>
                <a:t>Cloud site backup</a:t>
              </a:r>
              <a:endParaRPr lang="en-US" sz="2000" b="1" dirty="0">
                <a:cs typeface="Segoe UI" pitchFamily="34" charset="0"/>
              </a:endParaRPr>
            </a:p>
          </p:txBody>
        </p:sp>
        <p:grpSp>
          <p:nvGrpSpPr>
            <p:cNvPr id="49" name="Group 48">
              <a:extLst>
                <a:ext uri="{FF2B5EF4-FFF2-40B4-BE49-F238E27FC236}">
                  <a16:creationId xmlns:a16="http://schemas.microsoft.com/office/drawing/2014/main" id="{9428003C-D160-A039-69BA-84FB2218C426}"/>
                </a:ext>
              </a:extLst>
            </p:cNvPr>
            <p:cNvGrpSpPr/>
            <p:nvPr/>
          </p:nvGrpSpPr>
          <p:grpSpPr>
            <a:xfrm>
              <a:off x="1282308" y="1199348"/>
              <a:ext cx="3039593" cy="1058803"/>
              <a:chOff x="2051316" y="2709471"/>
              <a:chExt cx="3039593" cy="1058803"/>
            </a:xfrm>
          </p:grpSpPr>
          <p:sp>
            <p:nvSpPr>
              <p:cNvPr id="5" name="TextBox 4">
                <a:extLst>
                  <a:ext uri="{FF2B5EF4-FFF2-40B4-BE49-F238E27FC236}">
                    <a16:creationId xmlns:a16="http://schemas.microsoft.com/office/drawing/2014/main" id="{30BEFA68-7970-FD7C-CA71-A43956572912}"/>
                  </a:ext>
                </a:extLst>
              </p:cNvPr>
              <p:cNvSpPr txBox="1"/>
              <p:nvPr/>
            </p:nvSpPr>
            <p:spPr>
              <a:xfrm>
                <a:off x="2264369" y="3096571"/>
                <a:ext cx="1432661" cy="417105"/>
              </a:xfrm>
              <a:prstGeom prst="rect">
                <a:avLst/>
              </a:prstGeom>
              <a:noFill/>
            </p:spPr>
            <p:txBody>
              <a:bodyPr wrap="square">
                <a:spAutoFit/>
              </a:bodyPr>
              <a:lstStyle/>
              <a:p>
                <a:endParaRPr lang="en-US" sz="2000" b="1" dirty="0">
                  <a:solidFill>
                    <a:schemeClr val="accent4">
                      <a:lumMod val="50000"/>
                    </a:schemeClr>
                  </a:solidFill>
                  <a:cs typeface="Segoe UI" pitchFamily="34" charset="0"/>
                </a:endParaRPr>
              </a:p>
            </p:txBody>
          </p:sp>
          <p:sp>
            <p:nvSpPr>
              <p:cNvPr id="12" name="TextBox 11">
                <a:extLst>
                  <a:ext uri="{FF2B5EF4-FFF2-40B4-BE49-F238E27FC236}">
                    <a16:creationId xmlns:a16="http://schemas.microsoft.com/office/drawing/2014/main" id="{185B7F17-E15C-9C45-D4D5-276A09CD8C76}"/>
                  </a:ext>
                </a:extLst>
              </p:cNvPr>
              <p:cNvSpPr txBox="1"/>
              <p:nvPr/>
            </p:nvSpPr>
            <p:spPr>
              <a:xfrm>
                <a:off x="2051316" y="2709471"/>
                <a:ext cx="3039593" cy="1058803"/>
              </a:xfrm>
              <a:prstGeom prst="rect">
                <a:avLst/>
              </a:prstGeom>
              <a:noFill/>
            </p:spPr>
            <p:txBody>
              <a:bodyPr wrap="square">
                <a:spAutoFit/>
              </a:bodyPr>
              <a:lstStyle/>
              <a:p>
                <a:r>
                  <a:rPr lang="en-US" sz="2000" b="1" u="sng" dirty="0">
                    <a:solidFill>
                      <a:schemeClr val="accent4">
                        <a:lumMod val="50000"/>
                      </a:schemeClr>
                    </a:solidFill>
                    <a:cs typeface="Segoe UI" pitchFamily="34" charset="0"/>
                  </a:rPr>
                  <a:t>Identity</a:t>
                </a:r>
                <a:endParaRPr lang="en-US" sz="2000" u="sng" dirty="0">
                  <a:solidFill>
                    <a:schemeClr val="bg2">
                      <a:lumMod val="50000"/>
                    </a:schemeClr>
                  </a:solidFill>
                  <a:cs typeface="Segoe UI" pitchFamily="34" charset="0"/>
                </a:endParaRPr>
              </a:p>
              <a:p>
                <a:pPr marL="234950" indent="-234950">
                  <a:buFont typeface="Arial" panose="020B0604020202020204" pitchFamily="34" charset="0"/>
                  <a:buChar char="•"/>
                </a:pPr>
                <a:r>
                  <a:rPr lang="en-US" sz="2000" dirty="0">
                    <a:cs typeface="Segoe UI" pitchFamily="34" charset="0"/>
                  </a:rPr>
                  <a:t>Entra ID</a:t>
                </a:r>
              </a:p>
              <a:p>
                <a:pPr marL="234950" indent="-234950">
                  <a:buFont typeface="Arial" panose="020B0604020202020204" pitchFamily="34" charset="0"/>
                  <a:buChar char="•"/>
                </a:pPr>
                <a:r>
                  <a:rPr lang="en-US" sz="2000" dirty="0">
                    <a:cs typeface="Segoe UI" pitchFamily="34" charset="0"/>
                  </a:rPr>
                  <a:t>Storage account key</a:t>
                </a:r>
              </a:p>
            </p:txBody>
          </p:sp>
        </p:grpSp>
        <p:cxnSp>
          <p:nvCxnSpPr>
            <p:cNvPr id="27" name="Straight Connector 26">
              <a:extLst>
                <a:ext uri="{FF2B5EF4-FFF2-40B4-BE49-F238E27FC236}">
                  <a16:creationId xmlns:a16="http://schemas.microsoft.com/office/drawing/2014/main" id="{C1DF4241-13A2-FEB1-6D66-60D96064D94B}"/>
                </a:ext>
              </a:extLst>
            </p:cNvPr>
            <p:cNvCxnSpPr>
              <a:cxnSpLocks/>
              <a:stCxn id="3" idx="2"/>
              <a:endCxn id="3" idx="2"/>
            </p:cNvCxnSpPr>
            <p:nvPr/>
          </p:nvCxnSpPr>
          <p:spPr>
            <a:xfrm>
              <a:off x="4656602" y="1795028"/>
              <a:ext cx="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E06652-E5D1-88AC-5DB4-669ECBFCBAF3}"/>
                </a:ext>
              </a:extLst>
            </p:cNvPr>
            <p:cNvCxnSpPr>
              <a:cxnSpLocks/>
              <a:stCxn id="3" idx="2"/>
              <a:endCxn id="5" idx="3"/>
            </p:cNvCxnSpPr>
            <p:nvPr/>
          </p:nvCxnSpPr>
          <p:spPr>
            <a:xfrm flipH="1" flipV="1">
              <a:off x="2928022" y="1795001"/>
              <a:ext cx="1728580" cy="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095676A-9D1F-7F2C-6E05-8FBEC0A8C74B}"/>
                </a:ext>
              </a:extLst>
            </p:cNvPr>
            <p:cNvCxnSpPr>
              <a:cxnSpLocks/>
              <a:stCxn id="8" idx="1"/>
              <a:endCxn id="3" idx="6"/>
            </p:cNvCxnSpPr>
            <p:nvPr/>
          </p:nvCxnSpPr>
          <p:spPr>
            <a:xfrm flipH="1">
              <a:off x="6559888" y="1768171"/>
              <a:ext cx="1784779" cy="26856"/>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682B69-19D1-DC61-3952-9B74A5849AF6}"/>
                </a:ext>
              </a:extLst>
            </p:cNvPr>
            <p:cNvCxnSpPr>
              <a:cxnSpLocks/>
              <a:stCxn id="3" idx="3"/>
            </p:cNvCxnSpPr>
            <p:nvPr/>
          </p:nvCxnSpPr>
          <p:spPr>
            <a:xfrm flipH="1">
              <a:off x="2928022" y="2097727"/>
              <a:ext cx="2007310" cy="134052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75082C-4D15-12C3-D644-7B016A185B97}"/>
                </a:ext>
              </a:extLst>
            </p:cNvPr>
            <p:cNvCxnSpPr>
              <a:cxnSpLocks/>
              <a:stCxn id="3" idx="4"/>
              <a:endCxn id="6" idx="0"/>
            </p:cNvCxnSpPr>
            <p:nvPr/>
          </p:nvCxnSpPr>
          <p:spPr>
            <a:xfrm>
              <a:off x="5608245" y="2223109"/>
              <a:ext cx="2" cy="119136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981ABF-BC61-E41E-61C4-FDCF1E3AA2E1}"/>
                </a:ext>
              </a:extLst>
            </p:cNvPr>
            <p:cNvCxnSpPr>
              <a:cxnSpLocks/>
              <a:stCxn id="7" idx="1"/>
              <a:endCxn id="3" idx="5"/>
            </p:cNvCxnSpPr>
            <p:nvPr/>
          </p:nvCxnSpPr>
          <p:spPr>
            <a:xfrm flipH="1" flipV="1">
              <a:off x="6281159" y="2097727"/>
              <a:ext cx="2069817" cy="155538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05B66C3E-1D89-CCD0-522D-931135316F4A}"/>
                </a:ext>
              </a:extLst>
            </p:cNvPr>
            <p:cNvCxnSpPr>
              <a:cxnSpLocks/>
              <a:stCxn id="6" idx="2"/>
              <a:endCxn id="13" idx="0"/>
            </p:cNvCxnSpPr>
            <p:nvPr/>
          </p:nvCxnSpPr>
          <p:spPr>
            <a:xfrm rot="5400000">
              <a:off x="4433333" y="3190554"/>
              <a:ext cx="533894" cy="1815936"/>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E99EDF5F-BA50-518B-EB7D-4EDCF4439140}"/>
                </a:ext>
              </a:extLst>
            </p:cNvPr>
            <p:cNvCxnSpPr>
              <a:cxnSpLocks/>
              <a:stCxn id="6" idx="2"/>
              <a:endCxn id="14" idx="0"/>
            </p:cNvCxnSpPr>
            <p:nvPr/>
          </p:nvCxnSpPr>
          <p:spPr>
            <a:xfrm rot="16200000" flipH="1">
              <a:off x="6355464" y="3084358"/>
              <a:ext cx="523496" cy="2017928"/>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7682728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74271-4FBA-4D51-A9AB-1857C14569F3}"/>
              </a:ext>
            </a:extLst>
          </p:cNvPr>
          <p:cNvSpPr>
            <a:spLocks noGrp="1"/>
          </p:cNvSpPr>
          <p:nvPr>
            <p:ph type="title"/>
          </p:nvPr>
        </p:nvSpPr>
        <p:spPr>
          <a:xfrm>
            <a:off x="465138" y="567457"/>
            <a:ext cx="11530584" cy="830020"/>
          </a:xfrm>
        </p:spPr>
        <p:txBody>
          <a:bodyPr/>
          <a:lstStyle/>
          <a:p>
            <a:r>
              <a:rPr lang="en-US" dirty="0"/>
              <a:t>Learning Objectives - Configure Azure Files</a:t>
            </a:r>
          </a:p>
        </p:txBody>
      </p:sp>
      <p:sp>
        <p:nvSpPr>
          <p:cNvPr id="5" name="Rectangle 4">
            <a:extLst>
              <a:ext uri="{FF2B5EF4-FFF2-40B4-BE49-F238E27FC236}">
                <a16:creationId xmlns:a16="http://schemas.microsoft.com/office/drawing/2014/main" id="{EDFDE518-321A-4728-BF33-D73061B7337F}"/>
              </a:ext>
            </a:extLst>
          </p:cNvPr>
          <p:cNvSpPr/>
          <p:nvPr/>
        </p:nvSpPr>
        <p:spPr bwMode="auto">
          <a:xfrm>
            <a:off x="465138" y="1658914"/>
            <a:ext cx="5668534" cy="36766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defTabSz="444500">
              <a:spcBef>
                <a:spcPct val="0"/>
              </a:spcBef>
              <a:spcAft>
                <a:spcPts val="1200"/>
              </a:spcAft>
              <a:buFont typeface="Arial" panose="020B0604020202020204" pitchFamily="34" charset="0"/>
              <a:buChar char="•"/>
            </a:pPr>
            <a:r>
              <a:rPr lang="en-US" sz="2000" dirty="0">
                <a:solidFill>
                  <a:schemeClr val="tx1"/>
                </a:solidFill>
              </a:rPr>
              <a:t>Compare storage for file shares and blob data</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Manage File Shares</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Create File Share Snapshots</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Implement soft delete for Azure Files</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Use Azure Storage Explorer</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Demonstration – Configure File Shares</a:t>
            </a:r>
          </a:p>
          <a:p>
            <a:pPr marL="342900" indent="-342900" defTabSz="444500">
              <a:spcBef>
                <a:spcPct val="0"/>
              </a:spcBef>
              <a:spcAft>
                <a:spcPts val="1200"/>
              </a:spcAft>
              <a:buFont typeface="Arial" panose="020B0604020202020204" pitchFamily="34" charset="0"/>
              <a:buChar char="•"/>
            </a:pPr>
            <a:r>
              <a:rPr lang="en-US" sz="2000" dirty="0">
                <a:solidFill>
                  <a:schemeClr val="tx1"/>
                </a:solidFill>
              </a:rPr>
              <a:t>Learning Recap</a:t>
            </a:r>
          </a:p>
        </p:txBody>
      </p:sp>
      <p:sp>
        <p:nvSpPr>
          <p:cNvPr id="6" name="TextBox 5">
            <a:extLst>
              <a:ext uri="{FF2B5EF4-FFF2-40B4-BE49-F238E27FC236}">
                <a16:creationId xmlns:a16="http://schemas.microsoft.com/office/drawing/2014/main" id="{09A95A10-D969-EE1C-5DF3-7F7DB3C89C4A}"/>
              </a:ext>
            </a:extLst>
          </p:cNvPr>
          <p:cNvSpPr txBox="1"/>
          <p:nvPr/>
        </p:nvSpPr>
        <p:spPr>
          <a:xfrm>
            <a:off x="6472355" y="1716224"/>
            <a:ext cx="4753833" cy="324704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storage (15 –20%): Configure Azure Files and Azure Blob Storage</a:t>
            </a:r>
          </a:p>
          <a:p>
            <a:pPr marL="231775" marR="0" lvl="0" indent="-231775" defTabSz="91440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Create and configure a file share in Azure Storage</a:t>
            </a:r>
          </a:p>
          <a:p>
            <a:pPr marL="231775" marR="0" lvl="0" indent="-231775"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storage tiers</a:t>
            </a:r>
          </a:p>
          <a:p>
            <a:pPr marL="231775" marR="0" lvl="0" indent="-231775"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snapshots and soft delete for Azure Files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72577541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Compare storage for file shares and blob data</a:t>
            </a:r>
          </a:p>
        </p:txBody>
      </p:sp>
      <p:graphicFrame>
        <p:nvGraphicFramePr>
          <p:cNvPr id="4" name="Table 3">
            <a:extLst>
              <a:ext uri="{FF2B5EF4-FFF2-40B4-BE49-F238E27FC236}">
                <a16:creationId xmlns:a16="http://schemas.microsoft.com/office/drawing/2014/main" id="{60D6EE78-1457-434C-A124-946CDA2B9BEC}"/>
              </a:ext>
            </a:extLst>
          </p:cNvPr>
          <p:cNvGraphicFramePr>
            <a:graphicFrameLocks noGrp="1"/>
          </p:cNvGraphicFramePr>
          <p:nvPr>
            <p:extLst>
              <p:ext uri="{D42A27DB-BD31-4B8C-83A1-F6EECF244321}">
                <p14:modId xmlns:p14="http://schemas.microsoft.com/office/powerpoint/2010/main" val="3010908385"/>
              </p:ext>
            </p:extLst>
          </p:nvPr>
        </p:nvGraphicFramePr>
        <p:xfrm>
          <a:off x="465138" y="1372470"/>
          <a:ext cx="11582400" cy="4249583"/>
        </p:xfrm>
        <a:graphic>
          <a:graphicData uri="http://schemas.openxmlformats.org/drawingml/2006/table">
            <a:tbl>
              <a:tblPr firstRow="1" firstCol="1" bandRow="1">
                <a:tableStyleId>{2D5ABB26-0587-4C30-8999-92F81FD0307C}</a:tableStyleId>
              </a:tblPr>
              <a:tblGrid>
                <a:gridCol w="1274762">
                  <a:extLst>
                    <a:ext uri="{9D8B030D-6E8A-4147-A177-3AD203B41FA5}">
                      <a16:colId xmlns:a16="http://schemas.microsoft.com/office/drawing/2014/main" val="645021739"/>
                    </a:ext>
                  </a:extLst>
                </a:gridCol>
                <a:gridCol w="4241800">
                  <a:extLst>
                    <a:ext uri="{9D8B030D-6E8A-4147-A177-3AD203B41FA5}">
                      <a16:colId xmlns:a16="http://schemas.microsoft.com/office/drawing/2014/main" val="3259532712"/>
                    </a:ext>
                  </a:extLst>
                </a:gridCol>
                <a:gridCol w="6065838">
                  <a:extLst>
                    <a:ext uri="{9D8B030D-6E8A-4147-A177-3AD203B41FA5}">
                      <a16:colId xmlns:a16="http://schemas.microsoft.com/office/drawing/2014/main" val="1501333279"/>
                    </a:ext>
                  </a:extLst>
                </a:gridCol>
              </a:tblGrid>
              <a:tr h="492705">
                <a:tc>
                  <a:txBody>
                    <a:bodyPr/>
                    <a:lstStyle/>
                    <a:p>
                      <a:pPr marL="0" marR="0" algn="l">
                        <a:lnSpc>
                          <a:spcPct val="100000"/>
                        </a:lnSpc>
                        <a:spcBef>
                          <a:spcPts val="0"/>
                        </a:spcBef>
                        <a:spcAft>
                          <a:spcPts val="0"/>
                        </a:spcAft>
                      </a:pPr>
                      <a:r>
                        <a:rPr lang="en-US" sz="2000" strike="noStrike" dirty="0">
                          <a:solidFill>
                            <a:schemeClr val="bg1"/>
                          </a:solidFill>
                          <a:effectLst/>
                          <a:latin typeface="+mj-lt"/>
                        </a:rPr>
                        <a:t>Feature</a:t>
                      </a:r>
                      <a:endParaRPr lang="en-US" sz="2000" b="0" strike="noStrike" dirty="0">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l">
                        <a:lnSpc>
                          <a:spcPct val="100000"/>
                        </a:lnSpc>
                        <a:spcBef>
                          <a:spcPts val="0"/>
                        </a:spcBef>
                        <a:spcAft>
                          <a:spcPts val="0"/>
                        </a:spcAft>
                      </a:pPr>
                      <a:r>
                        <a:rPr lang="en-US" sz="2000" strike="noStrike" dirty="0">
                          <a:solidFill>
                            <a:schemeClr val="bg1"/>
                          </a:solidFill>
                          <a:effectLst/>
                          <a:latin typeface="+mj-lt"/>
                        </a:rPr>
                        <a:t>Description</a:t>
                      </a:r>
                      <a:endParaRPr lang="en-US" sz="2000" b="0" strike="noStrike" dirty="0">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l">
                        <a:lnSpc>
                          <a:spcPct val="100000"/>
                        </a:lnSpc>
                        <a:spcBef>
                          <a:spcPts val="0"/>
                        </a:spcBef>
                        <a:spcAft>
                          <a:spcPts val="0"/>
                        </a:spcAft>
                      </a:pPr>
                      <a:r>
                        <a:rPr lang="en-US" sz="2000" strike="noStrike">
                          <a:solidFill>
                            <a:schemeClr val="bg1"/>
                          </a:solidFill>
                          <a:effectLst/>
                          <a:latin typeface="+mj-lt"/>
                        </a:rPr>
                        <a:t>When to use</a:t>
                      </a:r>
                      <a:endParaRPr lang="en-US" sz="2000" b="0" strike="noStrike">
                        <a:solidFill>
                          <a:schemeClr val="bg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609183505"/>
                  </a:ext>
                </a:extLst>
              </a:tr>
              <a:tr h="2032409">
                <a:tc>
                  <a:txBody>
                    <a:bodyPr/>
                    <a:lstStyle/>
                    <a:p>
                      <a:pPr marL="0" marR="0" algn="l">
                        <a:lnSpc>
                          <a:spcPct val="100000"/>
                        </a:lnSpc>
                        <a:spcBef>
                          <a:spcPts val="600"/>
                        </a:spcBef>
                        <a:spcAft>
                          <a:spcPts val="600"/>
                        </a:spcAft>
                      </a:pPr>
                      <a:r>
                        <a:rPr lang="en-US" sz="2000" strike="noStrike">
                          <a:solidFill>
                            <a:schemeClr val="tx1"/>
                          </a:solidFill>
                          <a:effectLst/>
                          <a:latin typeface="+mj-lt"/>
                        </a:rPr>
                        <a:t>Azure Files</a:t>
                      </a:r>
                      <a:endParaRPr lang="en-US" sz="2000" b="0" strike="noStrike">
                        <a:solidFill>
                          <a:schemeClr val="tx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0000"/>
                        </a:lnSpc>
                        <a:spcBef>
                          <a:spcPts val="600"/>
                        </a:spcBef>
                        <a:spcAft>
                          <a:spcPts val="600"/>
                        </a:spcAft>
                      </a:pPr>
                      <a:r>
                        <a:rPr lang="en-US" sz="2000" strike="noStrike">
                          <a:solidFill>
                            <a:schemeClr val="tx1"/>
                          </a:solidFill>
                          <a:effectLst/>
                        </a:rPr>
                        <a:t>SMB interface, client libraries, and a </a:t>
                      </a:r>
                      <a:r>
                        <a:rPr lang="en-US" sz="2000" strike="noStrike" kern="1200">
                          <a:solidFill>
                            <a:schemeClr val="tx1"/>
                          </a:solidFill>
                          <a:effectLst/>
                        </a:rPr>
                        <a:t>REST interface </a:t>
                      </a:r>
                      <a:r>
                        <a:rPr lang="en-US" sz="2000" strike="noStrike">
                          <a:solidFill>
                            <a:schemeClr val="tx1"/>
                          </a:solidFill>
                          <a:effectLst/>
                        </a:rPr>
                        <a:t>that allows access from anywhere to stored files</a:t>
                      </a:r>
                      <a:endParaRPr lang="en-US" sz="2000" b="0" strike="noStrike">
                        <a:solidFill>
                          <a:schemeClr val="tx1"/>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137160" marR="137160" marT="91440" marB="9144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Lift and shift an application to the cloud</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Store shared data across multiple virtual machines</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a:solidFill>
                            <a:schemeClr val="tx1"/>
                          </a:solidFill>
                          <a:effectLst/>
                          <a:latin typeface="+mn-lt"/>
                          <a:ea typeface="+mn-ea"/>
                          <a:cs typeface="+mn-cs"/>
                        </a:rPr>
                        <a:t>Store development and debugging tools that need to be accessed from many virtual machines</a:t>
                      </a: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94669912"/>
                  </a:ext>
                </a:extLst>
              </a:tr>
              <a:tr h="1724469">
                <a:tc>
                  <a:txBody>
                    <a:bodyPr/>
                    <a:lstStyle/>
                    <a:p>
                      <a:pPr marL="0" marR="0" algn="l">
                        <a:lnSpc>
                          <a:spcPct val="100000"/>
                        </a:lnSpc>
                        <a:spcBef>
                          <a:spcPts val="600"/>
                        </a:spcBef>
                        <a:spcAft>
                          <a:spcPts val="600"/>
                        </a:spcAft>
                      </a:pPr>
                      <a:r>
                        <a:rPr lang="en-US" sz="2000" strike="noStrike">
                          <a:solidFill>
                            <a:schemeClr val="tx1"/>
                          </a:solidFill>
                          <a:effectLst/>
                          <a:latin typeface="+mj-lt"/>
                        </a:rPr>
                        <a:t>Azure Blobs</a:t>
                      </a:r>
                      <a:endParaRPr lang="en-US" sz="2000" b="0" strike="noStrike">
                        <a:solidFill>
                          <a:schemeClr val="tx1"/>
                        </a:solidFill>
                        <a:effectLst/>
                        <a:latin typeface="+mj-lt"/>
                        <a:ea typeface="Calibri" panose="020F0502020204030204" pitchFamily="34" charset="0"/>
                        <a:cs typeface="Segoe UI Semilight" panose="020B0402040204020203" pitchFamily="34" charset="0"/>
                      </a:endParaRP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algn="l">
                        <a:lnSpc>
                          <a:spcPct val="100000"/>
                        </a:lnSpc>
                        <a:spcBef>
                          <a:spcPts val="600"/>
                        </a:spcBef>
                        <a:spcAft>
                          <a:spcPts val="600"/>
                        </a:spcAft>
                      </a:pPr>
                      <a:r>
                        <a:rPr lang="en-US" sz="2000" strike="noStrike" dirty="0">
                          <a:solidFill>
                            <a:schemeClr val="tx1"/>
                          </a:solidFill>
                          <a:effectLst/>
                        </a:rPr>
                        <a:t>Client libraries and a </a:t>
                      </a:r>
                      <a:r>
                        <a:rPr lang="en-US" sz="2000" u="none" strike="noStrike" dirty="0">
                          <a:solidFill>
                            <a:schemeClr val="tx1"/>
                          </a:solidFill>
                          <a:effectLst/>
                        </a:rPr>
                        <a:t>REST interface</a:t>
                      </a:r>
                      <a:r>
                        <a:rPr lang="en-US" sz="2000" strike="noStrike" dirty="0">
                          <a:solidFill>
                            <a:schemeClr val="tx1"/>
                          </a:solidFill>
                          <a:effectLst/>
                        </a:rPr>
                        <a:t> that allows unstructured data (flat namespace) to be stored and accessed at a massive scale in block blobs</a:t>
                      </a:r>
                      <a:endParaRPr lang="en-US" sz="2000" b="0" strike="noStrike" dirty="0">
                        <a:solidFill>
                          <a:schemeClr val="tx1"/>
                        </a:solidFill>
                        <a:effectLst/>
                        <a:latin typeface="Segoe UI Semilight" panose="020B0402040204020203" pitchFamily="34" charset="0"/>
                        <a:ea typeface="Calibri" panose="020F0502020204030204" pitchFamily="34" charset="0"/>
                        <a:cs typeface="Segoe UI Semilight" panose="020B0402040204020203" pitchFamily="34" charset="0"/>
                      </a:endParaRPr>
                    </a:p>
                  </a:txBody>
                  <a:tcPr marL="137160" marR="137160" marT="91440" marB="9144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dirty="0">
                          <a:solidFill>
                            <a:schemeClr val="tx1"/>
                          </a:solidFill>
                          <a:effectLst/>
                          <a:latin typeface="+mn-lt"/>
                          <a:ea typeface="+mn-ea"/>
                          <a:cs typeface="+mn-cs"/>
                        </a:rPr>
                        <a:t>Support streaming and random-access scenarios</a:t>
                      </a:r>
                    </a:p>
                    <a:p>
                      <a:pPr marL="241300" marR="0" indent="-241300" algn="l" defTabSz="932742" rtl="0" eaLnBrk="1" latinLnBrk="0" hangingPunct="1">
                        <a:lnSpc>
                          <a:spcPct val="100000"/>
                        </a:lnSpc>
                        <a:spcBef>
                          <a:spcPts val="600"/>
                        </a:spcBef>
                        <a:spcAft>
                          <a:spcPts val="600"/>
                        </a:spcAft>
                        <a:buFont typeface="Arial" panose="020B0604020202020204" pitchFamily="34" charset="0"/>
                        <a:buChar char="•"/>
                      </a:pPr>
                      <a:r>
                        <a:rPr lang="en-US" sz="2000" strike="noStrike" kern="1200" dirty="0">
                          <a:solidFill>
                            <a:schemeClr val="tx1"/>
                          </a:solidFill>
                          <a:effectLst/>
                          <a:latin typeface="+mn-lt"/>
                          <a:ea typeface="+mn-ea"/>
                          <a:cs typeface="+mn-cs"/>
                        </a:rPr>
                        <a:t>Access application data from anywhere</a:t>
                      </a:r>
                    </a:p>
                  </a:txBody>
                  <a:tcPr marL="137160" marR="137160" marT="91440" marB="9144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6284853"/>
                  </a:ext>
                </a:extLst>
              </a:tr>
            </a:tbl>
          </a:graphicData>
        </a:graphic>
      </p:graphicFrame>
    </p:spTree>
    <p:extLst>
      <p:ext uri="{BB962C8B-B14F-4D97-AF65-F5344CB8AC3E}">
        <p14:creationId xmlns:p14="http://schemas.microsoft.com/office/powerpoint/2010/main" val="3033596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48AB8-6259-4474-AC41-D80FF4123A85}"/>
              </a:ext>
            </a:extLst>
          </p:cNvPr>
          <p:cNvSpPr>
            <a:spLocks noGrp="1"/>
          </p:cNvSpPr>
          <p:nvPr>
            <p:ph type="title"/>
          </p:nvPr>
        </p:nvSpPr>
        <p:spPr/>
        <p:txBody>
          <a:bodyPr/>
          <a:lstStyle/>
          <a:p>
            <a:r>
              <a:rPr lang="en-US" dirty="0"/>
              <a:t>Manage File Shares</a:t>
            </a:r>
          </a:p>
        </p:txBody>
      </p:sp>
      <p:sp>
        <p:nvSpPr>
          <p:cNvPr id="5" name="Rectangle 4">
            <a:extLst>
              <a:ext uri="{FF2B5EF4-FFF2-40B4-BE49-F238E27FC236}">
                <a16:creationId xmlns:a16="http://schemas.microsoft.com/office/drawing/2014/main" id="{268FCCA4-83CA-49F4-968F-E3B1C32D6668}"/>
              </a:ext>
            </a:extLst>
          </p:cNvPr>
          <p:cNvSpPr/>
          <p:nvPr/>
        </p:nvSpPr>
        <p:spPr>
          <a:xfrm>
            <a:off x="465138" y="1701604"/>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Windows – ensure port 445 is open</a:t>
            </a:r>
          </a:p>
        </p:txBody>
      </p:sp>
      <p:sp>
        <p:nvSpPr>
          <p:cNvPr id="6" name="Rectangle 5">
            <a:extLst>
              <a:ext uri="{FF2B5EF4-FFF2-40B4-BE49-F238E27FC236}">
                <a16:creationId xmlns:a16="http://schemas.microsoft.com/office/drawing/2014/main" id="{31B041DE-4B2B-4146-A4C9-DA84A1A81F1A}"/>
              </a:ext>
            </a:extLst>
          </p:cNvPr>
          <p:cNvSpPr/>
          <p:nvPr/>
        </p:nvSpPr>
        <p:spPr>
          <a:xfrm>
            <a:off x="465138" y="2709845"/>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Linux – mount the drive</a:t>
            </a:r>
          </a:p>
        </p:txBody>
      </p:sp>
      <p:sp>
        <p:nvSpPr>
          <p:cNvPr id="7" name="Rectangle 6">
            <a:extLst>
              <a:ext uri="{FF2B5EF4-FFF2-40B4-BE49-F238E27FC236}">
                <a16:creationId xmlns:a16="http://schemas.microsoft.com/office/drawing/2014/main" id="{253889F3-1652-4562-8B15-7C4A0DC54B9C}"/>
              </a:ext>
            </a:extLst>
          </p:cNvPr>
          <p:cNvSpPr/>
          <p:nvPr/>
        </p:nvSpPr>
        <p:spPr>
          <a:xfrm>
            <a:off x="465138" y="3718086"/>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MacOS – mount the drive</a:t>
            </a:r>
          </a:p>
        </p:txBody>
      </p:sp>
      <p:sp>
        <p:nvSpPr>
          <p:cNvPr id="8" name="Rectangle 7">
            <a:extLst>
              <a:ext uri="{FF2B5EF4-FFF2-40B4-BE49-F238E27FC236}">
                <a16:creationId xmlns:a16="http://schemas.microsoft.com/office/drawing/2014/main" id="{871EE83B-1ED7-4F0A-80EE-AE2971F91C42}"/>
              </a:ext>
            </a:extLst>
          </p:cNvPr>
          <p:cNvSpPr/>
          <p:nvPr/>
        </p:nvSpPr>
        <p:spPr>
          <a:xfrm>
            <a:off x="465138" y="4726328"/>
            <a:ext cx="5943621" cy="729057"/>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200">
                <a:solidFill>
                  <a:schemeClr val="tx1"/>
                </a:solidFill>
              </a:rPr>
              <a:t>Secure transfer required – SMB 3.0 encryption</a:t>
            </a:r>
          </a:p>
        </p:txBody>
      </p:sp>
      <p:pic>
        <p:nvPicPr>
          <p:cNvPr id="9" name="Picture 8" descr="Screenshot of the Connect Windows file share page in the portal. ">
            <a:extLst>
              <a:ext uri="{FF2B5EF4-FFF2-40B4-BE49-F238E27FC236}">
                <a16:creationId xmlns:a16="http://schemas.microsoft.com/office/drawing/2014/main" id="{99A92AB7-BC7A-EC0A-D2BE-865C68AA82FE}"/>
              </a:ext>
            </a:extLst>
          </p:cNvPr>
          <p:cNvPicPr>
            <a:picLocks noChangeAspect="1"/>
          </p:cNvPicPr>
          <p:nvPr/>
        </p:nvPicPr>
        <p:blipFill>
          <a:blip r:embed="rId3"/>
          <a:stretch>
            <a:fillRect/>
          </a:stretch>
        </p:blipFill>
        <p:spPr>
          <a:xfrm>
            <a:off x="6660976" y="1386928"/>
            <a:ext cx="5372850" cy="4372585"/>
          </a:xfrm>
          <a:prstGeom prst="rect">
            <a:avLst/>
          </a:prstGeom>
        </p:spPr>
      </p:pic>
    </p:spTree>
    <p:extLst>
      <p:ext uri="{BB962C8B-B14F-4D97-AF65-F5344CB8AC3E}">
        <p14:creationId xmlns:p14="http://schemas.microsoft.com/office/powerpoint/2010/main" val="387239685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B942-BAA7-46F9-8EC7-B8A0C0B7D7C6}"/>
              </a:ext>
            </a:extLst>
          </p:cNvPr>
          <p:cNvSpPr>
            <a:spLocks noGrp="1"/>
          </p:cNvSpPr>
          <p:nvPr>
            <p:ph type="title"/>
          </p:nvPr>
        </p:nvSpPr>
        <p:spPr/>
        <p:txBody>
          <a:bodyPr/>
          <a:lstStyle/>
          <a:p>
            <a:r>
              <a:rPr lang="en-US" dirty="0"/>
              <a:t>Create File Share Snapshots</a:t>
            </a:r>
          </a:p>
        </p:txBody>
      </p:sp>
      <p:sp>
        <p:nvSpPr>
          <p:cNvPr id="4" name="Rectangle 3">
            <a:extLst>
              <a:ext uri="{FF2B5EF4-FFF2-40B4-BE49-F238E27FC236}">
                <a16:creationId xmlns:a16="http://schemas.microsoft.com/office/drawing/2014/main" id="{C5E21175-4CE0-45E9-A062-1F9C6A187625}"/>
              </a:ext>
            </a:extLst>
          </p:cNvPr>
          <p:cNvSpPr/>
          <p:nvPr/>
        </p:nvSpPr>
        <p:spPr>
          <a:xfrm>
            <a:off x="586544" y="1440073"/>
            <a:ext cx="4714921" cy="3614811"/>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09728" tIns="64008" rIns="109728" bIns="64008" numCol="1" spcCol="1270" anchor="t" anchorCtr="0">
            <a:noAutofit/>
          </a:bodyPr>
          <a:lstStyle/>
          <a:p>
            <a:pPr marL="174625" lvl="1" indent="-174625">
              <a:spcBef>
                <a:spcPts val="100"/>
              </a:spcBef>
              <a:spcAft>
                <a:spcPts val="600"/>
              </a:spcAft>
              <a:buFont typeface="Arial" panose="020B0604020202020204" pitchFamily="34" charset="0"/>
              <a:buChar char="•"/>
            </a:pPr>
            <a:r>
              <a:rPr lang="en-US" dirty="0">
                <a:solidFill>
                  <a:schemeClr val="tx1"/>
                </a:solidFill>
              </a:rPr>
              <a:t>Protection against application error and data corruption</a:t>
            </a:r>
            <a:endParaRPr lang="en-US" dirty="0">
              <a:solidFill>
                <a:schemeClr val="tx1"/>
              </a:solidFill>
              <a:cs typeface="Segoe UI"/>
            </a:endParaRPr>
          </a:p>
          <a:p>
            <a:pPr marL="174625" lvl="1" indent="-174625">
              <a:spcBef>
                <a:spcPts val="100"/>
              </a:spcBef>
              <a:spcAft>
                <a:spcPts val="600"/>
              </a:spcAft>
              <a:buFont typeface="Arial" panose="020B0604020202020204" pitchFamily="34" charset="0"/>
              <a:buChar char="•"/>
            </a:pPr>
            <a:r>
              <a:rPr lang="en-US" dirty="0">
                <a:solidFill>
                  <a:schemeClr val="tx1"/>
                </a:solidFill>
              </a:rPr>
              <a:t>Protection against accidental deletions or unintended changes</a:t>
            </a:r>
            <a:endParaRPr lang="en-US" dirty="0">
              <a:solidFill>
                <a:schemeClr val="tx1"/>
              </a:solidFill>
              <a:cs typeface="Segoe UI"/>
            </a:endParaRPr>
          </a:p>
          <a:p>
            <a:pPr marL="174625" lvl="1" indent="-174625">
              <a:spcBef>
                <a:spcPts val="100"/>
              </a:spcBef>
              <a:spcAft>
                <a:spcPts val="600"/>
              </a:spcAft>
              <a:buFont typeface="Arial" panose="020B0604020202020204" pitchFamily="34" charset="0"/>
              <a:buChar char="•"/>
            </a:pPr>
            <a:r>
              <a:rPr lang="en-US" dirty="0">
                <a:solidFill>
                  <a:schemeClr val="tx1"/>
                </a:solidFill>
              </a:rPr>
              <a:t>Support backup and recovery</a:t>
            </a:r>
          </a:p>
          <a:p>
            <a:pPr marL="0" lvl="1">
              <a:spcBef>
                <a:spcPts val="100"/>
              </a:spcBef>
              <a:spcAft>
                <a:spcPts val="600"/>
              </a:spcAft>
            </a:pPr>
            <a:endParaRPr lang="en-US" dirty="0">
              <a:solidFill>
                <a:schemeClr val="tx1"/>
              </a:solidFill>
            </a:endParaRPr>
          </a:p>
          <a:p>
            <a:pPr marL="174625" indent="-174625">
              <a:spcAft>
                <a:spcPts val="600"/>
              </a:spcAft>
              <a:buFont typeface="Arial" panose="020B0604020202020204" pitchFamily="34" charset="0"/>
              <a:buChar char="•"/>
            </a:pPr>
            <a:r>
              <a:rPr lang="en-US" dirty="0">
                <a:solidFill>
                  <a:schemeClr val="tx1"/>
                </a:solidFill>
                <a:cs typeface="Segoe UI Semilight"/>
              </a:rPr>
              <a:t>Incremental snapshot that captures the share state at a point in time</a:t>
            </a:r>
          </a:p>
          <a:p>
            <a:pPr marL="174625" indent="-174625">
              <a:spcAft>
                <a:spcPts val="600"/>
              </a:spcAft>
              <a:buFont typeface="Arial" panose="020B0604020202020204" pitchFamily="34" charset="0"/>
              <a:buChar char="•"/>
            </a:pPr>
            <a:r>
              <a:rPr lang="en-US" dirty="0">
                <a:solidFill>
                  <a:schemeClr val="tx1"/>
                </a:solidFill>
                <a:cs typeface="Segoe UI Semilight"/>
              </a:rPr>
              <a:t>Snapshot at the </a:t>
            </a:r>
            <a:r>
              <a:rPr lang="en-US" i="1" dirty="0">
                <a:solidFill>
                  <a:schemeClr val="tx1"/>
                </a:solidFill>
                <a:cs typeface="Segoe UI Semilight"/>
              </a:rPr>
              <a:t>file share level</a:t>
            </a:r>
            <a:r>
              <a:rPr lang="en-US" dirty="0">
                <a:solidFill>
                  <a:schemeClr val="tx1"/>
                </a:solidFill>
                <a:cs typeface="Segoe UI Semilight"/>
              </a:rPr>
              <a:t>,</a:t>
            </a:r>
            <a:br>
              <a:rPr lang="en-US" dirty="0">
                <a:solidFill>
                  <a:schemeClr val="tx1"/>
                </a:solidFill>
                <a:cs typeface="Segoe UI Semilight"/>
              </a:rPr>
            </a:br>
            <a:r>
              <a:rPr lang="en-US" dirty="0">
                <a:solidFill>
                  <a:schemeClr val="tx1"/>
                </a:solidFill>
                <a:cs typeface="Segoe UI Semilight"/>
              </a:rPr>
              <a:t>and restore at the </a:t>
            </a:r>
            <a:r>
              <a:rPr lang="en-US" i="1" dirty="0">
                <a:solidFill>
                  <a:schemeClr val="tx1"/>
                </a:solidFill>
                <a:cs typeface="Segoe UI Semilight"/>
              </a:rPr>
              <a:t>file level</a:t>
            </a:r>
          </a:p>
          <a:p>
            <a:pPr marL="174625" lvl="1" indent="-174625">
              <a:spcBef>
                <a:spcPts val="100"/>
              </a:spcBef>
              <a:spcAft>
                <a:spcPts val="600"/>
              </a:spcAft>
              <a:buFont typeface="Arial" panose="020B0604020202020204" pitchFamily="34" charset="0"/>
              <a:buChar char="•"/>
            </a:pPr>
            <a:r>
              <a:rPr lang="en-US" dirty="0">
                <a:solidFill>
                  <a:schemeClr val="tx1"/>
                </a:solidFill>
                <a:cs typeface="Segoe UI Semilight"/>
              </a:rPr>
              <a:t>Is read-only copy of your data</a:t>
            </a: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p:txBody>
      </p:sp>
      <p:pic>
        <p:nvPicPr>
          <p:cNvPr id="5" name="Picture 5" descr="A screenshot of creating a snapshot for a file share">
            <a:extLst>
              <a:ext uri="{FF2B5EF4-FFF2-40B4-BE49-F238E27FC236}">
                <a16:creationId xmlns:a16="http://schemas.microsoft.com/office/drawing/2014/main" id="{5F0334D6-5B91-4858-8FA8-02D4C3A58158}"/>
              </a:ext>
            </a:extLst>
          </p:cNvPr>
          <p:cNvPicPr>
            <a:picLocks noChangeAspect="1"/>
          </p:cNvPicPr>
          <p:nvPr/>
        </p:nvPicPr>
        <p:blipFill>
          <a:blip r:embed="rId3"/>
          <a:stretch>
            <a:fillRect/>
          </a:stretch>
        </p:blipFill>
        <p:spPr>
          <a:xfrm>
            <a:off x="5950723" y="1954160"/>
            <a:ext cx="5745428" cy="1160788"/>
          </a:xfrm>
          <a:prstGeom prst="rect">
            <a:avLst/>
          </a:prstGeom>
          <a:ln>
            <a:solidFill>
              <a:schemeClr val="bg1">
                <a:lumMod val="75000"/>
              </a:schemeClr>
            </a:solidFill>
          </a:ln>
        </p:spPr>
      </p:pic>
    </p:spTree>
    <p:extLst>
      <p:ext uri="{BB962C8B-B14F-4D97-AF65-F5344CB8AC3E}">
        <p14:creationId xmlns:p14="http://schemas.microsoft.com/office/powerpoint/2010/main" val="34141637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374AB-422F-CEE6-5D34-E3B859FCA6B5}"/>
              </a:ext>
            </a:extLst>
          </p:cNvPr>
          <p:cNvSpPr>
            <a:spLocks noGrp="1"/>
          </p:cNvSpPr>
          <p:nvPr>
            <p:ph type="title"/>
          </p:nvPr>
        </p:nvSpPr>
        <p:spPr/>
        <p:txBody>
          <a:bodyPr/>
          <a:lstStyle/>
          <a:p>
            <a:r>
              <a:rPr lang="en-US" dirty="0"/>
              <a:t>Implement soft delete for Azure Files</a:t>
            </a:r>
          </a:p>
        </p:txBody>
      </p:sp>
      <p:sp>
        <p:nvSpPr>
          <p:cNvPr id="3" name="Rectangle 2">
            <a:extLst>
              <a:ext uri="{FF2B5EF4-FFF2-40B4-BE49-F238E27FC236}">
                <a16:creationId xmlns:a16="http://schemas.microsoft.com/office/drawing/2014/main" id="{85EF4EDE-3803-47E4-0E3E-53FE599A8EE8}"/>
              </a:ext>
            </a:extLst>
          </p:cNvPr>
          <p:cNvSpPr/>
          <p:nvPr/>
        </p:nvSpPr>
        <p:spPr>
          <a:xfrm>
            <a:off x="586544" y="1440073"/>
            <a:ext cx="5351919" cy="3614811"/>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09728" tIns="64008" rIns="109728" bIns="64008" numCol="1" spcCol="1270" anchor="t" anchorCtr="0">
            <a:noAutofit/>
          </a:bodyPr>
          <a:lstStyle/>
          <a:p>
            <a:pPr marL="174625" lvl="1" indent="-174625">
              <a:spcBef>
                <a:spcPts val="100"/>
              </a:spcBef>
              <a:spcAft>
                <a:spcPts val="600"/>
              </a:spcAft>
              <a:buFont typeface="Arial" panose="020B0604020202020204" pitchFamily="34" charset="0"/>
              <a:buChar char="•"/>
            </a:pPr>
            <a:r>
              <a:rPr lang="en-US" dirty="0">
                <a:solidFill>
                  <a:schemeClr val="tx1"/>
                </a:solidFill>
              </a:rPr>
              <a:t>Recovery from accidental data loss</a:t>
            </a:r>
          </a:p>
          <a:p>
            <a:pPr marL="174625" lvl="1" indent="-174625">
              <a:spcBef>
                <a:spcPts val="100"/>
              </a:spcBef>
              <a:spcAft>
                <a:spcPts val="600"/>
              </a:spcAft>
              <a:buFont typeface="Arial" panose="020B0604020202020204" pitchFamily="34" charset="0"/>
              <a:buChar char="•"/>
            </a:pPr>
            <a:r>
              <a:rPr lang="en-US" dirty="0">
                <a:solidFill>
                  <a:schemeClr val="tx1"/>
                </a:solidFill>
              </a:rPr>
              <a:t>Major change or upgrade scenarios</a:t>
            </a:r>
          </a:p>
          <a:p>
            <a:pPr marL="174625" lvl="1" indent="-174625">
              <a:spcBef>
                <a:spcPts val="100"/>
              </a:spcBef>
              <a:spcAft>
                <a:spcPts val="600"/>
              </a:spcAft>
              <a:buFont typeface="Arial" panose="020B0604020202020204" pitchFamily="34" charset="0"/>
              <a:buChar char="•"/>
            </a:pPr>
            <a:r>
              <a:rPr lang="en-US" dirty="0">
                <a:solidFill>
                  <a:schemeClr val="tx1"/>
                </a:solidFill>
              </a:rPr>
              <a:t>Business continuity – ransomware situations</a:t>
            </a:r>
          </a:p>
          <a:p>
            <a:pPr marL="174625" lvl="1" indent="-174625">
              <a:spcBef>
                <a:spcPts val="100"/>
              </a:spcBef>
              <a:spcAft>
                <a:spcPts val="600"/>
              </a:spcAft>
              <a:buFont typeface="Arial" panose="020B0604020202020204" pitchFamily="34" charset="0"/>
              <a:buChar char="•"/>
            </a:pPr>
            <a:r>
              <a:rPr lang="en-US" dirty="0">
                <a:solidFill>
                  <a:schemeClr val="tx1"/>
                </a:solidFill>
              </a:rPr>
              <a:t>Data compliance retention</a:t>
            </a:r>
          </a:p>
          <a:p>
            <a:pPr>
              <a:spcAft>
                <a:spcPts val="600"/>
              </a:spcAft>
            </a:pPr>
            <a:endParaRPr lang="en-US" dirty="0">
              <a:solidFill>
                <a:schemeClr val="tx1"/>
              </a:solidFill>
              <a:cs typeface="Segoe UI Semilight"/>
            </a:endParaRPr>
          </a:p>
          <a:p>
            <a:pPr marL="174625" indent="-174625">
              <a:spcAft>
                <a:spcPts val="600"/>
              </a:spcAft>
              <a:buFont typeface="Arial" panose="020B0604020202020204" pitchFamily="34" charset="0"/>
              <a:buChar char="•"/>
            </a:pPr>
            <a:r>
              <a:rPr lang="en-US" dirty="0">
                <a:solidFill>
                  <a:schemeClr val="tx1"/>
                </a:solidFill>
                <a:cs typeface="Segoe UI Semilight"/>
              </a:rPr>
              <a:t>Enabled at the storage account level</a:t>
            </a:r>
          </a:p>
          <a:p>
            <a:pPr marL="174625" indent="-174625">
              <a:spcAft>
                <a:spcPts val="600"/>
              </a:spcAft>
              <a:buFont typeface="Arial" panose="020B0604020202020204" pitchFamily="34" charset="0"/>
              <a:buChar char="•"/>
            </a:pPr>
            <a:r>
              <a:rPr lang="en-US" dirty="0">
                <a:solidFill>
                  <a:schemeClr val="tx1"/>
                </a:solidFill>
                <a:cs typeface="Segoe UI Semilight"/>
              </a:rPr>
              <a:t>Transitions content to a soft deleted state</a:t>
            </a:r>
          </a:p>
          <a:p>
            <a:pPr marL="174625" indent="-174625">
              <a:spcAft>
                <a:spcPts val="600"/>
              </a:spcAft>
              <a:buFont typeface="Arial" panose="020B0604020202020204" pitchFamily="34" charset="0"/>
              <a:buChar char="•"/>
            </a:pPr>
            <a:r>
              <a:rPr lang="en-US" dirty="0">
                <a:solidFill>
                  <a:schemeClr val="tx1"/>
                </a:solidFill>
                <a:cs typeface="Segoe UI Semilight"/>
              </a:rPr>
              <a:t>Provides a retention period of 1 and 365 days</a:t>
            </a:r>
          </a:p>
          <a:p>
            <a:pPr marL="174625" indent="-174625">
              <a:spcAft>
                <a:spcPts val="600"/>
              </a:spcAft>
              <a:buFont typeface="Arial" panose="020B0604020202020204" pitchFamily="34" charset="0"/>
              <a:buChar char="•"/>
            </a:pPr>
            <a:r>
              <a:rPr lang="en-US" dirty="0">
                <a:solidFill>
                  <a:schemeClr val="tx1"/>
                </a:solidFill>
                <a:cs typeface="Segoe UI Semilight"/>
              </a:rPr>
              <a:t>Works on new or existing file shares</a:t>
            </a:r>
          </a:p>
          <a:p>
            <a:pPr marL="174625" indent="-174625">
              <a:spcAft>
                <a:spcPts val="600"/>
              </a:spcAft>
              <a:buFont typeface="Arial" panose="020B0604020202020204" pitchFamily="34" charset="0"/>
              <a:buChar char="•"/>
            </a:pPr>
            <a:r>
              <a:rPr lang="en-US" dirty="0">
                <a:solidFill>
                  <a:schemeClr val="tx1"/>
                </a:solidFill>
                <a:cs typeface="Segoe UI Semilight"/>
              </a:rPr>
              <a:t>Doesn't work for NFS shares</a:t>
            </a:r>
          </a:p>
          <a:p>
            <a:pPr marL="285750" indent="-285750">
              <a:buFont typeface="Arial" panose="020B0604020202020204" pitchFamily="34" charset="0"/>
              <a:buChar char="•"/>
            </a:pPr>
            <a:endParaRPr lang="en-US" dirty="0">
              <a:solidFill>
                <a:schemeClr val="tx1"/>
              </a:solidFill>
              <a:cs typeface="Segoe UI Semilight"/>
            </a:endParaRPr>
          </a:p>
          <a:p>
            <a:pPr marL="285750" indent="-285750">
              <a:buFont typeface="Arial" panose="020B0604020202020204" pitchFamily="34" charset="0"/>
              <a:buChar char="•"/>
            </a:pPr>
            <a:endParaRPr lang="en-US" dirty="0">
              <a:solidFill>
                <a:schemeClr val="tx1"/>
              </a:solidFill>
              <a:cs typeface="Segoe UI Semilight"/>
            </a:endParaRPr>
          </a:p>
        </p:txBody>
      </p:sp>
      <p:pic>
        <p:nvPicPr>
          <p:cNvPr id="7" name="Picture 6" descr="Screenshot of the soft delete settings in the portal. ">
            <a:extLst>
              <a:ext uri="{FF2B5EF4-FFF2-40B4-BE49-F238E27FC236}">
                <a16:creationId xmlns:a16="http://schemas.microsoft.com/office/drawing/2014/main" id="{92DDDB10-B740-265A-CB12-F78008B67BD7}"/>
              </a:ext>
            </a:extLst>
          </p:cNvPr>
          <p:cNvPicPr>
            <a:picLocks noChangeAspect="1"/>
          </p:cNvPicPr>
          <p:nvPr/>
        </p:nvPicPr>
        <p:blipFill>
          <a:blip r:embed="rId3"/>
          <a:stretch>
            <a:fillRect/>
          </a:stretch>
        </p:blipFill>
        <p:spPr>
          <a:xfrm>
            <a:off x="6010383" y="1615812"/>
            <a:ext cx="5249008" cy="3762900"/>
          </a:xfrm>
          <a:prstGeom prst="rect">
            <a:avLst/>
          </a:prstGeom>
          <a:ln>
            <a:solidFill>
              <a:schemeClr val="bg1">
                <a:lumMod val="85000"/>
              </a:schemeClr>
            </a:solidFill>
          </a:ln>
        </p:spPr>
      </p:pic>
    </p:spTree>
    <p:extLst>
      <p:ext uri="{BB962C8B-B14F-4D97-AF65-F5344CB8AC3E}">
        <p14:creationId xmlns:p14="http://schemas.microsoft.com/office/powerpoint/2010/main" val="345241552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Use Azure Storage Explorer</a:t>
            </a:r>
          </a:p>
        </p:txBody>
      </p:sp>
      <p:sp>
        <p:nvSpPr>
          <p:cNvPr id="4" name="Rectangle 3">
            <a:extLst>
              <a:ext uri="{FF2B5EF4-FFF2-40B4-BE49-F238E27FC236}">
                <a16:creationId xmlns:a16="http://schemas.microsoft.com/office/drawing/2014/main" id="{CE38A52C-AF19-4ABB-9432-A86F10EAFE78}"/>
              </a:ext>
            </a:extLst>
          </p:cNvPr>
          <p:cNvSpPr/>
          <p:nvPr/>
        </p:nvSpPr>
        <p:spPr>
          <a:xfrm>
            <a:off x="385937" y="1397477"/>
            <a:ext cx="5084766" cy="3670912"/>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2900" indent="-342900">
              <a:spcAft>
                <a:spcPts val="600"/>
              </a:spcAft>
              <a:buFont typeface="Arial" panose="020B0604020202020204" pitchFamily="34" charset="0"/>
              <a:buChar char="•"/>
            </a:pPr>
            <a:r>
              <a:rPr lang="en-US" sz="2000" dirty="0">
                <a:solidFill>
                  <a:schemeClr val="tx1"/>
                </a:solidFill>
              </a:rPr>
              <a:t>Download and install </a:t>
            </a:r>
          </a:p>
          <a:p>
            <a:pPr marL="342900" indent="-342900">
              <a:spcAft>
                <a:spcPts val="600"/>
              </a:spcAft>
              <a:buFont typeface="Arial" panose="020B0604020202020204" pitchFamily="34" charset="0"/>
              <a:buChar char="•"/>
            </a:pPr>
            <a:r>
              <a:rPr lang="en-US" sz="2000" dirty="0">
                <a:solidFill>
                  <a:schemeClr val="tx1"/>
                </a:solidFill>
              </a:rPr>
              <a:t>Access multiple accounts and subscriptions</a:t>
            </a:r>
          </a:p>
          <a:p>
            <a:pPr marL="342900" indent="-342900">
              <a:spcAft>
                <a:spcPts val="600"/>
              </a:spcAft>
              <a:buFont typeface="Arial" panose="020B0604020202020204" pitchFamily="34" charset="0"/>
              <a:buChar char="•"/>
            </a:pPr>
            <a:r>
              <a:rPr lang="en-US" sz="2000" dirty="0">
                <a:solidFill>
                  <a:schemeClr val="tx1"/>
                </a:solidFill>
              </a:rPr>
              <a:t>Create, delete, view, edit storage resources</a:t>
            </a:r>
          </a:p>
          <a:p>
            <a:pPr marL="342900" indent="-342900">
              <a:spcAft>
                <a:spcPts val="600"/>
              </a:spcAft>
              <a:buFont typeface="Arial" panose="020B0604020202020204" pitchFamily="34" charset="0"/>
              <a:buChar char="•"/>
            </a:pPr>
            <a:r>
              <a:rPr lang="en-US" sz="2000" dirty="0">
                <a:solidFill>
                  <a:schemeClr val="tx1"/>
                </a:solidFill>
              </a:rPr>
              <a:t>View and edit Blob, Queue, Table, File, Cosmos DB storage and Data Lake Storage</a:t>
            </a:r>
          </a:p>
          <a:p>
            <a:pPr marL="342900" indent="-342900">
              <a:spcAft>
                <a:spcPts val="600"/>
              </a:spcAft>
              <a:buFont typeface="Arial" panose="020B0604020202020204" pitchFamily="34" charset="0"/>
              <a:buChar char="•"/>
            </a:pPr>
            <a:r>
              <a:rPr lang="en-US" sz="2000" dirty="0">
                <a:solidFill>
                  <a:schemeClr val="tx1"/>
                </a:solidFill>
              </a:rPr>
              <a:t>Obtain shared access signature (SAS) keys</a:t>
            </a:r>
          </a:p>
          <a:p>
            <a:pPr marL="342900" indent="-342900">
              <a:spcAft>
                <a:spcPts val="600"/>
              </a:spcAft>
              <a:buFont typeface="Arial" panose="020B0604020202020204" pitchFamily="34" charset="0"/>
              <a:buChar char="•"/>
            </a:pPr>
            <a:r>
              <a:rPr lang="en-US" sz="2000" dirty="0">
                <a:solidFill>
                  <a:schemeClr val="tx1"/>
                </a:solidFill>
              </a:rPr>
              <a:t>Available for Windows, Mac, and Linux</a:t>
            </a:r>
          </a:p>
        </p:txBody>
      </p:sp>
      <p:pic>
        <p:nvPicPr>
          <p:cNvPr id="10" name="Picture 9" descr="Screenshot of the Storage Explorer. The navigation pane (left) is expanded and a folder in the blob container is selected. The folder (right pane) contains several documents">
            <a:extLst>
              <a:ext uri="{FF2B5EF4-FFF2-40B4-BE49-F238E27FC236}">
                <a16:creationId xmlns:a16="http://schemas.microsoft.com/office/drawing/2014/main" id="{FBC080A8-84F5-44A8-BF17-FDF4F032666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790836" y="1623611"/>
            <a:ext cx="6070370" cy="3218644"/>
          </a:xfrm>
          <a:prstGeom prst="rect">
            <a:avLst/>
          </a:prstGeom>
          <a:noFill/>
          <a:ln>
            <a:solidFill>
              <a:schemeClr val="bg1">
                <a:lumMod val="65000"/>
              </a:schemeClr>
            </a:solidFill>
          </a:ln>
        </p:spPr>
      </p:pic>
      <p:sp>
        <p:nvSpPr>
          <p:cNvPr id="3" name="TextBox 2">
            <a:extLst>
              <a:ext uri="{FF2B5EF4-FFF2-40B4-BE49-F238E27FC236}">
                <a16:creationId xmlns:a16="http://schemas.microsoft.com/office/drawing/2014/main" id="{4FDCD94D-5255-0789-4208-5D008CC39E80}"/>
              </a:ext>
            </a:extLst>
          </p:cNvPr>
          <p:cNvSpPr txBox="1"/>
          <p:nvPr/>
        </p:nvSpPr>
        <p:spPr>
          <a:xfrm>
            <a:off x="6230430" y="5068389"/>
            <a:ext cx="4402736" cy="646331"/>
          </a:xfrm>
          <a:prstGeom prst="rect">
            <a:avLst/>
          </a:prstGeom>
          <a:noFill/>
        </p:spPr>
        <p:txBody>
          <a:bodyPr wrap="square">
            <a:spAutoFit/>
          </a:bodyPr>
          <a:lstStyle/>
          <a:p>
            <a:pPr algn="ctr"/>
            <a:r>
              <a:rPr lang="en-US" sz="1800" dirty="0">
                <a:solidFill>
                  <a:schemeClr val="tx1"/>
                </a:solidFill>
              </a:rPr>
              <a:t>Also consider portal-based Azure Storage Browser and Azure Storage Mover</a:t>
            </a:r>
            <a:endParaRPr lang="en-US" dirty="0"/>
          </a:p>
        </p:txBody>
      </p:sp>
    </p:spTree>
    <p:extLst>
      <p:ext uri="{BB962C8B-B14F-4D97-AF65-F5344CB8AC3E}">
        <p14:creationId xmlns:p14="http://schemas.microsoft.com/office/powerpoint/2010/main" val="119820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C65A-2386-4FEB-A5C5-D1BF9FD3FAA7}"/>
              </a:ext>
            </a:extLst>
          </p:cNvPr>
          <p:cNvSpPr>
            <a:spLocks noGrp="1"/>
          </p:cNvSpPr>
          <p:nvPr>
            <p:ph type="title"/>
          </p:nvPr>
        </p:nvSpPr>
        <p:spPr/>
        <p:txBody>
          <a:bodyPr/>
          <a:lstStyle/>
          <a:p>
            <a:r>
              <a:rPr lang="en-US" dirty="0"/>
              <a:t>Demonstration – Configure File Shares</a:t>
            </a:r>
          </a:p>
        </p:txBody>
      </p:sp>
      <p:sp>
        <p:nvSpPr>
          <p:cNvPr id="5" name="Rectangle 4">
            <a:extLst>
              <a:ext uri="{FF2B5EF4-FFF2-40B4-BE49-F238E27FC236}">
                <a16:creationId xmlns:a16="http://schemas.microsoft.com/office/drawing/2014/main" id="{AF2BBC87-90EC-4D10-8041-29535BE9F385}"/>
              </a:ext>
            </a:extLst>
          </p:cNvPr>
          <p:cNvSpPr/>
          <p:nvPr/>
        </p:nvSpPr>
        <p:spPr bwMode="auto">
          <a:xfrm>
            <a:off x="1003263" y="1645050"/>
            <a:ext cx="10198101" cy="185221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Create a file share and upload a file</a:t>
            </a:r>
          </a:p>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Explore snapshots and soft delete</a:t>
            </a:r>
          </a:p>
          <a:p>
            <a:pPr marL="342900" indent="-342900" defTabSz="1022350">
              <a:lnSpc>
                <a:spcPct val="150000"/>
              </a:lnSpc>
              <a:spcBef>
                <a:spcPct val="0"/>
              </a:spcBef>
              <a:spcAft>
                <a:spcPct val="35000"/>
              </a:spcAft>
              <a:buFont typeface="Arial" panose="020B0604020202020204" pitchFamily="34" charset="0"/>
              <a:buChar char="•"/>
            </a:pPr>
            <a:r>
              <a:rPr lang="en-US" sz="2400" dirty="0">
                <a:solidFill>
                  <a:schemeClr val="tx1"/>
                </a:solidFill>
              </a:rPr>
              <a:t>Use the portal-based Storage Explorer (optional)</a:t>
            </a:r>
          </a:p>
        </p:txBody>
      </p:sp>
    </p:spTree>
    <p:extLst>
      <p:ext uri="{BB962C8B-B14F-4D97-AF65-F5344CB8AC3E}">
        <p14:creationId xmlns:p14="http://schemas.microsoft.com/office/powerpoint/2010/main" val="56934577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Azure Files</a:t>
            </a:r>
          </a:p>
        </p:txBody>
      </p:sp>
      <p:sp>
        <p:nvSpPr>
          <p:cNvPr id="19" name="Rectangle 18">
            <a:extLst>
              <a:ext uri="{FF2B5EF4-FFF2-40B4-BE49-F238E27FC236}">
                <a16:creationId xmlns:a16="http://schemas.microsoft.com/office/drawing/2014/main" id="{0D720A05-CD47-4B79-B8A4-8309E16EE618}"/>
              </a:ext>
            </a:extLst>
          </p:cNvPr>
          <p:cNvSpPr/>
          <p:nvPr/>
        </p:nvSpPr>
        <p:spPr>
          <a:xfrm>
            <a:off x="3932699" y="2348037"/>
            <a:ext cx="8063023" cy="254260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spcBef>
                <a:spcPct val="0"/>
              </a:spcBef>
              <a:spcAft>
                <a:spcPts val="600"/>
              </a:spcAft>
              <a:buClr>
                <a:schemeClr val="tx1"/>
              </a:buClr>
              <a:buFont typeface="Arial" panose="020B0604020202020204" pitchFamily="34" charset="0"/>
              <a:buChar char="•"/>
            </a:pPr>
            <a:r>
              <a:rPr lang="en-US" dirty="0">
                <a:hlinkClick r:id="rId3"/>
              </a:rPr>
              <a:t>Configure Azure Files</a:t>
            </a:r>
            <a:endParaRPr lang="en-US" dirty="0"/>
          </a:p>
          <a:p>
            <a:pPr marL="342900" indent="-342900" defTabSz="800100">
              <a:spcBef>
                <a:spcPct val="0"/>
              </a:spcBef>
              <a:spcAft>
                <a:spcPts val="600"/>
              </a:spcAft>
              <a:buClr>
                <a:schemeClr val="tx1"/>
              </a:buClr>
              <a:buFont typeface="Arial" panose="020B0604020202020204" pitchFamily="34" charset="0"/>
              <a:buChar char="•"/>
            </a:pPr>
            <a:r>
              <a:rPr lang="en-US" dirty="0">
                <a:hlinkClick r:id="rId4"/>
              </a:rPr>
              <a:t>Introduction to Azure Files </a:t>
            </a:r>
            <a:endParaRPr lang="fr-FR" dirty="0">
              <a:hlinkClick r:id="rId5"/>
            </a:endParaRPr>
          </a:p>
          <a:p>
            <a:pPr marL="342900" indent="-342900" defTabSz="800100">
              <a:spcBef>
                <a:spcPct val="0"/>
              </a:spcBef>
              <a:spcAft>
                <a:spcPts val="600"/>
              </a:spcAft>
              <a:buClr>
                <a:schemeClr val="tx1"/>
              </a:buClr>
              <a:buFont typeface="Arial" panose="020B0604020202020204" pitchFamily="34" charset="0"/>
              <a:buChar char="•"/>
            </a:pPr>
            <a:r>
              <a:rPr lang="en-US" noProof="0" dirty="0">
                <a:hlinkClick r:id="rId5"/>
              </a:rPr>
              <a:t>Implement a hybrid file server infrastructure </a:t>
            </a:r>
            <a:endParaRPr lang="en-US" noProof="0" dirty="0"/>
          </a:p>
          <a:p>
            <a:pPr defTabSz="800100">
              <a:spcBef>
                <a:spcPct val="0"/>
              </a:spcBef>
              <a:spcAft>
                <a:spcPts val="600"/>
              </a:spcAft>
              <a:buClr>
                <a:schemeClr val="tx1"/>
              </a:buClr>
            </a:pPr>
            <a:endParaRPr lang="en-US" dirty="0"/>
          </a:p>
          <a:p>
            <a:pPr marL="342900" indent="-342900" defTabSz="800100">
              <a:spcBef>
                <a:spcPct val="0"/>
              </a:spcBef>
              <a:spcAft>
                <a:spcPts val="600"/>
              </a:spcAft>
              <a:buClr>
                <a:schemeClr val="tx1"/>
              </a:buClr>
              <a:buFont typeface="Arial" panose="020B0604020202020204" pitchFamily="34" charset="0"/>
              <a:buChar char="•"/>
            </a:pPr>
            <a:endParaRPr lang="en-IN" dirty="0">
              <a:solidFill>
                <a:schemeClr val="tx1"/>
              </a:solidFill>
            </a:endParaRPr>
          </a:p>
          <a:p>
            <a:pPr marL="342900" indent="-342900" defTabSz="800100">
              <a:spcBef>
                <a:spcPct val="0"/>
              </a:spcBef>
              <a:spcAft>
                <a:spcPts val="600"/>
              </a:spcAft>
              <a:buClr>
                <a:schemeClr val="tx1"/>
              </a:buClr>
              <a:buFont typeface="Arial" panose="020B0604020202020204" pitchFamily="34" charset="0"/>
              <a:buChar char="•"/>
            </a:pPr>
            <a:endParaRPr lang="en-IN" dirty="0">
              <a:solidFill>
                <a:schemeClr val="tx1"/>
              </a:solidFill>
            </a:endParaRPr>
          </a:p>
          <a:p>
            <a:pPr marL="342900" indent="-342900" defTabSz="800100">
              <a:spcBef>
                <a:spcPct val="0"/>
              </a:spcBef>
              <a:spcAft>
                <a:spcPts val="600"/>
              </a:spcAft>
              <a:buClr>
                <a:schemeClr val="tx1"/>
              </a:buClr>
              <a:buFont typeface="Arial" panose="020B0604020202020204" pitchFamily="34" charset="0"/>
              <a:buChar char="•"/>
            </a:pPr>
            <a:endParaRPr lang="en-US" dirty="0"/>
          </a:p>
          <a:p>
            <a:pPr marL="342900" indent="-342900" defTabSz="800100">
              <a:spcBef>
                <a:spcPct val="0"/>
              </a:spcBef>
              <a:spcAft>
                <a:spcPts val="600"/>
              </a:spcAft>
              <a:buClr>
                <a:schemeClr val="tx1"/>
              </a:buClr>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919203552"/>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601888" y="3103040"/>
            <a:ext cx="6472474" cy="443198"/>
          </a:xfrm>
        </p:spPr>
        <p:txBody>
          <a:bodyPr/>
          <a:lstStyle/>
          <a:p>
            <a:r>
              <a:rPr lang="en-US" sz="3200" dirty="0"/>
              <a:t>Lab – Manage Azure Storage</a:t>
            </a:r>
          </a:p>
        </p:txBody>
      </p:sp>
    </p:spTree>
    <p:extLst>
      <p:ext uri="{BB962C8B-B14F-4D97-AF65-F5344CB8AC3E}">
        <p14:creationId xmlns:p14="http://schemas.microsoft.com/office/powerpoint/2010/main" val="2166021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a:xfrm>
            <a:off x="600855" y="525428"/>
            <a:ext cx="11701941" cy="502246"/>
          </a:xfrm>
        </p:spPr>
        <p:txBody>
          <a:bodyPr>
            <a:noAutofit/>
          </a:bodyPr>
          <a:lstStyle/>
          <a:p>
            <a:r>
              <a:rPr lang="en-US" dirty="0"/>
              <a:t>Lab 07 – Manage Azure Storage</a:t>
            </a:r>
          </a:p>
        </p:txBody>
      </p:sp>
      <p:sp>
        <p:nvSpPr>
          <p:cNvPr id="4" name="Text Placeholder 2">
            <a:extLst>
              <a:ext uri="{FF2B5EF4-FFF2-40B4-BE49-F238E27FC236}">
                <a16:creationId xmlns:a16="http://schemas.microsoft.com/office/drawing/2014/main" id="{9C13E4EE-5375-4229-94F4-42070AD34BAF}"/>
              </a:ext>
            </a:extLst>
          </p:cNvPr>
          <p:cNvSpPr txBox="1">
            <a:spLocks/>
          </p:cNvSpPr>
          <p:nvPr/>
        </p:nvSpPr>
        <p:spPr>
          <a:xfrm>
            <a:off x="317344" y="2327949"/>
            <a:ext cx="3782685" cy="213454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00" spc="0" dirty="0">
                <a:solidFill>
                  <a:schemeClr val="tx1"/>
                </a:solidFill>
                <a:latin typeface="+mn-lt"/>
                <a:cs typeface="Segoe UI Semilight"/>
              </a:rPr>
              <a:t>In this lab you learn to create and configure storage accounts.</a:t>
            </a:r>
          </a:p>
          <a:p>
            <a:pPr>
              <a:spcAft>
                <a:spcPts val="612"/>
              </a:spcAft>
            </a:pPr>
            <a:r>
              <a:rPr lang="en-US" sz="1800" spc="0" dirty="0">
                <a:solidFill>
                  <a:schemeClr val="tx1"/>
                </a:solidFill>
                <a:latin typeface="+mn-lt"/>
                <a:cs typeface="Segoe UI Semilight"/>
              </a:rPr>
              <a:t>You learn to configure and secure blob containers. </a:t>
            </a:r>
          </a:p>
          <a:p>
            <a:pPr>
              <a:spcAft>
                <a:spcPts val="612"/>
              </a:spcAft>
            </a:pPr>
            <a:r>
              <a:rPr lang="en-US" sz="1800" spc="0" dirty="0">
                <a:solidFill>
                  <a:schemeClr val="tx1"/>
                </a:solidFill>
                <a:latin typeface="+mn-lt"/>
                <a:cs typeface="Segoe UI Semilight"/>
              </a:rPr>
              <a:t>You also learn to use Storage Browser to configure and secure Azure file shares. </a:t>
            </a:r>
          </a:p>
        </p:txBody>
      </p:sp>
      <p:sp>
        <p:nvSpPr>
          <p:cNvPr id="6" name="Rectangle 5">
            <a:extLst>
              <a:ext uri="{FF2B5EF4-FFF2-40B4-BE49-F238E27FC236}">
                <a16:creationId xmlns:a16="http://schemas.microsoft.com/office/drawing/2014/main" id="{827D4C44-80EE-42A1-8BC7-A61D6004FDAB}"/>
              </a:ext>
            </a:extLst>
          </p:cNvPr>
          <p:cNvSpPr/>
          <p:nvPr/>
        </p:nvSpPr>
        <p:spPr bwMode="auto">
          <a:xfrm>
            <a:off x="5129827" y="2056257"/>
            <a:ext cx="6653400" cy="3755141"/>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00" dirty="0">
                <a:solidFill>
                  <a:schemeClr val="tx1"/>
                </a:solidFill>
                <a:latin typeface="+mj-lt"/>
                <a:cs typeface="Segoe UI Semilight"/>
              </a:rPr>
              <a:t>Task 1: </a:t>
            </a:r>
            <a:r>
              <a:rPr lang="en-US" sz="2000" dirty="0">
                <a:solidFill>
                  <a:schemeClr val="tx1"/>
                </a:solidFill>
                <a:cs typeface="Segoe UI Semilight"/>
              </a:rPr>
              <a:t>Create and configure Azure storage accounts.</a:t>
            </a:r>
          </a:p>
          <a:p>
            <a:pPr>
              <a:spcAft>
                <a:spcPts val="612"/>
              </a:spcAft>
            </a:pPr>
            <a:r>
              <a:rPr lang="en-US" sz="2000" dirty="0">
                <a:solidFill>
                  <a:schemeClr val="tx1"/>
                </a:solidFill>
                <a:latin typeface="+mj-lt"/>
                <a:cs typeface="Segoe UI Semilight"/>
              </a:rPr>
              <a:t>Task 2: </a:t>
            </a:r>
            <a:r>
              <a:rPr lang="en-US" sz="2000" dirty="0">
                <a:solidFill>
                  <a:schemeClr val="tx1"/>
                </a:solidFill>
                <a:cs typeface="Segoe UI Semilight"/>
              </a:rPr>
              <a:t>Create and configure secure blob storage.</a:t>
            </a:r>
          </a:p>
          <a:p>
            <a:pPr marL="816022" indent="-816022">
              <a:spcAft>
                <a:spcPts val="612"/>
              </a:spcAft>
            </a:pPr>
            <a:r>
              <a:rPr lang="en-US" sz="2000" dirty="0">
                <a:solidFill>
                  <a:schemeClr val="tx1"/>
                </a:solidFill>
                <a:latin typeface="+mj-lt"/>
                <a:cs typeface="Segoe UI Semilight"/>
              </a:rPr>
              <a:t>Task 3: </a:t>
            </a:r>
            <a:r>
              <a:rPr lang="en-US" sz="2000" dirty="0">
                <a:solidFill>
                  <a:schemeClr val="tx1"/>
                </a:solidFill>
                <a:cs typeface="Segoe UI Semilight"/>
              </a:rPr>
              <a:t>Create and configure secure Azure file storage.</a:t>
            </a: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p:txBody>
      </p:sp>
      <p:sp>
        <p:nvSpPr>
          <p:cNvPr id="3" name="Text Placeholder 2">
            <a:extLst>
              <a:ext uri="{FF2B5EF4-FFF2-40B4-BE49-F238E27FC236}">
                <a16:creationId xmlns:a16="http://schemas.microsoft.com/office/drawing/2014/main" id="{3C6FA91B-B5D7-4A62-A476-60FDED896FBD}"/>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14" name="arrow_15">
            <a:extLst>
              <a:ext uri="{FF2B5EF4-FFF2-40B4-BE49-F238E27FC236}">
                <a16:creationId xmlns:a16="http://schemas.microsoft.com/office/drawing/2014/main" id="{80A7E096-3516-4F0A-A7C8-53F4ED7289A3}"/>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5" name="TextBox 4">
            <a:extLst>
              <a:ext uri="{FF2B5EF4-FFF2-40B4-BE49-F238E27FC236}">
                <a16:creationId xmlns:a16="http://schemas.microsoft.com/office/drawing/2014/main" id="{5A5138E7-B8C8-DE29-9FB0-DC23BD04F2CE}"/>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40715393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15471-614A-4BF5-BFF4-3FA8D1141FA7}"/>
              </a:ext>
            </a:extLst>
          </p:cNvPr>
          <p:cNvSpPr>
            <a:spLocks noGrp="1"/>
          </p:cNvSpPr>
          <p:nvPr>
            <p:ph type="title"/>
          </p:nvPr>
        </p:nvSpPr>
        <p:spPr/>
        <p:txBody>
          <a:bodyPr/>
          <a:lstStyle/>
          <a:p>
            <a:r>
              <a:rPr lang="en-US" sz="3264" dirty="0"/>
              <a:t>Lab 07 – Architecture diagram</a:t>
            </a:r>
          </a:p>
        </p:txBody>
      </p:sp>
      <p:grpSp>
        <p:nvGrpSpPr>
          <p:cNvPr id="6" name="Group 5" descr="Architecture diagram for the storage lab tasks. ">
            <a:extLst>
              <a:ext uri="{FF2B5EF4-FFF2-40B4-BE49-F238E27FC236}">
                <a16:creationId xmlns:a16="http://schemas.microsoft.com/office/drawing/2014/main" id="{9A007A09-5B6F-0BE2-FA7B-2F2963D4D3CA}"/>
              </a:ext>
            </a:extLst>
          </p:cNvPr>
          <p:cNvGrpSpPr/>
          <p:nvPr/>
        </p:nvGrpSpPr>
        <p:grpSpPr>
          <a:xfrm>
            <a:off x="3416630" y="1397477"/>
            <a:ext cx="5395133" cy="4253002"/>
            <a:chOff x="4926865" y="1577788"/>
            <a:chExt cx="4799842" cy="3944471"/>
          </a:xfrm>
        </p:grpSpPr>
        <p:sp>
          <p:nvSpPr>
            <p:cNvPr id="39" name="Rectangle 38">
              <a:extLst>
                <a:ext uri="{FF2B5EF4-FFF2-40B4-BE49-F238E27FC236}">
                  <a16:creationId xmlns:a16="http://schemas.microsoft.com/office/drawing/2014/main" id="{B3D19EAA-8AC6-4FE7-8677-4F4EF54776A7}"/>
                </a:ext>
              </a:extLst>
            </p:cNvPr>
            <p:cNvSpPr/>
            <p:nvPr/>
          </p:nvSpPr>
          <p:spPr bwMode="auto">
            <a:xfrm>
              <a:off x="4926865" y="1577788"/>
              <a:ext cx="4799842" cy="394447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1085DB86-53DC-4686-A30B-7ACA6E647F5B}"/>
                </a:ext>
              </a:extLst>
            </p:cNvPr>
            <p:cNvSpPr/>
            <p:nvPr/>
          </p:nvSpPr>
          <p:spPr bwMode="auto">
            <a:xfrm>
              <a:off x="5359998" y="3609695"/>
              <a:ext cx="1847432" cy="147991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328F9C7D-4751-49E0-A46E-CB82BF502D77}"/>
                </a:ext>
              </a:extLst>
            </p:cNvPr>
            <p:cNvSpPr/>
            <p:nvPr/>
          </p:nvSpPr>
          <p:spPr bwMode="auto">
            <a:xfrm>
              <a:off x="7498484" y="3603077"/>
              <a:ext cx="1840174" cy="147991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E21DD2FD-A8BE-4044-B6A2-F0BBC597D3DA}"/>
                </a:ext>
              </a:extLst>
            </p:cNvPr>
            <p:cNvSpPr/>
            <p:nvPr/>
          </p:nvSpPr>
          <p:spPr bwMode="auto">
            <a:xfrm>
              <a:off x="5029017" y="1888021"/>
              <a:ext cx="4453455" cy="3392191"/>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cs typeface="Segoe UI" pitchFamily="34" charset="0"/>
              </a:endParaRPr>
            </a:p>
          </p:txBody>
        </p:sp>
        <p:sp>
          <p:nvSpPr>
            <p:cNvPr id="54" name="TextBox 24">
              <a:extLst>
                <a:ext uri="{FF2B5EF4-FFF2-40B4-BE49-F238E27FC236}">
                  <a16:creationId xmlns:a16="http://schemas.microsoft.com/office/drawing/2014/main" id="{65BCA130-44E0-40BF-B947-A2DB3DA307AE}"/>
                </a:ext>
              </a:extLst>
            </p:cNvPr>
            <p:cNvSpPr txBox="1"/>
            <p:nvPr/>
          </p:nvSpPr>
          <p:spPr>
            <a:xfrm>
              <a:off x="5040337" y="1749454"/>
              <a:ext cx="1750924" cy="324916"/>
            </a:xfrm>
            <a:prstGeom prst="rect">
              <a:avLst/>
            </a:prstGeom>
            <a:solidFill>
              <a:schemeClr val="bg1"/>
            </a:solid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32" dirty="0"/>
                <a:t>az104-07-rg7</a:t>
              </a:r>
            </a:p>
          </p:txBody>
        </p:sp>
        <p:pic>
          <p:nvPicPr>
            <p:cNvPr id="59" name="Graphic 35">
              <a:extLst>
                <a:ext uri="{FF2B5EF4-FFF2-40B4-BE49-F238E27FC236}">
                  <a16:creationId xmlns:a16="http://schemas.microsoft.com/office/drawing/2014/main" id="{72D26106-1811-4801-9A73-0E2A902F44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402" y="3963310"/>
              <a:ext cx="521658" cy="521658"/>
            </a:xfrm>
            <a:prstGeom prst="rect">
              <a:avLst/>
            </a:prstGeom>
          </p:spPr>
        </p:pic>
        <p:sp>
          <p:nvSpPr>
            <p:cNvPr id="64" name="TextBox 50">
              <a:extLst>
                <a:ext uri="{FF2B5EF4-FFF2-40B4-BE49-F238E27FC236}">
                  <a16:creationId xmlns:a16="http://schemas.microsoft.com/office/drawing/2014/main" id="{57FE7A9C-A79A-4890-8D91-05A6817AA5D3}"/>
                </a:ext>
              </a:extLst>
            </p:cNvPr>
            <p:cNvSpPr txBox="1"/>
            <p:nvPr/>
          </p:nvSpPr>
          <p:spPr>
            <a:xfrm>
              <a:off x="7443366" y="3604810"/>
              <a:ext cx="792235"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3</a:t>
              </a:r>
            </a:p>
          </p:txBody>
        </p:sp>
        <p:sp>
          <p:nvSpPr>
            <p:cNvPr id="66" name="TextBox 57">
              <a:extLst>
                <a:ext uri="{FF2B5EF4-FFF2-40B4-BE49-F238E27FC236}">
                  <a16:creationId xmlns:a16="http://schemas.microsoft.com/office/drawing/2014/main" id="{31E8CC46-0AED-4BB9-A028-C1BB2720767C}"/>
                </a:ext>
              </a:extLst>
            </p:cNvPr>
            <p:cNvSpPr txBox="1"/>
            <p:nvPr/>
          </p:nvSpPr>
          <p:spPr>
            <a:xfrm>
              <a:off x="5763306" y="4498826"/>
              <a:ext cx="1382650"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Blob container</a:t>
              </a:r>
            </a:p>
          </p:txBody>
        </p:sp>
        <p:sp>
          <p:nvSpPr>
            <p:cNvPr id="68" name="TextBox 66">
              <a:extLst>
                <a:ext uri="{FF2B5EF4-FFF2-40B4-BE49-F238E27FC236}">
                  <a16:creationId xmlns:a16="http://schemas.microsoft.com/office/drawing/2014/main" id="{A3A73DCF-A159-4917-925C-3B4F45782468}"/>
                </a:ext>
              </a:extLst>
            </p:cNvPr>
            <p:cNvSpPr txBox="1"/>
            <p:nvPr/>
          </p:nvSpPr>
          <p:spPr>
            <a:xfrm>
              <a:off x="5367595" y="3580257"/>
              <a:ext cx="1537457"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2</a:t>
              </a:r>
            </a:p>
          </p:txBody>
        </p:sp>
        <p:sp>
          <p:nvSpPr>
            <p:cNvPr id="69" name="Rectangle 68">
              <a:extLst>
                <a:ext uri="{FF2B5EF4-FFF2-40B4-BE49-F238E27FC236}">
                  <a16:creationId xmlns:a16="http://schemas.microsoft.com/office/drawing/2014/main" id="{0C15EBF1-7AFE-4CAD-85D6-3F937840993F}"/>
                </a:ext>
              </a:extLst>
            </p:cNvPr>
            <p:cNvSpPr/>
            <p:nvPr/>
          </p:nvSpPr>
          <p:spPr bwMode="auto">
            <a:xfrm>
              <a:off x="6131130" y="2211832"/>
              <a:ext cx="2537093" cy="982185"/>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ea typeface="Segoe UI" pitchFamily="34" charset="0"/>
                <a:cs typeface="Segoe UI" pitchFamily="34" charset="0"/>
              </a:endParaRPr>
            </a:p>
          </p:txBody>
        </p:sp>
        <p:pic>
          <p:nvPicPr>
            <p:cNvPr id="70" name="Graphic 23">
              <a:extLst>
                <a:ext uri="{FF2B5EF4-FFF2-40B4-BE49-F238E27FC236}">
                  <a16:creationId xmlns:a16="http://schemas.microsoft.com/office/drawing/2014/main" id="{03AB5735-5527-4E02-96D9-E425143073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81198" y="2304755"/>
              <a:ext cx="521659" cy="521659"/>
            </a:xfrm>
            <a:prstGeom prst="rect">
              <a:avLst/>
            </a:prstGeom>
          </p:spPr>
        </p:pic>
        <p:sp>
          <p:nvSpPr>
            <p:cNvPr id="71" name="TextBox 27">
              <a:extLst>
                <a:ext uri="{FF2B5EF4-FFF2-40B4-BE49-F238E27FC236}">
                  <a16:creationId xmlns:a16="http://schemas.microsoft.com/office/drawing/2014/main" id="{42050269-04D1-4CED-9E71-3CE70A687885}"/>
                </a:ext>
              </a:extLst>
            </p:cNvPr>
            <p:cNvSpPr txBox="1"/>
            <p:nvPr/>
          </p:nvSpPr>
          <p:spPr>
            <a:xfrm>
              <a:off x="6535226" y="2792552"/>
              <a:ext cx="1583119"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Storage account</a:t>
              </a:r>
            </a:p>
          </p:txBody>
        </p:sp>
        <p:pic>
          <p:nvPicPr>
            <p:cNvPr id="72" name="Picture 71">
              <a:extLst>
                <a:ext uri="{FF2B5EF4-FFF2-40B4-BE49-F238E27FC236}">
                  <a16:creationId xmlns:a16="http://schemas.microsoft.com/office/drawing/2014/main" id="{CBF00E52-0E14-4FC1-A7BE-40907B6D7687}"/>
                </a:ext>
              </a:extLst>
            </p:cNvPr>
            <p:cNvPicPr>
              <a:picLocks noChangeAspect="1"/>
            </p:cNvPicPr>
            <p:nvPr/>
          </p:nvPicPr>
          <p:blipFill>
            <a:blip r:embed="rId7"/>
            <a:stretch>
              <a:fillRect/>
            </a:stretch>
          </p:blipFill>
          <p:spPr>
            <a:xfrm>
              <a:off x="7635991" y="2422261"/>
              <a:ext cx="288713" cy="266216"/>
            </a:xfrm>
            <a:prstGeom prst="rect">
              <a:avLst/>
            </a:prstGeom>
          </p:spPr>
        </p:pic>
        <p:cxnSp>
          <p:nvCxnSpPr>
            <p:cNvPr id="73" name="Connector: Elbow 72">
              <a:extLst>
                <a:ext uri="{FF2B5EF4-FFF2-40B4-BE49-F238E27FC236}">
                  <a16:creationId xmlns:a16="http://schemas.microsoft.com/office/drawing/2014/main" id="{F9079357-FDF7-4C54-B0D2-98DE450A24B5}"/>
                </a:ext>
              </a:extLst>
            </p:cNvPr>
            <p:cNvCxnSpPr>
              <a:cxnSpLocks/>
              <a:stCxn id="71" idx="2"/>
              <a:endCxn id="59" idx="0"/>
            </p:cNvCxnSpPr>
            <p:nvPr/>
          </p:nvCxnSpPr>
          <p:spPr>
            <a:xfrm rot="5400000">
              <a:off x="6419088" y="3055611"/>
              <a:ext cx="845842" cy="969555"/>
            </a:xfrm>
            <a:prstGeom prst="bentConnector3">
              <a:avLst>
                <a:gd name="adj1" fmla="val 50000"/>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331D2116-F402-4F5F-8A6E-CEEB04A3218A}"/>
                </a:ext>
              </a:extLst>
            </p:cNvPr>
            <p:cNvCxnSpPr>
              <a:cxnSpLocks/>
              <a:stCxn id="71" idx="2"/>
              <a:endCxn id="117" idx="0"/>
            </p:cNvCxnSpPr>
            <p:nvPr/>
          </p:nvCxnSpPr>
          <p:spPr>
            <a:xfrm rot="16200000" flipH="1">
              <a:off x="7454414" y="2989839"/>
              <a:ext cx="834060" cy="1089318"/>
            </a:xfrm>
            <a:prstGeom prst="bentConnector3">
              <a:avLst>
                <a:gd name="adj1" fmla="val 50000"/>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5" name="TextBox 44">
              <a:extLst>
                <a:ext uri="{FF2B5EF4-FFF2-40B4-BE49-F238E27FC236}">
                  <a16:creationId xmlns:a16="http://schemas.microsoft.com/office/drawing/2014/main" id="{7F8CF1C2-0556-4593-BDBE-998C0BAD8720}"/>
                </a:ext>
              </a:extLst>
            </p:cNvPr>
            <p:cNvSpPr txBox="1"/>
            <p:nvPr/>
          </p:nvSpPr>
          <p:spPr>
            <a:xfrm>
              <a:off x="6234091" y="2202143"/>
              <a:ext cx="839641"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b="1" dirty="0">
                  <a:solidFill>
                    <a:schemeClr val="tx2">
                      <a:lumMod val="50000"/>
                    </a:schemeClr>
                  </a:solidFill>
                </a:rPr>
                <a:t>Task 1</a:t>
              </a:r>
            </a:p>
          </p:txBody>
        </p:sp>
        <p:sp>
          <p:nvSpPr>
            <p:cNvPr id="60" name="TextBox 38">
              <a:extLst>
                <a:ext uri="{FF2B5EF4-FFF2-40B4-BE49-F238E27FC236}">
                  <a16:creationId xmlns:a16="http://schemas.microsoft.com/office/drawing/2014/main" id="{8792737D-73C1-486F-9298-D5CD4517F05A}"/>
                </a:ext>
              </a:extLst>
            </p:cNvPr>
            <p:cNvSpPr txBox="1"/>
            <p:nvPr/>
          </p:nvSpPr>
          <p:spPr>
            <a:xfrm>
              <a:off x="7945932" y="4515344"/>
              <a:ext cx="1072298" cy="324916"/>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32" dirty="0"/>
                <a:t>File share</a:t>
              </a:r>
            </a:p>
          </p:txBody>
        </p:sp>
        <p:pic>
          <p:nvPicPr>
            <p:cNvPr id="117" name="Picture 116">
              <a:extLst>
                <a:ext uri="{FF2B5EF4-FFF2-40B4-BE49-F238E27FC236}">
                  <a16:creationId xmlns:a16="http://schemas.microsoft.com/office/drawing/2014/main" id="{E1294520-20BF-4B25-B8A2-15E55315F7F7}"/>
                </a:ext>
              </a:extLst>
            </p:cNvPr>
            <p:cNvPicPr>
              <a:picLocks noChangeAspect="1"/>
            </p:cNvPicPr>
            <p:nvPr/>
          </p:nvPicPr>
          <p:blipFill>
            <a:blip r:embed="rId8"/>
            <a:stretch>
              <a:fillRect/>
            </a:stretch>
          </p:blipFill>
          <p:spPr>
            <a:xfrm>
              <a:off x="8163984" y="3951528"/>
              <a:ext cx="504239" cy="494901"/>
            </a:xfrm>
            <a:prstGeom prst="rect">
              <a:avLst/>
            </a:prstGeom>
            <a:noFill/>
          </p:spPr>
        </p:pic>
        <p:pic>
          <p:nvPicPr>
            <p:cNvPr id="56" name="Graphic 26">
              <a:extLst>
                <a:ext uri="{FF2B5EF4-FFF2-40B4-BE49-F238E27FC236}">
                  <a16:creationId xmlns:a16="http://schemas.microsoft.com/office/drawing/2014/main" id="{A380D8A2-E37C-4102-8EB8-E2CE950E43E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42126" y="1731768"/>
              <a:ext cx="368970" cy="368970"/>
            </a:xfrm>
            <a:prstGeom prst="rect">
              <a:avLst/>
            </a:prstGeom>
          </p:spPr>
        </p:pic>
      </p:grpSp>
    </p:spTree>
    <p:extLst>
      <p:ext uri="{BB962C8B-B14F-4D97-AF65-F5344CB8AC3E}">
        <p14:creationId xmlns:p14="http://schemas.microsoft.com/office/powerpoint/2010/main" val="239693237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33B51B-B498-4A04-B44C-4D3BB2E0BB80}"/>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602953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3F22D-C613-4DB7-B60A-DC34EAB73B9B}"/>
              </a:ext>
            </a:extLst>
          </p:cNvPr>
          <p:cNvSpPr>
            <a:spLocks noGrp="1"/>
          </p:cNvSpPr>
          <p:nvPr>
            <p:ph type="title"/>
          </p:nvPr>
        </p:nvSpPr>
        <p:spPr/>
        <p:txBody>
          <a:bodyPr/>
          <a:lstStyle/>
          <a:p>
            <a:r>
              <a:rPr lang="en-US" dirty="0"/>
              <a:t>Use the Import and Export Service</a:t>
            </a:r>
          </a:p>
        </p:txBody>
      </p:sp>
      <p:sp>
        <p:nvSpPr>
          <p:cNvPr id="4" name="Rectangle 3">
            <a:extLst>
              <a:ext uri="{FF2B5EF4-FFF2-40B4-BE49-F238E27FC236}">
                <a16:creationId xmlns:a16="http://schemas.microsoft.com/office/drawing/2014/main" id="{1FFE3E0E-BE0D-4B37-BB6B-7E52549FBCB2}"/>
              </a:ext>
            </a:extLst>
          </p:cNvPr>
          <p:cNvSpPr/>
          <p:nvPr/>
        </p:nvSpPr>
        <p:spPr>
          <a:xfrm>
            <a:off x="427034" y="1192212"/>
            <a:ext cx="2379666" cy="237966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latin typeface="+mj-lt"/>
              </a:rPr>
              <a:t>Import jobs </a:t>
            </a:r>
            <a:r>
              <a:rPr lang="en-US" sz="2000" dirty="0">
                <a:solidFill>
                  <a:schemeClr val="tx1"/>
                </a:solidFill>
              </a:rPr>
              <a:t>move large amounts of data to Azure blob storage or files</a:t>
            </a:r>
          </a:p>
        </p:txBody>
      </p:sp>
      <p:pic>
        <p:nvPicPr>
          <p:cNvPr id="10" name="Picture 9" descr="Prepare disks, create job, receive disks, transfer data, package disks, receive disks, and view data. ">
            <a:extLst>
              <a:ext uri="{FF2B5EF4-FFF2-40B4-BE49-F238E27FC236}">
                <a16:creationId xmlns:a16="http://schemas.microsoft.com/office/drawing/2014/main" id="{4B1E7257-1E18-41C2-9071-65CB4C4642BD}"/>
              </a:ext>
            </a:extLst>
          </p:cNvPr>
          <p:cNvPicPr>
            <a:picLocks noChangeAspect="1"/>
          </p:cNvPicPr>
          <p:nvPr/>
        </p:nvPicPr>
        <p:blipFill>
          <a:blip r:embed="rId3"/>
          <a:stretch>
            <a:fillRect/>
          </a:stretch>
        </p:blipFill>
        <p:spPr>
          <a:xfrm>
            <a:off x="3040994" y="1579496"/>
            <a:ext cx="8851622" cy="1605094"/>
          </a:xfrm>
          <a:prstGeom prst="rect">
            <a:avLst/>
          </a:prstGeom>
        </p:spPr>
      </p:pic>
      <p:sp>
        <p:nvSpPr>
          <p:cNvPr id="5" name="Rectangle 4">
            <a:extLst>
              <a:ext uri="{FF2B5EF4-FFF2-40B4-BE49-F238E27FC236}">
                <a16:creationId xmlns:a16="http://schemas.microsoft.com/office/drawing/2014/main" id="{7F0632AD-3C09-4619-959A-D133C3FC75FD}"/>
              </a:ext>
            </a:extLst>
          </p:cNvPr>
          <p:cNvSpPr/>
          <p:nvPr/>
        </p:nvSpPr>
        <p:spPr>
          <a:xfrm>
            <a:off x="415918" y="3764368"/>
            <a:ext cx="2379666" cy="25973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latin typeface="+mj-lt"/>
              </a:rPr>
              <a:t>Export jobs</a:t>
            </a:r>
            <a:r>
              <a:rPr lang="en-US" sz="2000" b="1" dirty="0">
                <a:solidFill>
                  <a:schemeClr val="tx1"/>
                </a:solidFill>
              </a:rPr>
              <a:t> </a:t>
            </a:r>
            <a:r>
              <a:rPr lang="en-US" sz="2000" dirty="0">
                <a:solidFill>
                  <a:schemeClr val="tx1"/>
                </a:solidFill>
              </a:rPr>
              <a:t>move large amounts of data from Azure blob storage (not files)</a:t>
            </a:r>
          </a:p>
        </p:txBody>
      </p:sp>
      <p:pic>
        <p:nvPicPr>
          <p:cNvPr id="7" name="Picture 6" descr="Create job, receive disks, transfer data, package disk, and receive and unlock disks. ">
            <a:extLst>
              <a:ext uri="{FF2B5EF4-FFF2-40B4-BE49-F238E27FC236}">
                <a16:creationId xmlns:a16="http://schemas.microsoft.com/office/drawing/2014/main" id="{CEFDA20F-6893-4BDA-A420-AF3CDF334B46}"/>
              </a:ext>
            </a:extLst>
          </p:cNvPr>
          <p:cNvPicPr>
            <a:picLocks noChangeAspect="1"/>
          </p:cNvPicPr>
          <p:nvPr/>
        </p:nvPicPr>
        <p:blipFill>
          <a:blip r:embed="rId4"/>
          <a:stretch>
            <a:fillRect/>
          </a:stretch>
        </p:blipFill>
        <p:spPr>
          <a:xfrm>
            <a:off x="3398644" y="4154261"/>
            <a:ext cx="7867382" cy="1817592"/>
          </a:xfrm>
          <a:prstGeom prst="rect">
            <a:avLst/>
          </a:prstGeom>
        </p:spPr>
      </p:pic>
    </p:spTree>
    <p:extLst>
      <p:ext uri="{BB962C8B-B14F-4D97-AF65-F5344CB8AC3E}">
        <p14:creationId xmlns:p14="http://schemas.microsoft.com/office/powerpoint/2010/main" val="2092093077"/>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Use </a:t>
            </a:r>
            <a:r>
              <a:rPr lang="en-US" dirty="0" err="1"/>
              <a:t>AzCopy</a:t>
            </a:r>
            <a:endParaRPr lang="en-US" dirty="0"/>
          </a:p>
        </p:txBody>
      </p:sp>
      <p:sp>
        <p:nvSpPr>
          <p:cNvPr id="2" name="Rectangle 1">
            <a:extLst>
              <a:ext uri="{FF2B5EF4-FFF2-40B4-BE49-F238E27FC236}">
                <a16:creationId xmlns:a16="http://schemas.microsoft.com/office/drawing/2014/main" id="{59AAB6B7-8C3B-459C-A453-73F81C37F67D}"/>
              </a:ext>
            </a:extLst>
          </p:cNvPr>
          <p:cNvSpPr/>
          <p:nvPr/>
        </p:nvSpPr>
        <p:spPr>
          <a:xfrm>
            <a:off x="427038" y="1492957"/>
            <a:ext cx="11582399" cy="843843"/>
          </a:xfrm>
          <a:prstGeom prst="rect">
            <a:avLst/>
          </a:prstGeom>
          <a:solidFill>
            <a:srgbClr val="EBEBEB"/>
          </a:solidFill>
          <a:ln>
            <a:solidFill>
              <a:srgbClr val="EBEBEB"/>
            </a:solidFill>
          </a:ln>
        </p:spPr>
        <p:txBody>
          <a:bodyPr wrap="square" lIns="182880" tIns="137160" rIns="182880" bIns="137160" anchor="ctr">
            <a:noAutofit/>
          </a:bodyPr>
          <a:lstStyle/>
          <a:p>
            <a:pPr algn="ctr">
              <a:tabLst>
                <a:tab pos="288198" algn="l"/>
              </a:tabLst>
            </a:pPr>
            <a:r>
              <a:rPr lang="fr-FR" sz="2600" dirty="0">
                <a:latin typeface="Consolas" panose="020B0609020204030204" pitchFamily="49" charset="0"/>
              </a:rPr>
              <a:t>azcopy copy [source] [destination] [flags]</a:t>
            </a:r>
            <a:endParaRPr lang="en-US" sz="2600" dirty="0">
              <a:latin typeface="Consolas" panose="020B0609020204030204" pitchFamily="49" charset="0"/>
            </a:endParaRPr>
          </a:p>
        </p:txBody>
      </p:sp>
      <p:sp>
        <p:nvSpPr>
          <p:cNvPr id="6" name="Rectangle 5">
            <a:extLst>
              <a:ext uri="{FF2B5EF4-FFF2-40B4-BE49-F238E27FC236}">
                <a16:creationId xmlns:a16="http://schemas.microsoft.com/office/drawing/2014/main" id="{A64EE059-9811-49A1-9DE6-DE6811E77093}"/>
              </a:ext>
            </a:extLst>
          </p:cNvPr>
          <p:cNvSpPr/>
          <p:nvPr/>
        </p:nvSpPr>
        <p:spPr>
          <a:xfrm>
            <a:off x="465138" y="3079894"/>
            <a:ext cx="5495824" cy="12872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Command line utility</a:t>
            </a:r>
          </a:p>
        </p:txBody>
      </p:sp>
      <p:sp>
        <p:nvSpPr>
          <p:cNvPr id="8" name="Rectangle 7">
            <a:extLst>
              <a:ext uri="{FF2B5EF4-FFF2-40B4-BE49-F238E27FC236}">
                <a16:creationId xmlns:a16="http://schemas.microsoft.com/office/drawing/2014/main" id="{D0AFCFB0-9DEF-4E94-92D4-F1881401C09A}"/>
              </a:ext>
            </a:extLst>
          </p:cNvPr>
          <p:cNvSpPr/>
          <p:nvPr/>
        </p:nvSpPr>
        <p:spPr>
          <a:xfrm>
            <a:off x="465138" y="4569495"/>
            <a:ext cx="5495824" cy="1287295"/>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Available on Windows, Linux, and MacOS</a:t>
            </a:r>
          </a:p>
        </p:txBody>
      </p:sp>
      <p:sp>
        <p:nvSpPr>
          <p:cNvPr id="10" name="Rectangle 9">
            <a:extLst>
              <a:ext uri="{FF2B5EF4-FFF2-40B4-BE49-F238E27FC236}">
                <a16:creationId xmlns:a16="http://schemas.microsoft.com/office/drawing/2014/main" id="{FCB2CA6D-86FE-4A0B-B553-634599683594}"/>
              </a:ext>
            </a:extLst>
          </p:cNvPr>
          <p:cNvSpPr/>
          <p:nvPr/>
        </p:nvSpPr>
        <p:spPr>
          <a:xfrm>
            <a:off x="6475512" y="3079894"/>
            <a:ext cx="5495823" cy="12872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Designed for copying data to and from Azure Blob, File, and Table storage</a:t>
            </a:r>
          </a:p>
        </p:txBody>
      </p:sp>
      <p:sp>
        <p:nvSpPr>
          <p:cNvPr id="12" name="Rectangle 11">
            <a:extLst>
              <a:ext uri="{FF2B5EF4-FFF2-40B4-BE49-F238E27FC236}">
                <a16:creationId xmlns:a16="http://schemas.microsoft.com/office/drawing/2014/main" id="{A295097E-416D-440B-8EFD-C2E5842CFE9F}"/>
              </a:ext>
            </a:extLst>
          </p:cNvPr>
          <p:cNvSpPr/>
          <p:nvPr/>
        </p:nvSpPr>
        <p:spPr>
          <a:xfrm>
            <a:off x="6475513" y="4555414"/>
            <a:ext cx="5495824" cy="12872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Authentication options include Microsoft </a:t>
            </a:r>
            <a:r>
              <a:rPr lang="en-US" sz="2000" dirty="0" err="1">
                <a:solidFill>
                  <a:schemeClr val="tx1"/>
                </a:solidFill>
              </a:rPr>
              <a:t>Entra</a:t>
            </a:r>
            <a:r>
              <a:rPr lang="en-US" sz="2000" dirty="0">
                <a:solidFill>
                  <a:schemeClr val="tx1"/>
                </a:solidFill>
              </a:rPr>
              <a:t> ID or SAS token</a:t>
            </a:r>
          </a:p>
        </p:txBody>
      </p:sp>
    </p:spTree>
    <p:extLst>
      <p:ext uri="{BB962C8B-B14F-4D97-AF65-F5344CB8AC3E}">
        <p14:creationId xmlns:p14="http://schemas.microsoft.com/office/powerpoint/2010/main" val="721554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Azure File Sync</a:t>
            </a:r>
          </a:p>
        </p:txBody>
      </p:sp>
      <p:sp>
        <p:nvSpPr>
          <p:cNvPr id="3" name="Text Placeholder 2">
            <a:extLst>
              <a:ext uri="{FF2B5EF4-FFF2-40B4-BE49-F238E27FC236}">
                <a16:creationId xmlns:a16="http://schemas.microsoft.com/office/drawing/2014/main" id="{DB1559B4-AEA7-F59F-A6CF-F2BB99797A79}"/>
              </a:ext>
            </a:extLst>
          </p:cNvPr>
          <p:cNvSpPr>
            <a:spLocks noGrp="1"/>
          </p:cNvSpPr>
          <p:nvPr>
            <p:ph type="body" sz="quarter" idx="10"/>
          </p:nvPr>
        </p:nvSpPr>
        <p:spPr>
          <a:xfrm>
            <a:off x="440753" y="998040"/>
            <a:ext cx="11568684" cy="1128386"/>
          </a:xfrm>
        </p:spPr>
        <p:txBody>
          <a:bodyPr/>
          <a:lstStyle/>
          <a:p>
            <a:r>
              <a:rPr lang="en-US" dirty="0"/>
              <a:t>Centralize your organization's file shares in Azure Files, while keeping the flexibility, performance, and compatibility of an on-premises file server</a:t>
            </a:r>
          </a:p>
          <a:p>
            <a:endParaRPr lang="en-US" dirty="0"/>
          </a:p>
        </p:txBody>
      </p:sp>
      <p:sp>
        <p:nvSpPr>
          <p:cNvPr id="2" name="Rectangle 1">
            <a:extLst>
              <a:ext uri="{FF2B5EF4-FFF2-40B4-BE49-F238E27FC236}">
                <a16:creationId xmlns:a16="http://schemas.microsoft.com/office/drawing/2014/main" id="{B26795DE-69D4-4110-BCA2-93D99D7A5E55}"/>
              </a:ext>
            </a:extLst>
          </p:cNvPr>
          <p:cNvSpPr/>
          <p:nvPr/>
        </p:nvSpPr>
        <p:spPr>
          <a:xfrm>
            <a:off x="427033" y="1922682"/>
            <a:ext cx="3738566" cy="4073803"/>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514350" indent="-396875">
              <a:spcBef>
                <a:spcPts val="200"/>
              </a:spcBef>
              <a:spcAft>
                <a:spcPts val="200"/>
              </a:spcAft>
              <a:buFont typeface="+mj-lt"/>
              <a:buAutoNum type="arabicPeriod"/>
            </a:pPr>
            <a:r>
              <a:rPr lang="en-US" sz="2200" dirty="0">
                <a:solidFill>
                  <a:schemeClr val="tx1"/>
                </a:solidFill>
              </a:rPr>
              <a:t>Lift and shift</a:t>
            </a:r>
          </a:p>
          <a:p>
            <a:pPr marL="514350" indent="-396875">
              <a:spcBef>
                <a:spcPts val="200"/>
              </a:spcBef>
              <a:spcAft>
                <a:spcPts val="200"/>
              </a:spcAft>
              <a:buFont typeface="+mj-lt"/>
              <a:buAutoNum type="arabicPeriod"/>
            </a:pPr>
            <a:r>
              <a:rPr lang="en-US" sz="2200" dirty="0">
                <a:solidFill>
                  <a:schemeClr val="tx1"/>
                </a:solidFill>
              </a:rPr>
              <a:t>Branch Office backups</a:t>
            </a:r>
          </a:p>
          <a:p>
            <a:pPr marL="514350" indent="-396875">
              <a:spcBef>
                <a:spcPts val="200"/>
              </a:spcBef>
              <a:spcAft>
                <a:spcPts val="200"/>
              </a:spcAft>
              <a:buFont typeface="+mj-lt"/>
              <a:buAutoNum type="arabicPeriod"/>
            </a:pPr>
            <a:r>
              <a:rPr lang="en-US" sz="2200" dirty="0">
                <a:solidFill>
                  <a:schemeClr val="tx1"/>
                </a:solidFill>
              </a:rPr>
              <a:t>Backup and Disaster Recovery</a:t>
            </a:r>
          </a:p>
          <a:p>
            <a:pPr marL="514350" indent="-396875">
              <a:spcBef>
                <a:spcPts val="200"/>
              </a:spcBef>
              <a:spcAft>
                <a:spcPts val="200"/>
              </a:spcAft>
              <a:buFont typeface="+mj-lt"/>
              <a:buAutoNum type="arabicPeriod"/>
            </a:pPr>
            <a:r>
              <a:rPr lang="en-US" sz="2200" dirty="0">
                <a:solidFill>
                  <a:schemeClr val="tx1"/>
                </a:solidFill>
              </a:rPr>
              <a:t>File Archiving</a:t>
            </a:r>
          </a:p>
        </p:txBody>
      </p:sp>
      <p:pic>
        <p:nvPicPr>
          <p:cNvPr id="13" name="Picture 12" descr="Illustration depicting that Azure File Sync can be used to cache an organization's file shares in Azure Files. Different graphics represent different geographic locations (Mexico, Munich, Seattle, and a branch office), with Azure represented by a standard cloud icon">
            <a:extLst>
              <a:ext uri="{FF2B5EF4-FFF2-40B4-BE49-F238E27FC236}">
                <a16:creationId xmlns:a16="http://schemas.microsoft.com/office/drawing/2014/main" id="{965B28A5-E538-4D48-BEA5-03019EBC975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36532" y="2340084"/>
            <a:ext cx="7557824" cy="3133195"/>
          </a:xfrm>
          <a:prstGeom prst="rect">
            <a:avLst/>
          </a:prstGeom>
          <a:noFill/>
        </p:spPr>
      </p:pic>
      <p:sp>
        <p:nvSpPr>
          <p:cNvPr id="4" name="Rectangle 3">
            <a:extLst>
              <a:ext uri="{FF2B5EF4-FFF2-40B4-BE49-F238E27FC236}">
                <a16:creationId xmlns:a16="http://schemas.microsoft.com/office/drawing/2014/main" id="{2E4E37DC-AF71-4DF9-B237-C20189C66D04}"/>
              </a:ext>
              <a:ext uri="{C183D7F6-B498-43B3-948B-1728B52AA6E4}">
                <adec:decorative xmlns:adec="http://schemas.microsoft.com/office/drawing/2017/decorative" val="1"/>
              </a:ext>
            </a:extLst>
          </p:cNvPr>
          <p:cNvSpPr/>
          <p:nvPr/>
        </p:nvSpPr>
        <p:spPr bwMode="auto">
          <a:xfrm>
            <a:off x="4292599" y="1922682"/>
            <a:ext cx="7716838" cy="4073803"/>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54080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5063</Words>
  <Application>Microsoft Office PowerPoint</Application>
  <PresentationFormat>Custom</PresentationFormat>
  <Paragraphs>607</Paragraphs>
  <Slides>50</Slides>
  <Notes>50</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Calibri</vt:lpstr>
      <vt:lpstr>Consolas</vt:lpstr>
      <vt:lpstr>Open Sans</vt:lpstr>
      <vt:lpstr>Segoe Print</vt:lpstr>
      <vt:lpstr>Segoe UI</vt:lpstr>
      <vt:lpstr>Segoe UI Semibold</vt:lpstr>
      <vt:lpstr>Segoe UI Semilight</vt:lpstr>
      <vt:lpstr>Wingdings</vt:lpstr>
      <vt:lpstr>Azure 1</vt:lpstr>
      <vt:lpstr>AZ-104T00A Administer Azure Storage</vt:lpstr>
      <vt:lpstr>Learning Objectives - Administer Azure Storage</vt:lpstr>
      <vt:lpstr>Configure Storage Accounts</vt:lpstr>
      <vt:lpstr>Storage Accounts and Blobs whiteboard</vt:lpstr>
      <vt:lpstr>Learning Objectives - Configure Storage Accounts</vt:lpstr>
      <vt:lpstr>Explore Azure Storage Services </vt:lpstr>
      <vt:lpstr>Determine Storage Account Kinds</vt:lpstr>
      <vt:lpstr>Determine Replication Strategies (1 of 2)</vt:lpstr>
      <vt:lpstr>Determine Replication Strategies (2 of 2)</vt:lpstr>
      <vt:lpstr>Access Storage</vt:lpstr>
      <vt:lpstr>Secure Storage Endpoints</vt:lpstr>
      <vt:lpstr>Demonstration – Configure a storage account</vt:lpstr>
      <vt:lpstr>Learning Recap – Configure Storage Accounts</vt:lpstr>
      <vt:lpstr>Configure Blob Storage</vt:lpstr>
      <vt:lpstr>Learning Objectives - Blob Storage </vt:lpstr>
      <vt:lpstr>Implement Blob Storage</vt:lpstr>
      <vt:lpstr>Create Blob Containers</vt:lpstr>
      <vt:lpstr>Create Blob Access Tiers</vt:lpstr>
      <vt:lpstr>Add Blob Lifecycle Management Rules</vt:lpstr>
      <vt:lpstr>Determine Blob Object Replication</vt:lpstr>
      <vt:lpstr>Demonstration – Configure Blob Storage</vt:lpstr>
      <vt:lpstr>Learning Recap - Configure Blob Storage</vt:lpstr>
      <vt:lpstr>Configure Storage Security</vt:lpstr>
      <vt:lpstr>Storage Security whiteboard</vt:lpstr>
      <vt:lpstr>Learning Objectives - Configure Storage Security </vt:lpstr>
      <vt:lpstr>Review Storage Security Strategies</vt:lpstr>
      <vt:lpstr>Create Shared Access Signatures</vt:lpstr>
      <vt:lpstr>Identify URI and SAS Parameters</vt:lpstr>
      <vt:lpstr>Demonstration – Configure storage security</vt:lpstr>
      <vt:lpstr>Determine Storage Service Encryption</vt:lpstr>
      <vt:lpstr>Create Customer Managed Keys</vt:lpstr>
      <vt:lpstr>Apply Storage Security Best Practices</vt:lpstr>
      <vt:lpstr>Learning Recap - Configure Storage Security</vt:lpstr>
      <vt:lpstr>Configure Azure Files </vt:lpstr>
      <vt:lpstr>Azure Files whiteboard</vt:lpstr>
      <vt:lpstr>Learning Objectives - Configure Azure Files</vt:lpstr>
      <vt:lpstr>Compare storage for file shares and blob data</vt:lpstr>
      <vt:lpstr>Manage File Shares</vt:lpstr>
      <vt:lpstr>Create File Share Snapshots</vt:lpstr>
      <vt:lpstr>Implement soft delete for Azure Files</vt:lpstr>
      <vt:lpstr>Use Azure Storage Explorer</vt:lpstr>
      <vt:lpstr>Demonstration – Configure File Shares</vt:lpstr>
      <vt:lpstr>Learning Recap - Configure Azure Files</vt:lpstr>
      <vt:lpstr>Lab – Manage Azure Storage</vt:lpstr>
      <vt:lpstr>Lab 07 – Manage Azure Storage</vt:lpstr>
      <vt:lpstr>Lab 07 – Architecture diagram</vt:lpstr>
      <vt:lpstr>End of presentation</vt:lpstr>
      <vt:lpstr>Use the Import and Export Service</vt:lpstr>
      <vt:lpstr>Use AzCopy</vt:lpstr>
      <vt:lpstr>Implement Azure File Sync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2023-11-13T15:49:46Z</dcterms:created>
  <dcterms:modified xsi:type="dcterms:W3CDTF">2025-11-10T20:27:43Z</dcterms:modified>
</cp:coreProperties>
</file>