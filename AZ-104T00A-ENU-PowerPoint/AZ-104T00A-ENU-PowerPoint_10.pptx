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634" r:id="rId1"/>
  </p:sldMasterIdLst>
  <p:notesMasterIdLst>
    <p:notesMasterId r:id="rId27"/>
  </p:notesMasterIdLst>
  <p:handoutMasterIdLst>
    <p:handoutMasterId r:id="rId28"/>
  </p:handoutMasterIdLst>
  <p:sldIdLst>
    <p:sldId id="2579" r:id="rId2"/>
    <p:sldId id="2462" r:id="rId3"/>
    <p:sldId id="2076138224" r:id="rId4"/>
    <p:sldId id="2009" r:id="rId5"/>
    <p:sldId id="2587" r:id="rId6"/>
    <p:sldId id="2076138226" r:id="rId7"/>
    <p:sldId id="2076138227" r:id="rId8"/>
    <p:sldId id="2076138228" r:id="rId9"/>
    <p:sldId id="2454" r:id="rId10"/>
    <p:sldId id="2585" r:id="rId11"/>
    <p:sldId id="2010" r:id="rId12"/>
    <p:sldId id="2589" r:id="rId13"/>
    <p:sldId id="2226" r:id="rId14"/>
    <p:sldId id="2467" r:id="rId15"/>
    <p:sldId id="2459" r:id="rId16"/>
    <p:sldId id="2227" r:id="rId17"/>
    <p:sldId id="2228" r:id="rId18"/>
    <p:sldId id="2595" r:id="rId19"/>
    <p:sldId id="2466" r:id="rId20"/>
    <p:sldId id="2422" r:id="rId21"/>
    <p:sldId id="2594" r:id="rId22"/>
    <p:sldId id="2580" r:id="rId23"/>
    <p:sldId id="2076138225" r:id="rId24"/>
    <p:sldId id="2604" r:id="rId25"/>
    <p:sldId id="2591" r:id="rId26"/>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ta Protection" id="{F511C09D-F95E-4F0B-85FA-19918DB0F204}">
          <p14:sldIdLst>
            <p14:sldId id="2579"/>
            <p14:sldId id="2462"/>
            <p14:sldId id="2076138224"/>
          </p14:sldIdLst>
        </p14:section>
        <p14:section name="Introduction to Azure Backup" id="{0EEC7B7E-C06B-4E0E-A612-7DD0FE998BBF}">
          <p14:sldIdLst>
            <p14:sldId id="2009"/>
            <p14:sldId id="2587"/>
            <p14:sldId id="2076138226"/>
            <p14:sldId id="2076138227"/>
            <p14:sldId id="2076138228"/>
            <p14:sldId id="2454"/>
            <p14:sldId id="2585"/>
          </p14:sldIdLst>
        </p14:section>
        <p14:section name="VM Backups" id="{A605CAF9-8DD2-40AC-9B37-591078F1E8A9}">
          <p14:sldIdLst>
            <p14:sldId id="2010"/>
            <p14:sldId id="2589"/>
            <p14:sldId id="2226"/>
            <p14:sldId id="2467"/>
            <p14:sldId id="2459"/>
            <p14:sldId id="2227"/>
            <p14:sldId id="2228"/>
            <p14:sldId id="2595"/>
            <p14:sldId id="2466"/>
            <p14:sldId id="2422"/>
            <p14:sldId id="2594"/>
          </p14:sldIdLst>
        </p14:section>
        <p14:section name="Labs" id="{D91375B6-FAA3-4D91-BD9C-64EE2D6B727E}">
          <p14:sldIdLst>
            <p14:sldId id="2580"/>
            <p14:sldId id="2076138225"/>
            <p14:sldId id="2604"/>
            <p14:sldId id="2591"/>
          </p14:sldIdLst>
        </p14:section>
        <p14:section name="Extra Slides" id="{47EE68BE-357E-4CB1-817B-3C5429631236}">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EBEBEB"/>
    <a:srgbClr val="243A5E"/>
    <a:srgbClr val="59B4D9"/>
    <a:srgbClr val="FFFFFF"/>
    <a:srgbClr val="FFF100"/>
    <a:srgbClr val="75757A"/>
    <a:srgbClr val="3C3C41"/>
    <a:srgbClr val="30E5D0"/>
    <a:srgbClr val="008272"/>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D66782-3C4A-4EA3-AF1C-737C9DDD3732}" v="1" dt="2026-03-05T12:12:51.3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8" autoAdjust="0"/>
    <p:restoredTop sz="87394" autoAdjust="0"/>
  </p:normalViewPr>
  <p:slideViewPr>
    <p:cSldViewPr snapToGrid="0">
      <p:cViewPr varScale="1">
        <p:scale>
          <a:sx n="110" d="100"/>
          <a:sy n="110" d="100"/>
        </p:scale>
        <p:origin x="82" y="302"/>
      </p:cViewPr>
      <p:guideLst/>
    </p:cSldViewPr>
  </p:slideViewPr>
  <p:outlineViewPr>
    <p:cViewPr>
      <p:scale>
        <a:sx n="33" d="100"/>
        <a:sy n="33" d="100"/>
      </p:scale>
      <p:origin x="0" y="-372"/>
    </p:cViewPr>
  </p:outlineViewPr>
  <p:notesTextViewPr>
    <p:cViewPr>
      <p:scale>
        <a:sx n="100" d="100"/>
        <a:sy n="100" d="100"/>
      </p:scale>
      <p:origin x="0" y="0"/>
    </p:cViewPr>
  </p:notesTextViewPr>
  <p:sorterViewPr>
    <p:cViewPr>
      <p:scale>
        <a:sx n="75" d="100"/>
        <a:sy n="75" d="100"/>
      </p:scale>
      <p:origin x="0" y="-924"/>
    </p:cViewPr>
  </p:sorterViewPr>
  <p:notesViewPr>
    <p:cSldViewPr snapToGrid="0">
      <p:cViewPr>
        <p:scale>
          <a:sx n="82" d="100"/>
          <a:sy n="82" d="100"/>
        </p:scale>
        <p:origin x="3876" y="3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3/5/2026 12:12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lang="en-US" sz="1000" kern="1200" smtClean="0">
                <a:solidFill>
                  <a:schemeClr val="tx1"/>
                </a:solidFill>
                <a:latin typeface="+mn-lt"/>
                <a:ea typeface="+mn-ea"/>
                <a:cs typeface="+mn-cs"/>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32742" rtl="0" eaLnBrk="1" latinLnBrk="0" hangingPunct="1">
      <a:lnSpc>
        <a:spcPct val="90000"/>
      </a:lnSpc>
      <a:spcAft>
        <a:spcPts val="340"/>
      </a:spcAft>
      <a:defRPr sz="1100" kern="1200">
        <a:solidFill>
          <a:schemeClr val="tx1"/>
        </a:solidFill>
        <a:latin typeface="+mn-lt"/>
        <a:ea typeface="+mn-ea"/>
        <a:cs typeface="+mn-cs"/>
      </a:defRPr>
    </a:lvl1pPr>
    <a:lvl2pPr marL="217262" indent="-107956"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2pPr>
    <a:lvl3pPr marL="334664"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3pPr>
    <a:lvl4pPr marL="492551" indent="-149789"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4pPr>
    <a:lvl5pPr marL="627496"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1</a:t>
            </a:fld>
            <a:endParaRPr lang="en-US" noProof="0" dirty="0"/>
          </a:p>
        </p:txBody>
      </p:sp>
      <p:sp>
        <p:nvSpPr>
          <p:cNvPr id="9" name="Slide Image Placeholder 8">
            <a:extLst>
              <a:ext uri="{FF2B5EF4-FFF2-40B4-BE49-F238E27FC236}">
                <a16:creationId xmlns:a16="http://schemas.microsoft.com/office/drawing/2014/main" id="{8A684832-E4D0-7945-797E-B649F4937585}"/>
              </a:ext>
            </a:extLst>
          </p:cNvPr>
          <p:cNvSpPr>
            <a:spLocks noGrp="1" noRot="1" noChangeAspect="1"/>
          </p:cNvSpPr>
          <p:nvPr>
            <p:ph type="sldImg"/>
          </p:nvPr>
        </p:nvSpPr>
        <p:spPr/>
      </p:sp>
      <p:sp>
        <p:nvSpPr>
          <p:cNvPr id="10" name="Notes Placeholder 9">
            <a:extLst>
              <a:ext uri="{FF2B5EF4-FFF2-40B4-BE49-F238E27FC236}">
                <a16:creationId xmlns:a16="http://schemas.microsoft.com/office/drawing/2014/main" id="{9D24510F-7942-40AE-DA9A-3A54FC239C3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80395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content is part of the AZ-104: Monitor and back up Azure resources (https://learn.microsoft.com/learn/paths/az-104-monitor-backup-resources/) learning path. </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2</a:t>
            </a:fld>
            <a:endParaRPr lang="en-US" dirty="0"/>
          </a:p>
        </p:txBody>
      </p:sp>
    </p:spTree>
    <p:extLst>
      <p:ext uri="{BB962C8B-B14F-4D97-AF65-F5344CB8AC3E}">
        <p14:creationId xmlns:p14="http://schemas.microsoft.com/office/powerpoint/2010/main" val="2326139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Optional whiteboard slide to introduce the module or review the content. Use the whiteboard diagram directly or recreate the image during the class. </a:t>
            </a:r>
          </a:p>
          <a:p>
            <a:endParaRPr lang="en-US" dirty="0"/>
          </a:p>
        </p:txBody>
      </p:sp>
      <p:sp>
        <p:nvSpPr>
          <p:cNvPr id="4" name="Slide Number Placeholder 3"/>
          <p:cNvSpPr>
            <a:spLocks noGrp="1"/>
          </p:cNvSpPr>
          <p:nvPr>
            <p:ph type="sldNum" sz="quarter" idx="5"/>
          </p:nvPr>
        </p:nvSpPr>
        <p:spPr/>
        <p:txBody>
          <a:bodyPr/>
          <a:lstStyle/>
          <a:p>
            <a:pPr lvl="0"/>
            <a:fld id="{FA5AD710-EC89-4888-BD15-6B04A0D5F96B}" type="slidenum">
              <a:rPr lang="en-US" noProof="0" smtClean="0"/>
              <a:pPr lvl="0"/>
              <a:t>3</a:t>
            </a:fld>
            <a:endParaRPr lang="en-US" noProof="0" dirty="0"/>
          </a:p>
        </p:txBody>
      </p:sp>
      <p:sp>
        <p:nvSpPr>
          <p:cNvPr id="7" name="Slide Image Placeholder 6">
            <a:extLst>
              <a:ext uri="{FF2B5EF4-FFF2-40B4-BE49-F238E27FC236}">
                <a16:creationId xmlns:a16="http://schemas.microsoft.com/office/drawing/2014/main" id="{6F83B9F0-AFB7-0638-D996-3DB80313BDF0}"/>
              </a:ext>
            </a:extLst>
          </p:cNvPr>
          <p:cNvSpPr>
            <a:spLocks noGrp="1" noRot="1" noChangeAspect="1"/>
          </p:cNvSpPr>
          <p:nvPr>
            <p:ph type="sldImg"/>
          </p:nvPr>
        </p:nvSpPr>
        <p:spPr/>
      </p:sp>
    </p:spTree>
    <p:extLst>
      <p:ext uri="{BB962C8B-B14F-4D97-AF65-F5344CB8AC3E}">
        <p14:creationId xmlns:p14="http://schemas.microsoft.com/office/powerpoint/2010/main" val="2012228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124049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161616"/>
              </a:solidFill>
              <a:effectLst/>
              <a:latin typeface="Segoe UI" panose="020B0502040204020203" pitchFamily="34" charset="0"/>
            </a:endParaRPr>
          </a:p>
        </p:txBody>
      </p:sp>
      <p:sp>
        <p:nvSpPr>
          <p:cNvPr id="4" name="Slide Number Placeholder 3"/>
          <p:cNvSpPr>
            <a:spLocks noGrp="1"/>
          </p:cNvSpPr>
          <p:nvPr>
            <p:ph type="sldNum" sz="quarter" idx="5"/>
          </p:nvPr>
        </p:nvSpPr>
        <p:spPr/>
        <p:txBody>
          <a:bodyPr/>
          <a:lstStyle/>
          <a:p>
            <a:fld id="{8507DC7E-BC41-4478-BA30-CBCC3A644F0A}" type="slidenum">
              <a:rPr lang="en-US" smtClean="0"/>
              <a:t>5</a:t>
            </a:fld>
            <a:endParaRPr lang="en-US" dirty="0"/>
          </a:p>
        </p:txBody>
      </p:sp>
    </p:spTree>
    <p:extLst>
      <p:ext uri="{BB962C8B-B14F-4D97-AF65-F5344CB8AC3E}">
        <p14:creationId xmlns:p14="http://schemas.microsoft.com/office/powerpoint/2010/main" val="1481036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Azure Backup service?</a:t>
            </a:r>
          </a:p>
          <a:p>
            <a:r>
              <a:rPr lang="en-US" dirty="0"/>
              <a:t>https://learn.microsoft.com/azure/backup/backup-overview</a:t>
            </a:r>
          </a:p>
          <a:p>
            <a:endParaRPr lang="en-US" dirty="0"/>
          </a:p>
          <a:p>
            <a:r>
              <a:rPr lang="en-US" dirty="0"/>
              <a:t>Why use Azure Backup?</a:t>
            </a:r>
          </a:p>
          <a:p>
            <a:r>
              <a:rPr lang="en-US" dirty="0"/>
              <a:t>https://learn.microsoft.com/azure/backup/backup-introduction-to-azure-backup#why-use-azure-backup </a:t>
            </a:r>
          </a:p>
          <a:p>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 What are some of the reasons your organization might choose Azure Backup?</a:t>
            </a:r>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38500026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this discussion on the administrator tasks like types of vaults and the need to create backup policies. Introduce the Backup Center which is the next slide. </a:t>
            </a:r>
          </a:p>
          <a:p>
            <a:endParaRPr lang="en-US" dirty="0"/>
          </a:p>
          <a:p>
            <a:r>
              <a:rPr lang="en-US" dirty="0"/>
              <a:t>Backup cloud and on-premises workloads to cloud</a:t>
            </a:r>
          </a:p>
          <a:p>
            <a:r>
              <a:rPr lang="en-US" dirty="0"/>
              <a:t>https://learn.microsoft.com/azure/backup/guidance-best-practices</a:t>
            </a:r>
          </a:p>
        </p:txBody>
      </p:sp>
      <p:sp>
        <p:nvSpPr>
          <p:cNvPr id="6" name="Slide Number Placeholder 5"/>
          <p:cNvSpPr>
            <a:spLocks noGrp="1"/>
          </p:cNvSpPr>
          <p:nvPr>
            <p:ph type="sldNum" sz="quarter" idx="5"/>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1272475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B7E4E-4E96-DC60-CD23-9278D2F99993}"/>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6C362DD7-35FA-8763-D67E-763156DBA69B}"/>
              </a:ext>
            </a:extLst>
          </p:cNvPr>
          <p:cNvSpPr>
            <a:spLocks noGrp="1"/>
          </p:cNvSpPr>
          <p:nvPr>
            <p:ph type="body" idx="1"/>
          </p:nvPr>
        </p:nvSpPr>
        <p:spPr/>
        <p:txBody>
          <a:bodyPr/>
          <a:lstStyle/>
          <a:p>
            <a:r>
              <a:rPr lang="en-US" dirty="0"/>
              <a:t>The next section will go into the details for virtual machine backups. </a:t>
            </a:r>
          </a:p>
          <a:p>
            <a:endParaRPr lang="en-US" dirty="0"/>
          </a:p>
          <a:p>
            <a:r>
              <a:rPr lang="en-US" dirty="0"/>
              <a:t>Azure Business Continuity Center </a:t>
            </a:r>
            <a:r>
              <a:rPr lang="en-US" dirty="0" err="1"/>
              <a:t>ccumentation</a:t>
            </a:r>
            <a:r>
              <a:rPr lang="en-US" dirty="0"/>
              <a:t>- https://learn.microsoft.com/azure/business-continuity-center/business-continuity-center-overview</a:t>
            </a:r>
          </a:p>
          <a:p>
            <a:br>
              <a:rPr lang="en-US" dirty="0"/>
            </a:br>
            <a:endParaRPr lang="en-US" dirty="0"/>
          </a:p>
        </p:txBody>
      </p:sp>
      <p:sp>
        <p:nvSpPr>
          <p:cNvPr id="6" name="Slide Number Placeholder 5">
            <a:extLst>
              <a:ext uri="{FF2B5EF4-FFF2-40B4-BE49-F238E27FC236}">
                <a16:creationId xmlns:a16="http://schemas.microsoft.com/office/drawing/2014/main" id="{75D2B7D6-9E73-2242-400B-E9380D13E90F}"/>
              </a:ext>
            </a:extLst>
          </p:cNvPr>
          <p:cNvSpPr>
            <a:spLocks noGrp="1"/>
          </p:cNvSpPr>
          <p:nvPr>
            <p:ph type="sldNum" sz="quarter" idx="5"/>
          </p:nvPr>
        </p:nvSpPr>
        <p:spPr/>
        <p:txBody>
          <a:bodyPr/>
          <a:lstStyle/>
          <a:p>
            <a:fld id="{B4008EB6-D09E-4580-8CD6-DDB14511944F}" type="slidenum">
              <a:rPr lang="en-US" smtClean="0"/>
              <a:pPr/>
              <a:t>8</a:t>
            </a:fld>
            <a:endParaRPr lang="en-US" dirty="0"/>
          </a:p>
        </p:txBody>
      </p:sp>
      <p:sp>
        <p:nvSpPr>
          <p:cNvPr id="7" name="Slide Image Placeholder 6">
            <a:extLst>
              <a:ext uri="{FF2B5EF4-FFF2-40B4-BE49-F238E27FC236}">
                <a16:creationId xmlns:a16="http://schemas.microsoft.com/office/drawing/2014/main" id="{114BEF73-24D8-F0F6-55A4-71B53A93402F}"/>
              </a:ext>
            </a:extLst>
          </p:cNvPr>
          <p:cNvSpPr>
            <a:spLocks noGrp="1" noRot="1" noChangeAspect="1"/>
          </p:cNvSpPr>
          <p:nvPr>
            <p:ph type="sldImg"/>
          </p:nvPr>
        </p:nvSpPr>
        <p:spPr/>
      </p:sp>
    </p:spTree>
    <p:extLst>
      <p:ext uri="{BB962C8B-B14F-4D97-AF65-F5344CB8AC3E}">
        <p14:creationId xmlns:p14="http://schemas.microsoft.com/office/powerpoint/2010/main" val="3001553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Demonstration Backup Azure File Shares</a:t>
            </a:r>
          </a:p>
          <a:p>
            <a:r>
              <a:rPr lang="en-US" dirty="0"/>
              <a:t>https://microsoftlearning.github.io/AZ-104-MicrosoftAzureAdministrator/Instructions/Demos/10%20-%20Administer%20Data%20Protection.html#backup-azure-file-shares</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9</a:t>
            </a:fld>
            <a:endParaRPr lang="en-US" dirty="0"/>
          </a:p>
        </p:txBody>
      </p:sp>
    </p:spTree>
    <p:extLst>
      <p:ext uri="{BB962C8B-B14F-4D97-AF65-F5344CB8AC3E}">
        <p14:creationId xmlns:p14="http://schemas.microsoft.com/office/powerpoint/2010/main" val="586348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Additional questions in Office Forms - https://forms.office.com/Pages/ShareFormPage.aspx?id=v4j5cvGGr0GRqy180BHbR5NEFZBpuAZBgxPOGXi_gX5UNFEwTzhFUTdTUTZBWFdDWUVMRkxDWTVBTC4u&amp;sharetoken=mYk00FZIuUtj2z7QzeEU&amp;wdLOR=cD67ACE90-C2B7-4D71-9B7E-1F000829BE34</a:t>
            </a:r>
          </a:p>
          <a:p>
            <a:endParaRPr lang="en-US" dirty="0"/>
          </a:p>
          <a:p>
            <a:pPr lvl="0"/>
            <a:r>
              <a:rPr lang="en-US" dirty="0"/>
              <a:t>What workloads can Azure Backup back up? Discuss both on-premises and Azure workloads. </a:t>
            </a:r>
          </a:p>
          <a:p>
            <a:pPr lvl="0"/>
            <a:r>
              <a:rPr lang="en-US" b="1" dirty="0"/>
              <a:t>Answer</a:t>
            </a:r>
            <a:r>
              <a:rPr lang="en-US" dirty="0"/>
              <a:t>: Azure Backup is the main tool to backup and restore workloads. On-premises workloads include files and folders, Hyper-V virtual machines, VMware virtual machines, Microsoft SQL Server, Microsoft SharePoint, Microsoft Exchange, System State, and Bare Metal Recovery. Azure workloads include virtual machines, Azure file shares, SQL Server in Azure VM, and SAP HANA in Azure VM. </a:t>
            </a:r>
          </a:p>
          <a:p>
            <a:r>
              <a:rPr lang="en-US" dirty="0"/>
              <a:t> </a:t>
            </a:r>
          </a:p>
          <a:p>
            <a:pPr lvl="0"/>
            <a:r>
              <a:rPr lang="en-US" dirty="0"/>
              <a:t>You need to configure on-premises file and folder backups. What are basic steps to configuring the backup?</a:t>
            </a:r>
          </a:p>
          <a:p>
            <a:pPr lvl="0"/>
            <a:r>
              <a:rPr lang="en-US" b="1" dirty="0"/>
              <a:t>Answer</a:t>
            </a:r>
            <a:r>
              <a:rPr lang="en-US" dirty="0"/>
              <a:t>: First, you will need to create a recovery service vault. Next, download the agent on the on-premises machine. The agent will need a credential certificate. Next, install and register the agent with Azure. Lastly, configure the backup policies. The portal provides a wizard to help with the agent steps. </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10</a:t>
            </a:fld>
            <a:endParaRPr lang="en-US" dirty="0"/>
          </a:p>
        </p:txBody>
      </p:sp>
      <p:sp>
        <p:nvSpPr>
          <p:cNvPr id="7" name="Slide Image Placeholder 6">
            <a:extLst>
              <a:ext uri="{FF2B5EF4-FFF2-40B4-BE49-F238E27FC236}">
                <a16:creationId xmlns:a16="http://schemas.microsoft.com/office/drawing/2014/main" id="{E9016184-730F-4FDE-44D3-F78DD4DD15ED}"/>
              </a:ext>
            </a:extLst>
          </p:cNvPr>
          <p:cNvSpPr>
            <a:spLocks noGrp="1" noRot="1" noChangeAspect="1"/>
          </p:cNvSpPr>
          <p:nvPr>
            <p:ph type="sldImg"/>
          </p:nvPr>
        </p:nvSpPr>
        <p:spPr/>
      </p:sp>
    </p:spTree>
    <p:extLst>
      <p:ext uri="{BB962C8B-B14F-4D97-AF65-F5344CB8AC3E}">
        <p14:creationId xmlns:p14="http://schemas.microsoft.com/office/powerpoint/2010/main" val="16946439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1242442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12</a:t>
            </a:fld>
            <a:endParaRPr lang="en-US" dirty="0"/>
          </a:p>
        </p:txBody>
      </p:sp>
    </p:spTree>
    <p:extLst>
      <p:ext uri="{BB962C8B-B14F-4D97-AF65-F5344CB8AC3E}">
        <p14:creationId xmlns:p14="http://schemas.microsoft.com/office/powerpoint/2010/main" val="213430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An overview of Azure VM backup</a:t>
            </a:r>
          </a:p>
          <a:p>
            <a:r>
              <a:rPr lang="en-US" dirty="0"/>
              <a:t>https://learn.microsoft.com/azure/backup/backup-azure-vms-introduction</a:t>
            </a:r>
          </a:p>
          <a:p>
            <a:endParaRPr lang="en-US" dirty="0"/>
          </a:p>
          <a:p>
            <a:r>
              <a:rPr lang="en-US" dirty="0"/>
              <a:t>✔️ Have you tried any of these backup methods? Do you have a backup plan?</a:t>
            </a:r>
          </a:p>
          <a:p>
            <a:endParaRPr lang="en-US" dirty="0"/>
          </a:p>
          <a:p>
            <a:endParaRPr lang="en-US" dirty="0"/>
          </a:p>
        </p:txBody>
      </p:sp>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13</a:t>
            </a:fld>
            <a:endParaRPr lang="en-US" noProof="0" dirty="0"/>
          </a:p>
        </p:txBody>
      </p:sp>
      <p:sp>
        <p:nvSpPr>
          <p:cNvPr id="10" name="Slide Image Placeholder 9">
            <a:extLst>
              <a:ext uri="{FF2B5EF4-FFF2-40B4-BE49-F238E27FC236}">
                <a16:creationId xmlns:a16="http://schemas.microsoft.com/office/drawing/2014/main" id="{5E298175-3363-4925-FA22-D5E1779ACD2B}"/>
              </a:ext>
            </a:extLst>
          </p:cNvPr>
          <p:cNvSpPr>
            <a:spLocks noGrp="1" noRot="1" noChangeAspect="1"/>
          </p:cNvSpPr>
          <p:nvPr>
            <p:ph type="sldImg"/>
          </p:nvPr>
        </p:nvSpPr>
        <p:spPr/>
      </p:sp>
    </p:spTree>
    <p:extLst>
      <p:ext uri="{BB962C8B-B14F-4D97-AF65-F5344CB8AC3E}">
        <p14:creationId xmlns:p14="http://schemas.microsoft.com/office/powerpoint/2010/main" val="39811380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snapshot </a:t>
            </a:r>
          </a:p>
          <a:p>
            <a:r>
              <a:rPr lang="en-US" dirty="0"/>
              <a:t>https://learn.microsoft.com/azure/virtual-machines/windows/snapshot-copy-managed-disk</a:t>
            </a:r>
          </a:p>
        </p:txBody>
      </p:sp>
      <p:sp>
        <p:nvSpPr>
          <p:cNvPr id="6" name="Slide Number Placeholder 5"/>
          <p:cNvSpPr>
            <a:spLocks noGrp="1"/>
          </p:cNvSpPr>
          <p:nvPr>
            <p:ph type="sldNum" sz="quarter" idx="5"/>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36529403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15</a:t>
            </a:fld>
            <a:endParaRPr lang="en-US" dirty="0"/>
          </a:p>
        </p:txBody>
      </p:sp>
    </p:spTree>
    <p:extLst>
      <p:ext uri="{BB962C8B-B14F-4D97-AF65-F5344CB8AC3E}">
        <p14:creationId xmlns:p14="http://schemas.microsoft.com/office/powerpoint/2010/main" val="36741345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Tutorial: Back up and restore files for virtual machines in Azure https://learn.microsoft.com/azure/virtual-machines/windows/tutorial-backup-vms</a:t>
            </a:r>
          </a:p>
        </p:txBody>
      </p:sp>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16</a:t>
            </a:fld>
            <a:endParaRPr lang="en-US" noProof="0" dirty="0"/>
          </a:p>
        </p:txBody>
      </p:sp>
      <p:sp>
        <p:nvSpPr>
          <p:cNvPr id="10" name="Slide Image Placeholder 9">
            <a:extLst>
              <a:ext uri="{FF2B5EF4-FFF2-40B4-BE49-F238E27FC236}">
                <a16:creationId xmlns:a16="http://schemas.microsoft.com/office/drawing/2014/main" id="{1DB6E897-5634-BA88-D6C6-7D26560CDD3E}"/>
              </a:ext>
            </a:extLst>
          </p:cNvPr>
          <p:cNvSpPr>
            <a:spLocks noGrp="1" noRot="1" noChangeAspect="1"/>
          </p:cNvSpPr>
          <p:nvPr>
            <p:ph type="sldImg"/>
          </p:nvPr>
        </p:nvSpPr>
        <p:spPr/>
      </p:sp>
    </p:spTree>
    <p:extLst>
      <p:ext uri="{BB962C8B-B14F-4D97-AF65-F5344CB8AC3E}">
        <p14:creationId xmlns:p14="http://schemas.microsoft.com/office/powerpoint/2010/main" val="6453124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17</a:t>
            </a:fld>
            <a:endParaRPr lang="en-US" noProof="0" dirty="0"/>
          </a:p>
        </p:txBody>
      </p:sp>
      <p:sp>
        <p:nvSpPr>
          <p:cNvPr id="9" name="Slide Image Placeholder 8">
            <a:extLst>
              <a:ext uri="{FF2B5EF4-FFF2-40B4-BE49-F238E27FC236}">
                <a16:creationId xmlns:a16="http://schemas.microsoft.com/office/drawing/2014/main" id="{AB78E441-A768-8BC5-6DC4-18B029540E2F}"/>
              </a:ext>
            </a:extLst>
          </p:cNvPr>
          <p:cNvSpPr>
            <a:spLocks noGrp="1" noRot="1" noChangeAspect="1"/>
          </p:cNvSpPr>
          <p:nvPr>
            <p:ph type="sldImg"/>
          </p:nvPr>
        </p:nvSpPr>
        <p:spPr/>
      </p:sp>
      <p:sp>
        <p:nvSpPr>
          <p:cNvPr id="10" name="Notes Placeholder 9">
            <a:extLst>
              <a:ext uri="{FF2B5EF4-FFF2-40B4-BE49-F238E27FC236}">
                <a16:creationId xmlns:a16="http://schemas.microsoft.com/office/drawing/2014/main" id="{FBF436EE-B904-0F56-F7B7-6BDF91BD247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964136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Demonstration Backup Azure virtual machines </a:t>
            </a:r>
          </a:p>
          <a:p>
            <a:r>
              <a:rPr lang="en-US" dirty="0"/>
              <a:t>https://microsoftlearning.github.io/AZ-104-MicrosoftAzureAdministrator/Instructions/Demos/10%20-%20Administer%20Data%20Protection.html#backup-azure-virtual-machines</a:t>
            </a:r>
          </a:p>
        </p:txBody>
      </p:sp>
      <p:sp>
        <p:nvSpPr>
          <p:cNvPr id="4" name="Slide Number Placeholder 3"/>
          <p:cNvSpPr>
            <a:spLocks noGrp="1"/>
          </p:cNvSpPr>
          <p:nvPr>
            <p:ph type="sldNum" sz="quarter" idx="5"/>
          </p:nvPr>
        </p:nvSpPr>
        <p:spPr/>
        <p:txBody>
          <a:bodyPr/>
          <a:lstStyle/>
          <a:p>
            <a:fld id="{8507DC7E-BC41-4478-BA30-CBCC3A644F0A}" type="slidenum">
              <a:rPr lang="en-US" smtClean="0"/>
              <a:t>18</a:t>
            </a:fld>
            <a:endParaRPr lang="en-US" dirty="0"/>
          </a:p>
        </p:txBody>
      </p:sp>
    </p:spTree>
    <p:extLst>
      <p:ext uri="{BB962C8B-B14F-4D97-AF65-F5344CB8AC3E}">
        <p14:creationId xmlns:p14="http://schemas.microsoft.com/office/powerpoint/2010/main" val="6506517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Soft delete for virtual machines</a:t>
            </a:r>
          </a:p>
          <a:p>
            <a:r>
              <a:rPr lang="en-US" dirty="0"/>
              <a:t>https://learn.microsoft.com/azure/backup/soft-delete-virtual-machines</a:t>
            </a:r>
          </a:p>
          <a:p>
            <a:endParaRPr lang="en-US" dirty="0"/>
          </a:p>
          <a:p>
            <a:r>
              <a:rPr lang="en-US" dirty="0"/>
              <a:t>* Now soft delete number of days can be extended beyond 14 days, although it will have a fee associated to it.</a:t>
            </a:r>
          </a:p>
        </p:txBody>
      </p:sp>
      <p:sp>
        <p:nvSpPr>
          <p:cNvPr id="6" name="Slide Number Placeholder 5"/>
          <p:cNvSpPr>
            <a:spLocks noGrp="1"/>
          </p:cNvSpPr>
          <p:nvPr>
            <p:ph type="sldNum" sz="quarter" idx="5"/>
          </p:nvPr>
        </p:nvSpPr>
        <p:spPr/>
        <p:txBody>
          <a:bodyPr/>
          <a:lstStyle/>
          <a:p>
            <a:fld id="{B4008EB6-D09E-4580-8CD6-DDB14511944F}" type="slidenum">
              <a:rPr lang="en-US" smtClean="0"/>
              <a:pPr/>
              <a:t>19</a:t>
            </a:fld>
            <a:endParaRPr lang="en-US" dirty="0"/>
          </a:p>
        </p:txBody>
      </p:sp>
      <p:sp>
        <p:nvSpPr>
          <p:cNvPr id="9" name="Slide Image Placeholder 8">
            <a:extLst>
              <a:ext uri="{FF2B5EF4-FFF2-40B4-BE49-F238E27FC236}">
                <a16:creationId xmlns:a16="http://schemas.microsoft.com/office/drawing/2014/main" id="{8B71979B-7772-50D7-398D-1AF0BACDFC4A}"/>
              </a:ext>
            </a:extLst>
          </p:cNvPr>
          <p:cNvSpPr>
            <a:spLocks noGrp="1" noRot="1" noChangeAspect="1"/>
          </p:cNvSpPr>
          <p:nvPr>
            <p:ph type="sldImg"/>
          </p:nvPr>
        </p:nvSpPr>
        <p:spPr/>
      </p:sp>
    </p:spTree>
    <p:extLst>
      <p:ext uri="{BB962C8B-B14F-4D97-AF65-F5344CB8AC3E}">
        <p14:creationId xmlns:p14="http://schemas.microsoft.com/office/powerpoint/2010/main" val="333828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Azure Site Recovery documentation </a:t>
            </a:r>
          </a:p>
          <a:p>
            <a:r>
              <a:rPr lang="en-US" dirty="0"/>
              <a:t>https://learn.microsoft.com/azure/site-recovery/</a:t>
            </a:r>
          </a:p>
          <a:p>
            <a:endParaRPr lang="en-US" dirty="0"/>
          </a:p>
          <a:p>
            <a:r>
              <a:rPr lang="en-US" dirty="0"/>
              <a:t>Concentrate on replication within Azure and not migration scenarios from on-premises. </a:t>
            </a:r>
          </a:p>
          <a:p>
            <a:endParaRPr lang="en-US" dirty="0"/>
          </a:p>
        </p:txBody>
      </p:sp>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20</a:t>
            </a:fld>
            <a:endParaRPr lang="en-US" noProof="0" dirty="0"/>
          </a:p>
        </p:txBody>
      </p:sp>
      <p:sp>
        <p:nvSpPr>
          <p:cNvPr id="10" name="Slide Image Placeholder 9">
            <a:extLst>
              <a:ext uri="{FF2B5EF4-FFF2-40B4-BE49-F238E27FC236}">
                <a16:creationId xmlns:a16="http://schemas.microsoft.com/office/drawing/2014/main" id="{B6634F96-9A29-DDD6-9BB7-1B6494789AC6}"/>
              </a:ext>
            </a:extLst>
          </p:cNvPr>
          <p:cNvSpPr>
            <a:spLocks noGrp="1" noRot="1" noChangeAspect="1"/>
          </p:cNvSpPr>
          <p:nvPr>
            <p:ph type="sldImg"/>
          </p:nvPr>
        </p:nvSpPr>
        <p:spPr/>
      </p:sp>
    </p:spTree>
    <p:extLst>
      <p:ext uri="{BB962C8B-B14F-4D97-AF65-F5344CB8AC3E}">
        <p14:creationId xmlns:p14="http://schemas.microsoft.com/office/powerpoint/2010/main" val="9618166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Additional questions in Office Forms - https://forms.office.com/Pages/ShareFormPage.aspx?id=v4j5cvGGr0GRqy180BHbR5NEFZBpuAZBgxPOGXi_gX5UNFEwTzhFUTdTUTZBWFdDWUVMRkxDWTVBTC4u&amp;sharetoken=mYk00FZIuUtj2z7QzeEU&amp;wdLOR=cD67ACE90-C2B7-4D71-9B7E-1F000829BE34</a:t>
            </a:r>
          </a:p>
          <a:p>
            <a:pPr lvl="0"/>
            <a:endParaRPr lang="en-US" dirty="0"/>
          </a:p>
          <a:p>
            <a:pPr lvl="0"/>
            <a:r>
              <a:rPr lang="en-US" dirty="0"/>
              <a:t>Name at least two ways you can protect virtual machine data. </a:t>
            </a:r>
          </a:p>
          <a:p>
            <a:pPr lvl="0"/>
            <a:r>
              <a:rPr lang="en-US" b="1" dirty="0"/>
              <a:t>Answer</a:t>
            </a:r>
            <a:r>
              <a:rPr lang="en-US" dirty="0"/>
              <a:t>: Virtual machine snapshots provide a quick and simple option for backing up VMs that use managed disks. Snapshots help capture information between formal backups. Azure Backup supports application-consistent backups for both Windows and Linux VMs. Azure Site Recovery protects your VMs from a major disaster scenario when a whole region experiences an outage.</a:t>
            </a:r>
          </a:p>
          <a:p>
            <a:pPr lvl="0"/>
            <a:endParaRPr lang="en-US" dirty="0"/>
          </a:p>
          <a:p>
            <a:pPr lvl="0"/>
            <a:r>
              <a:rPr lang="en-US" dirty="0"/>
              <a:t>Several of your virtual machine backups have been accidentally deleted. Is there are any way to recover the deleted backups?</a:t>
            </a:r>
          </a:p>
          <a:p>
            <a:pPr lvl="0"/>
            <a:r>
              <a:rPr lang="en-US" b="1" dirty="0"/>
              <a:t>Answer</a:t>
            </a:r>
            <a:r>
              <a:rPr lang="en-US" dirty="0"/>
              <a:t>: Soft delete has the capability to protect cloud backups for IaaS virtual machines from accidental as well as malicious deletion of backups. Soft delete provides 14 days of extended retention, allowing recovery with no data loss. Soft delete is offered at no cost and is natively built-in for all recovery service vaults. To recover the deleted backups, use the undelete feature. </a:t>
            </a:r>
          </a:p>
          <a:p>
            <a:pPr lvl="0"/>
            <a:endParaRPr lang="en-US" dirty="0"/>
          </a:p>
          <a:p>
            <a:pPr lvl="0"/>
            <a:r>
              <a:rPr lang="en-US" dirty="0"/>
              <a:t>What is the difference between Azure Backup and Azure Site recovery?</a:t>
            </a:r>
          </a:p>
          <a:p>
            <a:pPr lvl="0"/>
            <a:r>
              <a:rPr lang="en-US" b="1" dirty="0"/>
              <a:t>Answer</a:t>
            </a:r>
            <a:r>
              <a:rPr lang="en-US" dirty="0"/>
              <a:t>: Azure Backup allows for granular backups and restores specific data. Azure Site Recovery (ASR) allows for the protection of an entire production site. ASR provides automation and orchestration to make the failover and failback processes seamless. </a:t>
            </a:r>
          </a:p>
          <a:p>
            <a:pPr lvl="0"/>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21</a:t>
            </a:fld>
            <a:endParaRPr lang="en-US" dirty="0"/>
          </a:p>
        </p:txBody>
      </p:sp>
      <p:sp>
        <p:nvSpPr>
          <p:cNvPr id="7" name="Slide Image Placeholder 6">
            <a:extLst>
              <a:ext uri="{FF2B5EF4-FFF2-40B4-BE49-F238E27FC236}">
                <a16:creationId xmlns:a16="http://schemas.microsoft.com/office/drawing/2014/main" id="{8F3D1F0A-399B-D730-E194-3265A39AB63E}"/>
              </a:ext>
            </a:extLst>
          </p:cNvPr>
          <p:cNvSpPr>
            <a:spLocks noGrp="1" noRot="1" noChangeAspect="1"/>
          </p:cNvSpPr>
          <p:nvPr>
            <p:ph type="sldImg"/>
          </p:nvPr>
        </p:nvSpPr>
        <p:spPr/>
      </p:sp>
    </p:spTree>
    <p:extLst>
      <p:ext uri="{BB962C8B-B14F-4D97-AF65-F5344CB8AC3E}">
        <p14:creationId xmlns:p14="http://schemas.microsoft.com/office/powerpoint/2010/main" val="16946439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22</a:t>
            </a:fld>
            <a:endParaRPr lang="en-US" dirty="0"/>
          </a:p>
        </p:txBody>
      </p:sp>
    </p:spTree>
    <p:extLst>
      <p:ext uri="{BB962C8B-B14F-4D97-AF65-F5344CB8AC3E}">
        <p14:creationId xmlns:p14="http://schemas.microsoft.com/office/powerpoint/2010/main" val="17413540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lab is focused on Azure virtual machines, backup and disaster recovery. It introduces Azure Backup, which can be used for many other resources. </a:t>
            </a:r>
          </a:p>
          <a:p>
            <a:endParaRPr lang="en-US" dirty="0"/>
          </a:p>
          <a:p>
            <a:r>
              <a:rPr lang="en-US" dirty="0"/>
              <a:t>Lab 10 - https://microsoftlearning.github.io/AZ-104-MicrosoftAzureAdministrator/Instructions/Labs/LAB_10-Implement_Data_Protection.html</a:t>
            </a:r>
          </a:p>
        </p:txBody>
      </p:sp>
      <p:sp>
        <p:nvSpPr>
          <p:cNvPr id="4" name="Slide Number Placeholder 3"/>
          <p:cNvSpPr>
            <a:spLocks noGrp="1"/>
          </p:cNvSpPr>
          <p:nvPr>
            <p:ph type="sldNum" sz="quarter" idx="5"/>
          </p:nvPr>
        </p:nvSpPr>
        <p:spPr/>
        <p:txBody>
          <a:bodyPr/>
          <a:lstStyle/>
          <a:p>
            <a:fld id="{8507DC7E-BC41-4478-BA30-CBCC3A644F0A}" type="slidenum">
              <a:rPr lang="en-US" smtClean="0"/>
              <a:t>23</a:t>
            </a:fld>
            <a:endParaRPr lang="en-US" dirty="0"/>
          </a:p>
        </p:txBody>
      </p:sp>
    </p:spTree>
    <p:extLst>
      <p:ext uri="{BB962C8B-B14F-4D97-AF65-F5344CB8AC3E}">
        <p14:creationId xmlns:p14="http://schemas.microsoft.com/office/powerpoint/2010/main" val="34497836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315E2-8306-D7F2-A261-882428D5FC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B67E9B-8708-7B6A-695E-CA140E1A11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F12E5B-D856-BB66-0670-FC3993DB04B4}"/>
              </a:ext>
            </a:extLst>
          </p:cNvPr>
          <p:cNvSpPr>
            <a:spLocks noGrp="1"/>
          </p:cNvSpPr>
          <p:nvPr>
            <p:ph type="body" idx="1"/>
          </p:nvPr>
        </p:nvSpPr>
        <p:spPr/>
        <p:txBody>
          <a:bodyPr/>
          <a:lstStyle/>
          <a:p>
            <a:endParaRPr lang="en-US" dirty="0"/>
          </a:p>
        </p:txBody>
      </p:sp>
      <p:sp>
        <p:nvSpPr>
          <p:cNvPr id="6" name="Slide Number Placeholder 5">
            <a:extLst>
              <a:ext uri="{FF2B5EF4-FFF2-40B4-BE49-F238E27FC236}">
                <a16:creationId xmlns:a16="http://schemas.microsoft.com/office/drawing/2014/main" id="{E5A01B39-68DB-F739-92CB-8DA989A0E4F9}"/>
              </a:ext>
            </a:extLst>
          </p:cNvPr>
          <p:cNvSpPr>
            <a:spLocks noGrp="1"/>
          </p:cNvSpPr>
          <p:nvPr>
            <p:ph type="sldNum" sz="quarter" idx="5"/>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1146670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25</a:t>
            </a:fld>
            <a:endParaRPr lang="en-US" dirty="0"/>
          </a:p>
        </p:txBody>
      </p:sp>
    </p:spTree>
    <p:extLst>
      <p:ext uri="{BB962C8B-B14F-4D97-AF65-F5344CB8AC3E}">
        <p14:creationId xmlns:p14="http://schemas.microsoft.com/office/powerpoint/2010/main" val="17274022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2E9348E-FA16-FE20-38FB-EDD806C9464D}"/>
              </a:ext>
            </a:extLst>
          </p:cNvPr>
          <p:cNvPicPr>
            <a:picLocks noChangeAspect="1"/>
          </p:cNvPicPr>
          <p:nvPr userDrawn="1"/>
        </p:nvPicPr>
        <p:blipFill>
          <a:blip r:embed="rId2"/>
          <a:stretch>
            <a:fillRect/>
          </a:stretch>
        </p:blipFill>
        <p:spPr>
          <a:xfrm>
            <a:off x="-1" y="11112"/>
            <a:ext cx="12436475" cy="69723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95914" y="597450"/>
            <a:ext cx="1393840" cy="298433"/>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81341" y="3622696"/>
            <a:ext cx="5800990" cy="1130181"/>
          </a:xfrm>
          <a:noFill/>
        </p:spPr>
        <p:txBody>
          <a:bodyPr wrap="square" lIns="0" tIns="0" rIns="0" bIns="0" anchor="ctr" anchorCtr="0">
            <a:spAutoFit/>
          </a:bodyPr>
          <a:lstStyle>
            <a:lvl1pPr>
              <a:defRPr sz="4080" b="0" i="0" spc="-51"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91057" y="6548910"/>
            <a:ext cx="4234554" cy="201917"/>
          </a:xfrm>
          <a:prstGeom prst="rect">
            <a:avLst/>
          </a:prstGeom>
        </p:spPr>
        <p:txBody>
          <a:bodyPr vert="horz" lIns="0" tIns="0" rIns="0" bIns="0" rtlCol="0" anchor="ctr"/>
          <a:lstStyle>
            <a:lvl1pPr marL="0" algn="l" defTabSz="932597" rtl="0" eaLnBrk="1" latinLnBrk="0" hangingPunct="1">
              <a:defRPr lang="en-US" sz="1020" kern="1200" dirty="0">
                <a:solidFill>
                  <a:schemeClr val="tx1"/>
                </a:solidFill>
                <a:latin typeface="+mn-lt"/>
                <a:ea typeface="+mn-ea"/>
                <a:cs typeface="+mn-cs"/>
              </a:defRPr>
            </a:lvl1pPr>
            <a:lvl5pPr>
              <a:defRPr lang="en-US" sz="765" kern="100" cap="all" spc="0" baseline="0" dirty="0">
                <a:solidFill>
                  <a:schemeClr val="tx1"/>
                </a:solidFill>
                <a:latin typeface="Arial" panose="020B0604020202020204" pitchFamily="34" charset="0"/>
                <a:ea typeface="+mn-ea"/>
                <a:cs typeface="Arial" panose="020B0604020202020204" pitchFamily="34" charset="0"/>
              </a:defRPr>
            </a:lvl5pPr>
          </a:lstStyle>
          <a:p>
            <a:pPr defTabSz="932563">
              <a:defRPr/>
            </a:pPr>
            <a:r>
              <a:rPr lang="en-US">
                <a:solidFill>
                  <a:srgbClr val="000000"/>
                </a:solidFill>
              </a:rPr>
              <a:t>© Copyright Microsoft Corporation. All rights reserved.</a:t>
            </a:r>
          </a:p>
        </p:txBody>
      </p:sp>
      <p:sp>
        <p:nvSpPr>
          <p:cNvPr id="2" name="Footer Placeholder 10">
            <a:extLst>
              <a:ext uri="{FF2B5EF4-FFF2-40B4-BE49-F238E27FC236}">
                <a16:creationId xmlns:a16="http://schemas.microsoft.com/office/drawing/2014/main" id="{A2E85BCA-8C5F-EFAA-DEF3-E5518406532B}"/>
              </a:ext>
            </a:extLst>
          </p:cNvPr>
          <p:cNvSpPr txBox="1">
            <a:spLocks/>
          </p:cNvSpPr>
          <p:nvPr userDrawn="1"/>
        </p:nvSpPr>
        <p:spPr>
          <a:xfrm>
            <a:off x="591057" y="6548910"/>
            <a:ext cx="4234554" cy="201917"/>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32563">
              <a:defRPr/>
            </a:pPr>
            <a:r>
              <a:rPr lang="en-US" sz="1020" dirty="0">
                <a:solidFill>
                  <a:srgbClr val="000000"/>
                </a:solidFill>
              </a:rPr>
              <a:t>© Copyright Microsoft Corporation. All rights reserved.</a:t>
            </a:r>
          </a:p>
        </p:txBody>
      </p:sp>
    </p:spTree>
    <p:extLst>
      <p:ext uri="{BB962C8B-B14F-4D97-AF65-F5344CB8AC3E}">
        <p14:creationId xmlns:p14="http://schemas.microsoft.com/office/powerpoint/2010/main" val="140925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707CDC-9BD2-0073-85EB-939160E4C7CC}"/>
              </a:ext>
            </a:extLst>
          </p:cNvPr>
          <p:cNvPicPr>
            <a:picLocks noChangeAspect="1"/>
          </p:cNvPicPr>
          <p:nvPr userDrawn="1"/>
        </p:nvPicPr>
        <p:blipFill>
          <a:blip r:embed="rId2"/>
          <a:stretch>
            <a:fillRect/>
          </a:stretch>
        </p:blipFill>
        <p:spPr>
          <a:xfrm>
            <a:off x="427038" y="1587"/>
            <a:ext cx="12009437" cy="699135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81340" y="3514705"/>
            <a:ext cx="6472474" cy="565091"/>
          </a:xfrm>
          <a:noFill/>
        </p:spPr>
        <p:txBody>
          <a:bodyPr wrap="square" lIns="0" tIns="0" rIns="0" bIns="0" anchor="ctr" anchorCtr="0">
            <a:spAutoFit/>
          </a:bodyPr>
          <a:lstStyle>
            <a:lvl1pPr>
              <a:defRPr sz="4080" b="0" i="0" spc="-51" baseline="0">
                <a:solidFill>
                  <a:schemeClr val="tx1"/>
                </a:solidFill>
                <a:latin typeface="+mn-lt"/>
                <a:cs typeface="Segoe UI" panose="020B0502040204020203" pitchFamily="34" charset="0"/>
              </a:defRPr>
            </a:lvl1pPr>
          </a:lstStyle>
          <a:p>
            <a:r>
              <a:rPr lang="en-US" dirty="0"/>
              <a:t>Section divider title</a:t>
            </a:r>
          </a:p>
        </p:txBody>
      </p:sp>
      <p:sp>
        <p:nvSpPr>
          <p:cNvPr id="7" name="TextBox 6">
            <a:extLst>
              <a:ext uri="{FF2B5EF4-FFF2-40B4-BE49-F238E27FC236}">
                <a16:creationId xmlns:a16="http://schemas.microsoft.com/office/drawing/2014/main" id="{49AE7960-A7FE-D692-112F-471C560CCA67}"/>
              </a:ext>
            </a:extLst>
          </p:cNvPr>
          <p:cNvSpPr txBox="1"/>
          <p:nvPr userDrawn="1"/>
        </p:nvSpPr>
        <p:spPr>
          <a:xfrm>
            <a:off x="427038" y="6411853"/>
            <a:ext cx="6216728" cy="270285"/>
          </a:xfrm>
          <a:prstGeom prst="rect">
            <a:avLst/>
          </a:prstGeom>
          <a:noFill/>
        </p:spPr>
        <p:txBody>
          <a:bodyPr wrap="square">
            <a:spAutoFit/>
          </a:bodyPr>
          <a:lstStyle/>
          <a:p>
            <a:pPr defTabSz="932563">
              <a:defRPr/>
            </a:pPr>
            <a:r>
              <a:rPr lang="en-US" sz="1122" dirty="0">
                <a:solidFill>
                  <a:srgbClr val="000000"/>
                </a:solidFill>
              </a:rPr>
              <a:t>© Copyright Microsoft Corporation. All rights reserved.</a:t>
            </a:r>
          </a:p>
        </p:txBody>
      </p:sp>
    </p:spTree>
    <p:extLst>
      <p:ext uri="{BB962C8B-B14F-4D97-AF65-F5344CB8AC3E}">
        <p14:creationId xmlns:p14="http://schemas.microsoft.com/office/powerpoint/2010/main" val="910148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Tree>
    <p:extLst>
      <p:ext uri="{BB962C8B-B14F-4D97-AF65-F5344CB8AC3E}">
        <p14:creationId xmlns:p14="http://schemas.microsoft.com/office/powerpoint/2010/main" val="225897388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27038" y="449263"/>
            <a:ext cx="11568684" cy="655637"/>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40753" y="998040"/>
            <a:ext cx="11568684" cy="439465"/>
          </a:xfrm>
        </p:spPr>
        <p:txBody>
          <a:bodyPr tIns="45720" rIns="0" bIns="45720"/>
          <a:lstStyle>
            <a:lvl1pPr>
              <a:defRPr sz="2244">
                <a:solidFill>
                  <a:schemeClr val="tx2">
                    <a:lumMod val="50000"/>
                  </a:schemeClr>
                </a:solidFill>
              </a:defRPr>
            </a:lvl1pPr>
          </a:lstStyle>
          <a:p>
            <a:r>
              <a:rPr lang="en-US" dirty="0"/>
              <a:t>Subheading Segoe UI </a:t>
            </a:r>
            <a:r>
              <a:rPr lang="en-US" dirty="0" err="1"/>
              <a:t>Semibold</a:t>
            </a:r>
            <a:r>
              <a:rPr lang="en-US" dirty="0"/>
              <a:t> 22 </a:t>
            </a:r>
            <a:r>
              <a:rPr lang="en-US" dirty="0" err="1"/>
              <a:t>pt</a:t>
            </a:r>
            <a:endParaRPr lang="en-US" dirty="0"/>
          </a:p>
        </p:txBody>
      </p:sp>
    </p:spTree>
    <p:extLst>
      <p:ext uri="{BB962C8B-B14F-4D97-AF65-F5344CB8AC3E}">
        <p14:creationId xmlns:p14="http://schemas.microsoft.com/office/powerpoint/2010/main" val="101568979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Learning Objs - no O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dirty="0"/>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Tree>
    <p:extLst>
      <p:ext uri="{BB962C8B-B14F-4D97-AF65-F5344CB8AC3E}">
        <p14:creationId xmlns:p14="http://schemas.microsoft.com/office/powerpoint/2010/main" val="978313208"/>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s">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dirty="0"/>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
        <p:nvSpPr>
          <p:cNvPr id="7" name="Rectangle: Rounded Corners 6">
            <a:extLst>
              <a:ext uri="{FF2B5EF4-FFF2-40B4-BE49-F238E27FC236}">
                <a16:creationId xmlns:a16="http://schemas.microsoft.com/office/drawing/2014/main" id="{E8885716-8A7B-42A7-93E2-E8749AF5C6BC}"/>
              </a:ext>
            </a:extLst>
          </p:cNvPr>
          <p:cNvSpPr/>
          <p:nvPr userDrawn="1"/>
        </p:nvSpPr>
        <p:spPr bwMode="auto">
          <a:xfrm>
            <a:off x="6116130" y="1476375"/>
            <a:ext cx="5313870" cy="4333875"/>
          </a:xfrm>
          <a:prstGeom prst="roundRect">
            <a:avLst/>
          </a:prstGeom>
          <a:solidFill>
            <a:schemeClr val="bg1"/>
          </a:solidFill>
          <a:ln>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25402492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arning Recap">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83609"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C54C7EE8-4313-2803-B06C-A5BA61EA412A}"/>
              </a:ext>
              <a:ext uri="{C183D7F6-B498-43B3-948B-1728B52AA6E4}">
                <adec:decorative xmlns:adec="http://schemas.microsoft.com/office/drawing/2017/decorative" val="1"/>
              </a:ext>
            </a:extLst>
          </p:cNvPr>
          <p:cNvGrpSpPr/>
          <p:nvPr userDrawn="1"/>
        </p:nvGrpSpPr>
        <p:grpSpPr>
          <a:xfrm>
            <a:off x="2614984" y="1617484"/>
            <a:ext cx="1132870" cy="1132709"/>
            <a:chOff x="5540700" y="2116300"/>
            <a:chExt cx="1110600" cy="1110600"/>
          </a:xfrm>
        </p:grpSpPr>
        <p:sp>
          <p:nvSpPr>
            <p:cNvPr id="4" name="Oval 3">
              <a:extLst>
                <a:ext uri="{FF2B5EF4-FFF2-40B4-BE49-F238E27FC236}">
                  <a16:creationId xmlns:a16="http://schemas.microsoft.com/office/drawing/2014/main" id="{3F97E22B-DD1F-99A5-25F7-1E4F4F58DA7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B1C046DA-F3B0-17BF-4867-63F317F8ACA9}"/>
                </a:ext>
              </a:extLst>
            </p:cNvPr>
            <p:cNvPicPr/>
            <p:nvPr/>
          </p:nvPicPr>
          <p:blipFill>
            <a:blip r:embed="rId2"/>
            <a:srcRect/>
            <a:stretch/>
          </p:blipFill>
          <p:spPr>
            <a:xfrm>
              <a:off x="5749602" y="2325202"/>
              <a:ext cx="692796" cy="692796"/>
            </a:xfrm>
            <a:prstGeom prst="rect">
              <a:avLst/>
            </a:prstGeom>
            <a:noFill/>
          </p:spPr>
        </p:pic>
      </p:grpSp>
      <p:sp>
        <p:nvSpPr>
          <p:cNvPr id="7" name="TextBox 6">
            <a:extLst>
              <a:ext uri="{FF2B5EF4-FFF2-40B4-BE49-F238E27FC236}">
                <a16:creationId xmlns:a16="http://schemas.microsoft.com/office/drawing/2014/main" id="{05350FFB-1FC5-59FA-F297-3FE6E8364735}"/>
              </a:ext>
            </a:extLst>
          </p:cNvPr>
          <p:cNvSpPr txBox="1"/>
          <p:nvPr userDrawn="1"/>
        </p:nvSpPr>
        <p:spPr>
          <a:xfrm>
            <a:off x="600058" y="2927690"/>
            <a:ext cx="2228017" cy="236680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2400" kern="1200" spc="-50" baseline="0" dirty="0">
                <a:solidFill>
                  <a:srgbClr val="000000"/>
                </a:solidFill>
                <a:latin typeface="+mj-lt"/>
                <a:ea typeface="+mn-ea"/>
                <a:cs typeface="+mn-cs"/>
              </a:rPr>
              <a:t>Check your knowledge questions and additional study</a:t>
            </a:r>
          </a:p>
          <a:p>
            <a:pPr>
              <a:lnSpc>
                <a:spcPct val="90000"/>
              </a:lnSpc>
              <a:spcAft>
                <a:spcPts val="600"/>
              </a:spcAft>
            </a:pPr>
            <a:endParaRPr lang="en-US" sz="2400" dirty="0" err="1">
              <a:gradFill>
                <a:gsLst>
                  <a:gs pos="2917">
                    <a:schemeClr val="tx1"/>
                  </a:gs>
                  <a:gs pos="30000">
                    <a:schemeClr val="tx1"/>
                  </a:gs>
                </a:gsLst>
                <a:lin ang="5400000" scaled="0"/>
              </a:gradFill>
            </a:endParaRPr>
          </a:p>
        </p:txBody>
      </p:sp>
      <p:sp>
        <p:nvSpPr>
          <p:cNvPr id="5" name="Title 1">
            <a:extLst>
              <a:ext uri="{FF2B5EF4-FFF2-40B4-BE49-F238E27FC236}">
                <a16:creationId xmlns:a16="http://schemas.microsoft.com/office/drawing/2014/main" id="{DA9EEDEA-6687-D76A-D227-7C52A001F415}"/>
              </a:ext>
            </a:extLst>
          </p:cNvPr>
          <p:cNvSpPr>
            <a:spLocks noGrp="1"/>
          </p:cNvSpPr>
          <p:nvPr>
            <p:ph type="title"/>
          </p:nvPr>
        </p:nvSpPr>
        <p:spPr>
          <a:xfrm>
            <a:off x="363664" y="512962"/>
            <a:ext cx="11568684" cy="693737"/>
          </a:xfrm>
        </p:spPr>
        <p:txBody>
          <a:bodyPr/>
          <a:lstStyle/>
          <a:p>
            <a:r>
              <a:rPr lang="en-US" dirty="0"/>
              <a:t>Click to edit Master title style</a:t>
            </a:r>
          </a:p>
        </p:txBody>
      </p:sp>
      <p:sp>
        <p:nvSpPr>
          <p:cNvPr id="8" name="TextBox 7">
            <a:extLst>
              <a:ext uri="{FF2B5EF4-FFF2-40B4-BE49-F238E27FC236}">
                <a16:creationId xmlns:a16="http://schemas.microsoft.com/office/drawing/2014/main" id="{4113B1E6-0106-0338-65AC-248AEC61AA41}"/>
              </a:ext>
            </a:extLst>
          </p:cNvPr>
          <p:cNvSpPr txBox="1"/>
          <p:nvPr userDrawn="1"/>
        </p:nvSpPr>
        <p:spPr>
          <a:xfrm>
            <a:off x="3747854" y="1951559"/>
            <a:ext cx="6216160" cy="400110"/>
          </a:xfrm>
          <a:prstGeom prst="rect">
            <a:avLst/>
          </a:prstGeom>
          <a:noFill/>
        </p:spPr>
        <p:txBody>
          <a:bodyPr wrap="square">
            <a:spAutoFit/>
          </a:bodyPr>
          <a:lstStyle/>
          <a:p>
            <a:r>
              <a:rPr lang="en-US" sz="2000" b="1" kern="1200" spc="-50" baseline="0" dirty="0">
                <a:solidFill>
                  <a:srgbClr val="000000"/>
                </a:solidFill>
                <a:latin typeface="+mn-lt"/>
                <a:ea typeface="+mn-ea"/>
                <a:cs typeface="+mn-cs"/>
              </a:rPr>
              <a:t>Reference modules</a:t>
            </a:r>
            <a:endParaRPr lang="en-US" sz="2000" b="1" dirty="0">
              <a:latin typeface="+mn-lt"/>
            </a:endParaRPr>
          </a:p>
        </p:txBody>
      </p:sp>
    </p:spTree>
    <p:extLst>
      <p:ext uri="{BB962C8B-B14F-4D97-AF65-F5344CB8AC3E}">
        <p14:creationId xmlns:p14="http://schemas.microsoft.com/office/powerpoint/2010/main" val="261500599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monstration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sp>
        <p:nvSpPr>
          <p:cNvPr id="4" name="Rounded Rectangle 3_1">
            <a:extLst>
              <a:ext uri="{FF2B5EF4-FFF2-40B4-BE49-F238E27FC236}">
                <a16:creationId xmlns:a16="http://schemas.microsoft.com/office/drawing/2014/main" id="{FC76C8DF-13B1-1B33-CBD3-D0B1496658D3}"/>
              </a:ext>
            </a:extLst>
          </p:cNvPr>
          <p:cNvSpPr/>
          <p:nvPr userDrawn="1"/>
        </p:nvSpPr>
        <p:spPr>
          <a:xfrm>
            <a:off x="521111" y="1292745"/>
            <a:ext cx="10387932" cy="4749970"/>
          </a:xfrm>
          <a:prstGeom prst="roundRect">
            <a:avLst>
              <a:gd name="adj" fmla="val 6113"/>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6" name="Oval 5">
            <a:extLst>
              <a:ext uri="{FF2B5EF4-FFF2-40B4-BE49-F238E27FC236}">
                <a16:creationId xmlns:a16="http://schemas.microsoft.com/office/drawing/2014/main" id="{C0B7F7B8-27DC-CB90-9841-2B0EB6BDC8A9}"/>
              </a:ext>
            </a:extLst>
          </p:cNvPr>
          <p:cNvSpPr/>
          <p:nvPr userDrawn="1"/>
        </p:nvSpPr>
        <p:spPr>
          <a:xfrm>
            <a:off x="10324155" y="1117294"/>
            <a:ext cx="1132870" cy="113270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pic>
        <p:nvPicPr>
          <p:cNvPr id="5" name="Graphic 4" descr="Beaker with solid fill">
            <a:extLst>
              <a:ext uri="{FF2B5EF4-FFF2-40B4-BE49-F238E27FC236}">
                <a16:creationId xmlns:a16="http://schemas.microsoft.com/office/drawing/2014/main" id="{0A4277E8-514E-E7C0-EEAE-4DBF838AD06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33390" y="1141729"/>
            <a:ext cx="914400" cy="914400"/>
          </a:xfrm>
          <a:prstGeom prst="rect">
            <a:avLst/>
          </a:prstGeom>
        </p:spPr>
      </p:pic>
    </p:spTree>
    <p:extLst>
      <p:ext uri="{BB962C8B-B14F-4D97-AF65-F5344CB8AC3E}">
        <p14:creationId xmlns:p14="http://schemas.microsoft.com/office/powerpoint/2010/main" val="53552582"/>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Lab">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4282290"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600058" y="525428"/>
            <a:ext cx="11703601" cy="502246"/>
          </a:xfrm>
        </p:spPr>
        <p:txBody>
          <a:bodyPr/>
          <a:lstStyle>
            <a:lvl1pPr>
              <a:defRPr sz="3264" b="0" i="0">
                <a:solidFill>
                  <a:schemeClr val="tx1"/>
                </a:solidFill>
                <a:latin typeface="+mj-lt"/>
                <a:cs typeface="Segoe UI Semibold" panose="020B0502040204020203" pitchFamily="34" charset="0"/>
              </a:defRPr>
            </a:lvl1pPr>
          </a:lstStyle>
          <a:p>
            <a:r>
              <a:rPr lang="en-US" dirty="0"/>
              <a:t> </a:t>
            </a:r>
          </a:p>
        </p:txBody>
      </p:sp>
      <p:grpSp>
        <p:nvGrpSpPr>
          <p:cNvPr id="8" name="Group 7">
            <a:extLst>
              <a:ext uri="{FF2B5EF4-FFF2-40B4-BE49-F238E27FC236}">
                <a16:creationId xmlns:a16="http://schemas.microsoft.com/office/drawing/2014/main" id="{1682E78A-A36F-A9AB-B5BC-51FF48A0C477}"/>
              </a:ext>
              <a:ext uri="{C183D7F6-B498-43B3-948B-1728B52AA6E4}">
                <adec:decorative xmlns:adec="http://schemas.microsoft.com/office/drawing/2017/decorative" val="1"/>
              </a:ext>
            </a:extLst>
          </p:cNvPr>
          <p:cNvGrpSpPr/>
          <p:nvPr userDrawn="1"/>
        </p:nvGrpSpPr>
        <p:grpSpPr>
          <a:xfrm>
            <a:off x="3726989" y="1477271"/>
            <a:ext cx="1110600" cy="1110600"/>
            <a:chOff x="5540700" y="2116300"/>
            <a:chExt cx="1110600" cy="1110600"/>
          </a:xfrm>
        </p:grpSpPr>
        <p:sp>
          <p:nvSpPr>
            <p:cNvPr id="10" name="Oval 9">
              <a:extLst>
                <a:ext uri="{FF2B5EF4-FFF2-40B4-BE49-F238E27FC236}">
                  <a16:creationId xmlns:a16="http://schemas.microsoft.com/office/drawing/2014/main" id="{A006B05E-82F0-67C0-F4BE-484546169B05}"/>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B551F7BB-0B62-B45A-97E8-BDBC64276EB2}"/>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13169249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5138" y="567457"/>
            <a:ext cx="11530584" cy="830020"/>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65138" y="1853742"/>
            <a:ext cx="11456988" cy="2062103"/>
          </a:xfrm>
          <a:prstGeom prst="rect">
            <a:avLst/>
          </a:prstGeom>
        </p:spPr>
        <p:txBody>
          <a:bodyPr vert="horz" wrap="square" lIns="0" tIns="91440" rIns="146304" bIns="91440" rtlCol="0">
            <a:spAutoFit/>
          </a:bodyPr>
          <a:lstStyle/>
          <a:p>
            <a:pPr lvl="1"/>
            <a:r>
              <a:rPr lang="en-US"/>
              <a:t>Large: subhead Segoe UI Regular 20/24</a:t>
            </a:r>
          </a:p>
          <a:p>
            <a:pPr lvl="1"/>
            <a:endParaRPr lang="en-US"/>
          </a:p>
          <a:p>
            <a:pPr lvl="2"/>
            <a:r>
              <a:rPr lang="en-US"/>
              <a:t>Medium: paragraph heading Segoe UI </a:t>
            </a:r>
            <a:r>
              <a:rPr lang="en-US" err="1"/>
              <a:t>Semibold</a:t>
            </a:r>
            <a:r>
              <a:rPr lang="en-US"/>
              <a:t> 14/18</a:t>
            </a:r>
          </a:p>
          <a:p>
            <a:pPr lvl="3"/>
            <a:r>
              <a:rPr lang="en-US"/>
              <a:t>Medium: paragraph body copy Segoe UI Regular 14/18</a:t>
            </a:r>
          </a:p>
          <a:p>
            <a:pPr lvl="3"/>
            <a:endParaRPr lang="en-US"/>
          </a:p>
          <a:p>
            <a:pPr lvl="4"/>
            <a:r>
              <a:rPr lang="en-US"/>
              <a:t>Small: caption heading Segoe UI Bold 10/12</a:t>
            </a:r>
          </a:p>
          <a:p>
            <a:pPr lvl="6"/>
            <a:r>
              <a:rPr lang="en-US"/>
              <a:t>Small: caption body copy Segoe UI Regular 10/12</a:t>
            </a:r>
          </a:p>
          <a:p>
            <a:pPr lvl="6"/>
            <a:endParaRPr lang="en-US"/>
          </a:p>
          <a:p>
            <a:pPr lvl="6"/>
            <a:endParaRPr lang="en-US"/>
          </a:p>
        </p:txBody>
      </p:sp>
      <p:sp>
        <p:nvSpPr>
          <p:cNvPr id="6" name="TextBox 5">
            <a:extLst>
              <a:ext uri="{FF2B5EF4-FFF2-40B4-BE49-F238E27FC236}">
                <a16:creationId xmlns:a16="http://schemas.microsoft.com/office/drawing/2014/main" id="{3DFC1871-CFCE-3B3A-64D9-F7F5A4441034}"/>
              </a:ext>
            </a:extLst>
          </p:cNvPr>
          <p:cNvSpPr txBox="1"/>
          <p:nvPr userDrawn="1"/>
        </p:nvSpPr>
        <p:spPr>
          <a:xfrm>
            <a:off x="465138" y="6267044"/>
            <a:ext cx="3794950" cy="447815"/>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1100" dirty="0">
                <a:solidFill>
                  <a:srgbClr val="000000"/>
                </a:solidFill>
              </a:rPr>
              <a:t>© Copyright Microsoft Corporation. All rights reserved.</a:t>
            </a:r>
          </a:p>
        </p:txBody>
      </p:sp>
    </p:spTree>
    <p:extLst>
      <p:ext uri="{BB962C8B-B14F-4D97-AF65-F5344CB8AC3E}">
        <p14:creationId xmlns:p14="http://schemas.microsoft.com/office/powerpoint/2010/main" val="601954581"/>
      </p:ext>
    </p:extLst>
  </p:cSld>
  <p:clrMap bg1="lt1" tx1="dk1" bg2="lt2" tx2="dk2" accent1="accent1" accent2="accent2" accent3="accent3" accent4="accent4" accent5="accent5" accent6="accent6" hlink="hlink" folHlink="folHlink"/>
  <p:sldLayoutIdLst>
    <p:sldLayoutId id="2147484635" r:id="rId1"/>
    <p:sldLayoutId id="2147484636" r:id="rId2"/>
    <p:sldLayoutId id="2147484637" r:id="rId3"/>
    <p:sldLayoutId id="2147484638" r:id="rId4"/>
    <p:sldLayoutId id="2147484639" r:id="rId5"/>
    <p:sldLayoutId id="2147484640" r:id="rId6"/>
    <p:sldLayoutId id="2147484641" r:id="rId7"/>
    <p:sldLayoutId id="2147484642" r:id="rId8"/>
    <p:sldLayoutId id="2147484643" r:id="rId9"/>
  </p:sldLayoutIdLst>
  <p:transition>
    <p:fade/>
  </p:transition>
  <p:hf hdr="0" dt="0"/>
  <p:txStyles>
    <p:titleStyle>
      <a:lvl1pPr algn="l" defTabSz="932742" rtl="0" eaLnBrk="1" latinLnBrk="0" hangingPunct="1">
        <a:lnSpc>
          <a:spcPct val="90000"/>
        </a:lnSpc>
        <a:spcBef>
          <a:spcPct val="0"/>
        </a:spcBef>
        <a:buNone/>
        <a:defRPr lang="en-US" sz="2800" b="0" kern="1200" cap="none" spc="-50" baseline="0" dirty="0" smtClean="0">
          <a:ln w="3175">
            <a:noFill/>
          </a:ln>
          <a:solidFill>
            <a:srgbClr val="000000"/>
          </a:soli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training/modules/intro-to-azure-backup/"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s://learn.microsoft.com/training/modules/protect-virtual-machines-with-azure-backup/"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hyperlink" Target="https://learn.microsoft.com/training/modules/implement-hybrid-backup-recovery-windows-server-iaas/" TargetMode="External"/><Relationship Id="rId4" Type="http://schemas.openxmlformats.org/officeDocument/2006/relationships/hyperlink" Target="https://learn.microsoft.com/training/modules/monitor-protection-of-workloads-in-azure-backup/"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2.sv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28.svg"/><Relationship Id="rId11" Type="http://schemas.openxmlformats.org/officeDocument/2006/relationships/image" Target="../media/image31.png"/><Relationship Id="rId5" Type="http://schemas.openxmlformats.org/officeDocument/2006/relationships/image" Target="../media/image27.png"/><Relationship Id="rId10" Type="http://schemas.openxmlformats.org/officeDocument/2006/relationships/image" Target="../media/image14.svg"/><Relationship Id="rId4" Type="http://schemas.openxmlformats.org/officeDocument/2006/relationships/image" Target="../media/image26.svg"/><Relationship Id="rId9"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1341" y="3340151"/>
            <a:ext cx="5800990" cy="1695272"/>
          </a:xfrm>
        </p:spPr>
        <p:txBody>
          <a:bodyPr/>
          <a:lstStyle/>
          <a:p>
            <a:r>
              <a:rPr lang="en-US" dirty="0"/>
              <a:t>AZ-104T00A</a:t>
            </a:r>
            <a:br>
              <a:rPr lang="en-US" dirty="0"/>
            </a:br>
            <a:r>
              <a:rPr lang="en-US" dirty="0"/>
              <a:t>Administer Data Protection</a:t>
            </a:r>
          </a:p>
        </p:txBody>
      </p:sp>
    </p:spTree>
    <p:extLst>
      <p:ext uri="{BB962C8B-B14F-4D97-AF65-F5344CB8AC3E}">
        <p14:creationId xmlns:p14="http://schemas.microsoft.com/office/powerpoint/2010/main" val="3706563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34C8A-3E3B-4CEE-8154-8D225F079A57}"/>
              </a:ext>
            </a:extLst>
          </p:cNvPr>
          <p:cNvSpPr>
            <a:spLocks noGrp="1"/>
          </p:cNvSpPr>
          <p:nvPr>
            <p:ph type="title"/>
          </p:nvPr>
        </p:nvSpPr>
        <p:spPr/>
        <p:txBody>
          <a:bodyPr/>
          <a:lstStyle/>
          <a:p>
            <a:r>
              <a:rPr lang="en-US" dirty="0"/>
              <a:t>Learning Objectives - Administer Data Protection</a:t>
            </a:r>
          </a:p>
        </p:txBody>
      </p:sp>
      <p:sp>
        <p:nvSpPr>
          <p:cNvPr id="40" name="TextBox 39">
            <a:extLst>
              <a:ext uri="{FF2B5EF4-FFF2-40B4-BE49-F238E27FC236}">
                <a16:creationId xmlns:a16="http://schemas.microsoft.com/office/drawing/2014/main" id="{E8315F74-33B5-4A74-BC98-751D122780D2}"/>
              </a:ext>
            </a:extLst>
          </p:cNvPr>
          <p:cNvSpPr txBox="1"/>
          <p:nvPr/>
        </p:nvSpPr>
        <p:spPr>
          <a:xfrm>
            <a:off x="465138" y="1575005"/>
            <a:ext cx="8562130" cy="1708160"/>
          </a:xfrm>
          <a:prstGeom prst="rect">
            <a:avLst/>
          </a:prstGeom>
          <a:noFill/>
        </p:spPr>
        <p:txBody>
          <a:bodyPr wrap="square" lIns="0" tIns="0" rIns="0" bIns="0" rtlCol="0" anchor="ctr">
            <a:spAutoFit/>
          </a:bodyPr>
          <a:lstStyle/>
          <a:p>
            <a:pPr marL="342900" indent="-342900">
              <a:spcAft>
                <a:spcPts val="600"/>
              </a:spcAft>
              <a:buFont typeface="Arial" panose="020B0604020202020204" pitchFamily="34" charset="0"/>
              <a:buChar char="•"/>
            </a:pPr>
            <a:r>
              <a:rPr lang="en-US" sz="2400" dirty="0"/>
              <a:t>Introduction to Azure Backup</a:t>
            </a:r>
          </a:p>
          <a:p>
            <a:pPr marL="342900" indent="-342900">
              <a:spcAft>
                <a:spcPts val="600"/>
              </a:spcAft>
              <a:buFont typeface="Arial" panose="020B0604020202020204" pitchFamily="34" charset="0"/>
              <a:buChar char="•"/>
            </a:pPr>
            <a:r>
              <a:rPr lang="en-US" sz="2400" dirty="0"/>
              <a:t>Protect your virtual machines by using Azure Backup</a:t>
            </a:r>
          </a:p>
          <a:p>
            <a:pPr marL="342900" indent="-342900">
              <a:spcAft>
                <a:spcPts val="600"/>
              </a:spcAft>
              <a:buFont typeface="Arial" panose="020B0604020202020204" pitchFamily="34" charset="0"/>
              <a:buChar char="•"/>
            </a:pPr>
            <a:r>
              <a:rPr lang="en-US" sz="2400" dirty="0"/>
              <a:t>Lab 10 – Implement Data Protection</a:t>
            </a:r>
          </a:p>
          <a:p>
            <a:pPr marL="342900" indent="-342900">
              <a:spcAft>
                <a:spcPts val="600"/>
              </a:spcAft>
              <a:buFont typeface="Arial" panose="020B0604020202020204" pitchFamily="34" charset="0"/>
              <a:buChar char="•"/>
            </a:pPr>
            <a:endParaRPr lang="en-US" sz="2400" dirty="0"/>
          </a:p>
        </p:txBody>
      </p:sp>
    </p:spTree>
    <p:extLst>
      <p:ext uri="{BB962C8B-B14F-4D97-AF65-F5344CB8AC3E}">
        <p14:creationId xmlns:p14="http://schemas.microsoft.com/office/powerpoint/2010/main" val="186078848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67103-DC41-9527-D2D6-C65264391849}"/>
              </a:ext>
            </a:extLst>
          </p:cNvPr>
          <p:cNvSpPr>
            <a:spLocks noGrp="1"/>
          </p:cNvSpPr>
          <p:nvPr>
            <p:ph type="title"/>
          </p:nvPr>
        </p:nvSpPr>
        <p:spPr/>
        <p:txBody>
          <a:bodyPr/>
          <a:lstStyle/>
          <a:p>
            <a:r>
              <a:rPr lang="en-US" dirty="0"/>
              <a:t>Administer Data Protection whiteboard</a:t>
            </a:r>
          </a:p>
        </p:txBody>
      </p:sp>
      <p:grpSp>
        <p:nvGrpSpPr>
          <p:cNvPr id="24" name="Group 23" descr="Backup items using secure network and backup policies. ">
            <a:extLst>
              <a:ext uri="{FF2B5EF4-FFF2-40B4-BE49-F238E27FC236}">
                <a16:creationId xmlns:a16="http://schemas.microsoft.com/office/drawing/2014/main" id="{D474D875-7B91-A48B-BE3A-27390E8CC39F}"/>
              </a:ext>
            </a:extLst>
          </p:cNvPr>
          <p:cNvGrpSpPr/>
          <p:nvPr/>
        </p:nvGrpSpPr>
        <p:grpSpPr>
          <a:xfrm>
            <a:off x="1869325" y="1143000"/>
            <a:ext cx="8339682" cy="5228742"/>
            <a:chOff x="5569954" y="1261756"/>
            <a:chExt cx="6313713" cy="5268662"/>
          </a:xfrm>
        </p:grpSpPr>
        <p:sp>
          <p:nvSpPr>
            <p:cNvPr id="5" name="TextBox 4">
              <a:extLst>
                <a:ext uri="{FF2B5EF4-FFF2-40B4-BE49-F238E27FC236}">
                  <a16:creationId xmlns:a16="http://schemas.microsoft.com/office/drawing/2014/main" id="{C82E5B49-0BD9-B408-BC77-5B57E8EF4E84}"/>
                </a:ext>
              </a:extLst>
            </p:cNvPr>
            <p:cNvSpPr txBox="1"/>
            <p:nvPr/>
          </p:nvSpPr>
          <p:spPr>
            <a:xfrm>
              <a:off x="5861637" y="2754490"/>
              <a:ext cx="1781624" cy="992917"/>
            </a:xfrm>
            <a:prstGeom prst="rect">
              <a:avLst/>
            </a:prstGeom>
            <a:noFill/>
            <a:ln>
              <a:noFill/>
            </a:ln>
          </p:spPr>
          <p:txBody>
            <a:bodyPr wrap="square" lIns="186521" tIns="149217" rIns="186521" bIns="149217" rtlCol="0">
              <a:spAutoFit/>
            </a:bodyPr>
            <a:lstStyle/>
            <a:p>
              <a:pPr algn="ctr" defTabSz="932597">
                <a:lnSpc>
                  <a:spcPct val="90000"/>
                </a:lnSpc>
                <a:spcAft>
                  <a:spcPts val="612"/>
                </a:spcAft>
              </a:pPr>
              <a:r>
                <a:rPr lang="en-US" sz="1632" dirty="0">
                  <a:gradFill>
                    <a:gsLst>
                      <a:gs pos="2917">
                        <a:srgbClr val="000000"/>
                      </a:gs>
                      <a:gs pos="30000">
                        <a:srgbClr val="000000"/>
                      </a:gs>
                    </a:gsLst>
                    <a:lin ang="5400000" scaled="0"/>
                  </a:gradFill>
                  <a:latin typeface="Segoe UI"/>
                </a:rPr>
                <a:t>Resilient backups (LRS, (RA-) GRS</a:t>
              </a:r>
            </a:p>
          </p:txBody>
        </p:sp>
        <p:sp>
          <p:nvSpPr>
            <p:cNvPr id="6" name="TextBox 5">
              <a:extLst>
                <a:ext uri="{FF2B5EF4-FFF2-40B4-BE49-F238E27FC236}">
                  <a16:creationId xmlns:a16="http://schemas.microsoft.com/office/drawing/2014/main" id="{66E76116-75E2-8322-50B3-80B1D616E7EA}"/>
                </a:ext>
              </a:extLst>
            </p:cNvPr>
            <p:cNvSpPr txBox="1"/>
            <p:nvPr/>
          </p:nvSpPr>
          <p:spPr>
            <a:xfrm>
              <a:off x="7573931" y="2754490"/>
              <a:ext cx="2014958" cy="992917"/>
            </a:xfrm>
            <a:prstGeom prst="rect">
              <a:avLst/>
            </a:prstGeom>
            <a:noFill/>
            <a:ln>
              <a:noFill/>
            </a:ln>
          </p:spPr>
          <p:txBody>
            <a:bodyPr wrap="square" lIns="186521" tIns="149217" rIns="186521" bIns="149217" rtlCol="0">
              <a:spAutoFit/>
            </a:bodyPr>
            <a:lstStyle/>
            <a:p>
              <a:pPr algn="ctr" defTabSz="932597">
                <a:lnSpc>
                  <a:spcPct val="90000"/>
                </a:lnSpc>
                <a:spcAft>
                  <a:spcPts val="612"/>
                </a:spcAft>
              </a:pPr>
              <a:r>
                <a:rPr lang="en-US" sz="1632" dirty="0">
                  <a:gradFill>
                    <a:gsLst>
                      <a:gs pos="2917">
                        <a:srgbClr val="000000"/>
                      </a:gs>
                      <a:gs pos="30000">
                        <a:srgbClr val="000000"/>
                      </a:gs>
                    </a:gsLst>
                    <a:lin ang="5400000" scaled="0"/>
                  </a:gradFill>
                  <a:latin typeface="Segoe UI"/>
                </a:rPr>
                <a:t>Multiple access tiers (snapshots and vaults)</a:t>
              </a:r>
            </a:p>
          </p:txBody>
        </p:sp>
        <p:sp>
          <p:nvSpPr>
            <p:cNvPr id="7" name="TextBox 6" descr="whiteboard diagram editable version">
              <a:extLst>
                <a:ext uri="{FF2B5EF4-FFF2-40B4-BE49-F238E27FC236}">
                  <a16:creationId xmlns:a16="http://schemas.microsoft.com/office/drawing/2014/main" id="{48A0F381-481C-D21F-E1E0-442C0E626F19}"/>
                </a:ext>
              </a:extLst>
            </p:cNvPr>
            <p:cNvSpPr txBox="1"/>
            <p:nvPr/>
          </p:nvSpPr>
          <p:spPr>
            <a:xfrm>
              <a:off x="9667281" y="2754490"/>
              <a:ext cx="2216386" cy="992917"/>
            </a:xfrm>
            <a:prstGeom prst="rect">
              <a:avLst/>
            </a:prstGeom>
            <a:noFill/>
            <a:ln>
              <a:noFill/>
            </a:ln>
          </p:spPr>
          <p:txBody>
            <a:bodyPr wrap="square" lIns="186521" tIns="149217" rIns="186521" bIns="149217" rtlCol="0">
              <a:spAutoFit/>
            </a:bodyPr>
            <a:lstStyle/>
            <a:p>
              <a:pPr defTabSz="932597">
                <a:lnSpc>
                  <a:spcPct val="90000"/>
                </a:lnSpc>
                <a:spcAft>
                  <a:spcPts val="612"/>
                </a:spcAft>
              </a:pPr>
              <a:r>
                <a:rPr lang="en-US" sz="1632" dirty="0">
                  <a:gradFill>
                    <a:gsLst>
                      <a:gs pos="2917">
                        <a:srgbClr val="000000"/>
                      </a:gs>
                      <a:gs pos="30000">
                        <a:srgbClr val="000000"/>
                      </a:gs>
                    </a:gsLst>
                    <a:lin ang="5400000" scaled="0"/>
                  </a:gradFill>
                  <a:latin typeface="Segoe UI"/>
                </a:rPr>
                <a:t>Built-in security (RBAC, encryption, soft-delete)</a:t>
              </a:r>
            </a:p>
          </p:txBody>
        </p:sp>
        <p:sp>
          <p:nvSpPr>
            <p:cNvPr id="8" name="TextBox 7">
              <a:extLst>
                <a:ext uri="{FF2B5EF4-FFF2-40B4-BE49-F238E27FC236}">
                  <a16:creationId xmlns:a16="http://schemas.microsoft.com/office/drawing/2014/main" id="{207BC234-C80E-31D8-6751-5617289A5BC6}"/>
                </a:ext>
              </a:extLst>
            </p:cNvPr>
            <p:cNvSpPr txBox="1"/>
            <p:nvPr/>
          </p:nvSpPr>
          <p:spPr>
            <a:xfrm>
              <a:off x="6104727" y="2090746"/>
              <a:ext cx="5406172" cy="531870"/>
            </a:xfrm>
            <a:prstGeom prst="rect">
              <a:avLst/>
            </a:prstGeom>
            <a:solidFill>
              <a:schemeClr val="bg2">
                <a:lumMod val="95000"/>
              </a:schemeClr>
            </a:solidFill>
            <a:ln>
              <a:solidFill>
                <a:schemeClr val="tx1"/>
              </a:solidFill>
            </a:ln>
          </p:spPr>
          <p:txBody>
            <a:bodyPr wrap="square" lIns="93260" tIns="149217" rIns="93260" bIns="149217" rtlCol="0" anchor="ctr" anchorCtr="0">
              <a:spAutoFit/>
            </a:bodyPr>
            <a:lstStyle/>
            <a:p>
              <a:pPr algn="ctr" defTabSz="932597">
                <a:lnSpc>
                  <a:spcPct val="90000"/>
                </a:lnSpc>
                <a:spcAft>
                  <a:spcPts val="612"/>
                </a:spcAft>
              </a:pPr>
              <a:r>
                <a:rPr lang="en-US" sz="1632" dirty="0">
                  <a:gradFill>
                    <a:gsLst>
                      <a:gs pos="2917">
                        <a:srgbClr val="000000"/>
                      </a:gs>
                      <a:gs pos="30000">
                        <a:srgbClr val="000000"/>
                      </a:gs>
                    </a:gsLst>
                    <a:lin ang="5400000" scaled="0"/>
                  </a:gradFill>
                  <a:latin typeface="Segoe UI"/>
                </a:rPr>
                <a:t>Backup Policies</a:t>
              </a:r>
            </a:p>
          </p:txBody>
        </p:sp>
        <p:sp>
          <p:nvSpPr>
            <p:cNvPr id="9" name="TextBox 8">
              <a:extLst>
                <a:ext uri="{FF2B5EF4-FFF2-40B4-BE49-F238E27FC236}">
                  <a16:creationId xmlns:a16="http://schemas.microsoft.com/office/drawing/2014/main" id="{D2570F24-EBD9-83CF-DBAB-692B60336983}"/>
                </a:ext>
              </a:extLst>
            </p:cNvPr>
            <p:cNvSpPr txBox="1"/>
            <p:nvPr/>
          </p:nvSpPr>
          <p:spPr>
            <a:xfrm>
              <a:off x="8208750" y="4685051"/>
              <a:ext cx="1723093" cy="753395"/>
            </a:xfrm>
            <a:prstGeom prst="rect">
              <a:avLst/>
            </a:prstGeom>
            <a:noFill/>
            <a:ln>
              <a:noFill/>
            </a:ln>
          </p:spPr>
          <p:txBody>
            <a:bodyPr wrap="square" lIns="186521" tIns="149217" rIns="186521" bIns="149217" rtlCol="0">
              <a:spAutoFit/>
            </a:bodyPr>
            <a:lstStyle/>
            <a:p>
              <a:pPr algn="ctr" defTabSz="932597">
                <a:lnSpc>
                  <a:spcPct val="90000"/>
                </a:lnSpc>
                <a:spcAft>
                  <a:spcPts val="612"/>
                </a:spcAft>
              </a:pPr>
              <a:r>
                <a:rPr lang="en-US" sz="1632" dirty="0">
                  <a:gradFill>
                    <a:gsLst>
                      <a:gs pos="2917">
                        <a:srgbClr val="000000"/>
                      </a:gs>
                      <a:gs pos="30000">
                        <a:srgbClr val="000000"/>
                      </a:gs>
                    </a:gsLst>
                    <a:lin ang="5400000" scaled="0"/>
                  </a:gradFill>
                  <a:latin typeface="Segoe UI"/>
                </a:rPr>
                <a:t>Virtual machines</a:t>
              </a:r>
            </a:p>
          </p:txBody>
        </p:sp>
        <p:sp>
          <p:nvSpPr>
            <p:cNvPr id="10" name="TextBox 9">
              <a:extLst>
                <a:ext uri="{FF2B5EF4-FFF2-40B4-BE49-F238E27FC236}">
                  <a16:creationId xmlns:a16="http://schemas.microsoft.com/office/drawing/2014/main" id="{C838BC3E-E1FC-0A2F-6EAB-A8B588D1323F}"/>
                </a:ext>
              </a:extLst>
            </p:cNvPr>
            <p:cNvSpPr txBox="1"/>
            <p:nvPr/>
          </p:nvSpPr>
          <p:spPr>
            <a:xfrm>
              <a:off x="9524469" y="5318045"/>
              <a:ext cx="1412518" cy="992917"/>
            </a:xfrm>
            <a:prstGeom prst="rect">
              <a:avLst/>
            </a:prstGeom>
            <a:noFill/>
            <a:ln>
              <a:noFill/>
            </a:ln>
          </p:spPr>
          <p:txBody>
            <a:bodyPr wrap="square" lIns="186521" tIns="149217" rIns="186521" bIns="149217" rtlCol="0">
              <a:spAutoFit/>
            </a:bodyPr>
            <a:lstStyle/>
            <a:p>
              <a:pPr algn="ctr" defTabSz="932597">
                <a:lnSpc>
                  <a:spcPct val="90000"/>
                </a:lnSpc>
                <a:spcAft>
                  <a:spcPts val="612"/>
                </a:spcAft>
              </a:pPr>
              <a:r>
                <a:rPr lang="en-US" sz="1632" dirty="0">
                  <a:gradFill>
                    <a:gsLst>
                      <a:gs pos="2917">
                        <a:srgbClr val="000000"/>
                      </a:gs>
                      <a:gs pos="30000">
                        <a:srgbClr val="000000"/>
                      </a:gs>
                    </a:gsLst>
                    <a:lin ang="5400000" scaled="0"/>
                  </a:gradFill>
                  <a:latin typeface="Segoe UI"/>
                </a:rPr>
                <a:t>SAP Hana in Azure VM</a:t>
              </a:r>
            </a:p>
          </p:txBody>
        </p:sp>
        <p:sp>
          <p:nvSpPr>
            <p:cNvPr id="11" name="TextBox 10">
              <a:extLst>
                <a:ext uri="{FF2B5EF4-FFF2-40B4-BE49-F238E27FC236}">
                  <a16:creationId xmlns:a16="http://schemas.microsoft.com/office/drawing/2014/main" id="{9338FFF3-A885-CBF5-C703-199777C49913}"/>
                </a:ext>
              </a:extLst>
            </p:cNvPr>
            <p:cNvSpPr txBox="1"/>
            <p:nvPr/>
          </p:nvSpPr>
          <p:spPr>
            <a:xfrm>
              <a:off x="7415253" y="5306979"/>
              <a:ext cx="1796578" cy="1223439"/>
            </a:xfrm>
            <a:prstGeom prst="rect">
              <a:avLst/>
            </a:prstGeom>
            <a:noFill/>
            <a:ln>
              <a:noFill/>
            </a:ln>
          </p:spPr>
          <p:txBody>
            <a:bodyPr wrap="square" lIns="186521" tIns="149217" rIns="186521" bIns="149217" rtlCol="0">
              <a:spAutoFit/>
            </a:bodyPr>
            <a:lstStyle/>
            <a:p>
              <a:pPr algn="ctr" defTabSz="932597">
                <a:lnSpc>
                  <a:spcPct val="90000"/>
                </a:lnSpc>
                <a:spcAft>
                  <a:spcPts val="612"/>
                </a:spcAft>
              </a:pPr>
              <a:r>
                <a:rPr lang="en-US" sz="1632" dirty="0">
                  <a:gradFill>
                    <a:gsLst>
                      <a:gs pos="2917">
                        <a:srgbClr val="000000"/>
                      </a:gs>
                      <a:gs pos="30000">
                        <a:srgbClr val="000000"/>
                      </a:gs>
                    </a:gsLst>
                    <a:lin ang="5400000" scaled="0"/>
                  </a:gradFill>
                  <a:latin typeface="Segoe UI"/>
                </a:rPr>
                <a:t>Azure Database for PostgreSQL servers</a:t>
              </a:r>
            </a:p>
          </p:txBody>
        </p:sp>
        <p:sp>
          <p:nvSpPr>
            <p:cNvPr id="12" name="TextBox 11">
              <a:extLst>
                <a:ext uri="{FF2B5EF4-FFF2-40B4-BE49-F238E27FC236}">
                  <a16:creationId xmlns:a16="http://schemas.microsoft.com/office/drawing/2014/main" id="{48B1DEFE-2977-92BE-FF86-E0B72524E6D9}"/>
                </a:ext>
              </a:extLst>
            </p:cNvPr>
            <p:cNvSpPr txBox="1"/>
            <p:nvPr/>
          </p:nvSpPr>
          <p:spPr>
            <a:xfrm>
              <a:off x="5569954" y="5334429"/>
              <a:ext cx="1341666" cy="992917"/>
            </a:xfrm>
            <a:prstGeom prst="rect">
              <a:avLst/>
            </a:prstGeom>
            <a:noFill/>
            <a:ln>
              <a:noFill/>
            </a:ln>
          </p:spPr>
          <p:txBody>
            <a:bodyPr wrap="square" lIns="186521" tIns="149217" rIns="186521" bIns="149217" rtlCol="0">
              <a:spAutoFit/>
            </a:bodyPr>
            <a:lstStyle/>
            <a:p>
              <a:pPr algn="ctr" defTabSz="932597">
                <a:lnSpc>
                  <a:spcPct val="90000"/>
                </a:lnSpc>
                <a:spcAft>
                  <a:spcPts val="612"/>
                </a:spcAft>
              </a:pPr>
              <a:r>
                <a:rPr lang="en-US" sz="1632" dirty="0">
                  <a:gradFill>
                    <a:gsLst>
                      <a:gs pos="2917">
                        <a:srgbClr val="000000"/>
                      </a:gs>
                      <a:gs pos="30000">
                        <a:srgbClr val="000000"/>
                      </a:gs>
                    </a:gsLst>
                    <a:lin ang="5400000" scaled="0"/>
                  </a:gradFill>
                  <a:latin typeface="Segoe UI"/>
                </a:rPr>
                <a:t>On-premises servers</a:t>
              </a:r>
            </a:p>
          </p:txBody>
        </p:sp>
        <p:sp>
          <p:nvSpPr>
            <p:cNvPr id="13" name="TextBox 12">
              <a:extLst>
                <a:ext uri="{FF2B5EF4-FFF2-40B4-BE49-F238E27FC236}">
                  <a16:creationId xmlns:a16="http://schemas.microsoft.com/office/drawing/2014/main" id="{696B624B-36EC-8AA7-0733-BA63238C452B}"/>
                </a:ext>
              </a:extLst>
            </p:cNvPr>
            <p:cNvSpPr txBox="1"/>
            <p:nvPr/>
          </p:nvSpPr>
          <p:spPr>
            <a:xfrm>
              <a:off x="6434835" y="4722695"/>
              <a:ext cx="1497825" cy="1223439"/>
            </a:xfrm>
            <a:prstGeom prst="rect">
              <a:avLst/>
            </a:prstGeom>
            <a:noFill/>
            <a:ln>
              <a:noFill/>
            </a:ln>
          </p:spPr>
          <p:txBody>
            <a:bodyPr wrap="square" lIns="186521" tIns="149217" rIns="186521" bIns="149217" rtlCol="0">
              <a:spAutoFit/>
            </a:bodyPr>
            <a:lstStyle/>
            <a:p>
              <a:pPr algn="ctr" defTabSz="932597">
                <a:lnSpc>
                  <a:spcPct val="90000"/>
                </a:lnSpc>
                <a:spcAft>
                  <a:spcPts val="612"/>
                </a:spcAft>
              </a:pPr>
              <a:r>
                <a:rPr lang="en-US" sz="1632" dirty="0">
                  <a:gradFill>
                    <a:gsLst>
                      <a:gs pos="2917">
                        <a:srgbClr val="000000"/>
                      </a:gs>
                      <a:gs pos="30000">
                        <a:srgbClr val="000000"/>
                      </a:gs>
                    </a:gsLst>
                    <a:lin ang="5400000" scaled="0"/>
                  </a:gradFill>
                  <a:latin typeface="Segoe UI"/>
                </a:rPr>
                <a:t>Azure storage (Files, Disks, and Blobs)</a:t>
              </a:r>
            </a:p>
          </p:txBody>
        </p:sp>
        <p:cxnSp>
          <p:nvCxnSpPr>
            <p:cNvPr id="14" name="Straight Arrow Connector 13">
              <a:extLst>
                <a:ext uri="{FF2B5EF4-FFF2-40B4-BE49-F238E27FC236}">
                  <a16:creationId xmlns:a16="http://schemas.microsoft.com/office/drawing/2014/main" id="{9755FAEF-DC1E-D586-06B8-907B24566D25}"/>
                </a:ext>
              </a:extLst>
            </p:cNvPr>
            <p:cNvCxnSpPr>
              <a:cxnSpLocks/>
              <a:stCxn id="12" idx="0"/>
            </p:cNvCxnSpPr>
            <p:nvPr/>
          </p:nvCxnSpPr>
          <p:spPr>
            <a:xfrm flipV="1">
              <a:off x="6240787" y="4427802"/>
              <a:ext cx="0" cy="906626"/>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5B48CD6-9FCA-7723-8579-426B9AA1E940}"/>
                </a:ext>
              </a:extLst>
            </p:cNvPr>
            <p:cNvCxnSpPr>
              <a:cxnSpLocks/>
            </p:cNvCxnSpPr>
            <p:nvPr/>
          </p:nvCxnSpPr>
          <p:spPr>
            <a:xfrm flipV="1">
              <a:off x="7175728" y="4375652"/>
              <a:ext cx="0" cy="395903"/>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03ADACC-1877-7423-9DF1-DA1DFCB0B4E2}"/>
                </a:ext>
              </a:extLst>
            </p:cNvPr>
            <p:cNvCxnSpPr>
              <a:cxnSpLocks/>
              <a:stCxn id="11" idx="0"/>
            </p:cNvCxnSpPr>
            <p:nvPr/>
          </p:nvCxnSpPr>
          <p:spPr>
            <a:xfrm flipV="1">
              <a:off x="8313542" y="4375652"/>
              <a:ext cx="0" cy="931326"/>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E42E13D-2A75-A721-22BF-5B85FC199F0A}"/>
                </a:ext>
              </a:extLst>
            </p:cNvPr>
            <p:cNvCxnSpPr>
              <a:cxnSpLocks/>
              <a:stCxn id="9" idx="0"/>
            </p:cNvCxnSpPr>
            <p:nvPr/>
          </p:nvCxnSpPr>
          <p:spPr>
            <a:xfrm flipV="1">
              <a:off x="9070297" y="4388108"/>
              <a:ext cx="0" cy="296943"/>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8A407A3-F2DD-8863-A103-91589A1F692E}"/>
                </a:ext>
              </a:extLst>
            </p:cNvPr>
            <p:cNvCxnSpPr>
              <a:cxnSpLocks/>
              <a:stCxn id="10" idx="0"/>
            </p:cNvCxnSpPr>
            <p:nvPr/>
          </p:nvCxnSpPr>
          <p:spPr>
            <a:xfrm flipV="1">
              <a:off x="10230729" y="4375652"/>
              <a:ext cx="0" cy="942392"/>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966057BA-662F-EA93-5A41-9FCA5B8378A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80452" y="1261756"/>
              <a:ext cx="757177" cy="845630"/>
            </a:xfrm>
            <a:prstGeom prst="rect">
              <a:avLst/>
            </a:prstGeom>
          </p:spPr>
        </p:pic>
        <p:sp>
          <p:nvSpPr>
            <p:cNvPr id="20" name="Callout: Up Arrow 19">
              <a:extLst>
                <a:ext uri="{FF2B5EF4-FFF2-40B4-BE49-F238E27FC236}">
                  <a16:creationId xmlns:a16="http://schemas.microsoft.com/office/drawing/2014/main" id="{15138AEC-5CCE-C645-237D-53B229C4D936}"/>
                </a:ext>
              </a:extLst>
            </p:cNvPr>
            <p:cNvSpPr/>
            <p:nvPr/>
          </p:nvSpPr>
          <p:spPr bwMode="auto">
            <a:xfrm>
              <a:off x="6094858" y="3673106"/>
              <a:ext cx="5406172" cy="618754"/>
            </a:xfrm>
            <a:prstGeom prst="upArrowCallout">
              <a:avLst/>
            </a:prstGeom>
            <a:solidFill>
              <a:schemeClr val="bg2">
                <a:lumMod val="95000"/>
              </a:schemeClr>
            </a:solidFill>
            <a:ln>
              <a:solidFill>
                <a:schemeClr val="tx1">
                  <a:lumMod val="85000"/>
                  <a:lumOff val="1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r>
                <a:rPr lang="en-US" sz="1632" dirty="0">
                  <a:gradFill>
                    <a:gsLst>
                      <a:gs pos="2917">
                        <a:srgbClr val="000000"/>
                      </a:gs>
                      <a:gs pos="30000">
                        <a:srgbClr val="000000"/>
                      </a:gs>
                    </a:gsLst>
                    <a:lin ang="5400000" scaled="0"/>
                  </a:gradFill>
                  <a:latin typeface="Segoe UI"/>
                </a:rPr>
                <a:t>HTTPS, Secure Azure Networks (NSG and Firewall)</a:t>
              </a:r>
            </a:p>
            <a:p>
              <a:pPr algn="ctr" defTabSz="951028" fontAlgn="base">
                <a:lnSpc>
                  <a:spcPct val="90000"/>
                </a:lnSpc>
                <a:spcBef>
                  <a:spcPct val="0"/>
                </a:spcBef>
                <a:spcAft>
                  <a:spcPct val="0"/>
                </a:spcAft>
              </a:pPr>
              <a:endParaRPr lang="en-US" sz="1632"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E9C4F45D-7E3A-6DC2-4FD0-AA1C329A2441}"/>
                </a:ext>
              </a:extLst>
            </p:cNvPr>
            <p:cNvSpPr txBox="1"/>
            <p:nvPr/>
          </p:nvSpPr>
          <p:spPr>
            <a:xfrm>
              <a:off x="10597834" y="4744758"/>
              <a:ext cx="1100963" cy="544380"/>
            </a:xfrm>
            <a:prstGeom prst="rect">
              <a:avLst/>
            </a:prstGeom>
            <a:noFill/>
          </p:spPr>
          <p:txBody>
            <a:bodyPr wrap="square">
              <a:spAutoFit/>
            </a:bodyPr>
            <a:lstStyle/>
            <a:p>
              <a:pPr algn="ctr" defTabSz="932597">
                <a:lnSpc>
                  <a:spcPct val="90000"/>
                </a:lnSpc>
                <a:spcAft>
                  <a:spcPts val="612"/>
                </a:spcAft>
              </a:pPr>
              <a:r>
                <a:rPr lang="en-US" sz="1632" dirty="0">
                  <a:gradFill>
                    <a:gsLst>
                      <a:gs pos="2917">
                        <a:srgbClr val="000000"/>
                      </a:gs>
                      <a:gs pos="30000">
                        <a:srgbClr val="000000"/>
                      </a:gs>
                    </a:gsLst>
                    <a:lin ang="5400000" scaled="0"/>
                  </a:gradFill>
                  <a:latin typeface="Segoe UI"/>
                </a:rPr>
                <a:t>SQL in Azure VM</a:t>
              </a:r>
            </a:p>
          </p:txBody>
        </p:sp>
        <p:cxnSp>
          <p:nvCxnSpPr>
            <p:cNvPr id="23" name="Straight Arrow Connector 22">
              <a:extLst>
                <a:ext uri="{FF2B5EF4-FFF2-40B4-BE49-F238E27FC236}">
                  <a16:creationId xmlns:a16="http://schemas.microsoft.com/office/drawing/2014/main" id="{D3C99AED-B546-4029-1916-250B7E8A9097}"/>
                </a:ext>
              </a:extLst>
            </p:cNvPr>
            <p:cNvCxnSpPr>
              <a:cxnSpLocks/>
            </p:cNvCxnSpPr>
            <p:nvPr/>
          </p:nvCxnSpPr>
          <p:spPr>
            <a:xfrm flipV="1">
              <a:off x="11148316" y="4375652"/>
              <a:ext cx="0" cy="296943"/>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8194586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3232160"/>
            <a:ext cx="6472474" cy="1130181"/>
          </a:xfrm>
        </p:spPr>
        <p:txBody>
          <a:bodyPr/>
          <a:lstStyle/>
          <a:p>
            <a:r>
              <a:rPr lang="en-US" dirty="0"/>
              <a:t>Introduction to Azure Backup</a:t>
            </a:r>
          </a:p>
        </p:txBody>
      </p:sp>
    </p:spTree>
    <p:extLst>
      <p:ext uri="{BB962C8B-B14F-4D97-AF65-F5344CB8AC3E}">
        <p14:creationId xmlns:p14="http://schemas.microsoft.com/office/powerpoint/2010/main" val="2572915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34C8A-3E3B-4CEE-8154-8D225F079A57}"/>
              </a:ext>
            </a:extLst>
          </p:cNvPr>
          <p:cNvSpPr>
            <a:spLocks noGrp="1"/>
          </p:cNvSpPr>
          <p:nvPr>
            <p:ph type="title"/>
          </p:nvPr>
        </p:nvSpPr>
        <p:spPr/>
        <p:txBody>
          <a:bodyPr/>
          <a:lstStyle/>
          <a:p>
            <a:pPr>
              <a:lnSpc>
                <a:spcPct val="100000"/>
              </a:lnSpc>
            </a:pPr>
            <a:r>
              <a:rPr lang="en-US" spc="0" dirty="0">
                <a:solidFill>
                  <a:schemeClr val="tx1"/>
                </a:solidFill>
              </a:rPr>
              <a:t>Learning Objectives – Introduction to Azure Backup</a:t>
            </a:r>
          </a:p>
        </p:txBody>
      </p:sp>
      <p:sp>
        <p:nvSpPr>
          <p:cNvPr id="72" name="Text Placeholder 2">
            <a:extLst>
              <a:ext uri="{FF2B5EF4-FFF2-40B4-BE49-F238E27FC236}">
                <a16:creationId xmlns:a16="http://schemas.microsoft.com/office/drawing/2014/main" id="{277FE40F-C039-454A-BB31-DE97AC12AF54}"/>
              </a:ext>
            </a:extLst>
          </p:cNvPr>
          <p:cNvSpPr txBox="1">
            <a:spLocks/>
          </p:cNvSpPr>
          <p:nvPr/>
        </p:nvSpPr>
        <p:spPr>
          <a:xfrm>
            <a:off x="477332" y="1568381"/>
            <a:ext cx="5508303" cy="3530743"/>
          </a:xfrm>
          <a:prstGeom prst="rect">
            <a:avLst/>
          </a:prstGeom>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spcAft>
                <a:spcPts val="600"/>
              </a:spcAft>
              <a:buFont typeface="Arial" panose="020B0604020202020204" pitchFamily="34" charset="0"/>
              <a:buChar char="•"/>
            </a:pPr>
            <a:r>
              <a:rPr lang="en-US" sz="2000" spc="0" dirty="0">
                <a:solidFill>
                  <a:schemeClr val="tx1"/>
                </a:solidFill>
                <a:latin typeface="+mn-lt"/>
              </a:rPr>
              <a:t>What is Azure Backup?</a:t>
            </a:r>
          </a:p>
          <a:p>
            <a:pPr marL="342900" indent="-342900">
              <a:spcAft>
                <a:spcPts val="600"/>
              </a:spcAft>
              <a:buFont typeface="Arial" panose="020B0604020202020204" pitchFamily="34" charset="0"/>
              <a:buChar char="•"/>
            </a:pPr>
            <a:r>
              <a:rPr lang="en-US" sz="2000" spc="0" dirty="0">
                <a:solidFill>
                  <a:schemeClr val="tx1"/>
                </a:solidFill>
                <a:latin typeface="+mn-lt"/>
              </a:rPr>
              <a:t>How Azure Backup works</a:t>
            </a:r>
          </a:p>
          <a:p>
            <a:pPr marL="342900" indent="-342900">
              <a:spcAft>
                <a:spcPts val="600"/>
              </a:spcAft>
              <a:buFont typeface="Arial" panose="020B0604020202020204" pitchFamily="34" charset="0"/>
              <a:buChar char="•"/>
            </a:pPr>
            <a:r>
              <a:rPr lang="en-US" sz="2000" spc="0" dirty="0">
                <a:solidFill>
                  <a:schemeClr val="tx1"/>
                </a:solidFill>
                <a:latin typeface="+mn-lt"/>
              </a:rPr>
              <a:t>Use the Azure Business Continuity Center</a:t>
            </a:r>
          </a:p>
          <a:p>
            <a:pPr marL="342900" indent="-342900">
              <a:spcAft>
                <a:spcPts val="600"/>
              </a:spcAft>
              <a:buFont typeface="Arial" panose="020B0604020202020204" pitchFamily="34" charset="0"/>
              <a:buChar char="•"/>
            </a:pPr>
            <a:r>
              <a:rPr lang="en-US" sz="2000" spc="0" dirty="0">
                <a:solidFill>
                  <a:schemeClr val="tx1"/>
                </a:solidFill>
                <a:latin typeface="+mn-lt"/>
              </a:rPr>
              <a:t>Demonstration – Backup Azure File Shares</a:t>
            </a:r>
          </a:p>
          <a:p>
            <a:pPr marL="342900" indent="-342900">
              <a:spcAft>
                <a:spcPts val="600"/>
              </a:spcAft>
              <a:buFont typeface="Arial" panose="020B0604020202020204" pitchFamily="34" charset="0"/>
              <a:buChar char="•"/>
            </a:pPr>
            <a:r>
              <a:rPr lang="en-US" sz="2000" spc="0" dirty="0">
                <a:solidFill>
                  <a:schemeClr val="tx1"/>
                </a:solidFill>
                <a:latin typeface="+mn-lt"/>
              </a:rPr>
              <a:t>Learning Recap</a:t>
            </a:r>
          </a:p>
        </p:txBody>
      </p:sp>
      <p:sp>
        <p:nvSpPr>
          <p:cNvPr id="4" name="TextBox 3">
            <a:extLst>
              <a:ext uri="{FF2B5EF4-FFF2-40B4-BE49-F238E27FC236}">
                <a16:creationId xmlns:a16="http://schemas.microsoft.com/office/drawing/2014/main" id="{863FE9BD-898F-59AC-6FFF-812E9035EA3F}"/>
              </a:ext>
            </a:extLst>
          </p:cNvPr>
          <p:cNvSpPr txBox="1"/>
          <p:nvPr/>
        </p:nvSpPr>
        <p:spPr>
          <a:xfrm>
            <a:off x="6450840" y="1848730"/>
            <a:ext cx="4761702" cy="2339102"/>
          </a:xfrm>
          <a:prstGeom prst="rect">
            <a:avLst/>
          </a:prstGeom>
          <a:noFill/>
        </p:spPr>
        <p:txBody>
          <a:bodyPr wrap="square">
            <a:spAutoFit/>
          </a:bodyPr>
          <a:lstStyle/>
          <a:p>
            <a:pPr algn="l"/>
            <a:r>
              <a:rPr lang="en-US" kern="0" dirty="0">
                <a:solidFill>
                  <a:srgbClr val="243A5E"/>
                </a:solidFill>
              </a:rPr>
              <a:t>Monitor and maintain Azure resources (10–15%): Implement backup and recovery</a:t>
            </a:r>
          </a:p>
          <a:p>
            <a:pPr marL="173038" marR="0" lvl="0" indent="-173038"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Create a Recovery Services vault</a:t>
            </a:r>
          </a:p>
          <a:p>
            <a:pPr marL="173038" marR="0" lvl="0" indent="-173038"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Create an Azure Backup vault</a:t>
            </a:r>
          </a:p>
          <a:p>
            <a:pPr marL="173038" marR="0" lvl="0" indent="-173038"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Create and configure a backup policy</a:t>
            </a:r>
          </a:p>
          <a:p>
            <a:pPr marL="173038" marR="0" lvl="0" indent="-173038"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Configure and interpret reports and alerts for backups</a:t>
            </a:r>
          </a:p>
        </p:txBody>
      </p:sp>
    </p:spTree>
    <p:extLst>
      <p:ext uri="{BB962C8B-B14F-4D97-AF65-F5344CB8AC3E}">
        <p14:creationId xmlns:p14="http://schemas.microsoft.com/office/powerpoint/2010/main" val="303540693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045668-DE74-0CE8-FD9D-77A2D914666D}"/>
              </a:ext>
            </a:extLst>
          </p:cNvPr>
          <p:cNvSpPr>
            <a:spLocks noGrp="1"/>
          </p:cNvSpPr>
          <p:nvPr>
            <p:ph type="title"/>
          </p:nvPr>
        </p:nvSpPr>
        <p:spPr/>
        <p:txBody>
          <a:bodyPr/>
          <a:lstStyle/>
          <a:p>
            <a:r>
              <a:rPr lang="en-US" dirty="0"/>
              <a:t>What is Azure Backup?</a:t>
            </a:r>
          </a:p>
        </p:txBody>
      </p:sp>
      <p:sp>
        <p:nvSpPr>
          <p:cNvPr id="37" name="TextBox 36">
            <a:extLst>
              <a:ext uri="{FF2B5EF4-FFF2-40B4-BE49-F238E27FC236}">
                <a16:creationId xmlns:a16="http://schemas.microsoft.com/office/drawing/2014/main" id="{7EDE3421-5F28-2799-5538-C3F36A466AC8}"/>
              </a:ext>
            </a:extLst>
          </p:cNvPr>
          <p:cNvSpPr txBox="1"/>
          <p:nvPr/>
        </p:nvSpPr>
        <p:spPr>
          <a:xfrm>
            <a:off x="559605" y="1770955"/>
            <a:ext cx="2051904" cy="369332"/>
          </a:xfrm>
          <a:prstGeom prst="rect">
            <a:avLst/>
          </a:prstGeom>
          <a:noFill/>
        </p:spPr>
        <p:txBody>
          <a:bodyPr wrap="square">
            <a:spAutoFit/>
          </a:bodyPr>
          <a:lstStyle/>
          <a:p>
            <a:r>
              <a:rPr lang="en-US" b="0" i="0" u="sng" dirty="0">
                <a:solidFill>
                  <a:srgbClr val="161616"/>
                </a:solidFill>
                <a:effectLst/>
                <a:highlight>
                  <a:srgbClr val="F2F2F2"/>
                </a:highlight>
                <a:latin typeface="Segoe UI" panose="020B0502040204020203" pitchFamily="34" charset="0"/>
              </a:rPr>
              <a:t>Backup agents</a:t>
            </a:r>
            <a:endParaRPr lang="en-US" u="sng" dirty="0">
              <a:highlight>
                <a:srgbClr val="F2F2F2"/>
              </a:highlight>
            </a:endParaRPr>
          </a:p>
        </p:txBody>
      </p:sp>
      <p:grpSp>
        <p:nvGrpSpPr>
          <p:cNvPr id="28" name="Group 27" descr="Image of the Azure Backup Features.">
            <a:extLst>
              <a:ext uri="{FF2B5EF4-FFF2-40B4-BE49-F238E27FC236}">
                <a16:creationId xmlns:a16="http://schemas.microsoft.com/office/drawing/2014/main" id="{C4E4E9DE-4CEE-E8A4-D1B1-99F339A53C9B}"/>
              </a:ext>
            </a:extLst>
          </p:cNvPr>
          <p:cNvGrpSpPr/>
          <p:nvPr/>
        </p:nvGrpSpPr>
        <p:grpSpPr>
          <a:xfrm>
            <a:off x="2476982" y="1397477"/>
            <a:ext cx="6794340" cy="4630799"/>
            <a:chOff x="1666754" y="1635765"/>
            <a:chExt cx="6794340" cy="5112275"/>
          </a:xfrm>
        </p:grpSpPr>
        <p:sp>
          <p:nvSpPr>
            <p:cNvPr id="27" name="Rectangle 26">
              <a:extLst>
                <a:ext uri="{FF2B5EF4-FFF2-40B4-BE49-F238E27FC236}">
                  <a16:creationId xmlns:a16="http://schemas.microsoft.com/office/drawing/2014/main" id="{9345E834-0511-9938-AA80-792BEB3DF2E2}"/>
                </a:ext>
              </a:extLst>
            </p:cNvPr>
            <p:cNvSpPr/>
            <p:nvPr/>
          </p:nvSpPr>
          <p:spPr bwMode="auto">
            <a:xfrm>
              <a:off x="1666754" y="1635765"/>
              <a:ext cx="6794340" cy="5112275"/>
            </a:xfrm>
            <a:prstGeom prst="rect">
              <a:avLst/>
            </a:prstGeom>
            <a:noFill/>
            <a:ln w="6350">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EF6EB578-6775-6A63-6A54-CD8A47359BF2}"/>
                </a:ext>
              </a:extLst>
            </p:cNvPr>
            <p:cNvSpPr/>
            <p:nvPr/>
          </p:nvSpPr>
          <p:spPr bwMode="auto">
            <a:xfrm>
              <a:off x="2233915" y="2577894"/>
              <a:ext cx="5486400" cy="2112688"/>
            </a:xfrm>
            <a:prstGeom prst="rect">
              <a:avLst/>
            </a:prstGeom>
            <a:noFill/>
            <a:ln w="6350">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 name="Graphic 7">
              <a:extLst>
                <a:ext uri="{FF2B5EF4-FFF2-40B4-BE49-F238E27FC236}">
                  <a16:creationId xmlns:a16="http://schemas.microsoft.com/office/drawing/2014/main" id="{38A5C970-A0A5-D95C-D3E6-F265DD84EC0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57006" y="1728069"/>
              <a:ext cx="830020" cy="830020"/>
            </a:xfrm>
            <a:prstGeom prst="rect">
              <a:avLst/>
            </a:prstGeom>
          </p:spPr>
        </p:pic>
        <p:sp>
          <p:nvSpPr>
            <p:cNvPr id="9" name="Rectangle: Rounded Corners 8">
              <a:extLst>
                <a:ext uri="{FF2B5EF4-FFF2-40B4-BE49-F238E27FC236}">
                  <a16:creationId xmlns:a16="http://schemas.microsoft.com/office/drawing/2014/main" id="{C4A09DA6-852F-70A6-B29B-5B9CD7F75A91}"/>
                </a:ext>
              </a:extLst>
            </p:cNvPr>
            <p:cNvSpPr/>
            <p:nvPr/>
          </p:nvSpPr>
          <p:spPr bwMode="auto">
            <a:xfrm>
              <a:off x="2368553" y="2757610"/>
              <a:ext cx="1954925" cy="754062"/>
            </a:xfrm>
            <a:prstGeom prst="roundRect">
              <a:avLst/>
            </a:prstGeom>
            <a:solidFill>
              <a:schemeClr val="accent1"/>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dirty="0">
                  <a:solidFill>
                    <a:schemeClr val="tx1"/>
                  </a:solidFill>
                  <a:ea typeface="Segoe UI" pitchFamily="34" charset="0"/>
                  <a:cs typeface="Segoe UI" pitchFamily="34" charset="0"/>
                </a:rPr>
                <a:t>Recovery Point Management</a:t>
              </a:r>
            </a:p>
          </p:txBody>
        </p:sp>
        <p:sp>
          <p:nvSpPr>
            <p:cNvPr id="10" name="Rectangle: Rounded Corners 9">
              <a:extLst>
                <a:ext uri="{FF2B5EF4-FFF2-40B4-BE49-F238E27FC236}">
                  <a16:creationId xmlns:a16="http://schemas.microsoft.com/office/drawing/2014/main" id="{5CD84854-97B0-7DE2-EEF6-6CBCBB68A4E0}"/>
                </a:ext>
              </a:extLst>
            </p:cNvPr>
            <p:cNvSpPr/>
            <p:nvPr/>
          </p:nvSpPr>
          <p:spPr bwMode="auto">
            <a:xfrm>
              <a:off x="2394554" y="3691388"/>
              <a:ext cx="1954925" cy="754062"/>
            </a:xfrm>
            <a:prstGeom prst="roundRect">
              <a:avLst/>
            </a:prstGeom>
            <a:solidFill>
              <a:schemeClr val="accent1"/>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dirty="0">
                  <a:solidFill>
                    <a:schemeClr val="tx1"/>
                  </a:solidFill>
                  <a:ea typeface="Segoe UI" pitchFamily="34" charset="0"/>
                  <a:cs typeface="Segoe UI" pitchFamily="34" charset="0"/>
                </a:rPr>
                <a:t>Storage Management</a:t>
              </a:r>
            </a:p>
          </p:txBody>
        </p:sp>
        <p:sp>
          <p:nvSpPr>
            <p:cNvPr id="11" name="Rectangle: Rounded Corners 10">
              <a:extLst>
                <a:ext uri="{FF2B5EF4-FFF2-40B4-BE49-F238E27FC236}">
                  <a16:creationId xmlns:a16="http://schemas.microsoft.com/office/drawing/2014/main" id="{67499505-8DFA-36DC-D59A-A2D21A963A2D}"/>
                </a:ext>
              </a:extLst>
            </p:cNvPr>
            <p:cNvSpPr/>
            <p:nvPr/>
          </p:nvSpPr>
          <p:spPr bwMode="auto">
            <a:xfrm>
              <a:off x="5495380" y="2757610"/>
              <a:ext cx="1954925" cy="754062"/>
            </a:xfrm>
            <a:prstGeom prst="roundRect">
              <a:avLst/>
            </a:prstGeom>
            <a:solidFill>
              <a:schemeClr val="accent1"/>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dirty="0">
                  <a:solidFill>
                    <a:schemeClr val="tx1"/>
                  </a:solidFill>
                  <a:ea typeface="Segoe UI" pitchFamily="34" charset="0"/>
                  <a:cs typeface="Segoe UI" pitchFamily="34" charset="0"/>
                </a:rPr>
                <a:t>Resiliency and Availability</a:t>
              </a:r>
            </a:p>
          </p:txBody>
        </p:sp>
        <p:sp>
          <p:nvSpPr>
            <p:cNvPr id="12" name="Rectangle: Rounded Corners 11">
              <a:extLst>
                <a:ext uri="{FF2B5EF4-FFF2-40B4-BE49-F238E27FC236}">
                  <a16:creationId xmlns:a16="http://schemas.microsoft.com/office/drawing/2014/main" id="{5E7E9885-35A2-E7DB-FF51-8805B90AA9A0}"/>
                </a:ext>
              </a:extLst>
            </p:cNvPr>
            <p:cNvSpPr/>
            <p:nvPr/>
          </p:nvSpPr>
          <p:spPr bwMode="auto">
            <a:xfrm>
              <a:off x="5521381" y="3691388"/>
              <a:ext cx="1954925" cy="754062"/>
            </a:xfrm>
            <a:prstGeom prst="roundRect">
              <a:avLst/>
            </a:prstGeom>
            <a:solidFill>
              <a:schemeClr val="accent1"/>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dirty="0">
                  <a:solidFill>
                    <a:schemeClr val="tx1"/>
                  </a:solidFill>
                  <a:ea typeface="Segoe UI" pitchFamily="34" charset="0"/>
                  <a:cs typeface="Segoe UI" pitchFamily="34" charset="0"/>
                </a:rPr>
                <a:t>Data Tiering</a:t>
              </a:r>
            </a:p>
          </p:txBody>
        </p:sp>
        <p:grpSp>
          <p:nvGrpSpPr>
            <p:cNvPr id="18" name="Group 17">
              <a:extLst>
                <a:ext uri="{FF2B5EF4-FFF2-40B4-BE49-F238E27FC236}">
                  <a16:creationId xmlns:a16="http://schemas.microsoft.com/office/drawing/2014/main" id="{DE913A5C-F40A-BE45-6D47-4D81A946B5F5}"/>
                </a:ext>
              </a:extLst>
            </p:cNvPr>
            <p:cNvGrpSpPr/>
            <p:nvPr/>
          </p:nvGrpSpPr>
          <p:grpSpPr>
            <a:xfrm>
              <a:off x="4452229" y="3054472"/>
              <a:ext cx="914400" cy="930337"/>
              <a:chOff x="3948812" y="2927303"/>
              <a:chExt cx="914400" cy="930337"/>
            </a:xfrm>
          </p:grpSpPr>
          <p:pic>
            <p:nvPicPr>
              <p:cNvPr id="16" name="Graphic 15" descr="Table with solid fill">
                <a:extLst>
                  <a:ext uri="{FF2B5EF4-FFF2-40B4-BE49-F238E27FC236}">
                    <a16:creationId xmlns:a16="http://schemas.microsoft.com/office/drawing/2014/main" id="{DD643D19-10CE-C909-E1AD-FC75B63CA642}"/>
                  </a:ext>
                </a:extLst>
              </p:cNvPr>
              <p:cNvPicPr>
                <a:picLocks noChangeAspect="1"/>
              </p:cNvPicPr>
              <p:nvPr/>
            </p:nvPicPr>
            <p:blipFill>
              <a:blip r:embed="rId5">
                <a:duotone>
                  <a:schemeClr val="accent4">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948812" y="2927303"/>
                <a:ext cx="914400" cy="914400"/>
              </a:xfrm>
              <a:prstGeom prst="rect">
                <a:avLst/>
              </a:prstGeom>
            </p:spPr>
          </p:pic>
          <p:sp>
            <p:nvSpPr>
              <p:cNvPr id="17" name="Hexagon 16">
                <a:extLst>
                  <a:ext uri="{FF2B5EF4-FFF2-40B4-BE49-F238E27FC236}">
                    <a16:creationId xmlns:a16="http://schemas.microsoft.com/office/drawing/2014/main" id="{D5D66E8D-CDAE-692B-C05E-3FDAD6FA22AF}"/>
                  </a:ext>
                </a:extLst>
              </p:cNvPr>
              <p:cNvSpPr/>
              <p:nvPr/>
            </p:nvSpPr>
            <p:spPr bwMode="auto">
              <a:xfrm>
                <a:off x="4281970" y="3400440"/>
                <a:ext cx="490918" cy="457200"/>
              </a:xfrm>
              <a:prstGeom prst="hexagon">
                <a:avLst/>
              </a:prstGeom>
              <a:solidFill>
                <a:schemeClr val="accent3">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sp>
          <p:nvSpPr>
            <p:cNvPr id="21" name="TextBox 20">
              <a:extLst>
                <a:ext uri="{FF2B5EF4-FFF2-40B4-BE49-F238E27FC236}">
                  <a16:creationId xmlns:a16="http://schemas.microsoft.com/office/drawing/2014/main" id="{D845BB44-585B-097D-8ADF-805DCF07BAB5}"/>
                </a:ext>
              </a:extLst>
            </p:cNvPr>
            <p:cNvSpPr txBox="1"/>
            <p:nvPr/>
          </p:nvSpPr>
          <p:spPr>
            <a:xfrm>
              <a:off x="3517115" y="1975588"/>
              <a:ext cx="3211027" cy="341632"/>
            </a:xfrm>
            <a:prstGeom prst="rect">
              <a:avLst/>
            </a:prstGeom>
            <a:noFill/>
          </p:spPr>
          <p:txBody>
            <a:bodyPr wrap="square">
              <a:spAutoFit/>
            </a:bodyPr>
            <a:lstStyle/>
            <a:p>
              <a:pPr algn="ctr" defTabSz="932472" fontAlgn="base">
                <a:lnSpc>
                  <a:spcPct val="90000"/>
                </a:lnSpc>
                <a:spcBef>
                  <a:spcPct val="0"/>
                </a:spcBef>
                <a:spcAft>
                  <a:spcPct val="0"/>
                </a:spcAft>
              </a:pPr>
              <a:r>
                <a:rPr lang="en-US" dirty="0">
                  <a:solidFill>
                    <a:schemeClr val="tx1"/>
                  </a:solidFill>
                  <a:ea typeface="Segoe UI" pitchFamily="34" charset="0"/>
                  <a:cs typeface="Segoe UI" pitchFamily="34" charset="0"/>
                </a:rPr>
                <a:t>Azure Backup Service</a:t>
              </a:r>
            </a:p>
          </p:txBody>
        </p:sp>
        <p:sp>
          <p:nvSpPr>
            <p:cNvPr id="22" name="Rectangle: Rounded Corners 21">
              <a:extLst>
                <a:ext uri="{FF2B5EF4-FFF2-40B4-BE49-F238E27FC236}">
                  <a16:creationId xmlns:a16="http://schemas.microsoft.com/office/drawing/2014/main" id="{3DACF268-A4C4-006F-92EE-E427C73A8A8B}"/>
                </a:ext>
              </a:extLst>
            </p:cNvPr>
            <p:cNvSpPr/>
            <p:nvPr/>
          </p:nvSpPr>
          <p:spPr bwMode="auto">
            <a:xfrm>
              <a:off x="1828300" y="4888596"/>
              <a:ext cx="1954925" cy="754062"/>
            </a:xfrm>
            <a:prstGeom prst="roundRect">
              <a:avLst/>
            </a:prstGeom>
            <a:solidFill>
              <a:schemeClr val="accent1"/>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dirty="0">
                  <a:solidFill>
                    <a:schemeClr val="tx1"/>
                  </a:solidFill>
                  <a:ea typeface="Segoe UI" pitchFamily="34" charset="0"/>
                  <a:cs typeface="Segoe UI" pitchFamily="34" charset="0"/>
                </a:rPr>
                <a:t>Multi-user Authorization</a:t>
              </a:r>
            </a:p>
          </p:txBody>
        </p:sp>
        <p:sp>
          <p:nvSpPr>
            <p:cNvPr id="23" name="Rectangle: Rounded Corners 22">
              <a:extLst>
                <a:ext uri="{FF2B5EF4-FFF2-40B4-BE49-F238E27FC236}">
                  <a16:creationId xmlns:a16="http://schemas.microsoft.com/office/drawing/2014/main" id="{6AD8FA4E-5E2F-BF5F-DF8F-2066EDEB4101}"/>
                </a:ext>
              </a:extLst>
            </p:cNvPr>
            <p:cNvSpPr/>
            <p:nvPr/>
          </p:nvSpPr>
          <p:spPr bwMode="auto">
            <a:xfrm>
              <a:off x="1828300" y="5842179"/>
              <a:ext cx="1954925" cy="754062"/>
            </a:xfrm>
            <a:prstGeom prst="roundRect">
              <a:avLst/>
            </a:prstGeom>
            <a:solidFill>
              <a:schemeClr val="accent1"/>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dirty="0">
                  <a:solidFill>
                    <a:schemeClr val="tx1"/>
                  </a:solidFill>
                  <a:ea typeface="Segoe UI" pitchFamily="34" charset="0"/>
                  <a:cs typeface="Segoe UI" pitchFamily="34" charset="0"/>
                </a:rPr>
                <a:t>Multi-factor Authentication</a:t>
              </a:r>
            </a:p>
          </p:txBody>
        </p:sp>
        <p:sp>
          <p:nvSpPr>
            <p:cNvPr id="24" name="Rectangle: Rounded Corners 23">
              <a:extLst>
                <a:ext uri="{FF2B5EF4-FFF2-40B4-BE49-F238E27FC236}">
                  <a16:creationId xmlns:a16="http://schemas.microsoft.com/office/drawing/2014/main" id="{103D59B6-86EB-E373-EF82-60CF0A17F19B}"/>
                </a:ext>
              </a:extLst>
            </p:cNvPr>
            <p:cNvSpPr/>
            <p:nvPr/>
          </p:nvSpPr>
          <p:spPr bwMode="auto">
            <a:xfrm>
              <a:off x="4046206" y="4888596"/>
              <a:ext cx="1954925" cy="754062"/>
            </a:xfrm>
            <a:prstGeom prst="roundRect">
              <a:avLst/>
            </a:prstGeom>
            <a:solidFill>
              <a:schemeClr val="accent1"/>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dirty="0">
                  <a:solidFill>
                    <a:schemeClr val="tx1"/>
                  </a:solidFill>
                  <a:ea typeface="Segoe UI" pitchFamily="34" charset="0"/>
                  <a:cs typeface="Segoe UI" pitchFamily="34" charset="0"/>
                </a:rPr>
                <a:t>Policy Management</a:t>
              </a:r>
            </a:p>
          </p:txBody>
        </p:sp>
        <p:sp>
          <p:nvSpPr>
            <p:cNvPr id="25" name="Rectangle: Rounded Corners 24">
              <a:extLst>
                <a:ext uri="{FF2B5EF4-FFF2-40B4-BE49-F238E27FC236}">
                  <a16:creationId xmlns:a16="http://schemas.microsoft.com/office/drawing/2014/main" id="{B29B1A3B-1C3F-4A4D-CE61-77BF271A20CD}"/>
                </a:ext>
              </a:extLst>
            </p:cNvPr>
            <p:cNvSpPr/>
            <p:nvPr/>
          </p:nvSpPr>
          <p:spPr bwMode="auto">
            <a:xfrm>
              <a:off x="4046206" y="5842179"/>
              <a:ext cx="1954925" cy="754062"/>
            </a:xfrm>
            <a:prstGeom prst="roundRect">
              <a:avLst/>
            </a:prstGeom>
            <a:solidFill>
              <a:schemeClr val="accent1"/>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dirty="0">
                  <a:solidFill>
                    <a:schemeClr val="tx1"/>
                  </a:solidFill>
                  <a:ea typeface="Segoe UI" pitchFamily="34" charset="0"/>
                  <a:cs typeface="Segoe UI" pitchFamily="34" charset="0"/>
                </a:rPr>
                <a:t>Access Control</a:t>
              </a:r>
            </a:p>
          </p:txBody>
        </p:sp>
        <p:sp>
          <p:nvSpPr>
            <p:cNvPr id="26" name="Rectangle: Rounded Corners 25">
              <a:extLst>
                <a:ext uri="{FF2B5EF4-FFF2-40B4-BE49-F238E27FC236}">
                  <a16:creationId xmlns:a16="http://schemas.microsoft.com/office/drawing/2014/main" id="{4C1CAE90-0DA8-A7CB-DF83-896F4222100D}"/>
                </a:ext>
              </a:extLst>
            </p:cNvPr>
            <p:cNvSpPr/>
            <p:nvPr/>
          </p:nvSpPr>
          <p:spPr bwMode="auto">
            <a:xfrm>
              <a:off x="6264112" y="4888857"/>
              <a:ext cx="1954925" cy="1707384"/>
            </a:xfrm>
            <a:prstGeom prst="roundRect">
              <a:avLst/>
            </a:prstGeom>
            <a:solidFill>
              <a:schemeClr val="accent1"/>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dirty="0">
                  <a:solidFill>
                    <a:schemeClr val="tx1"/>
                  </a:solidFill>
                  <a:ea typeface="Segoe UI" pitchFamily="34" charset="0"/>
                  <a:cs typeface="Segoe UI" pitchFamily="34" charset="0"/>
                </a:rPr>
                <a:t>Monitoring &amp; Reporting</a:t>
              </a:r>
            </a:p>
          </p:txBody>
        </p:sp>
      </p:grpSp>
      <p:sp>
        <p:nvSpPr>
          <p:cNvPr id="38" name="TextBox 37">
            <a:extLst>
              <a:ext uri="{FF2B5EF4-FFF2-40B4-BE49-F238E27FC236}">
                <a16:creationId xmlns:a16="http://schemas.microsoft.com/office/drawing/2014/main" id="{5539ABF0-AF2A-59D0-A1CA-6920DAA18DEA}"/>
              </a:ext>
            </a:extLst>
          </p:cNvPr>
          <p:cNvSpPr txBox="1"/>
          <p:nvPr/>
        </p:nvSpPr>
        <p:spPr>
          <a:xfrm>
            <a:off x="9850560" y="1761274"/>
            <a:ext cx="2051904" cy="369332"/>
          </a:xfrm>
          <a:prstGeom prst="rect">
            <a:avLst/>
          </a:prstGeom>
          <a:noFill/>
        </p:spPr>
        <p:txBody>
          <a:bodyPr wrap="square">
            <a:spAutoFit/>
          </a:bodyPr>
          <a:lstStyle/>
          <a:p>
            <a:r>
              <a:rPr lang="en-US" b="0" i="0" u="sng" dirty="0">
                <a:solidFill>
                  <a:srgbClr val="161616"/>
                </a:solidFill>
                <a:effectLst/>
                <a:highlight>
                  <a:srgbClr val="EBEBEB"/>
                </a:highlight>
                <a:latin typeface="Segoe UI" panose="020B0502040204020203" pitchFamily="34" charset="0"/>
              </a:rPr>
              <a:t>Built-in backup</a:t>
            </a:r>
            <a:endParaRPr lang="en-US" u="sng" dirty="0">
              <a:highlight>
                <a:srgbClr val="EBEBEB"/>
              </a:highlight>
            </a:endParaRPr>
          </a:p>
        </p:txBody>
      </p:sp>
      <p:sp>
        <p:nvSpPr>
          <p:cNvPr id="29" name="TextBox 28">
            <a:extLst>
              <a:ext uri="{FF2B5EF4-FFF2-40B4-BE49-F238E27FC236}">
                <a16:creationId xmlns:a16="http://schemas.microsoft.com/office/drawing/2014/main" id="{F1BD650D-95D6-CE6C-03B9-E5B7A9911EDF}"/>
              </a:ext>
              <a:ext uri="{C183D7F6-B498-43B3-948B-1728B52AA6E4}">
                <adec:decorative xmlns:adec="http://schemas.microsoft.com/office/drawing/2017/decorative" val="1"/>
              </a:ext>
            </a:extLst>
          </p:cNvPr>
          <p:cNvSpPr txBox="1"/>
          <p:nvPr/>
        </p:nvSpPr>
        <p:spPr>
          <a:xfrm>
            <a:off x="9415939" y="2625475"/>
            <a:ext cx="2820352" cy="2862322"/>
          </a:xfrm>
          <a:prstGeom prst="rect">
            <a:avLst/>
          </a:prstGeom>
          <a:noFill/>
        </p:spPr>
        <p:txBody>
          <a:bodyPr wrap="square">
            <a:spAutoFit/>
          </a:bodyPr>
          <a:lstStyle/>
          <a:p>
            <a:pPr marL="173038" indent="-173038" algn="l">
              <a:buFont typeface="Arial" panose="020B0604020202020204" pitchFamily="34" charset="0"/>
              <a:buChar char="•"/>
            </a:pPr>
            <a:r>
              <a:rPr lang="en-US" b="0" i="0" dirty="0">
                <a:solidFill>
                  <a:srgbClr val="161616"/>
                </a:solidFill>
                <a:effectLst/>
                <a:highlight>
                  <a:srgbClr val="FFFFFF"/>
                </a:highlight>
                <a:latin typeface="Segoe UI" panose="020B0502040204020203" pitchFamily="34" charset="0"/>
              </a:rPr>
              <a:t>Azure Virtual Machines</a:t>
            </a:r>
          </a:p>
          <a:p>
            <a:pPr marL="173038" indent="-173038" algn="l">
              <a:buFont typeface="Arial" panose="020B0604020202020204" pitchFamily="34" charset="0"/>
              <a:buChar char="•"/>
            </a:pPr>
            <a:r>
              <a:rPr lang="en-US" b="0" i="0" dirty="0">
                <a:solidFill>
                  <a:srgbClr val="161616"/>
                </a:solidFill>
                <a:effectLst/>
                <a:highlight>
                  <a:srgbClr val="FFFFFF"/>
                </a:highlight>
                <a:latin typeface="Segoe UI" panose="020B0502040204020203" pitchFamily="34" charset="0"/>
              </a:rPr>
              <a:t>Azure Managed Disks</a:t>
            </a:r>
          </a:p>
          <a:p>
            <a:pPr marL="173038" indent="-173038" algn="l">
              <a:buFont typeface="Arial" panose="020B0604020202020204" pitchFamily="34" charset="0"/>
              <a:buChar char="•"/>
            </a:pPr>
            <a:r>
              <a:rPr lang="en-US" b="0" i="0" dirty="0">
                <a:solidFill>
                  <a:srgbClr val="161616"/>
                </a:solidFill>
                <a:effectLst/>
                <a:highlight>
                  <a:srgbClr val="FFFFFF"/>
                </a:highlight>
                <a:latin typeface="Segoe UI" panose="020B0502040204020203" pitchFamily="34" charset="0"/>
              </a:rPr>
              <a:t>Azure Files Shares</a:t>
            </a:r>
          </a:p>
          <a:p>
            <a:pPr marL="173038" indent="-173038" algn="l">
              <a:buFont typeface="Arial" panose="020B0604020202020204" pitchFamily="34" charset="0"/>
              <a:buChar char="•"/>
            </a:pPr>
            <a:r>
              <a:rPr lang="en-US" b="0" i="0" dirty="0">
                <a:solidFill>
                  <a:srgbClr val="161616"/>
                </a:solidFill>
                <a:effectLst/>
                <a:highlight>
                  <a:srgbClr val="FFFFFF"/>
                </a:highlight>
                <a:latin typeface="Segoe UI" panose="020B0502040204020203" pitchFamily="34" charset="0"/>
              </a:rPr>
              <a:t>SQL Server in Azure VMs</a:t>
            </a:r>
          </a:p>
          <a:p>
            <a:pPr marL="173038" indent="-173038" algn="l">
              <a:buFont typeface="Arial" panose="020B0604020202020204" pitchFamily="34" charset="0"/>
              <a:buChar char="•"/>
            </a:pPr>
            <a:r>
              <a:rPr lang="en-US" b="0" i="0" dirty="0">
                <a:solidFill>
                  <a:srgbClr val="161616"/>
                </a:solidFill>
                <a:effectLst/>
                <a:highlight>
                  <a:srgbClr val="FFFFFF"/>
                </a:highlight>
                <a:latin typeface="Segoe UI" panose="020B0502040204020203" pitchFamily="34" charset="0"/>
              </a:rPr>
              <a:t>SAP HANA databases in Azure VMs</a:t>
            </a:r>
          </a:p>
          <a:p>
            <a:pPr marL="173038" indent="-173038" algn="l">
              <a:buFont typeface="Arial" panose="020B0604020202020204" pitchFamily="34" charset="0"/>
              <a:buChar char="•"/>
            </a:pPr>
            <a:r>
              <a:rPr lang="en-US" b="0" i="0" dirty="0">
                <a:solidFill>
                  <a:srgbClr val="161616"/>
                </a:solidFill>
                <a:effectLst/>
                <a:highlight>
                  <a:srgbClr val="FFFFFF"/>
                </a:highlight>
                <a:latin typeface="Segoe UI" panose="020B0502040204020203" pitchFamily="34" charset="0"/>
              </a:rPr>
              <a:t>Azure Database for PostgreSQL servers</a:t>
            </a:r>
          </a:p>
          <a:p>
            <a:pPr marL="173038" indent="-173038" algn="l">
              <a:buFont typeface="Arial" panose="020B0604020202020204" pitchFamily="34" charset="0"/>
              <a:buChar char="•"/>
            </a:pPr>
            <a:r>
              <a:rPr lang="en-US" b="0" i="0" dirty="0">
                <a:solidFill>
                  <a:srgbClr val="161616"/>
                </a:solidFill>
                <a:effectLst/>
                <a:highlight>
                  <a:srgbClr val="FFFFFF"/>
                </a:highlight>
                <a:latin typeface="Segoe UI" panose="020B0502040204020203" pitchFamily="34" charset="0"/>
              </a:rPr>
              <a:t>Azure Blobs</a:t>
            </a:r>
          </a:p>
        </p:txBody>
      </p:sp>
      <p:sp>
        <p:nvSpPr>
          <p:cNvPr id="30" name="TextBox 29">
            <a:extLst>
              <a:ext uri="{FF2B5EF4-FFF2-40B4-BE49-F238E27FC236}">
                <a16:creationId xmlns:a16="http://schemas.microsoft.com/office/drawing/2014/main" id="{211D535A-5DCC-ADD0-6F1E-8BE4034FB42A}"/>
              </a:ext>
              <a:ext uri="{C183D7F6-B498-43B3-948B-1728B52AA6E4}">
                <adec:decorative xmlns:adec="http://schemas.microsoft.com/office/drawing/2017/decorative" val="1"/>
              </a:ext>
            </a:extLst>
          </p:cNvPr>
          <p:cNvSpPr txBox="1"/>
          <p:nvPr/>
        </p:nvSpPr>
        <p:spPr>
          <a:xfrm>
            <a:off x="208117" y="3241260"/>
            <a:ext cx="2204490" cy="923330"/>
          </a:xfrm>
          <a:prstGeom prst="rect">
            <a:avLst/>
          </a:prstGeom>
          <a:noFill/>
        </p:spPr>
        <p:txBody>
          <a:bodyPr wrap="square">
            <a:spAutoFit/>
          </a:bodyPr>
          <a:lstStyle/>
          <a:p>
            <a:pPr algn="ctr"/>
            <a:r>
              <a:rPr lang="en-US" b="0" i="0" dirty="0">
                <a:solidFill>
                  <a:srgbClr val="161616"/>
                </a:solidFill>
                <a:effectLst/>
                <a:highlight>
                  <a:srgbClr val="FFFFFF"/>
                </a:highlight>
                <a:latin typeface="Segoe UI" panose="020B0502040204020203" pitchFamily="34" charset="0"/>
              </a:rPr>
              <a:t>On-premises files, folders, and system state</a:t>
            </a:r>
          </a:p>
        </p:txBody>
      </p:sp>
      <p:cxnSp>
        <p:nvCxnSpPr>
          <p:cNvPr id="32" name="Connector: Elbow 31">
            <a:extLst>
              <a:ext uri="{FF2B5EF4-FFF2-40B4-BE49-F238E27FC236}">
                <a16:creationId xmlns:a16="http://schemas.microsoft.com/office/drawing/2014/main" id="{9745BE1D-5E3A-5A0E-98A9-9514CB137019}"/>
              </a:ext>
              <a:ext uri="{C183D7F6-B498-43B3-948B-1728B52AA6E4}">
                <adec:decorative xmlns:adec="http://schemas.microsoft.com/office/drawing/2017/decorative" val="1"/>
              </a:ext>
            </a:extLst>
          </p:cNvPr>
          <p:cNvCxnSpPr>
            <a:endCxn id="30" idx="0"/>
          </p:cNvCxnSpPr>
          <p:nvPr/>
        </p:nvCxnSpPr>
        <p:spPr>
          <a:xfrm rot="10800000" flipV="1">
            <a:off x="1310362" y="2250876"/>
            <a:ext cx="1166620" cy="990384"/>
          </a:xfrm>
          <a:prstGeom prst="bentConnector2">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36E672C8-AB72-2429-B762-4BF31DB6FCCB}"/>
              </a:ext>
              <a:ext uri="{C183D7F6-B498-43B3-948B-1728B52AA6E4}">
                <adec:decorative xmlns:adec="http://schemas.microsoft.com/office/drawing/2017/decorative" val="1"/>
              </a:ext>
            </a:extLst>
          </p:cNvPr>
          <p:cNvCxnSpPr>
            <a:cxnSpLocks/>
            <a:endCxn id="29" idx="0"/>
          </p:cNvCxnSpPr>
          <p:nvPr/>
        </p:nvCxnSpPr>
        <p:spPr>
          <a:xfrm>
            <a:off x="9271322" y="2250873"/>
            <a:ext cx="1554793" cy="374602"/>
          </a:xfrm>
          <a:prstGeom prst="bentConnector2">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44FA281-3968-CE6A-38E2-A6DCA2340BB8}"/>
              </a:ext>
              <a:ext uri="{C183D7F6-B498-43B3-948B-1728B52AA6E4}">
                <adec:decorative xmlns:adec="http://schemas.microsoft.com/office/drawing/2017/decorative" val="1"/>
              </a:ext>
            </a:extLst>
          </p:cNvPr>
          <p:cNvCxnSpPr>
            <a:stCxn id="9" idx="3"/>
            <a:endCxn id="16" idx="1"/>
          </p:cNvCxnSpPr>
          <p:nvPr/>
        </p:nvCxnSpPr>
        <p:spPr>
          <a:xfrm>
            <a:off x="5133706" y="2755188"/>
            <a:ext cx="128751" cy="341523"/>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C9E258C-58C3-C3CE-7469-CA38B47B5569}"/>
              </a:ext>
              <a:ext uri="{C183D7F6-B498-43B3-948B-1728B52AA6E4}">
                <adec:decorative xmlns:adec="http://schemas.microsoft.com/office/drawing/2017/decorative" val="1"/>
              </a:ext>
            </a:extLst>
          </p:cNvPr>
          <p:cNvCxnSpPr>
            <a:cxnSpLocks/>
            <a:stCxn id="16" idx="1"/>
            <a:endCxn id="10" idx="3"/>
          </p:cNvCxnSpPr>
          <p:nvPr/>
        </p:nvCxnSpPr>
        <p:spPr>
          <a:xfrm flipH="1">
            <a:off x="5159707" y="3096711"/>
            <a:ext cx="102750" cy="504312"/>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A45A7B3-B7BD-C5B3-78C8-DD64A4ED5D30}"/>
              </a:ext>
              <a:ext uri="{C183D7F6-B498-43B3-948B-1728B52AA6E4}">
                <adec:decorative xmlns:adec="http://schemas.microsoft.com/office/drawing/2017/decorative" val="1"/>
              </a:ext>
            </a:extLst>
          </p:cNvPr>
          <p:cNvCxnSpPr>
            <a:cxnSpLocks/>
            <a:stCxn id="11" idx="1"/>
            <a:endCxn id="16" idx="3"/>
          </p:cNvCxnSpPr>
          <p:nvPr/>
        </p:nvCxnSpPr>
        <p:spPr>
          <a:xfrm flipH="1">
            <a:off x="6176857" y="2755188"/>
            <a:ext cx="128751" cy="341523"/>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12D64EF-49A8-53E8-7CE4-392344D2ACAD}"/>
              </a:ext>
              <a:ext uri="{C183D7F6-B498-43B3-948B-1728B52AA6E4}">
                <adec:decorative xmlns:adec="http://schemas.microsoft.com/office/drawing/2017/decorative" val="1"/>
              </a:ext>
            </a:extLst>
          </p:cNvPr>
          <p:cNvCxnSpPr>
            <a:cxnSpLocks/>
          </p:cNvCxnSpPr>
          <p:nvPr/>
        </p:nvCxnSpPr>
        <p:spPr>
          <a:xfrm>
            <a:off x="6176857" y="3111147"/>
            <a:ext cx="82762" cy="386115"/>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757397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8212C-7DE6-B268-1525-E2DDAEF242E2}"/>
              </a:ext>
            </a:extLst>
          </p:cNvPr>
          <p:cNvSpPr>
            <a:spLocks noGrp="1"/>
          </p:cNvSpPr>
          <p:nvPr>
            <p:ph type="title"/>
          </p:nvPr>
        </p:nvSpPr>
        <p:spPr/>
        <p:txBody>
          <a:bodyPr/>
          <a:lstStyle/>
          <a:p>
            <a:r>
              <a:rPr lang="en-US" dirty="0"/>
              <a:t>How Azure Backup works (vaults and policies)</a:t>
            </a:r>
          </a:p>
        </p:txBody>
      </p:sp>
      <p:pic>
        <p:nvPicPr>
          <p:cNvPr id="4" name="Picture 3" descr="The Azure Backup Management Plane includes policy, metrics, and monitoring. ">
            <a:extLst>
              <a:ext uri="{FF2B5EF4-FFF2-40B4-BE49-F238E27FC236}">
                <a16:creationId xmlns:a16="http://schemas.microsoft.com/office/drawing/2014/main" id="{D4C6F683-2994-BBE9-81C7-3806034569EE}"/>
              </a:ext>
            </a:extLst>
          </p:cNvPr>
          <p:cNvPicPr>
            <a:picLocks noChangeAspect="1"/>
          </p:cNvPicPr>
          <p:nvPr/>
        </p:nvPicPr>
        <p:blipFill>
          <a:blip r:embed="rId3"/>
          <a:stretch>
            <a:fillRect/>
          </a:stretch>
        </p:blipFill>
        <p:spPr>
          <a:xfrm>
            <a:off x="862036" y="1491573"/>
            <a:ext cx="10162327" cy="2142878"/>
          </a:xfrm>
          <a:prstGeom prst="rect">
            <a:avLst/>
          </a:prstGeom>
        </p:spPr>
      </p:pic>
      <p:sp>
        <p:nvSpPr>
          <p:cNvPr id="5" name="Text Placeholder 2">
            <a:extLst>
              <a:ext uri="{FF2B5EF4-FFF2-40B4-BE49-F238E27FC236}">
                <a16:creationId xmlns:a16="http://schemas.microsoft.com/office/drawing/2014/main" id="{2C1E3A2A-933A-B430-3899-21181350C042}"/>
              </a:ext>
            </a:extLst>
          </p:cNvPr>
          <p:cNvSpPr txBox="1">
            <a:spLocks/>
          </p:cNvSpPr>
          <p:nvPr/>
        </p:nvSpPr>
        <p:spPr>
          <a:xfrm>
            <a:off x="1299135" y="3941191"/>
            <a:ext cx="9638941" cy="1985047"/>
          </a:xfrm>
          <a:prstGeom prst="rect">
            <a:avLst/>
          </a:prstGeom>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spcAft>
                <a:spcPts val="600"/>
              </a:spcAft>
              <a:buFont typeface="Arial" panose="020B0604020202020204" pitchFamily="34" charset="0"/>
              <a:buChar char="•"/>
            </a:pPr>
            <a:r>
              <a:rPr lang="en-US" sz="2000" spc="0" dirty="0">
                <a:solidFill>
                  <a:schemeClr val="tx1"/>
                </a:solidFill>
                <a:latin typeface="+mn-lt"/>
              </a:rPr>
              <a:t>Vaults store backup copies, recovery points, and backup policies</a:t>
            </a:r>
          </a:p>
          <a:p>
            <a:pPr marL="342900" indent="-342900">
              <a:spcAft>
                <a:spcPts val="600"/>
              </a:spcAft>
              <a:buFont typeface="Arial" panose="020B0604020202020204" pitchFamily="34" charset="0"/>
              <a:buChar char="•"/>
            </a:pPr>
            <a:r>
              <a:rPr lang="en-US" sz="2000" spc="0" dirty="0">
                <a:solidFill>
                  <a:schemeClr val="tx1"/>
                </a:solidFill>
                <a:latin typeface="+mn-lt"/>
              </a:rPr>
              <a:t>Two types of vaults: Backup vault and Recovery Service vault</a:t>
            </a:r>
          </a:p>
          <a:p>
            <a:pPr marL="342900" indent="-342900">
              <a:spcAft>
                <a:spcPts val="600"/>
              </a:spcAft>
              <a:buFont typeface="Arial" panose="020B0604020202020204" pitchFamily="34" charset="0"/>
              <a:buChar char="•"/>
            </a:pPr>
            <a:r>
              <a:rPr lang="en-US" sz="2000" spc="0" dirty="0">
                <a:solidFill>
                  <a:schemeClr val="tx1"/>
                </a:solidFill>
                <a:latin typeface="+mn-lt"/>
              </a:rPr>
              <a:t>Backup Policies define the data source, storage vault, and backup schedule</a:t>
            </a:r>
          </a:p>
          <a:p>
            <a:pPr marL="342900" indent="-342900">
              <a:spcAft>
                <a:spcPts val="600"/>
              </a:spcAft>
              <a:buFont typeface="Arial" panose="020B0604020202020204" pitchFamily="34" charset="0"/>
              <a:buChar char="•"/>
            </a:pPr>
            <a:r>
              <a:rPr lang="en-US" sz="2000" spc="0" dirty="0">
                <a:solidFill>
                  <a:schemeClr val="tx1"/>
                </a:solidFill>
                <a:latin typeface="+mn-lt"/>
              </a:rPr>
              <a:t>The Business Continuity Center provides a single unified management experience (next slide)</a:t>
            </a:r>
          </a:p>
        </p:txBody>
      </p:sp>
    </p:spTree>
    <p:extLst>
      <p:ext uri="{BB962C8B-B14F-4D97-AF65-F5344CB8AC3E}">
        <p14:creationId xmlns:p14="http://schemas.microsoft.com/office/powerpoint/2010/main" val="286559370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5B441-3796-648F-9DFD-26CF605532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699913-9595-9D56-334B-8DE984E4C82D}"/>
              </a:ext>
            </a:extLst>
          </p:cNvPr>
          <p:cNvSpPr>
            <a:spLocks noGrp="1"/>
          </p:cNvSpPr>
          <p:nvPr>
            <p:ph type="title"/>
          </p:nvPr>
        </p:nvSpPr>
        <p:spPr/>
        <p:txBody>
          <a:bodyPr/>
          <a:lstStyle/>
          <a:p>
            <a:r>
              <a:rPr lang="en-US" dirty="0"/>
              <a:t>Use the Azure Business Continuity Center</a:t>
            </a:r>
          </a:p>
        </p:txBody>
      </p:sp>
      <p:sp>
        <p:nvSpPr>
          <p:cNvPr id="6" name="Rectangle 5">
            <a:extLst>
              <a:ext uri="{FF2B5EF4-FFF2-40B4-BE49-F238E27FC236}">
                <a16:creationId xmlns:a16="http://schemas.microsoft.com/office/drawing/2014/main" id="{61AA464B-BBA2-E34D-49E6-B19124424401}"/>
              </a:ext>
              <a:ext uri="{C183D7F6-B498-43B3-948B-1728B52AA6E4}">
                <adec:decorative xmlns:adec="http://schemas.microsoft.com/office/drawing/2017/decorative" val="0"/>
              </a:ext>
            </a:extLst>
          </p:cNvPr>
          <p:cNvSpPr/>
          <p:nvPr/>
        </p:nvSpPr>
        <p:spPr bwMode="auto">
          <a:xfrm>
            <a:off x="427037" y="1460833"/>
            <a:ext cx="5410243" cy="4254167"/>
          </a:xfrm>
          <a:prstGeom prst="rect">
            <a:avLst/>
          </a:prstGeom>
          <a:no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400050" indent="-342900">
              <a:spcBef>
                <a:spcPts val="1200"/>
              </a:spcBef>
              <a:buFont typeface="Arial" panose="020B0604020202020204" pitchFamily="34" charset="0"/>
              <a:buChar char="•"/>
              <a:tabLst>
                <a:tab pos="457200" algn="l"/>
              </a:tabLst>
            </a:pPr>
            <a:r>
              <a:rPr lang="en-US" sz="2000" dirty="0">
                <a:solidFill>
                  <a:schemeClr val="tx1"/>
                </a:solidFill>
              </a:rPr>
              <a:t>Single pane of glass to manage BCDR protection</a:t>
            </a:r>
          </a:p>
          <a:p>
            <a:pPr marL="400050" indent="-342900">
              <a:spcBef>
                <a:spcPts val="1200"/>
              </a:spcBef>
              <a:buFont typeface="Arial" panose="020B0604020202020204" pitchFamily="34" charset="0"/>
              <a:buChar char="•"/>
              <a:tabLst>
                <a:tab pos="457200" algn="l"/>
              </a:tabLst>
            </a:pPr>
            <a:r>
              <a:rPr lang="en-US" sz="2000" dirty="0">
                <a:solidFill>
                  <a:schemeClr val="tx1"/>
                </a:solidFill>
              </a:rPr>
              <a:t>Action center to protect Azure, Hybrid, and Edge environments</a:t>
            </a:r>
          </a:p>
          <a:p>
            <a:pPr marL="400050" indent="-342900">
              <a:spcBef>
                <a:spcPts val="1200"/>
              </a:spcBef>
              <a:buFont typeface="Arial" panose="020B0604020202020204" pitchFamily="34" charset="0"/>
              <a:buChar char="•"/>
              <a:tabLst>
                <a:tab pos="457200" algn="l"/>
              </a:tabLst>
            </a:pPr>
            <a:r>
              <a:rPr lang="en-US" sz="2000" dirty="0">
                <a:solidFill>
                  <a:schemeClr val="tx1"/>
                </a:solidFill>
              </a:rPr>
              <a:t>At-scale unified monitoring capabilities across the solutions </a:t>
            </a:r>
          </a:p>
          <a:p>
            <a:pPr marL="400050" indent="-342900">
              <a:spcBef>
                <a:spcPts val="1200"/>
              </a:spcBef>
              <a:buFont typeface="Arial" panose="020B0604020202020204" pitchFamily="34" charset="0"/>
              <a:buChar char="•"/>
              <a:tabLst>
                <a:tab pos="457200" algn="l"/>
              </a:tabLst>
            </a:pPr>
            <a:r>
              <a:rPr lang="en-US" sz="2000" dirty="0">
                <a:solidFill>
                  <a:schemeClr val="tx1"/>
                </a:solidFill>
              </a:rPr>
              <a:t>Evaluates your current configuration and proactively notifies you of any gaps</a:t>
            </a:r>
          </a:p>
          <a:p>
            <a:pPr marL="400050" indent="-342900">
              <a:spcBef>
                <a:spcPts val="1200"/>
              </a:spcBef>
              <a:buFont typeface="Arial" panose="020B0604020202020204" pitchFamily="34" charset="0"/>
              <a:buChar char="•"/>
              <a:tabLst>
                <a:tab pos="457200" algn="l"/>
              </a:tabLst>
            </a:pPr>
            <a:r>
              <a:rPr lang="en-US" sz="2000" dirty="0">
                <a:solidFill>
                  <a:schemeClr val="tx1"/>
                </a:solidFill>
              </a:rPr>
              <a:t>View compliance against the applied policies</a:t>
            </a:r>
          </a:p>
        </p:txBody>
      </p:sp>
      <p:pic>
        <p:nvPicPr>
          <p:cNvPr id="5" name="Picture 4" descr="Screenshot of the BCC with protection and security status. ">
            <a:extLst>
              <a:ext uri="{FF2B5EF4-FFF2-40B4-BE49-F238E27FC236}">
                <a16:creationId xmlns:a16="http://schemas.microsoft.com/office/drawing/2014/main" id="{79ECF76D-2D6E-095F-E02B-F2B9B2E69A04}"/>
              </a:ext>
            </a:extLst>
          </p:cNvPr>
          <p:cNvPicPr>
            <a:picLocks noChangeAspect="1"/>
          </p:cNvPicPr>
          <p:nvPr/>
        </p:nvPicPr>
        <p:blipFill>
          <a:blip r:embed="rId3"/>
          <a:stretch>
            <a:fillRect/>
          </a:stretch>
        </p:blipFill>
        <p:spPr>
          <a:xfrm>
            <a:off x="6230430" y="1193373"/>
            <a:ext cx="5611107" cy="5055841"/>
          </a:xfrm>
          <a:prstGeom prst="rect">
            <a:avLst/>
          </a:prstGeom>
          <a:ln>
            <a:solidFill>
              <a:schemeClr val="bg1">
                <a:lumMod val="85000"/>
              </a:schemeClr>
            </a:solidFill>
          </a:ln>
        </p:spPr>
      </p:pic>
    </p:spTree>
    <p:extLst>
      <p:ext uri="{BB962C8B-B14F-4D97-AF65-F5344CB8AC3E}">
        <p14:creationId xmlns:p14="http://schemas.microsoft.com/office/powerpoint/2010/main" val="323835024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CAA92-0A65-4CA5-94E3-663221A99A43}"/>
              </a:ext>
            </a:extLst>
          </p:cNvPr>
          <p:cNvSpPr>
            <a:spLocks noGrp="1"/>
          </p:cNvSpPr>
          <p:nvPr>
            <p:ph type="title"/>
          </p:nvPr>
        </p:nvSpPr>
        <p:spPr/>
        <p:txBody>
          <a:bodyPr/>
          <a:lstStyle/>
          <a:p>
            <a:r>
              <a:rPr lang="en-US" dirty="0"/>
              <a:t>Demonstration – Backup Azure File Shares</a:t>
            </a:r>
          </a:p>
        </p:txBody>
      </p:sp>
      <p:sp>
        <p:nvSpPr>
          <p:cNvPr id="59" name="Rectangle 58">
            <a:extLst>
              <a:ext uri="{FF2B5EF4-FFF2-40B4-BE49-F238E27FC236}">
                <a16:creationId xmlns:a16="http://schemas.microsoft.com/office/drawing/2014/main" id="{0F9826E5-069B-4BF1-AD21-FB0A63207CB9}"/>
              </a:ext>
            </a:extLst>
          </p:cNvPr>
          <p:cNvSpPr/>
          <p:nvPr/>
        </p:nvSpPr>
        <p:spPr bwMode="auto">
          <a:xfrm>
            <a:off x="957207" y="1579810"/>
            <a:ext cx="7164818" cy="282006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342900" indent="-342900">
              <a:lnSpc>
                <a:spcPct val="150000"/>
              </a:lnSpc>
              <a:spcBef>
                <a:spcPts val="600"/>
              </a:spcBef>
              <a:buFont typeface="Arial" panose="020B0604020202020204" pitchFamily="34" charset="0"/>
              <a:buChar char="•"/>
            </a:pPr>
            <a:r>
              <a:rPr lang="en-US" sz="2400" dirty="0">
                <a:solidFill>
                  <a:schemeClr val="tx1"/>
                </a:solidFill>
              </a:rPr>
              <a:t>Configure a storage account with file share</a:t>
            </a:r>
          </a:p>
          <a:p>
            <a:pPr marL="342900" indent="-342900">
              <a:lnSpc>
                <a:spcPct val="150000"/>
              </a:lnSpc>
              <a:spcBef>
                <a:spcPts val="600"/>
              </a:spcBef>
              <a:buFont typeface="Arial" panose="020B0604020202020204" pitchFamily="34" charset="0"/>
              <a:buChar char="•"/>
            </a:pPr>
            <a:r>
              <a:rPr lang="en-US" sz="2400" dirty="0">
                <a:solidFill>
                  <a:schemeClr val="tx1"/>
                </a:solidFill>
              </a:rPr>
              <a:t>Create a Recovery Services vault</a:t>
            </a:r>
          </a:p>
          <a:p>
            <a:pPr marL="342900" indent="-342900">
              <a:lnSpc>
                <a:spcPct val="150000"/>
              </a:lnSpc>
              <a:spcBef>
                <a:spcPts val="600"/>
              </a:spcBef>
              <a:buFont typeface="Arial" panose="020B0604020202020204" pitchFamily="34" charset="0"/>
              <a:buChar char="•"/>
            </a:pPr>
            <a:r>
              <a:rPr lang="en-US" sz="2400" dirty="0">
                <a:solidFill>
                  <a:schemeClr val="tx1"/>
                </a:solidFill>
              </a:rPr>
              <a:t>Configure file share backup</a:t>
            </a:r>
          </a:p>
          <a:p>
            <a:pPr marL="342900" indent="-342900">
              <a:lnSpc>
                <a:spcPct val="150000"/>
              </a:lnSpc>
              <a:spcBef>
                <a:spcPts val="600"/>
              </a:spcBef>
              <a:buFont typeface="Arial" panose="020B0604020202020204" pitchFamily="34" charset="0"/>
              <a:buChar char="•"/>
            </a:pPr>
            <a:r>
              <a:rPr lang="en-US" sz="2400" dirty="0">
                <a:solidFill>
                  <a:schemeClr val="tx1"/>
                </a:solidFill>
              </a:rPr>
              <a:t>Verify and restore (optional) the backup</a:t>
            </a:r>
          </a:p>
        </p:txBody>
      </p:sp>
    </p:spTree>
    <p:extLst>
      <p:ext uri="{BB962C8B-B14F-4D97-AF65-F5344CB8AC3E}">
        <p14:creationId xmlns:p14="http://schemas.microsoft.com/office/powerpoint/2010/main" val="184848862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EE5BF00A-4CC1-4D4D-AA47-FC2B94A29F42}"/>
              </a:ext>
            </a:extLst>
          </p:cNvPr>
          <p:cNvSpPr>
            <a:spLocks noGrp="1"/>
          </p:cNvSpPr>
          <p:nvPr>
            <p:ph type="title"/>
          </p:nvPr>
        </p:nvSpPr>
        <p:spPr/>
        <p:txBody>
          <a:bodyPr/>
          <a:lstStyle/>
          <a:p>
            <a:r>
              <a:rPr lang="en-US" dirty="0"/>
              <a:t>Learning Recap – Introduction to Azure Backup</a:t>
            </a:r>
            <a:endParaRPr lang="en-IN" dirty="0"/>
          </a:p>
        </p:txBody>
      </p:sp>
      <p:sp>
        <p:nvSpPr>
          <p:cNvPr id="14" name="TextBox 13">
            <a:extLst>
              <a:ext uri="{FF2B5EF4-FFF2-40B4-BE49-F238E27FC236}">
                <a16:creationId xmlns:a16="http://schemas.microsoft.com/office/drawing/2014/main" id="{213B9106-A481-4A25-A867-0AAC19991674}"/>
              </a:ext>
            </a:extLst>
          </p:cNvPr>
          <p:cNvSpPr txBox="1"/>
          <p:nvPr/>
        </p:nvSpPr>
        <p:spPr>
          <a:xfrm>
            <a:off x="3742602" y="2459775"/>
            <a:ext cx="6216868" cy="400110"/>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sz="2000" dirty="0">
                <a:hlinkClick r:id="rId3"/>
              </a:rPr>
              <a:t>Introduction to Azure Backup</a:t>
            </a:r>
            <a:endParaRPr lang="en-US" sz="2000" dirty="0"/>
          </a:p>
        </p:txBody>
      </p:sp>
    </p:spTree>
    <p:extLst>
      <p:ext uri="{BB962C8B-B14F-4D97-AF65-F5344CB8AC3E}">
        <p14:creationId xmlns:p14="http://schemas.microsoft.com/office/powerpoint/2010/main" val="262476633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3232160"/>
            <a:ext cx="6472474" cy="1130181"/>
          </a:xfrm>
        </p:spPr>
        <p:txBody>
          <a:bodyPr/>
          <a:lstStyle/>
          <a:p>
            <a:r>
              <a:rPr lang="en-US"/>
              <a:t>Protect your virtual machines by using Azure Backup</a:t>
            </a:r>
            <a:endParaRPr lang="en-US" dirty="0"/>
          </a:p>
        </p:txBody>
      </p:sp>
    </p:spTree>
    <p:extLst>
      <p:ext uri="{BB962C8B-B14F-4D97-AF65-F5344CB8AC3E}">
        <p14:creationId xmlns:p14="http://schemas.microsoft.com/office/powerpoint/2010/main" val="2286637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E22BA-A9AE-4921-BAF7-F996DC95545B}"/>
              </a:ext>
              <a:ext uri="{C183D7F6-B498-43B3-948B-1728B52AA6E4}">
                <adec:decorative xmlns:adec="http://schemas.microsoft.com/office/drawing/2017/decorative" val="0"/>
              </a:ext>
            </a:extLst>
          </p:cNvPr>
          <p:cNvSpPr>
            <a:spLocks noGrp="1"/>
          </p:cNvSpPr>
          <p:nvPr>
            <p:ph type="title"/>
          </p:nvPr>
        </p:nvSpPr>
        <p:spPr>
          <a:xfrm>
            <a:off x="465138" y="567457"/>
            <a:ext cx="11694436" cy="830020"/>
          </a:xfrm>
        </p:spPr>
        <p:txBody>
          <a:bodyPr/>
          <a:lstStyle/>
          <a:p>
            <a:pPr>
              <a:lnSpc>
                <a:spcPct val="100000"/>
              </a:lnSpc>
            </a:pPr>
            <a:r>
              <a:rPr lang="en-US" spc="0" dirty="0"/>
              <a:t>Learning Objectives – Protect your virtual machines with Azure Backup</a:t>
            </a:r>
            <a:endParaRPr lang="en-US" spc="0" dirty="0">
              <a:solidFill>
                <a:schemeClr val="bg1"/>
              </a:solidFill>
            </a:endParaRPr>
          </a:p>
        </p:txBody>
      </p:sp>
      <p:sp>
        <p:nvSpPr>
          <p:cNvPr id="4" name="Text Placeholder 2">
            <a:extLst>
              <a:ext uri="{FF2B5EF4-FFF2-40B4-BE49-F238E27FC236}">
                <a16:creationId xmlns:a16="http://schemas.microsoft.com/office/drawing/2014/main" id="{3BB2BC06-AD7B-4160-AF18-683ABA3A835B}"/>
              </a:ext>
            </a:extLst>
          </p:cNvPr>
          <p:cNvSpPr txBox="1">
            <a:spLocks/>
          </p:cNvSpPr>
          <p:nvPr/>
        </p:nvSpPr>
        <p:spPr>
          <a:xfrm>
            <a:off x="465138" y="1397477"/>
            <a:ext cx="5753099" cy="4594533"/>
          </a:xfrm>
          <a:prstGeom prst="rect">
            <a:avLst/>
          </a:prstGeom>
        </p:spPr>
        <p:txBody>
          <a:bodyPr vert="horz" wrap="square" lIns="0" tIns="0" rIns="0" bIns="0" rtlCol="0" anchor="t">
            <a:no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fontAlgn="base">
              <a:spcAft>
                <a:spcPts val="600"/>
              </a:spcAft>
              <a:buFont typeface="Arial" panose="020B0604020202020204" pitchFamily="34" charset="0"/>
              <a:buChar char="•"/>
            </a:pPr>
            <a:r>
              <a:rPr lang="en-US" sz="2000" spc="0" dirty="0">
                <a:solidFill>
                  <a:schemeClr val="tx1"/>
                </a:solidFill>
                <a:latin typeface="+mn-lt"/>
                <a:cs typeface="Segoe UI" panose="020B0502040204020203" pitchFamily="34" charset="0"/>
              </a:rPr>
              <a:t>Explore options to protect virtual machine data</a:t>
            </a:r>
          </a:p>
          <a:p>
            <a:pPr marL="342900" indent="-342900" fontAlgn="base">
              <a:spcAft>
                <a:spcPts val="600"/>
              </a:spcAft>
              <a:buFont typeface="Arial" panose="020B0604020202020204" pitchFamily="34" charset="0"/>
              <a:buChar char="•"/>
            </a:pPr>
            <a:r>
              <a:rPr lang="en-US" sz="2000" spc="0" dirty="0">
                <a:solidFill>
                  <a:schemeClr val="tx1"/>
                </a:solidFill>
                <a:latin typeface="+mn-lt"/>
                <a:cs typeface="Segoe UI" panose="020B0502040204020203" pitchFamily="34" charset="0"/>
              </a:rPr>
              <a:t>​Create virtual machine snapshots in Azure Backup</a:t>
            </a:r>
          </a:p>
          <a:p>
            <a:pPr marL="342900" indent="-342900" fontAlgn="base">
              <a:spcAft>
                <a:spcPts val="600"/>
              </a:spcAft>
              <a:buFont typeface="Arial" panose="020B0604020202020204" pitchFamily="34" charset="0"/>
              <a:buChar char="•"/>
            </a:pPr>
            <a:r>
              <a:rPr lang="en-US" sz="2000" spc="0" dirty="0">
                <a:solidFill>
                  <a:schemeClr val="tx1"/>
                </a:solidFill>
                <a:latin typeface="+mn-lt"/>
                <a:cs typeface="Segoe UI" panose="020B0502040204020203" pitchFamily="34" charset="0"/>
              </a:rPr>
              <a:t>Setup Recovery Services Vault backup options</a:t>
            </a:r>
          </a:p>
          <a:p>
            <a:pPr marL="342900" indent="-342900" fontAlgn="base">
              <a:spcAft>
                <a:spcPts val="600"/>
              </a:spcAft>
              <a:buFont typeface="Arial" panose="020B0604020202020204" pitchFamily="34" charset="0"/>
              <a:buChar char="•"/>
            </a:pPr>
            <a:r>
              <a:rPr lang="en-US" sz="2000" spc="0" dirty="0">
                <a:solidFill>
                  <a:schemeClr val="tx1"/>
                </a:solidFill>
                <a:latin typeface="+mn-lt"/>
                <a:cs typeface="Segoe UI" panose="020B0502040204020203" pitchFamily="34" charset="0"/>
              </a:rPr>
              <a:t>Backup Virtual Machines</a:t>
            </a:r>
          </a:p>
          <a:p>
            <a:pPr marL="342900" indent="-342900" fontAlgn="base">
              <a:spcAft>
                <a:spcPts val="600"/>
              </a:spcAft>
              <a:buFont typeface="Arial" panose="020B0604020202020204" pitchFamily="34" charset="0"/>
              <a:buChar char="•"/>
            </a:pPr>
            <a:r>
              <a:rPr lang="en-US" sz="2000" spc="0" dirty="0">
                <a:solidFill>
                  <a:schemeClr val="tx1"/>
                </a:solidFill>
                <a:latin typeface="+mn-lt"/>
                <a:cs typeface="Segoe UI" panose="020B0502040204020203" pitchFamily="34" charset="0"/>
              </a:rPr>
              <a:t>Restore Virtual Machines</a:t>
            </a:r>
          </a:p>
          <a:p>
            <a:pPr marL="342900" indent="-342900" fontAlgn="base">
              <a:spcAft>
                <a:spcPts val="600"/>
              </a:spcAft>
              <a:buFont typeface="Arial" panose="020B0604020202020204" pitchFamily="34" charset="0"/>
              <a:buChar char="•"/>
            </a:pPr>
            <a:r>
              <a:rPr lang="en-US" sz="2000" spc="0" dirty="0">
                <a:solidFill>
                  <a:schemeClr val="tx1"/>
                </a:solidFill>
                <a:latin typeface="+mn-lt"/>
                <a:cs typeface="Segoe UI" panose="020B0502040204020203" pitchFamily="34" charset="0"/>
              </a:rPr>
              <a:t>Demonstration – Virtual Machine Backups</a:t>
            </a:r>
          </a:p>
          <a:p>
            <a:pPr marL="342900" indent="-342900" fontAlgn="base">
              <a:spcAft>
                <a:spcPts val="600"/>
              </a:spcAft>
              <a:buFont typeface="Arial" panose="020B0604020202020204" pitchFamily="34" charset="0"/>
              <a:buChar char="•"/>
            </a:pPr>
            <a:r>
              <a:rPr lang="en-US" sz="2000" spc="0" dirty="0">
                <a:solidFill>
                  <a:schemeClr val="tx1"/>
                </a:solidFill>
                <a:latin typeface="+mn-lt"/>
                <a:cs typeface="Segoe UI" panose="020B0502040204020203" pitchFamily="34" charset="0"/>
              </a:rPr>
              <a:t>Manage soft delete (optional)</a:t>
            </a:r>
          </a:p>
          <a:p>
            <a:pPr marL="342900" indent="-342900" fontAlgn="base">
              <a:spcAft>
                <a:spcPts val="600"/>
              </a:spcAft>
              <a:buFont typeface="Arial" panose="020B0604020202020204" pitchFamily="34" charset="0"/>
              <a:buChar char="•"/>
            </a:pPr>
            <a:r>
              <a:rPr lang="en-US" sz="2000" spc="0" dirty="0">
                <a:solidFill>
                  <a:schemeClr val="tx1"/>
                </a:solidFill>
                <a:latin typeface="+mn-lt"/>
                <a:cs typeface="Segoe UI" panose="020B0502040204020203" pitchFamily="34" charset="0"/>
              </a:rPr>
              <a:t>Implement Azure Site Recovery</a:t>
            </a:r>
          </a:p>
          <a:p>
            <a:pPr marL="342900" indent="-342900" fontAlgn="base">
              <a:spcAft>
                <a:spcPts val="600"/>
              </a:spcAft>
              <a:buFont typeface="Arial" panose="020B0604020202020204" pitchFamily="34" charset="0"/>
              <a:buChar char="•"/>
            </a:pPr>
            <a:r>
              <a:rPr lang="en-US" sz="2000" spc="0" dirty="0">
                <a:solidFill>
                  <a:schemeClr val="tx1"/>
                </a:solidFill>
                <a:latin typeface="+mn-lt"/>
                <a:cs typeface="Segoe UI" panose="020B0502040204020203" pitchFamily="34" charset="0"/>
              </a:rPr>
              <a:t>Learning Recap</a:t>
            </a:r>
            <a:endParaRPr lang="en-US" sz="2000" spc="0" dirty="0">
              <a:solidFill>
                <a:schemeClr val="tx1"/>
              </a:solidFill>
              <a:latin typeface="+mn-lt"/>
            </a:endParaRPr>
          </a:p>
        </p:txBody>
      </p:sp>
      <p:sp>
        <p:nvSpPr>
          <p:cNvPr id="5" name="TextBox 4">
            <a:extLst>
              <a:ext uri="{FF2B5EF4-FFF2-40B4-BE49-F238E27FC236}">
                <a16:creationId xmlns:a16="http://schemas.microsoft.com/office/drawing/2014/main" id="{0192AD10-EC9A-05AA-64BF-451A16CA3578}"/>
              </a:ext>
            </a:extLst>
          </p:cNvPr>
          <p:cNvSpPr txBox="1"/>
          <p:nvPr/>
        </p:nvSpPr>
        <p:spPr>
          <a:xfrm>
            <a:off x="6450840" y="1848730"/>
            <a:ext cx="4761702" cy="2539157"/>
          </a:xfrm>
          <a:prstGeom prst="rect">
            <a:avLst/>
          </a:prstGeom>
          <a:noFill/>
        </p:spPr>
        <p:txBody>
          <a:bodyPr wrap="square">
            <a:spAutoFit/>
          </a:bodyPr>
          <a:lstStyle/>
          <a:p>
            <a:pPr algn="l"/>
            <a:r>
              <a:rPr lang="en-US" kern="0" dirty="0">
                <a:solidFill>
                  <a:srgbClr val="243A5E"/>
                </a:solidFill>
              </a:rPr>
              <a:t>Monitor and maintain Azure resources (10–15%): Implement backup and recovery</a:t>
            </a:r>
          </a:p>
          <a:p>
            <a:pPr marL="173038" marR="0" lvl="0" indent="-173038"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Perform backup and restore operations by using Azure Backup</a:t>
            </a:r>
          </a:p>
          <a:p>
            <a:pPr marL="173038" marR="0" lvl="0" indent="-173038"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Configure Azure Site Recovery for Azure resources</a:t>
            </a:r>
          </a:p>
          <a:p>
            <a:pPr marL="173038" marR="0" lvl="0" indent="-173038"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Perform a failover to a secondary region by using Site Recovery</a:t>
            </a:r>
          </a:p>
        </p:txBody>
      </p:sp>
    </p:spTree>
    <p:extLst>
      <p:ext uri="{BB962C8B-B14F-4D97-AF65-F5344CB8AC3E}">
        <p14:creationId xmlns:p14="http://schemas.microsoft.com/office/powerpoint/2010/main" val="231399354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Explore options to protect virtual machine data</a:t>
            </a:r>
          </a:p>
        </p:txBody>
      </p:sp>
      <p:sp>
        <p:nvSpPr>
          <p:cNvPr id="2" name="Rectangle 1">
            <a:extLst>
              <a:ext uri="{FF2B5EF4-FFF2-40B4-BE49-F238E27FC236}">
                <a16:creationId xmlns:a16="http://schemas.microsoft.com/office/drawing/2014/main" id="{9EBFCDD2-A04C-414C-95FA-57FA4FC69E3E}"/>
              </a:ext>
            </a:extLst>
          </p:cNvPr>
          <p:cNvSpPr/>
          <p:nvPr/>
        </p:nvSpPr>
        <p:spPr bwMode="auto">
          <a:xfrm>
            <a:off x="404813" y="1749976"/>
            <a:ext cx="3758495" cy="9144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200" dirty="0">
                <a:solidFill>
                  <a:schemeClr val="bg1"/>
                </a:solidFill>
                <a:latin typeface="+mj-lt"/>
                <a:ea typeface="Segoe UI" pitchFamily="34" charset="0"/>
                <a:cs typeface="Segoe UI" pitchFamily="34" charset="0"/>
              </a:rPr>
              <a:t>Snapshots</a:t>
            </a:r>
          </a:p>
        </p:txBody>
      </p:sp>
      <p:sp>
        <p:nvSpPr>
          <p:cNvPr id="9" name="Rectangle 8">
            <a:extLst>
              <a:ext uri="{FF2B5EF4-FFF2-40B4-BE49-F238E27FC236}">
                <a16:creationId xmlns:a16="http://schemas.microsoft.com/office/drawing/2014/main" id="{4B780033-ABD8-4174-863A-DE83F8511868}"/>
              </a:ext>
            </a:extLst>
          </p:cNvPr>
          <p:cNvSpPr/>
          <p:nvPr/>
        </p:nvSpPr>
        <p:spPr bwMode="auto">
          <a:xfrm>
            <a:off x="4321018" y="1749976"/>
            <a:ext cx="3758495" cy="9144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200">
                <a:solidFill>
                  <a:schemeClr val="bg1"/>
                </a:solidFill>
                <a:latin typeface="+mj-lt"/>
                <a:ea typeface="Segoe UI" pitchFamily="34" charset="0"/>
                <a:cs typeface="Segoe UI" pitchFamily="34" charset="0"/>
              </a:rPr>
              <a:t>Azure Backup</a:t>
            </a:r>
            <a:endParaRPr lang="en-US" sz="2200" dirty="0">
              <a:solidFill>
                <a:schemeClr val="bg1"/>
              </a:solidFill>
              <a:latin typeface="+mj-lt"/>
              <a:ea typeface="Segoe UI" pitchFamily="34" charset="0"/>
              <a:cs typeface="Segoe UI" pitchFamily="34" charset="0"/>
            </a:endParaRPr>
          </a:p>
        </p:txBody>
      </p:sp>
      <p:sp>
        <p:nvSpPr>
          <p:cNvPr id="10" name="Rectangle 9">
            <a:extLst>
              <a:ext uri="{FF2B5EF4-FFF2-40B4-BE49-F238E27FC236}">
                <a16:creationId xmlns:a16="http://schemas.microsoft.com/office/drawing/2014/main" id="{228A5BA1-97C0-4D8D-B7F5-EEA3DED7D637}"/>
              </a:ext>
            </a:extLst>
          </p:cNvPr>
          <p:cNvSpPr/>
          <p:nvPr/>
        </p:nvSpPr>
        <p:spPr bwMode="auto">
          <a:xfrm>
            <a:off x="8237223" y="1749976"/>
            <a:ext cx="3758495" cy="914400"/>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US" sz="2200" dirty="0">
                <a:solidFill>
                  <a:schemeClr val="tx1"/>
                </a:solidFill>
                <a:latin typeface="+mj-lt"/>
                <a:ea typeface="Segoe UI" pitchFamily="34" charset="0"/>
                <a:cs typeface="Segoe UI" pitchFamily="34" charset="0"/>
              </a:rPr>
              <a:t>Azure Site Recovery</a:t>
            </a:r>
          </a:p>
        </p:txBody>
      </p:sp>
      <p:sp>
        <p:nvSpPr>
          <p:cNvPr id="11" name="Rectangle 10">
            <a:extLst>
              <a:ext uri="{FF2B5EF4-FFF2-40B4-BE49-F238E27FC236}">
                <a16:creationId xmlns:a16="http://schemas.microsoft.com/office/drawing/2014/main" id="{5AF48A31-1212-42FC-BE4A-C419E4BD68BC}"/>
              </a:ext>
              <a:ext uri="{C183D7F6-B498-43B3-948B-1728B52AA6E4}">
                <adec:decorative xmlns:adec="http://schemas.microsoft.com/office/drawing/2017/decorative" val="0"/>
              </a:ext>
            </a:extLst>
          </p:cNvPr>
          <p:cNvSpPr/>
          <p:nvPr/>
        </p:nvSpPr>
        <p:spPr bwMode="auto">
          <a:xfrm>
            <a:off x="404809" y="3016875"/>
            <a:ext cx="3758495" cy="197838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91440" numCol="1" spcCol="0" rtlCol="0" fromWordArt="0" anchor="t" anchorCtr="0" forceAA="0" compatLnSpc="1">
            <a:prstTxWarp prst="textNoShape">
              <a:avLst/>
            </a:prstTxWarp>
            <a:noAutofit/>
          </a:bodyPr>
          <a:lstStyle/>
          <a:p>
            <a:pPr marL="57150">
              <a:spcBef>
                <a:spcPts val="1200"/>
              </a:spcBef>
              <a:tabLst>
                <a:tab pos="457200" algn="l"/>
              </a:tabLst>
            </a:pPr>
            <a:r>
              <a:rPr lang="en-US" sz="2000" dirty="0">
                <a:solidFill>
                  <a:schemeClr val="tx1"/>
                </a:solidFill>
              </a:rPr>
              <a:t>Managed snapshots provide a quick and simple option for backing up VMs that use Managed Disks</a:t>
            </a:r>
          </a:p>
        </p:txBody>
      </p:sp>
      <p:sp>
        <p:nvSpPr>
          <p:cNvPr id="12" name="Rectangle 11">
            <a:extLst>
              <a:ext uri="{FF2B5EF4-FFF2-40B4-BE49-F238E27FC236}">
                <a16:creationId xmlns:a16="http://schemas.microsoft.com/office/drawing/2014/main" id="{7ACC569A-1D4D-4A2A-85E1-6BCC7DE7C926}"/>
              </a:ext>
              <a:ext uri="{C183D7F6-B498-43B3-948B-1728B52AA6E4}">
                <adec:decorative xmlns:adec="http://schemas.microsoft.com/office/drawing/2017/decorative" val="0"/>
              </a:ext>
            </a:extLst>
          </p:cNvPr>
          <p:cNvSpPr/>
          <p:nvPr/>
        </p:nvSpPr>
        <p:spPr bwMode="auto">
          <a:xfrm>
            <a:off x="4321015" y="3016875"/>
            <a:ext cx="3758495" cy="197838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91440" numCol="1" spcCol="0" rtlCol="0" fromWordArt="0" anchor="t" anchorCtr="0" forceAA="0" compatLnSpc="1">
            <a:prstTxWarp prst="textNoShape">
              <a:avLst/>
            </a:prstTxWarp>
            <a:noAutofit/>
          </a:bodyPr>
          <a:lstStyle/>
          <a:p>
            <a:pPr marL="57150">
              <a:spcBef>
                <a:spcPts val="1200"/>
              </a:spcBef>
              <a:tabLst>
                <a:tab pos="342900" algn="l"/>
              </a:tabLst>
            </a:pPr>
            <a:r>
              <a:rPr lang="en-US" sz="2000" dirty="0">
                <a:solidFill>
                  <a:schemeClr val="tx1"/>
                </a:solidFill>
              </a:rPr>
              <a:t>Azure Backup supports application-consistent backups for both Windows and Linux VMs</a:t>
            </a:r>
          </a:p>
        </p:txBody>
      </p:sp>
      <p:sp>
        <p:nvSpPr>
          <p:cNvPr id="13" name="Rectangle 12">
            <a:extLst>
              <a:ext uri="{FF2B5EF4-FFF2-40B4-BE49-F238E27FC236}">
                <a16:creationId xmlns:a16="http://schemas.microsoft.com/office/drawing/2014/main" id="{E02B9807-E041-4744-B078-A8EFF4D09F95}"/>
              </a:ext>
              <a:ext uri="{C183D7F6-B498-43B3-948B-1728B52AA6E4}">
                <adec:decorative xmlns:adec="http://schemas.microsoft.com/office/drawing/2017/decorative" val="0"/>
              </a:ext>
            </a:extLst>
          </p:cNvPr>
          <p:cNvSpPr/>
          <p:nvPr/>
        </p:nvSpPr>
        <p:spPr bwMode="auto">
          <a:xfrm>
            <a:off x="8237223" y="3016875"/>
            <a:ext cx="3758495" cy="197838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91440" numCol="1" spcCol="0" rtlCol="0" fromWordArt="0" anchor="t" anchorCtr="0" forceAA="0" compatLnSpc="1">
            <a:prstTxWarp prst="textNoShape">
              <a:avLst/>
            </a:prstTxWarp>
            <a:noAutofit/>
          </a:bodyPr>
          <a:lstStyle/>
          <a:p>
            <a:pPr marL="57150">
              <a:spcBef>
                <a:spcPts val="1200"/>
              </a:spcBef>
              <a:tabLst>
                <a:tab pos="342900" algn="l"/>
              </a:tabLst>
            </a:pPr>
            <a:r>
              <a:rPr lang="en-US" sz="2000" dirty="0">
                <a:solidFill>
                  <a:schemeClr val="tx1"/>
                </a:solidFill>
              </a:rPr>
              <a:t>Azure Site Recovery protects your VMs from a major disaster scenario when a whole region experiences an outage</a:t>
            </a:r>
          </a:p>
        </p:txBody>
      </p:sp>
    </p:spTree>
    <p:extLst>
      <p:ext uri="{BB962C8B-B14F-4D97-AF65-F5344CB8AC3E}">
        <p14:creationId xmlns:p14="http://schemas.microsoft.com/office/powerpoint/2010/main" val="209776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39CE1-589E-4886-BF4A-B925C4FE6506}"/>
              </a:ext>
            </a:extLst>
          </p:cNvPr>
          <p:cNvSpPr>
            <a:spLocks noGrp="1"/>
          </p:cNvSpPr>
          <p:nvPr>
            <p:ph type="title"/>
          </p:nvPr>
        </p:nvSpPr>
        <p:spPr/>
        <p:txBody>
          <a:bodyPr/>
          <a:lstStyle/>
          <a:p>
            <a:r>
              <a:rPr lang="en-US" dirty="0"/>
              <a:t>Create virtual machine snapshots in Azure Backup</a:t>
            </a:r>
          </a:p>
        </p:txBody>
      </p:sp>
      <p:pic>
        <p:nvPicPr>
          <p:cNvPr id="4" name="Picture 3" descr="A virtual machine snapshot is transferring data to an Azure Recovery Services vault">
            <a:extLst>
              <a:ext uri="{FF2B5EF4-FFF2-40B4-BE49-F238E27FC236}">
                <a16:creationId xmlns:a16="http://schemas.microsoft.com/office/drawing/2014/main" id="{D56898CB-899D-4E45-BD32-1F8CE8DB18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871" y="1397477"/>
            <a:ext cx="11124732" cy="2548248"/>
          </a:xfrm>
          <a:prstGeom prst="rect">
            <a:avLst/>
          </a:prstGeom>
        </p:spPr>
      </p:pic>
      <p:sp>
        <p:nvSpPr>
          <p:cNvPr id="12" name="Rectangle 11">
            <a:extLst>
              <a:ext uri="{FF2B5EF4-FFF2-40B4-BE49-F238E27FC236}">
                <a16:creationId xmlns:a16="http://schemas.microsoft.com/office/drawing/2014/main" id="{B7D50DA1-6C29-4C7B-AD39-772099E4A03A}"/>
              </a:ext>
              <a:ext uri="{C183D7F6-B498-43B3-948B-1728B52AA6E4}">
                <adec:decorative xmlns:adec="http://schemas.microsoft.com/office/drawing/2017/decorative" val="0"/>
              </a:ext>
            </a:extLst>
          </p:cNvPr>
          <p:cNvSpPr/>
          <p:nvPr/>
        </p:nvSpPr>
        <p:spPr bwMode="auto">
          <a:xfrm>
            <a:off x="424910" y="4455886"/>
            <a:ext cx="3758495" cy="1307653"/>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91440" numCol="1" spcCol="0" rtlCol="0" fromWordArt="0" anchor="t" anchorCtr="0" forceAA="0" compatLnSpc="1">
            <a:prstTxWarp prst="textNoShape">
              <a:avLst/>
            </a:prstTxWarp>
            <a:noAutofit/>
          </a:bodyPr>
          <a:lstStyle/>
          <a:p>
            <a:pPr marL="57150">
              <a:spcBef>
                <a:spcPts val="1200"/>
              </a:spcBef>
              <a:tabLst>
                <a:tab pos="342900" algn="l"/>
              </a:tabLst>
            </a:pPr>
            <a:r>
              <a:rPr lang="en-US" sz="2000" dirty="0">
                <a:solidFill>
                  <a:schemeClr val="tx1"/>
                </a:solidFill>
              </a:rPr>
              <a:t>Use snapshots taken as part of a backup job </a:t>
            </a:r>
          </a:p>
        </p:txBody>
      </p:sp>
      <p:sp>
        <p:nvSpPr>
          <p:cNvPr id="13" name="Rectangle 12">
            <a:extLst>
              <a:ext uri="{FF2B5EF4-FFF2-40B4-BE49-F238E27FC236}">
                <a16:creationId xmlns:a16="http://schemas.microsoft.com/office/drawing/2014/main" id="{3C4D2EA2-2E08-4324-9EB8-F0BB0B2C4431}"/>
              </a:ext>
              <a:ext uri="{C183D7F6-B498-43B3-948B-1728B52AA6E4}">
                <adec:decorative xmlns:adec="http://schemas.microsoft.com/office/drawing/2017/decorative" val="0"/>
              </a:ext>
            </a:extLst>
          </p:cNvPr>
          <p:cNvSpPr/>
          <p:nvPr/>
        </p:nvSpPr>
        <p:spPr bwMode="auto">
          <a:xfrm>
            <a:off x="4341116" y="4455886"/>
            <a:ext cx="3758495" cy="1307653"/>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91440" numCol="1" spcCol="0" rtlCol="0" fromWordArt="0" anchor="t" anchorCtr="0" forceAA="0" compatLnSpc="1">
            <a:prstTxWarp prst="textNoShape">
              <a:avLst/>
            </a:prstTxWarp>
            <a:noAutofit/>
          </a:bodyPr>
          <a:lstStyle/>
          <a:p>
            <a:pPr marL="57150">
              <a:spcBef>
                <a:spcPts val="1200"/>
              </a:spcBef>
              <a:tabLst>
                <a:tab pos="342900" algn="l"/>
              </a:tabLst>
            </a:pPr>
            <a:r>
              <a:rPr lang="en-US" sz="2000" dirty="0">
                <a:solidFill>
                  <a:schemeClr val="tx1"/>
                </a:solidFill>
              </a:rPr>
              <a:t>Reduces recovery wait times – don’t wait for data transfer to the vault to finish</a:t>
            </a:r>
          </a:p>
        </p:txBody>
      </p:sp>
      <p:sp>
        <p:nvSpPr>
          <p:cNvPr id="14" name="Rectangle 13">
            <a:extLst>
              <a:ext uri="{FF2B5EF4-FFF2-40B4-BE49-F238E27FC236}">
                <a16:creationId xmlns:a16="http://schemas.microsoft.com/office/drawing/2014/main" id="{41F89C55-256B-4406-A6A3-9BD90CBFF2ED}"/>
              </a:ext>
              <a:ext uri="{C183D7F6-B498-43B3-948B-1728B52AA6E4}">
                <adec:decorative xmlns:adec="http://schemas.microsoft.com/office/drawing/2017/decorative" val="0"/>
              </a:ext>
            </a:extLst>
          </p:cNvPr>
          <p:cNvSpPr/>
          <p:nvPr/>
        </p:nvSpPr>
        <p:spPr bwMode="auto">
          <a:xfrm>
            <a:off x="8257324" y="4455886"/>
            <a:ext cx="3758495" cy="1307653"/>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91440" numCol="1" spcCol="0" rtlCol="0" fromWordArt="0" anchor="t" anchorCtr="0" forceAA="0" compatLnSpc="1">
            <a:prstTxWarp prst="textNoShape">
              <a:avLst/>
            </a:prstTxWarp>
            <a:noAutofit/>
          </a:bodyPr>
          <a:lstStyle/>
          <a:p>
            <a:pPr marL="57150">
              <a:spcBef>
                <a:spcPts val="1200"/>
              </a:spcBef>
              <a:tabLst>
                <a:tab pos="342900" algn="l"/>
              </a:tabLst>
            </a:pPr>
            <a:r>
              <a:rPr lang="en-US" sz="2000" dirty="0">
                <a:solidFill>
                  <a:schemeClr val="tx1"/>
                </a:solidFill>
              </a:rPr>
              <a:t>Configure Instant Restore retention (standard or enhanced)</a:t>
            </a:r>
          </a:p>
        </p:txBody>
      </p:sp>
    </p:spTree>
    <p:extLst>
      <p:ext uri="{BB962C8B-B14F-4D97-AF65-F5344CB8AC3E}">
        <p14:creationId xmlns:p14="http://schemas.microsoft.com/office/powerpoint/2010/main" val="99361578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F37B9-7968-419C-A543-99FA6AD106A2}"/>
              </a:ext>
              <a:ext uri="{C183D7F6-B498-43B3-948B-1728B52AA6E4}">
                <adec:decorative xmlns:adec="http://schemas.microsoft.com/office/drawing/2017/decorative" val="0"/>
              </a:ext>
            </a:extLst>
          </p:cNvPr>
          <p:cNvSpPr>
            <a:spLocks noGrp="1"/>
          </p:cNvSpPr>
          <p:nvPr>
            <p:ph type="title"/>
          </p:nvPr>
        </p:nvSpPr>
        <p:spPr/>
        <p:txBody>
          <a:bodyPr/>
          <a:lstStyle/>
          <a:p>
            <a:r>
              <a:rPr lang="en-US" dirty="0"/>
              <a:t>Set up Azure Recovery Services vault backup options</a:t>
            </a:r>
          </a:p>
        </p:txBody>
      </p:sp>
      <p:sp>
        <p:nvSpPr>
          <p:cNvPr id="3" name="Text Placeholder 2">
            <a:extLst>
              <a:ext uri="{FF2B5EF4-FFF2-40B4-BE49-F238E27FC236}">
                <a16:creationId xmlns:a16="http://schemas.microsoft.com/office/drawing/2014/main" id="{AB7B266E-60D7-CCEE-184A-1431D3436DC2}"/>
              </a:ext>
            </a:extLst>
          </p:cNvPr>
          <p:cNvSpPr>
            <a:spLocks noGrp="1"/>
          </p:cNvSpPr>
          <p:nvPr>
            <p:ph type="body" sz="quarter" idx="10"/>
          </p:nvPr>
        </p:nvSpPr>
        <p:spPr/>
        <p:txBody>
          <a:bodyPr/>
          <a:lstStyle/>
          <a:p>
            <a:r>
              <a:rPr lang="en-US" dirty="0"/>
              <a:t> Multiple servers can be protected using the same Recovery Services vault </a:t>
            </a:r>
          </a:p>
          <a:p>
            <a:endParaRPr lang="en-US" dirty="0"/>
          </a:p>
        </p:txBody>
      </p:sp>
      <p:sp>
        <p:nvSpPr>
          <p:cNvPr id="14" name="Freeform: Shape 13">
            <a:extLst>
              <a:ext uri="{FF2B5EF4-FFF2-40B4-BE49-F238E27FC236}">
                <a16:creationId xmlns:a16="http://schemas.microsoft.com/office/drawing/2014/main" id="{E067970C-0522-428A-9D19-F00D29C2A3FA}"/>
              </a:ext>
            </a:extLst>
          </p:cNvPr>
          <p:cNvSpPr/>
          <p:nvPr/>
        </p:nvSpPr>
        <p:spPr>
          <a:xfrm>
            <a:off x="440753" y="1598656"/>
            <a:ext cx="5712683" cy="66751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rgbClr val="243A5E"/>
          </a:solidFill>
          <a:ln w="6350">
            <a:solidFill>
              <a:srgbClr val="243A5E"/>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spcBef>
                <a:spcPts val="1200"/>
              </a:spcBef>
            </a:pPr>
            <a:r>
              <a:rPr lang="en-US" sz="2000" dirty="0">
                <a:solidFill>
                  <a:schemeClr val="bg1"/>
                </a:solidFill>
                <a:latin typeface="+mj-lt"/>
              </a:rPr>
              <a:t>Azure Workloads</a:t>
            </a:r>
          </a:p>
        </p:txBody>
      </p:sp>
      <p:sp>
        <p:nvSpPr>
          <p:cNvPr id="15" name="Rectangle 14">
            <a:extLst>
              <a:ext uri="{FF2B5EF4-FFF2-40B4-BE49-F238E27FC236}">
                <a16:creationId xmlns:a16="http://schemas.microsoft.com/office/drawing/2014/main" id="{EB5B56CC-D243-464F-88CC-E638628D96EC}"/>
              </a:ext>
              <a:ext uri="{C183D7F6-B498-43B3-948B-1728B52AA6E4}">
                <adec:decorative xmlns:adec="http://schemas.microsoft.com/office/drawing/2017/decorative" val="1"/>
              </a:ext>
            </a:extLst>
          </p:cNvPr>
          <p:cNvSpPr/>
          <p:nvPr/>
        </p:nvSpPr>
        <p:spPr bwMode="auto">
          <a:xfrm>
            <a:off x="440754" y="2406881"/>
            <a:ext cx="5712682" cy="3589604"/>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sp>
        <p:nvSpPr>
          <p:cNvPr id="17" name="Freeform: Shape 16">
            <a:extLst>
              <a:ext uri="{FF2B5EF4-FFF2-40B4-BE49-F238E27FC236}">
                <a16:creationId xmlns:a16="http://schemas.microsoft.com/office/drawing/2014/main" id="{3E820D80-D71F-4155-9D47-F05F386B409F}"/>
              </a:ext>
            </a:extLst>
          </p:cNvPr>
          <p:cNvSpPr/>
          <p:nvPr/>
        </p:nvSpPr>
        <p:spPr>
          <a:xfrm>
            <a:off x="6310471" y="1598656"/>
            <a:ext cx="5712683" cy="667512"/>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rgbClr val="243A5E"/>
          </a:solidFill>
          <a:ln w="6350">
            <a:solidFill>
              <a:srgbClr val="243A5E"/>
            </a:solid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algn="ctr">
              <a:spcBef>
                <a:spcPts val="1200"/>
              </a:spcBef>
            </a:pPr>
            <a:r>
              <a:rPr lang="en-US" sz="2000" dirty="0">
                <a:solidFill>
                  <a:schemeClr val="bg1"/>
                </a:solidFill>
                <a:latin typeface="+mj-lt"/>
              </a:rPr>
              <a:t>On-Premises Workloads</a:t>
            </a:r>
          </a:p>
        </p:txBody>
      </p:sp>
      <p:sp>
        <p:nvSpPr>
          <p:cNvPr id="18" name="Rectangle 17">
            <a:extLst>
              <a:ext uri="{FF2B5EF4-FFF2-40B4-BE49-F238E27FC236}">
                <a16:creationId xmlns:a16="http://schemas.microsoft.com/office/drawing/2014/main" id="{A5B3E3C3-5589-4A5D-8412-441783B83A65}"/>
              </a:ext>
              <a:ext uri="{C183D7F6-B498-43B3-948B-1728B52AA6E4}">
                <adec:decorative xmlns:adec="http://schemas.microsoft.com/office/drawing/2017/decorative" val="1"/>
              </a:ext>
            </a:extLst>
          </p:cNvPr>
          <p:cNvSpPr/>
          <p:nvPr/>
        </p:nvSpPr>
        <p:spPr bwMode="auto">
          <a:xfrm>
            <a:off x="6310471" y="2406881"/>
            <a:ext cx="5712682" cy="3589604"/>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a:extLst>
              <a:ext uri="{FF2B5EF4-FFF2-40B4-BE49-F238E27FC236}">
                <a16:creationId xmlns:a16="http://schemas.microsoft.com/office/drawing/2014/main" id="{400A0BEC-C477-443C-BA19-E0E813E1C084}"/>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53671" y="2499820"/>
            <a:ext cx="2026281" cy="3327835"/>
          </a:xfrm>
          <a:prstGeom prst="rect">
            <a:avLst/>
          </a:prstGeom>
          <a:ln>
            <a:solidFill>
              <a:schemeClr val="tx1"/>
            </a:solidFill>
          </a:ln>
        </p:spPr>
      </p:pic>
      <p:pic>
        <p:nvPicPr>
          <p:cNvPr id="5" name="Picture 4">
            <a:extLst>
              <a:ext uri="{FF2B5EF4-FFF2-40B4-BE49-F238E27FC236}">
                <a16:creationId xmlns:a16="http://schemas.microsoft.com/office/drawing/2014/main" id="{08D4D32A-602F-A8D6-1EE4-25578AEE96A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793307" y="2494829"/>
            <a:ext cx="2959098" cy="3413708"/>
          </a:xfrm>
          <a:prstGeom prst="rect">
            <a:avLst/>
          </a:prstGeom>
          <a:ln>
            <a:solidFill>
              <a:schemeClr val="tx1"/>
            </a:solidFill>
          </a:ln>
        </p:spPr>
      </p:pic>
    </p:spTree>
    <p:extLst>
      <p:ext uri="{BB962C8B-B14F-4D97-AF65-F5344CB8AC3E}">
        <p14:creationId xmlns:p14="http://schemas.microsoft.com/office/powerpoint/2010/main" val="186133840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Backup Virtual Machines</a:t>
            </a:r>
          </a:p>
        </p:txBody>
      </p:sp>
      <p:sp>
        <p:nvSpPr>
          <p:cNvPr id="15" name="Oval 14">
            <a:extLst>
              <a:ext uri="{FF2B5EF4-FFF2-40B4-BE49-F238E27FC236}">
                <a16:creationId xmlns:a16="http://schemas.microsoft.com/office/drawing/2014/main" id="{0873D7FC-D3EA-45A2-8566-335DD4BD3012}"/>
              </a:ext>
            </a:extLst>
          </p:cNvPr>
          <p:cNvSpPr/>
          <p:nvPr/>
        </p:nvSpPr>
        <p:spPr bwMode="auto">
          <a:xfrm>
            <a:off x="2293748" y="2762387"/>
            <a:ext cx="489240" cy="489240"/>
          </a:xfrm>
          <a:prstGeom prst="ellipse">
            <a:avLst/>
          </a:prstGeom>
          <a:solidFill>
            <a:schemeClr val="bg1"/>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IN" sz="2400" dirty="0">
                <a:solidFill>
                  <a:schemeClr val="tx1"/>
                </a:solidFill>
                <a:latin typeface="+mj-lt"/>
                <a:ea typeface="Segoe UI" pitchFamily="34" charset="0"/>
                <a:cs typeface="Segoe UI" pitchFamily="34" charset="0"/>
              </a:rPr>
              <a:t>1</a:t>
            </a:r>
            <a:endParaRPr lang="en-US" sz="2400" dirty="0">
              <a:solidFill>
                <a:schemeClr val="tx1"/>
              </a:solidFill>
              <a:latin typeface="+mj-lt"/>
              <a:ea typeface="Segoe UI" pitchFamily="34" charset="0"/>
              <a:cs typeface="Segoe UI" pitchFamily="34" charset="0"/>
            </a:endParaRPr>
          </a:p>
        </p:txBody>
      </p:sp>
      <p:sp>
        <p:nvSpPr>
          <p:cNvPr id="33" name="Freeform: Shape 32">
            <a:extLst>
              <a:ext uri="{FF2B5EF4-FFF2-40B4-BE49-F238E27FC236}">
                <a16:creationId xmlns:a16="http://schemas.microsoft.com/office/drawing/2014/main" id="{239271B1-A22B-435F-ABBF-8D5D455D1676}"/>
              </a:ext>
            </a:extLst>
          </p:cNvPr>
          <p:cNvSpPr/>
          <p:nvPr/>
        </p:nvSpPr>
        <p:spPr bwMode="auto">
          <a:xfrm>
            <a:off x="662669" y="1894414"/>
            <a:ext cx="3751400" cy="1154014"/>
          </a:xfrm>
          <a:custGeom>
            <a:avLst/>
            <a:gdLst>
              <a:gd name="connsiteX0" fmla="*/ 0 w 3751400"/>
              <a:gd name="connsiteY0" fmla="*/ 0 h 1154014"/>
              <a:gd name="connsiteX1" fmla="*/ 3520597 w 3751400"/>
              <a:gd name="connsiteY1" fmla="*/ 0 h 1154014"/>
              <a:gd name="connsiteX2" fmla="*/ 3751400 w 3751400"/>
              <a:gd name="connsiteY2" fmla="*/ 577007 h 1154014"/>
              <a:gd name="connsiteX3" fmla="*/ 3520597 w 3751400"/>
              <a:gd name="connsiteY3" fmla="*/ 1154014 h 1154014"/>
              <a:gd name="connsiteX4" fmla="*/ 2111957 w 3751400"/>
              <a:gd name="connsiteY4" fmla="*/ 1154014 h 1154014"/>
              <a:gd name="connsiteX5" fmla="*/ 2120319 w 3751400"/>
              <a:gd name="connsiteY5" fmla="*/ 1112593 h 1154014"/>
              <a:gd name="connsiteX6" fmla="*/ 1875699 w 3751400"/>
              <a:gd name="connsiteY6" fmla="*/ 867973 h 1154014"/>
              <a:gd name="connsiteX7" fmla="*/ 1631079 w 3751400"/>
              <a:gd name="connsiteY7" fmla="*/ 1112593 h 1154014"/>
              <a:gd name="connsiteX8" fmla="*/ 1639442 w 3751400"/>
              <a:gd name="connsiteY8" fmla="*/ 1154014 h 1154014"/>
              <a:gd name="connsiteX9" fmla="*/ 0 w 3751400"/>
              <a:gd name="connsiteY9" fmla="*/ 1154014 h 1154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51400" h="1154014">
                <a:moveTo>
                  <a:pt x="0" y="0"/>
                </a:moveTo>
                <a:lnTo>
                  <a:pt x="3520597" y="0"/>
                </a:lnTo>
                <a:lnTo>
                  <a:pt x="3751400" y="577007"/>
                </a:lnTo>
                <a:lnTo>
                  <a:pt x="3520597" y="1154014"/>
                </a:lnTo>
                <a:lnTo>
                  <a:pt x="2111957" y="1154014"/>
                </a:lnTo>
                <a:lnTo>
                  <a:pt x="2120319" y="1112593"/>
                </a:lnTo>
                <a:cubicBezTo>
                  <a:pt x="2120319" y="977493"/>
                  <a:pt x="2010799" y="867973"/>
                  <a:pt x="1875699" y="867973"/>
                </a:cubicBezTo>
                <a:cubicBezTo>
                  <a:pt x="1740599" y="867973"/>
                  <a:pt x="1631079" y="977493"/>
                  <a:pt x="1631079" y="1112593"/>
                </a:cubicBezTo>
                <a:lnTo>
                  <a:pt x="1639442" y="1154014"/>
                </a:lnTo>
                <a:lnTo>
                  <a:pt x="0" y="1154014"/>
                </a:lnTo>
                <a:close/>
              </a:path>
            </a:pathLst>
          </a:custGeom>
          <a:solidFill>
            <a:schemeClr val="tx2"/>
          </a:solidFill>
          <a:ln w="12700"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36576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bg1"/>
                </a:solidFill>
                <a:latin typeface="+mj-lt"/>
                <a:ea typeface="Segoe UI" pitchFamily="34" charset="0"/>
                <a:cs typeface="Segoe UI" pitchFamily="34" charset="0"/>
              </a:rPr>
              <a:t>Create a recovery</a:t>
            </a:r>
            <a:br>
              <a:rPr lang="en-US" sz="2000" dirty="0">
                <a:solidFill>
                  <a:schemeClr val="bg1"/>
                </a:solidFill>
                <a:latin typeface="+mj-lt"/>
                <a:ea typeface="Segoe UI" pitchFamily="34" charset="0"/>
                <a:cs typeface="Segoe UI" pitchFamily="34" charset="0"/>
              </a:rPr>
            </a:br>
            <a:r>
              <a:rPr lang="en-US" sz="2000" dirty="0">
                <a:solidFill>
                  <a:schemeClr val="bg1"/>
                </a:solidFill>
                <a:latin typeface="+mj-lt"/>
                <a:ea typeface="Segoe UI" pitchFamily="34" charset="0"/>
                <a:cs typeface="Segoe UI" pitchFamily="34" charset="0"/>
              </a:rPr>
              <a:t>services vault</a:t>
            </a:r>
          </a:p>
        </p:txBody>
      </p:sp>
      <p:sp>
        <p:nvSpPr>
          <p:cNvPr id="38" name="Oval 37">
            <a:extLst>
              <a:ext uri="{FF2B5EF4-FFF2-40B4-BE49-F238E27FC236}">
                <a16:creationId xmlns:a16="http://schemas.microsoft.com/office/drawing/2014/main" id="{1462D1CA-F449-4553-BE66-9186AC7A6564}"/>
              </a:ext>
            </a:extLst>
          </p:cNvPr>
          <p:cNvSpPr/>
          <p:nvPr/>
        </p:nvSpPr>
        <p:spPr bwMode="auto">
          <a:xfrm>
            <a:off x="5973617" y="2762387"/>
            <a:ext cx="489240" cy="489240"/>
          </a:xfrm>
          <a:prstGeom prst="ellipse">
            <a:avLst/>
          </a:prstGeom>
          <a:solidFill>
            <a:schemeClr val="bg1"/>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IN" sz="2400" dirty="0">
                <a:solidFill>
                  <a:schemeClr val="tx1"/>
                </a:solidFill>
                <a:latin typeface="+mj-lt"/>
                <a:ea typeface="Segoe UI" pitchFamily="34" charset="0"/>
                <a:cs typeface="Segoe UI" pitchFamily="34" charset="0"/>
              </a:rPr>
              <a:t>2</a:t>
            </a:r>
            <a:endParaRPr lang="en-US" sz="2400" dirty="0">
              <a:solidFill>
                <a:schemeClr val="tx1"/>
              </a:solidFill>
              <a:latin typeface="+mj-lt"/>
              <a:ea typeface="Segoe UI" pitchFamily="34" charset="0"/>
              <a:cs typeface="Segoe UI" pitchFamily="34" charset="0"/>
            </a:endParaRPr>
          </a:p>
        </p:txBody>
      </p:sp>
      <p:sp>
        <p:nvSpPr>
          <p:cNvPr id="43" name="Freeform: Shape 42">
            <a:extLst>
              <a:ext uri="{FF2B5EF4-FFF2-40B4-BE49-F238E27FC236}">
                <a16:creationId xmlns:a16="http://schemas.microsoft.com/office/drawing/2014/main" id="{C2152B03-6737-4DBE-87F7-411A3A00FF91}"/>
              </a:ext>
            </a:extLst>
          </p:cNvPr>
          <p:cNvSpPr/>
          <p:nvPr/>
        </p:nvSpPr>
        <p:spPr bwMode="auto">
          <a:xfrm>
            <a:off x="4342538" y="1894414"/>
            <a:ext cx="3751400" cy="1154014"/>
          </a:xfrm>
          <a:custGeom>
            <a:avLst/>
            <a:gdLst>
              <a:gd name="connsiteX0" fmla="*/ 0 w 3751400"/>
              <a:gd name="connsiteY0" fmla="*/ 0 h 1154014"/>
              <a:gd name="connsiteX1" fmla="*/ 3520597 w 3751400"/>
              <a:gd name="connsiteY1" fmla="*/ 0 h 1154014"/>
              <a:gd name="connsiteX2" fmla="*/ 3751400 w 3751400"/>
              <a:gd name="connsiteY2" fmla="*/ 577007 h 1154014"/>
              <a:gd name="connsiteX3" fmla="*/ 3520597 w 3751400"/>
              <a:gd name="connsiteY3" fmla="*/ 1154014 h 1154014"/>
              <a:gd name="connsiteX4" fmla="*/ 2111957 w 3751400"/>
              <a:gd name="connsiteY4" fmla="*/ 1154014 h 1154014"/>
              <a:gd name="connsiteX5" fmla="*/ 2120319 w 3751400"/>
              <a:gd name="connsiteY5" fmla="*/ 1112593 h 1154014"/>
              <a:gd name="connsiteX6" fmla="*/ 1875699 w 3751400"/>
              <a:gd name="connsiteY6" fmla="*/ 867973 h 1154014"/>
              <a:gd name="connsiteX7" fmla="*/ 1631079 w 3751400"/>
              <a:gd name="connsiteY7" fmla="*/ 1112593 h 1154014"/>
              <a:gd name="connsiteX8" fmla="*/ 1639442 w 3751400"/>
              <a:gd name="connsiteY8" fmla="*/ 1154014 h 1154014"/>
              <a:gd name="connsiteX9" fmla="*/ 0 w 3751400"/>
              <a:gd name="connsiteY9" fmla="*/ 1154014 h 1154014"/>
              <a:gd name="connsiteX10" fmla="*/ 230803 w 3751400"/>
              <a:gd name="connsiteY10" fmla="*/ 577007 h 1154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51400" h="1154014">
                <a:moveTo>
                  <a:pt x="0" y="0"/>
                </a:moveTo>
                <a:lnTo>
                  <a:pt x="3520597" y="0"/>
                </a:lnTo>
                <a:lnTo>
                  <a:pt x="3751400" y="577007"/>
                </a:lnTo>
                <a:lnTo>
                  <a:pt x="3520597" y="1154014"/>
                </a:lnTo>
                <a:lnTo>
                  <a:pt x="2111957" y="1154014"/>
                </a:lnTo>
                <a:lnTo>
                  <a:pt x="2120319" y="1112593"/>
                </a:lnTo>
                <a:cubicBezTo>
                  <a:pt x="2120319" y="977493"/>
                  <a:pt x="2010799" y="867973"/>
                  <a:pt x="1875699" y="867973"/>
                </a:cubicBezTo>
                <a:cubicBezTo>
                  <a:pt x="1740599" y="867973"/>
                  <a:pt x="1631079" y="977493"/>
                  <a:pt x="1631079" y="1112593"/>
                </a:cubicBezTo>
                <a:lnTo>
                  <a:pt x="1639442" y="1154014"/>
                </a:lnTo>
                <a:lnTo>
                  <a:pt x="0" y="1154014"/>
                </a:lnTo>
                <a:lnTo>
                  <a:pt x="230803" y="577007"/>
                </a:lnTo>
                <a:close/>
              </a:path>
            </a:pathLst>
          </a:custGeom>
          <a:solidFill>
            <a:schemeClr val="tx2"/>
          </a:solidFill>
          <a:ln w="12700"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36576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bg1"/>
                </a:solidFill>
                <a:latin typeface="+mj-lt"/>
                <a:ea typeface="Segoe UI" pitchFamily="34" charset="0"/>
                <a:cs typeface="Segoe UI" pitchFamily="34" charset="0"/>
              </a:rPr>
              <a:t>Use the Portal to</a:t>
            </a:r>
            <a:br>
              <a:rPr lang="en-US" sz="2000" dirty="0">
                <a:solidFill>
                  <a:schemeClr val="bg1"/>
                </a:solidFill>
                <a:latin typeface="+mj-lt"/>
                <a:ea typeface="Segoe UI" pitchFamily="34" charset="0"/>
                <a:cs typeface="Segoe UI" pitchFamily="34" charset="0"/>
              </a:rPr>
            </a:br>
            <a:r>
              <a:rPr lang="en-US" sz="2000" dirty="0">
                <a:solidFill>
                  <a:schemeClr val="bg1"/>
                </a:solidFill>
                <a:latin typeface="+mj-lt"/>
                <a:ea typeface="Segoe UI" pitchFamily="34" charset="0"/>
                <a:cs typeface="Segoe UI" pitchFamily="34" charset="0"/>
              </a:rPr>
              <a:t>define the backup</a:t>
            </a:r>
          </a:p>
        </p:txBody>
      </p:sp>
      <p:sp>
        <p:nvSpPr>
          <p:cNvPr id="50" name="Oval 49">
            <a:extLst>
              <a:ext uri="{FF2B5EF4-FFF2-40B4-BE49-F238E27FC236}">
                <a16:creationId xmlns:a16="http://schemas.microsoft.com/office/drawing/2014/main" id="{E4196246-5CDC-4F2C-A0FF-9E2BA6B21728}"/>
              </a:ext>
            </a:extLst>
          </p:cNvPr>
          <p:cNvSpPr/>
          <p:nvPr/>
        </p:nvSpPr>
        <p:spPr bwMode="auto">
          <a:xfrm>
            <a:off x="9653487" y="2762387"/>
            <a:ext cx="489240" cy="489240"/>
          </a:xfrm>
          <a:prstGeom prst="ellipse">
            <a:avLst/>
          </a:prstGeom>
          <a:solidFill>
            <a:schemeClr val="bg1"/>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r>
              <a:rPr lang="en-IN" sz="2400" dirty="0">
                <a:solidFill>
                  <a:schemeClr val="tx1"/>
                </a:solidFill>
                <a:latin typeface="+mj-lt"/>
                <a:ea typeface="Segoe UI" pitchFamily="34" charset="0"/>
                <a:cs typeface="Segoe UI" pitchFamily="34" charset="0"/>
              </a:rPr>
              <a:t>3</a:t>
            </a:r>
            <a:endParaRPr lang="en-US" sz="2400" dirty="0">
              <a:solidFill>
                <a:schemeClr val="tx1"/>
              </a:solidFill>
              <a:latin typeface="+mj-lt"/>
              <a:ea typeface="Segoe UI" pitchFamily="34" charset="0"/>
              <a:cs typeface="Segoe UI" pitchFamily="34" charset="0"/>
            </a:endParaRPr>
          </a:p>
        </p:txBody>
      </p:sp>
      <p:sp>
        <p:nvSpPr>
          <p:cNvPr id="54" name="Freeform: Shape 53">
            <a:extLst>
              <a:ext uri="{FF2B5EF4-FFF2-40B4-BE49-F238E27FC236}">
                <a16:creationId xmlns:a16="http://schemas.microsoft.com/office/drawing/2014/main" id="{A42F20BB-EE62-4EAE-961D-3810EE0E9453}"/>
              </a:ext>
            </a:extLst>
          </p:cNvPr>
          <p:cNvSpPr/>
          <p:nvPr/>
        </p:nvSpPr>
        <p:spPr bwMode="auto">
          <a:xfrm>
            <a:off x="8022408" y="1894414"/>
            <a:ext cx="3751400" cy="1154014"/>
          </a:xfrm>
          <a:custGeom>
            <a:avLst/>
            <a:gdLst>
              <a:gd name="connsiteX0" fmla="*/ 0 w 3751400"/>
              <a:gd name="connsiteY0" fmla="*/ 0 h 1154014"/>
              <a:gd name="connsiteX1" fmla="*/ 3520597 w 3751400"/>
              <a:gd name="connsiteY1" fmla="*/ 0 h 1154014"/>
              <a:gd name="connsiteX2" fmla="*/ 3751400 w 3751400"/>
              <a:gd name="connsiteY2" fmla="*/ 577007 h 1154014"/>
              <a:gd name="connsiteX3" fmla="*/ 3520597 w 3751400"/>
              <a:gd name="connsiteY3" fmla="*/ 1154014 h 1154014"/>
              <a:gd name="connsiteX4" fmla="*/ 2111957 w 3751400"/>
              <a:gd name="connsiteY4" fmla="*/ 1154014 h 1154014"/>
              <a:gd name="connsiteX5" fmla="*/ 2120319 w 3751400"/>
              <a:gd name="connsiteY5" fmla="*/ 1112593 h 1154014"/>
              <a:gd name="connsiteX6" fmla="*/ 1875699 w 3751400"/>
              <a:gd name="connsiteY6" fmla="*/ 867973 h 1154014"/>
              <a:gd name="connsiteX7" fmla="*/ 1631079 w 3751400"/>
              <a:gd name="connsiteY7" fmla="*/ 1112593 h 1154014"/>
              <a:gd name="connsiteX8" fmla="*/ 1639442 w 3751400"/>
              <a:gd name="connsiteY8" fmla="*/ 1154014 h 1154014"/>
              <a:gd name="connsiteX9" fmla="*/ 0 w 3751400"/>
              <a:gd name="connsiteY9" fmla="*/ 1154014 h 1154014"/>
              <a:gd name="connsiteX10" fmla="*/ 230803 w 3751400"/>
              <a:gd name="connsiteY10" fmla="*/ 577007 h 1154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51400" h="1154014">
                <a:moveTo>
                  <a:pt x="0" y="0"/>
                </a:moveTo>
                <a:lnTo>
                  <a:pt x="3520597" y="0"/>
                </a:lnTo>
                <a:lnTo>
                  <a:pt x="3751400" y="577007"/>
                </a:lnTo>
                <a:lnTo>
                  <a:pt x="3520597" y="1154014"/>
                </a:lnTo>
                <a:lnTo>
                  <a:pt x="2111957" y="1154014"/>
                </a:lnTo>
                <a:lnTo>
                  <a:pt x="2120319" y="1112593"/>
                </a:lnTo>
                <a:cubicBezTo>
                  <a:pt x="2120319" y="977493"/>
                  <a:pt x="2010799" y="867973"/>
                  <a:pt x="1875699" y="867973"/>
                </a:cubicBezTo>
                <a:cubicBezTo>
                  <a:pt x="1740599" y="867973"/>
                  <a:pt x="1631079" y="977493"/>
                  <a:pt x="1631079" y="1112593"/>
                </a:cubicBezTo>
                <a:lnTo>
                  <a:pt x="1639442" y="1154014"/>
                </a:lnTo>
                <a:lnTo>
                  <a:pt x="0" y="1154014"/>
                </a:lnTo>
                <a:lnTo>
                  <a:pt x="230803" y="577007"/>
                </a:lnTo>
                <a:close/>
              </a:path>
            </a:pathLst>
          </a:custGeom>
          <a:solidFill>
            <a:schemeClr val="tx2"/>
          </a:solidFill>
          <a:ln w="12700" cap="flat" cmpd="sng" algn="ctr">
            <a:no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36576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dirty="0">
                <a:solidFill>
                  <a:schemeClr val="bg1"/>
                </a:solidFill>
                <a:latin typeface="+mj-lt"/>
                <a:ea typeface="Segoe UI" pitchFamily="34" charset="0"/>
                <a:cs typeface="Segoe UI" pitchFamily="34" charset="0"/>
              </a:rPr>
              <a:t>Backup the</a:t>
            </a:r>
            <a:br>
              <a:rPr lang="en-US" sz="2000" dirty="0">
                <a:solidFill>
                  <a:schemeClr val="bg1"/>
                </a:solidFill>
                <a:latin typeface="+mj-lt"/>
                <a:ea typeface="Segoe UI" pitchFamily="34" charset="0"/>
                <a:cs typeface="Segoe UI" pitchFamily="34" charset="0"/>
              </a:rPr>
            </a:br>
            <a:r>
              <a:rPr lang="en-US" sz="2000" dirty="0">
                <a:solidFill>
                  <a:schemeClr val="bg1"/>
                </a:solidFill>
                <a:latin typeface="+mj-lt"/>
                <a:ea typeface="Segoe UI" pitchFamily="34" charset="0"/>
                <a:cs typeface="Segoe UI" pitchFamily="34" charset="0"/>
              </a:rPr>
              <a:t>virtual machine</a:t>
            </a:r>
          </a:p>
        </p:txBody>
      </p:sp>
      <p:sp>
        <p:nvSpPr>
          <p:cNvPr id="58" name="Rectangle 57">
            <a:extLst>
              <a:ext uri="{FF2B5EF4-FFF2-40B4-BE49-F238E27FC236}">
                <a16:creationId xmlns:a16="http://schemas.microsoft.com/office/drawing/2014/main" id="{922C81E6-A49F-4AA1-A6AC-5BA0EA82BA2A}"/>
              </a:ext>
              <a:ext uri="{C183D7F6-B498-43B3-948B-1728B52AA6E4}">
                <adec:decorative xmlns:adec="http://schemas.microsoft.com/office/drawing/2017/decorative" val="0"/>
              </a:ext>
            </a:extLst>
          </p:cNvPr>
          <p:cNvSpPr/>
          <p:nvPr/>
        </p:nvSpPr>
        <p:spPr bwMode="auto">
          <a:xfrm>
            <a:off x="427038" y="4032070"/>
            <a:ext cx="3755737" cy="1715315"/>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a:spcBef>
                <a:spcPts val="1200"/>
              </a:spcBef>
            </a:pPr>
            <a:r>
              <a:rPr lang="en-US" sz="2000" dirty="0">
                <a:solidFill>
                  <a:schemeClr val="tx1"/>
                </a:solidFill>
              </a:rPr>
              <a:t>Use a Recovery Services Vault in the region where you are performing your Virtual Machine backups and choose a replication strategy for Vault</a:t>
            </a:r>
          </a:p>
        </p:txBody>
      </p:sp>
      <p:sp>
        <p:nvSpPr>
          <p:cNvPr id="61" name="Rectangle 60">
            <a:extLst>
              <a:ext uri="{FF2B5EF4-FFF2-40B4-BE49-F238E27FC236}">
                <a16:creationId xmlns:a16="http://schemas.microsoft.com/office/drawing/2014/main" id="{D52883FE-20E0-4D74-A2F4-29CA446A1C41}"/>
              </a:ext>
              <a:ext uri="{C183D7F6-B498-43B3-948B-1728B52AA6E4}">
                <adec:decorative xmlns:adec="http://schemas.microsoft.com/office/drawing/2017/decorative" val="0"/>
              </a:ext>
            </a:extLst>
          </p:cNvPr>
          <p:cNvSpPr/>
          <p:nvPr/>
        </p:nvSpPr>
        <p:spPr bwMode="auto">
          <a:xfrm>
            <a:off x="4340372" y="4032070"/>
            <a:ext cx="3755737" cy="1715315"/>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a:spcBef>
                <a:spcPts val="1200"/>
              </a:spcBef>
              <a:tabLst>
                <a:tab pos="342900" algn="l"/>
              </a:tabLst>
            </a:pPr>
            <a:r>
              <a:rPr lang="en-US" sz="2000" dirty="0">
                <a:solidFill>
                  <a:schemeClr val="tx1"/>
                </a:solidFill>
              </a:rPr>
              <a:t>Take snapshots (recovery points) of your data at defined intervals. These snapshots are stored in recovery services vaults</a:t>
            </a:r>
          </a:p>
        </p:txBody>
      </p:sp>
      <p:sp>
        <p:nvSpPr>
          <p:cNvPr id="63" name="Rectangle 62">
            <a:extLst>
              <a:ext uri="{FF2B5EF4-FFF2-40B4-BE49-F238E27FC236}">
                <a16:creationId xmlns:a16="http://schemas.microsoft.com/office/drawing/2014/main" id="{1665C8DD-2930-4B36-9362-9F68A85E8A2E}"/>
              </a:ext>
              <a:ext uri="{C183D7F6-B498-43B3-948B-1728B52AA6E4}">
                <adec:decorative xmlns:adec="http://schemas.microsoft.com/office/drawing/2017/decorative" val="0"/>
              </a:ext>
            </a:extLst>
          </p:cNvPr>
          <p:cNvSpPr/>
          <p:nvPr/>
        </p:nvSpPr>
        <p:spPr bwMode="auto">
          <a:xfrm>
            <a:off x="8253705" y="4032070"/>
            <a:ext cx="3764127" cy="1715315"/>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a:spcBef>
                <a:spcPts val="1200"/>
              </a:spcBef>
              <a:tabLst>
                <a:tab pos="342900" algn="l"/>
              </a:tabLst>
            </a:pPr>
            <a:r>
              <a:rPr lang="en-US" sz="2000" dirty="0">
                <a:solidFill>
                  <a:schemeClr val="tx1"/>
                </a:solidFill>
              </a:rPr>
              <a:t>For the Backup extension to work, the Azure VM Agent must be installed on the Azure virtual machine</a:t>
            </a:r>
          </a:p>
        </p:txBody>
      </p:sp>
    </p:spTree>
    <p:extLst>
      <p:ext uri="{BB962C8B-B14F-4D97-AF65-F5344CB8AC3E}">
        <p14:creationId xmlns:p14="http://schemas.microsoft.com/office/powerpoint/2010/main" val="643715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Restore Virtual Machines</a:t>
            </a:r>
          </a:p>
        </p:txBody>
      </p:sp>
      <p:sp>
        <p:nvSpPr>
          <p:cNvPr id="22" name="Rectangle 21">
            <a:extLst>
              <a:ext uri="{FF2B5EF4-FFF2-40B4-BE49-F238E27FC236}">
                <a16:creationId xmlns:a16="http://schemas.microsoft.com/office/drawing/2014/main" id="{A6336BFE-3364-41A2-85F6-29553811EE68}"/>
              </a:ext>
              <a:ext uri="{C183D7F6-B498-43B3-948B-1728B52AA6E4}">
                <adec:decorative xmlns:adec="http://schemas.microsoft.com/office/drawing/2017/decorative" val="0"/>
              </a:ext>
            </a:extLst>
          </p:cNvPr>
          <p:cNvSpPr/>
          <p:nvPr/>
        </p:nvSpPr>
        <p:spPr bwMode="auto">
          <a:xfrm>
            <a:off x="465139" y="1508029"/>
            <a:ext cx="5453258" cy="185229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57150">
              <a:spcBef>
                <a:spcPts val="1200"/>
              </a:spcBef>
              <a:tabLst>
                <a:tab pos="457200" algn="l"/>
              </a:tabLst>
            </a:pPr>
            <a:r>
              <a:rPr lang="en-US" sz="2200" dirty="0">
                <a:solidFill>
                  <a:schemeClr val="tx1"/>
                </a:solidFill>
              </a:rPr>
              <a:t>Once you trigger the restore operation, the Backup service creates a job for tracking the restore operation</a:t>
            </a:r>
          </a:p>
        </p:txBody>
      </p:sp>
      <p:sp>
        <p:nvSpPr>
          <p:cNvPr id="24" name="Rectangle 23">
            <a:extLst>
              <a:ext uri="{FF2B5EF4-FFF2-40B4-BE49-F238E27FC236}">
                <a16:creationId xmlns:a16="http://schemas.microsoft.com/office/drawing/2014/main" id="{AF768FAE-1FA4-4305-A219-A17F949E87F7}"/>
              </a:ext>
              <a:ext uri="{C183D7F6-B498-43B3-948B-1728B52AA6E4}">
                <adec:decorative xmlns:adec="http://schemas.microsoft.com/office/drawing/2017/decorative" val="0"/>
              </a:ext>
            </a:extLst>
          </p:cNvPr>
          <p:cNvSpPr/>
          <p:nvPr/>
        </p:nvSpPr>
        <p:spPr bwMode="auto">
          <a:xfrm>
            <a:off x="465138" y="3515910"/>
            <a:ext cx="5453258" cy="185229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57150">
              <a:spcBef>
                <a:spcPts val="1200"/>
              </a:spcBef>
              <a:tabLst>
                <a:tab pos="342900" algn="l"/>
              </a:tabLst>
            </a:pPr>
            <a:r>
              <a:rPr lang="en-US" sz="2200" dirty="0">
                <a:solidFill>
                  <a:schemeClr val="tx1"/>
                </a:solidFill>
              </a:rPr>
              <a:t>The Backup service also creates and temporarily displays notifications, so you monitor how the backup is proceeding</a:t>
            </a:r>
          </a:p>
        </p:txBody>
      </p:sp>
      <p:pic>
        <p:nvPicPr>
          <p:cNvPr id="5" name="Picture 5" descr="Screenshot of the VM restore page. Restore points are shown">
            <a:extLst>
              <a:ext uri="{FF2B5EF4-FFF2-40B4-BE49-F238E27FC236}">
                <a16:creationId xmlns:a16="http://schemas.microsoft.com/office/drawing/2014/main" id="{1C7AAABF-B6AE-4E77-9026-8C743AA985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8684" y="1626318"/>
            <a:ext cx="5681208" cy="3741888"/>
          </a:xfrm>
          <a:prstGeom prst="rect">
            <a:avLst/>
          </a:prstGeom>
          <a:ln>
            <a:noFill/>
          </a:ln>
        </p:spPr>
      </p:pic>
    </p:spTree>
    <p:extLst>
      <p:ext uri="{BB962C8B-B14F-4D97-AF65-F5344CB8AC3E}">
        <p14:creationId xmlns:p14="http://schemas.microsoft.com/office/powerpoint/2010/main" val="94549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C318C-D460-4281-8715-EEEC41CC4311}"/>
              </a:ext>
            </a:extLst>
          </p:cNvPr>
          <p:cNvSpPr>
            <a:spLocks noGrp="1"/>
          </p:cNvSpPr>
          <p:nvPr>
            <p:ph type="title"/>
          </p:nvPr>
        </p:nvSpPr>
        <p:spPr/>
        <p:txBody>
          <a:bodyPr/>
          <a:lstStyle/>
          <a:p>
            <a:r>
              <a:rPr lang="en-US" dirty="0"/>
              <a:t>Demonstration – Virtual Machine Backups</a:t>
            </a:r>
          </a:p>
        </p:txBody>
      </p:sp>
      <p:sp>
        <p:nvSpPr>
          <p:cNvPr id="116" name="Rectangle 115">
            <a:extLst>
              <a:ext uri="{FF2B5EF4-FFF2-40B4-BE49-F238E27FC236}">
                <a16:creationId xmlns:a16="http://schemas.microsoft.com/office/drawing/2014/main" id="{564566CE-01AD-4174-A545-1458DE0F1556}"/>
              </a:ext>
            </a:extLst>
          </p:cNvPr>
          <p:cNvSpPr/>
          <p:nvPr/>
        </p:nvSpPr>
        <p:spPr bwMode="auto">
          <a:xfrm>
            <a:off x="912634" y="1543011"/>
            <a:ext cx="5824308" cy="100434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342900" indent="-342900">
              <a:lnSpc>
                <a:spcPct val="150000"/>
              </a:lnSpc>
              <a:buFont typeface="Arial" panose="020B0604020202020204" pitchFamily="34" charset="0"/>
              <a:buChar char="•"/>
            </a:pPr>
            <a:r>
              <a:rPr lang="en-US" sz="2200" dirty="0">
                <a:solidFill>
                  <a:schemeClr val="tx1"/>
                </a:solidFill>
              </a:rPr>
              <a:t>Create a backup for virtual machines</a:t>
            </a:r>
          </a:p>
          <a:p>
            <a:pPr marL="342900" indent="-342900">
              <a:lnSpc>
                <a:spcPct val="150000"/>
              </a:lnSpc>
              <a:buFont typeface="Arial" panose="020B0604020202020204" pitchFamily="34" charset="0"/>
              <a:buChar char="•"/>
            </a:pPr>
            <a:r>
              <a:rPr lang="en-US" sz="2200" dirty="0">
                <a:solidFill>
                  <a:schemeClr val="tx1"/>
                </a:solidFill>
              </a:rPr>
              <a:t>Configure and review the backup policy</a:t>
            </a:r>
          </a:p>
        </p:txBody>
      </p:sp>
    </p:spTree>
    <p:extLst>
      <p:ext uri="{BB962C8B-B14F-4D97-AF65-F5344CB8AC3E}">
        <p14:creationId xmlns:p14="http://schemas.microsoft.com/office/powerpoint/2010/main" val="284917974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82583-18D4-4230-90E4-DB44D1016E08}"/>
              </a:ext>
            </a:extLst>
          </p:cNvPr>
          <p:cNvSpPr>
            <a:spLocks noGrp="1"/>
          </p:cNvSpPr>
          <p:nvPr>
            <p:ph type="title"/>
          </p:nvPr>
        </p:nvSpPr>
        <p:spPr/>
        <p:txBody>
          <a:bodyPr/>
          <a:lstStyle/>
          <a:p>
            <a:r>
              <a:rPr lang="en-US" dirty="0"/>
              <a:t>Manage Soft Delete</a:t>
            </a:r>
          </a:p>
        </p:txBody>
      </p:sp>
      <p:sp>
        <p:nvSpPr>
          <p:cNvPr id="10" name="Rectangle 9">
            <a:extLst>
              <a:ext uri="{FF2B5EF4-FFF2-40B4-BE49-F238E27FC236}">
                <a16:creationId xmlns:a16="http://schemas.microsoft.com/office/drawing/2014/main" id="{F362F1C7-7286-4F27-AAFA-0199E6A60F1C}"/>
              </a:ext>
              <a:ext uri="{C183D7F6-B498-43B3-948B-1728B52AA6E4}">
                <adec:decorative xmlns:adec="http://schemas.microsoft.com/office/drawing/2017/decorative" val="0"/>
              </a:ext>
            </a:extLst>
          </p:cNvPr>
          <p:cNvSpPr/>
          <p:nvPr/>
        </p:nvSpPr>
        <p:spPr bwMode="auto">
          <a:xfrm>
            <a:off x="427039" y="1496554"/>
            <a:ext cx="5410243" cy="950063"/>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57150">
              <a:spcBef>
                <a:spcPts val="1200"/>
              </a:spcBef>
              <a:tabLst>
                <a:tab pos="457200" algn="l"/>
              </a:tabLst>
            </a:pPr>
            <a:r>
              <a:rPr lang="en-US" sz="2400" dirty="0">
                <a:solidFill>
                  <a:schemeClr val="tx1"/>
                </a:solidFill>
              </a:rPr>
              <a:t>Backup data is retained for 14 additional days*</a:t>
            </a:r>
          </a:p>
        </p:txBody>
      </p:sp>
      <p:sp>
        <p:nvSpPr>
          <p:cNvPr id="11" name="Rectangle 10">
            <a:extLst>
              <a:ext uri="{FF2B5EF4-FFF2-40B4-BE49-F238E27FC236}">
                <a16:creationId xmlns:a16="http://schemas.microsoft.com/office/drawing/2014/main" id="{C3C0D6F6-A62B-4ADB-8C62-99E84364DAAB}"/>
              </a:ext>
              <a:ext uri="{C183D7F6-B498-43B3-948B-1728B52AA6E4}">
                <adec:decorative xmlns:adec="http://schemas.microsoft.com/office/drawing/2017/decorative" val="0"/>
              </a:ext>
            </a:extLst>
          </p:cNvPr>
          <p:cNvSpPr/>
          <p:nvPr/>
        </p:nvSpPr>
        <p:spPr bwMode="auto">
          <a:xfrm>
            <a:off x="427038" y="2629316"/>
            <a:ext cx="5410243" cy="1066535"/>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57150">
              <a:spcBef>
                <a:spcPts val="1200"/>
              </a:spcBef>
              <a:tabLst>
                <a:tab pos="342900" algn="l"/>
              </a:tabLst>
            </a:pPr>
            <a:r>
              <a:rPr lang="en-US" sz="2400" dirty="0">
                <a:solidFill>
                  <a:schemeClr val="tx1"/>
                </a:solidFill>
              </a:rPr>
              <a:t>Recover soft deleted backup items using an ‘Undelete’ operation</a:t>
            </a:r>
          </a:p>
        </p:txBody>
      </p:sp>
      <p:sp>
        <p:nvSpPr>
          <p:cNvPr id="3" name="Rectangle 2">
            <a:extLst>
              <a:ext uri="{FF2B5EF4-FFF2-40B4-BE49-F238E27FC236}">
                <a16:creationId xmlns:a16="http://schemas.microsoft.com/office/drawing/2014/main" id="{938F8FB2-7B9C-41DA-B63F-AB71FB700430}"/>
              </a:ext>
              <a:ext uri="{C183D7F6-B498-43B3-948B-1728B52AA6E4}">
                <adec:decorative xmlns:adec="http://schemas.microsoft.com/office/drawing/2017/decorative" val="0"/>
              </a:ext>
            </a:extLst>
          </p:cNvPr>
          <p:cNvSpPr/>
          <p:nvPr/>
        </p:nvSpPr>
        <p:spPr bwMode="auto">
          <a:xfrm>
            <a:off x="427037" y="3837555"/>
            <a:ext cx="5410243" cy="1066535"/>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57150">
              <a:spcBef>
                <a:spcPts val="1200"/>
              </a:spcBef>
              <a:tabLst>
                <a:tab pos="342900" algn="l"/>
              </a:tabLst>
            </a:pPr>
            <a:r>
              <a:rPr lang="en-US" sz="2400" dirty="0">
                <a:solidFill>
                  <a:schemeClr val="tx1"/>
                </a:solidFill>
              </a:rPr>
              <a:t>Also available for storage account containers and file shares</a:t>
            </a:r>
          </a:p>
        </p:txBody>
      </p:sp>
      <p:sp>
        <p:nvSpPr>
          <p:cNvPr id="12" name="Rectangle 11">
            <a:extLst>
              <a:ext uri="{FF2B5EF4-FFF2-40B4-BE49-F238E27FC236}">
                <a16:creationId xmlns:a16="http://schemas.microsoft.com/office/drawing/2014/main" id="{83CC23DD-EE91-4A9D-829A-5325BAD78B4C}"/>
              </a:ext>
              <a:ext uri="{C183D7F6-B498-43B3-948B-1728B52AA6E4}">
                <adec:decorative xmlns:adec="http://schemas.microsoft.com/office/drawing/2017/decorative" val="0"/>
              </a:ext>
            </a:extLst>
          </p:cNvPr>
          <p:cNvSpPr/>
          <p:nvPr/>
        </p:nvSpPr>
        <p:spPr bwMode="auto">
          <a:xfrm>
            <a:off x="427038" y="5045795"/>
            <a:ext cx="5410243" cy="106653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57150">
              <a:spcBef>
                <a:spcPts val="1200"/>
              </a:spcBef>
              <a:tabLst>
                <a:tab pos="342900" algn="l"/>
              </a:tabLst>
            </a:pPr>
            <a:r>
              <a:rPr lang="en-US" sz="2400" dirty="0">
                <a:solidFill>
                  <a:schemeClr val="tx1"/>
                </a:solidFill>
              </a:rPr>
              <a:t>Natively built-in for all the recovery</a:t>
            </a:r>
            <a:br>
              <a:rPr lang="en-US" sz="2400" dirty="0">
                <a:solidFill>
                  <a:schemeClr val="tx1"/>
                </a:solidFill>
              </a:rPr>
            </a:br>
            <a:r>
              <a:rPr lang="en-US" sz="2400" dirty="0">
                <a:solidFill>
                  <a:schemeClr val="tx1"/>
                </a:solidFill>
              </a:rPr>
              <a:t>services vaults</a:t>
            </a:r>
          </a:p>
        </p:txBody>
      </p:sp>
      <p:pic>
        <p:nvPicPr>
          <p:cNvPr id="4" name="Picture 3" descr="Flowchart showing a soft deleted state for 14 days until the item is permanently deleted">
            <a:extLst>
              <a:ext uri="{FF2B5EF4-FFF2-40B4-BE49-F238E27FC236}">
                <a16:creationId xmlns:a16="http://schemas.microsoft.com/office/drawing/2014/main" id="{05FD2B24-36E3-49AA-9342-D6E8163CE4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1569" y="2141458"/>
            <a:ext cx="5793440" cy="3509488"/>
          </a:xfrm>
          <a:prstGeom prst="rect">
            <a:avLst/>
          </a:prstGeom>
        </p:spPr>
      </p:pic>
    </p:spTree>
    <p:extLst>
      <p:ext uri="{BB962C8B-B14F-4D97-AF65-F5344CB8AC3E}">
        <p14:creationId xmlns:p14="http://schemas.microsoft.com/office/powerpoint/2010/main" val="72313044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Implement Azure Site Recovery</a:t>
            </a:r>
          </a:p>
        </p:txBody>
      </p:sp>
      <p:sp>
        <p:nvSpPr>
          <p:cNvPr id="8" name="Rectangle 7">
            <a:extLst>
              <a:ext uri="{FF2B5EF4-FFF2-40B4-BE49-F238E27FC236}">
                <a16:creationId xmlns:a16="http://schemas.microsoft.com/office/drawing/2014/main" id="{3CBA2247-18C6-410B-A1F0-36C22C87D522}"/>
              </a:ext>
              <a:ext uri="{C183D7F6-B498-43B3-948B-1728B52AA6E4}">
                <adec:decorative xmlns:adec="http://schemas.microsoft.com/office/drawing/2017/decorative" val="0"/>
              </a:ext>
            </a:extLst>
          </p:cNvPr>
          <p:cNvSpPr/>
          <p:nvPr/>
        </p:nvSpPr>
        <p:spPr bwMode="auto">
          <a:xfrm>
            <a:off x="465138" y="982467"/>
            <a:ext cx="5400815" cy="4246578"/>
          </a:xfrm>
          <a:prstGeom prst="rect">
            <a:avLst/>
          </a:prstGeom>
          <a:no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231775" indent="-231775">
              <a:spcBef>
                <a:spcPts val="1200"/>
              </a:spcBef>
              <a:buFont typeface="Arial" panose="020B0604020202020204" pitchFamily="34" charset="0"/>
              <a:buChar char="•"/>
              <a:tabLst>
                <a:tab pos="231775" algn="l"/>
              </a:tabLst>
            </a:pPr>
            <a:r>
              <a:rPr lang="en-US" sz="2000" b="0" i="0" dirty="0">
                <a:solidFill>
                  <a:srgbClr val="161616"/>
                </a:solidFill>
                <a:effectLst/>
                <a:highlight>
                  <a:srgbClr val="FFFFFF"/>
                </a:highlight>
                <a:latin typeface="Segoe UI" panose="020B0502040204020203" pitchFamily="34" charset="0"/>
              </a:rPr>
              <a:t>Manages the orchestration of disaster recovery</a:t>
            </a:r>
          </a:p>
          <a:p>
            <a:pPr marL="231775" indent="-231775">
              <a:spcBef>
                <a:spcPts val="1200"/>
              </a:spcBef>
              <a:buFont typeface="Arial" panose="020B0604020202020204" pitchFamily="34" charset="0"/>
              <a:buChar char="•"/>
              <a:tabLst>
                <a:tab pos="342900" algn="l"/>
              </a:tabLst>
            </a:pPr>
            <a:r>
              <a:rPr lang="en-US" sz="2000" b="0" i="0" dirty="0">
                <a:solidFill>
                  <a:srgbClr val="161616"/>
                </a:solidFill>
                <a:effectLst/>
                <a:highlight>
                  <a:srgbClr val="FFFFFF"/>
                </a:highlight>
                <a:latin typeface="Segoe UI" panose="020B0502040204020203" pitchFamily="34" charset="0"/>
              </a:rPr>
              <a:t>Replicates workloads continuously from a primary location or region to a secondary location</a:t>
            </a:r>
            <a:endParaRPr lang="en-US" sz="2000" dirty="0">
              <a:solidFill>
                <a:srgbClr val="161616"/>
              </a:solidFill>
              <a:highlight>
                <a:srgbClr val="FFFFFF"/>
              </a:highlight>
              <a:latin typeface="Segoe UI" panose="020B0502040204020203" pitchFamily="34" charset="0"/>
            </a:endParaRPr>
          </a:p>
          <a:p>
            <a:pPr marL="231775" indent="-231775">
              <a:spcBef>
                <a:spcPts val="1200"/>
              </a:spcBef>
              <a:buFont typeface="Arial" panose="020B0604020202020204" pitchFamily="34" charset="0"/>
              <a:buChar char="•"/>
              <a:tabLst>
                <a:tab pos="342900" algn="l"/>
              </a:tabLst>
            </a:pPr>
            <a:r>
              <a:rPr lang="en-US" sz="2000" b="0" i="0" dirty="0">
                <a:solidFill>
                  <a:srgbClr val="161616"/>
                </a:solidFill>
                <a:effectLst/>
                <a:highlight>
                  <a:srgbClr val="FFFFFF"/>
                </a:highlight>
                <a:latin typeface="Segoe UI" panose="020B0502040204020203" pitchFamily="34" charset="0"/>
              </a:rPr>
              <a:t>Failover to shift to the secondary location; failback to return to the primary location</a:t>
            </a:r>
          </a:p>
        </p:txBody>
      </p:sp>
      <p:pic>
        <p:nvPicPr>
          <p:cNvPr id="2" name="Picture 3" descr="Screenshot of an Azure Site recovery architecture. Region 1 is using Traffic Manager to failover to Region 2">
            <a:extLst>
              <a:ext uri="{FF2B5EF4-FFF2-40B4-BE49-F238E27FC236}">
                <a16:creationId xmlns:a16="http://schemas.microsoft.com/office/drawing/2014/main" id="{685514B4-0969-40FA-B44E-6B904E7BAD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1204" y="1255604"/>
            <a:ext cx="5683651" cy="3973441"/>
          </a:xfrm>
          <a:prstGeom prst="rect">
            <a:avLst/>
          </a:prstGeom>
        </p:spPr>
      </p:pic>
      <p:pic>
        <p:nvPicPr>
          <p:cNvPr id="3" name="Picture 3" descr="Screenshot of an Azure Site recovery architecture. Region 1 is using Traffic Manager to failover to Region 2">
            <a:extLst>
              <a:ext uri="{FF2B5EF4-FFF2-40B4-BE49-F238E27FC236}">
                <a16:creationId xmlns:a16="http://schemas.microsoft.com/office/drawing/2014/main" id="{DEBDD014-4575-F153-2EBF-35A75AF700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753" y="312076"/>
            <a:ext cx="8382914" cy="5860496"/>
          </a:xfrm>
          <a:prstGeom prst="rect">
            <a:avLst/>
          </a:prstGeom>
        </p:spPr>
      </p:pic>
    </p:spTree>
    <p:extLst>
      <p:ext uri="{BB962C8B-B14F-4D97-AF65-F5344CB8AC3E}">
        <p14:creationId xmlns:p14="http://schemas.microsoft.com/office/powerpoint/2010/main" val="905304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EE5BF00A-4CC1-4D4D-AA47-FC2B94A29F42}"/>
              </a:ext>
            </a:extLst>
          </p:cNvPr>
          <p:cNvSpPr>
            <a:spLocks noGrp="1"/>
          </p:cNvSpPr>
          <p:nvPr>
            <p:ph type="title"/>
          </p:nvPr>
        </p:nvSpPr>
        <p:spPr/>
        <p:txBody>
          <a:bodyPr/>
          <a:lstStyle/>
          <a:p>
            <a:r>
              <a:rPr lang="en-US" dirty="0"/>
              <a:t>Learning Recap – Protect your virtual machines by using Azure Backup</a:t>
            </a:r>
            <a:endParaRPr lang="en-IN" dirty="0"/>
          </a:p>
        </p:txBody>
      </p:sp>
      <p:sp>
        <p:nvSpPr>
          <p:cNvPr id="34" name="TextBox 33">
            <a:extLst>
              <a:ext uri="{FF2B5EF4-FFF2-40B4-BE49-F238E27FC236}">
                <a16:creationId xmlns:a16="http://schemas.microsoft.com/office/drawing/2014/main" id="{79E3E8A3-C1CF-48E4-AAA3-87AE0830BCC7}"/>
              </a:ext>
            </a:extLst>
          </p:cNvPr>
          <p:cNvSpPr txBox="1"/>
          <p:nvPr/>
        </p:nvSpPr>
        <p:spPr>
          <a:xfrm>
            <a:off x="3799859" y="2427738"/>
            <a:ext cx="7228043" cy="2523768"/>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dirty="0">
                <a:hlinkClick r:id="rId3"/>
              </a:rPr>
              <a:t>Protect your virtual machines by using Azure Backup</a:t>
            </a:r>
            <a:endParaRPr lang="en-US" dirty="0"/>
          </a:p>
          <a:p>
            <a:pPr marL="285750" indent="-285750">
              <a:spcAft>
                <a:spcPts val="1200"/>
              </a:spcAft>
              <a:buFont typeface="Arial" panose="020B0604020202020204" pitchFamily="34" charset="0"/>
              <a:buChar char="•"/>
            </a:pPr>
            <a:r>
              <a:rPr lang="en-US" dirty="0">
                <a:hlinkClick r:id="rId4"/>
              </a:rPr>
              <a:t>Monitor workload protection in Azure Backup </a:t>
            </a:r>
            <a:endParaRPr lang="en-US" dirty="0"/>
          </a:p>
          <a:p>
            <a:pPr marL="285750" indent="-285750">
              <a:spcAft>
                <a:spcPts val="1200"/>
              </a:spcAft>
              <a:buFont typeface="Arial" panose="020B0604020202020204" pitchFamily="34" charset="0"/>
              <a:buChar char="•"/>
            </a:pPr>
            <a:r>
              <a:rPr lang="en-US" sz="1800" dirty="0">
                <a:hlinkClick r:id="rId5"/>
              </a:rPr>
              <a:t>Implement hybrid backup and recovery with Windows Server IaaS </a:t>
            </a:r>
            <a:endParaRPr lang="en-US" sz="1800" dirty="0"/>
          </a:p>
          <a:p>
            <a:pPr marL="285750" indent="-285750">
              <a:spcAft>
                <a:spcPts val="1200"/>
              </a:spcAft>
              <a:buFont typeface="Arial" panose="020B0604020202020204" pitchFamily="34" charset="0"/>
              <a:buChar char="•"/>
            </a:pPr>
            <a:endParaRPr lang="en-US" sz="1800" dirty="0">
              <a:solidFill>
                <a:schemeClr val="tx1"/>
              </a:solidFill>
            </a:endParaRPr>
          </a:p>
          <a:p>
            <a:pPr marL="285750" indent="-285750">
              <a:spcAft>
                <a:spcPts val="1200"/>
              </a:spcAft>
              <a:buFont typeface="Arial" panose="020B0604020202020204" pitchFamily="34" charset="0"/>
              <a:buChar char="•"/>
            </a:pPr>
            <a:endParaRPr lang="en-US" dirty="0"/>
          </a:p>
          <a:p>
            <a:pPr marL="285750" indent="-285750">
              <a:spcAft>
                <a:spcPts val="600"/>
              </a:spcAft>
              <a:buFont typeface="Arial" panose="020B0604020202020204" pitchFamily="34" charset="0"/>
              <a:buChar char="•"/>
            </a:pPr>
            <a:endParaRPr lang="en-US" dirty="0"/>
          </a:p>
        </p:txBody>
      </p:sp>
    </p:spTree>
    <p:extLst>
      <p:ext uri="{BB962C8B-B14F-4D97-AF65-F5344CB8AC3E}">
        <p14:creationId xmlns:p14="http://schemas.microsoft.com/office/powerpoint/2010/main" val="66596435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3232160"/>
            <a:ext cx="6472474" cy="1130181"/>
          </a:xfrm>
        </p:spPr>
        <p:txBody>
          <a:bodyPr/>
          <a:lstStyle/>
          <a:p>
            <a:r>
              <a:rPr lang="en-US" dirty="0"/>
              <a:t>Lab – Implement Data Protection</a:t>
            </a:r>
          </a:p>
        </p:txBody>
      </p:sp>
    </p:spTree>
    <p:extLst>
      <p:ext uri="{BB962C8B-B14F-4D97-AF65-F5344CB8AC3E}">
        <p14:creationId xmlns:p14="http://schemas.microsoft.com/office/powerpoint/2010/main" val="1003641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F6EEE9D-5191-4926-B544-DDD42BBC7893}"/>
              </a:ext>
            </a:extLst>
          </p:cNvPr>
          <p:cNvSpPr>
            <a:spLocks noGrp="1"/>
          </p:cNvSpPr>
          <p:nvPr>
            <p:ph type="title"/>
          </p:nvPr>
        </p:nvSpPr>
        <p:spPr>
          <a:xfrm>
            <a:off x="600855" y="525428"/>
            <a:ext cx="11701941" cy="502246"/>
          </a:xfrm>
        </p:spPr>
        <p:txBody>
          <a:bodyPr>
            <a:noAutofit/>
          </a:bodyPr>
          <a:lstStyle/>
          <a:p>
            <a:r>
              <a:rPr lang="en-US" dirty="0"/>
              <a:t>Lab 10 – Implement Data </a:t>
            </a:r>
            <a:r>
              <a:rPr lang="en-US"/>
              <a:t>Protection resume at 2:10</a:t>
            </a:r>
            <a:endParaRPr lang="en-IN" dirty="0"/>
          </a:p>
        </p:txBody>
      </p:sp>
      <p:sp>
        <p:nvSpPr>
          <p:cNvPr id="30" name="Text Placeholder 2">
            <a:extLst>
              <a:ext uri="{FF2B5EF4-FFF2-40B4-BE49-F238E27FC236}">
                <a16:creationId xmlns:a16="http://schemas.microsoft.com/office/drawing/2014/main" id="{22136A62-F855-4350-8F9A-20B49BF139E5}"/>
              </a:ext>
            </a:extLst>
          </p:cNvPr>
          <p:cNvSpPr txBox="1">
            <a:spLocks/>
          </p:cNvSpPr>
          <p:nvPr/>
        </p:nvSpPr>
        <p:spPr>
          <a:xfrm>
            <a:off x="352325" y="2214949"/>
            <a:ext cx="3461258" cy="3107646"/>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spc="0" dirty="0">
                <a:solidFill>
                  <a:schemeClr val="tx1"/>
                </a:solidFill>
                <a:latin typeface="+mn-lt"/>
                <a:cs typeface="Segoe UI Semilight"/>
              </a:rPr>
              <a:t>In this lab, you learn about backup and recovery of Azure virtual machines.</a:t>
            </a:r>
          </a:p>
          <a:p>
            <a:endParaRPr lang="en-US" sz="1800" spc="0" dirty="0">
              <a:solidFill>
                <a:schemeClr val="tx1"/>
              </a:solidFill>
              <a:latin typeface="+mn-lt"/>
              <a:cs typeface="Segoe UI Semilight"/>
            </a:endParaRPr>
          </a:p>
          <a:p>
            <a:r>
              <a:rPr lang="en-US" sz="1800" spc="0" dirty="0">
                <a:solidFill>
                  <a:schemeClr val="tx1"/>
                </a:solidFill>
                <a:latin typeface="+mn-lt"/>
                <a:cs typeface="Segoe UI Semilight"/>
              </a:rPr>
              <a:t>You learn to create a Recovery Service vault and a backup policy for Azure virtual machines.</a:t>
            </a:r>
          </a:p>
          <a:p>
            <a:endParaRPr lang="en-US" sz="1800" spc="0" dirty="0">
              <a:solidFill>
                <a:schemeClr val="tx1"/>
              </a:solidFill>
              <a:latin typeface="+mn-lt"/>
              <a:cs typeface="Segoe UI Semilight"/>
            </a:endParaRPr>
          </a:p>
          <a:p>
            <a:r>
              <a:rPr lang="en-US" sz="1800" spc="0" dirty="0">
                <a:solidFill>
                  <a:schemeClr val="tx1"/>
                </a:solidFill>
                <a:latin typeface="+mn-lt"/>
                <a:cs typeface="Segoe UI Semilight"/>
              </a:rPr>
              <a:t>You learn about disaster recovery with Azure Site Recovery for virtual machines. </a:t>
            </a:r>
          </a:p>
        </p:txBody>
      </p:sp>
      <p:sp>
        <p:nvSpPr>
          <p:cNvPr id="39" name="Rectangle 38">
            <a:extLst>
              <a:ext uri="{FF2B5EF4-FFF2-40B4-BE49-F238E27FC236}">
                <a16:creationId xmlns:a16="http://schemas.microsoft.com/office/drawing/2014/main" id="{BC42E0FD-A4D8-43B9-8CE6-955654DEB296}"/>
              </a:ext>
            </a:extLst>
          </p:cNvPr>
          <p:cNvSpPr/>
          <p:nvPr/>
        </p:nvSpPr>
        <p:spPr bwMode="auto">
          <a:xfrm>
            <a:off x="5134846" y="2059702"/>
            <a:ext cx="7300747" cy="3624173"/>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a:spcAft>
                <a:spcPts val="612"/>
              </a:spcAft>
            </a:pPr>
            <a:r>
              <a:rPr lang="en-US" sz="2040" dirty="0">
                <a:solidFill>
                  <a:schemeClr val="tx1"/>
                </a:solidFill>
                <a:latin typeface="Segoe UI Semibold" panose="020B0702040204020203" pitchFamily="34" charset="0"/>
                <a:cs typeface="Segoe UI Semibold" panose="020B0702040204020203" pitchFamily="34" charset="0"/>
              </a:rPr>
              <a:t>Task 1</a:t>
            </a:r>
            <a:r>
              <a:rPr lang="en-US" sz="2040" dirty="0">
                <a:solidFill>
                  <a:schemeClr val="tx1"/>
                </a:solidFill>
                <a:cs typeface="Segoe UI Semilight"/>
              </a:rPr>
              <a:t>: Use a template to provision an infrastructure.</a:t>
            </a:r>
          </a:p>
          <a:p>
            <a:pPr>
              <a:spcAft>
                <a:spcPts val="612"/>
              </a:spcAft>
            </a:pPr>
            <a:r>
              <a:rPr lang="en-US" sz="2040" dirty="0">
                <a:solidFill>
                  <a:srgbClr val="1F2328"/>
                </a:solidFill>
                <a:latin typeface="Segoe UI Semibold" panose="020B0702040204020203" pitchFamily="34" charset="0"/>
                <a:cs typeface="Segoe UI Semibold" panose="020B0702040204020203" pitchFamily="34" charset="0"/>
              </a:rPr>
              <a:t>Task 2</a:t>
            </a:r>
            <a:r>
              <a:rPr lang="en-US" sz="2040" dirty="0">
                <a:solidFill>
                  <a:srgbClr val="1F2328"/>
                </a:solidFill>
              </a:rPr>
              <a:t>: Create and configure a Recovery Services vault.</a:t>
            </a:r>
          </a:p>
          <a:p>
            <a:pPr>
              <a:spcAft>
                <a:spcPts val="612"/>
              </a:spcAft>
            </a:pPr>
            <a:r>
              <a:rPr lang="en-US" sz="2040" dirty="0">
                <a:solidFill>
                  <a:srgbClr val="1F2328"/>
                </a:solidFill>
                <a:latin typeface="Segoe UI Semibold" panose="020B0702040204020203" pitchFamily="34" charset="0"/>
                <a:cs typeface="Segoe UI Semibold" panose="020B0702040204020203" pitchFamily="34" charset="0"/>
              </a:rPr>
              <a:t>Task 3</a:t>
            </a:r>
            <a:r>
              <a:rPr lang="en-US" sz="2040" dirty="0">
                <a:solidFill>
                  <a:srgbClr val="1F2328"/>
                </a:solidFill>
              </a:rPr>
              <a:t>: Configure Azure virtual machine-level backup.</a:t>
            </a:r>
          </a:p>
          <a:p>
            <a:pPr>
              <a:spcAft>
                <a:spcPts val="612"/>
              </a:spcAft>
            </a:pPr>
            <a:r>
              <a:rPr lang="en-US" sz="2040" dirty="0">
                <a:solidFill>
                  <a:srgbClr val="1F2328"/>
                </a:solidFill>
                <a:latin typeface="Segoe UI Semibold" panose="020B0702040204020203" pitchFamily="34" charset="0"/>
                <a:cs typeface="Segoe UI Semibold" panose="020B0702040204020203" pitchFamily="34" charset="0"/>
              </a:rPr>
              <a:t>Task 4</a:t>
            </a:r>
            <a:r>
              <a:rPr lang="en-US" sz="2040" dirty="0">
                <a:solidFill>
                  <a:srgbClr val="1F2328"/>
                </a:solidFill>
              </a:rPr>
              <a:t>: Monitor Azure Backup.</a:t>
            </a:r>
          </a:p>
          <a:p>
            <a:pPr>
              <a:spcAft>
                <a:spcPts val="612"/>
              </a:spcAft>
            </a:pPr>
            <a:r>
              <a:rPr lang="en-US" sz="2040" dirty="0">
                <a:solidFill>
                  <a:srgbClr val="1F2328"/>
                </a:solidFill>
                <a:latin typeface="Segoe UI Semibold" panose="020B0702040204020203" pitchFamily="34" charset="0"/>
                <a:cs typeface="Segoe UI Semibold" panose="020B0702040204020203" pitchFamily="34" charset="0"/>
              </a:rPr>
              <a:t>Task 5</a:t>
            </a:r>
            <a:r>
              <a:rPr lang="en-US" sz="2040" dirty="0">
                <a:solidFill>
                  <a:srgbClr val="1F2328"/>
                </a:solidFill>
              </a:rPr>
              <a:t>: Enable virtual machine replication.</a:t>
            </a:r>
          </a:p>
          <a:p>
            <a:pPr>
              <a:spcAft>
                <a:spcPts val="612"/>
              </a:spcAft>
            </a:pPr>
            <a:endParaRPr lang="en-US" sz="2040" dirty="0">
              <a:solidFill>
                <a:schemeClr val="tx1"/>
              </a:solidFill>
              <a:cs typeface="Segoe UI Semilight"/>
            </a:endParaRPr>
          </a:p>
          <a:p>
            <a:pPr>
              <a:spcAft>
                <a:spcPts val="612"/>
              </a:spcAft>
            </a:pPr>
            <a:endParaRPr lang="en-US" sz="2040" dirty="0">
              <a:solidFill>
                <a:schemeClr val="tx1"/>
              </a:solidFill>
              <a:cs typeface="Segoe UI Semilight"/>
            </a:endParaRPr>
          </a:p>
          <a:p>
            <a:pPr>
              <a:spcAft>
                <a:spcPts val="612"/>
              </a:spcAft>
            </a:pPr>
            <a:endParaRPr lang="en-US" sz="2040" dirty="0">
              <a:solidFill>
                <a:schemeClr val="tx1"/>
              </a:solidFill>
              <a:cs typeface="Segoe UI Semilight"/>
            </a:endParaRPr>
          </a:p>
          <a:p>
            <a:pPr>
              <a:spcAft>
                <a:spcPts val="612"/>
              </a:spcAft>
            </a:pPr>
            <a:endParaRPr lang="en-US" sz="2040" dirty="0">
              <a:solidFill>
                <a:schemeClr val="tx1"/>
              </a:solidFill>
              <a:cs typeface="Segoe UI Semilight"/>
            </a:endParaRPr>
          </a:p>
          <a:p>
            <a:pPr>
              <a:spcAft>
                <a:spcPts val="612"/>
              </a:spcAft>
            </a:pPr>
            <a:endParaRPr lang="en-US" sz="2040" dirty="0">
              <a:solidFill>
                <a:schemeClr val="tx1"/>
              </a:solidFill>
              <a:cs typeface="Segoe UI Semilight"/>
            </a:endParaRPr>
          </a:p>
          <a:p>
            <a:pPr>
              <a:spcAft>
                <a:spcPts val="612"/>
              </a:spcAft>
            </a:pPr>
            <a:endParaRPr lang="en-US" sz="2040" dirty="0">
              <a:solidFill>
                <a:schemeClr val="tx1"/>
              </a:solidFill>
              <a:cs typeface="Segoe UI Semilight"/>
            </a:endParaRPr>
          </a:p>
        </p:txBody>
      </p:sp>
      <p:sp>
        <p:nvSpPr>
          <p:cNvPr id="2" name="Text Placeholder 2">
            <a:extLst>
              <a:ext uri="{FF2B5EF4-FFF2-40B4-BE49-F238E27FC236}">
                <a16:creationId xmlns:a16="http://schemas.microsoft.com/office/drawing/2014/main" id="{42ACE91D-A44C-4242-B64E-DF464150557E}"/>
              </a:ext>
              <a:ext uri="{C183D7F6-B498-43B3-948B-1728B52AA6E4}">
                <adec:decorative xmlns:adec="http://schemas.microsoft.com/office/drawing/2017/decorative" val="1"/>
              </a:ext>
            </a:extLst>
          </p:cNvPr>
          <p:cNvSpPr txBox="1">
            <a:spLocks/>
          </p:cNvSpPr>
          <p:nvPr/>
        </p:nvSpPr>
        <p:spPr>
          <a:xfrm>
            <a:off x="8251643" y="6126432"/>
            <a:ext cx="3408749" cy="24609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599" spc="0" dirty="0">
                <a:solidFill>
                  <a:schemeClr val="tx1"/>
                </a:solidFill>
                <a:latin typeface="+mn-lt"/>
                <a:cs typeface="Segoe UI Semilight"/>
              </a:rPr>
              <a:t>Next slide for an architecture diagram </a:t>
            </a:r>
          </a:p>
        </p:txBody>
      </p:sp>
      <p:sp>
        <p:nvSpPr>
          <p:cNvPr id="3" name="arrow_15">
            <a:extLst>
              <a:ext uri="{FF2B5EF4-FFF2-40B4-BE49-F238E27FC236}">
                <a16:creationId xmlns:a16="http://schemas.microsoft.com/office/drawing/2014/main" id="{EB453DD1-EECF-4A75-846C-27A38AC9C6D4}"/>
              </a:ext>
              <a:ext uri="{C183D7F6-B498-43B3-948B-1728B52AA6E4}">
                <adec:decorative xmlns:adec="http://schemas.microsoft.com/office/drawing/2017/decorative" val="1"/>
              </a:ext>
            </a:extLst>
          </p:cNvPr>
          <p:cNvSpPr>
            <a:spLocks noChangeAspect="1" noEditPoints="1"/>
          </p:cNvSpPr>
          <p:nvPr/>
        </p:nvSpPr>
        <p:spPr bwMode="auto">
          <a:xfrm>
            <a:off x="11783228" y="6137089"/>
            <a:ext cx="225900" cy="224873"/>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solidFill>
            <a:srgbClr val="FFFF00"/>
          </a:solidFill>
          <a:ln w="15875" cap="sq">
            <a:solidFill>
              <a:schemeClr val="tx1"/>
            </a:solidFill>
            <a:prstDash val="solid"/>
            <a:miter lim="800000"/>
            <a:headEnd/>
            <a:tailEnd/>
          </a:ln>
        </p:spPr>
        <p:txBody>
          <a:bodyPr vert="horz" wrap="square" lIns="91427" tIns="45713" rIns="91427" bIns="45713"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
        <p:nvSpPr>
          <p:cNvPr id="4" name="TextBox 3">
            <a:extLst>
              <a:ext uri="{FF2B5EF4-FFF2-40B4-BE49-F238E27FC236}">
                <a16:creationId xmlns:a16="http://schemas.microsoft.com/office/drawing/2014/main" id="{E5282868-7975-EB5F-233D-4469DFA33CE6}"/>
              </a:ext>
              <a:ext uri="{C183D7F6-B498-43B3-948B-1728B52AA6E4}">
                <adec:decorative xmlns:adec="http://schemas.microsoft.com/office/drawing/2017/decorative" val="1"/>
              </a:ext>
            </a:extLst>
          </p:cNvPr>
          <p:cNvSpPr txBox="1"/>
          <p:nvPr/>
        </p:nvSpPr>
        <p:spPr>
          <a:xfrm>
            <a:off x="5035246" y="1738886"/>
            <a:ext cx="6215646" cy="414353"/>
          </a:xfrm>
          <a:prstGeom prst="rect">
            <a:avLst/>
          </a:prstGeom>
          <a:noFill/>
        </p:spPr>
        <p:txBody>
          <a:bodyPr wrap="square">
            <a:spAutoFit/>
          </a:bodyPr>
          <a:lstStyle/>
          <a:p>
            <a:r>
              <a:rPr lang="en-US" sz="2040" dirty="0">
                <a:latin typeface="Segoe UI Semibold" panose="020B0702040204020203" pitchFamily="34" charset="0"/>
                <a:cs typeface="Segoe UI Semibold" panose="020B0702040204020203" pitchFamily="34" charset="0"/>
              </a:rPr>
              <a:t>Job Skills</a:t>
            </a:r>
            <a:endParaRPr lang="en-US" sz="2040" dirty="0"/>
          </a:p>
        </p:txBody>
      </p:sp>
    </p:spTree>
    <p:extLst>
      <p:ext uri="{BB962C8B-B14F-4D97-AF65-F5344CB8AC3E}">
        <p14:creationId xmlns:p14="http://schemas.microsoft.com/office/powerpoint/2010/main" val="89531917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4A513-5C7E-629E-104B-76E27DFD45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005C9C-F897-7ABB-DA67-299ED6608AEC}"/>
              </a:ext>
            </a:extLst>
          </p:cNvPr>
          <p:cNvSpPr>
            <a:spLocks noGrp="1"/>
          </p:cNvSpPr>
          <p:nvPr>
            <p:ph type="title"/>
          </p:nvPr>
        </p:nvSpPr>
        <p:spPr/>
        <p:txBody>
          <a:bodyPr/>
          <a:lstStyle/>
          <a:p>
            <a:r>
              <a:rPr lang="en-US" sz="3264" dirty="0"/>
              <a:t>Lab 10 – Architecture diagram</a:t>
            </a:r>
          </a:p>
        </p:txBody>
      </p:sp>
      <p:grpSp>
        <p:nvGrpSpPr>
          <p:cNvPr id="34" name="Group 33" descr="Architecture diagram for the data protection lab tasks. ">
            <a:extLst>
              <a:ext uri="{FF2B5EF4-FFF2-40B4-BE49-F238E27FC236}">
                <a16:creationId xmlns:a16="http://schemas.microsoft.com/office/drawing/2014/main" id="{F12E7753-64F3-3C4C-CCD8-01D6AAF11D01}"/>
              </a:ext>
            </a:extLst>
          </p:cNvPr>
          <p:cNvGrpSpPr/>
          <p:nvPr/>
        </p:nvGrpSpPr>
        <p:grpSpPr>
          <a:xfrm>
            <a:off x="1398363" y="1355421"/>
            <a:ext cx="9964347" cy="4526533"/>
            <a:chOff x="829873" y="1328965"/>
            <a:chExt cx="9769855" cy="4438180"/>
          </a:xfrm>
        </p:grpSpPr>
        <p:sp>
          <p:nvSpPr>
            <p:cNvPr id="65" name="Rectangle 64">
              <a:extLst>
                <a:ext uri="{FF2B5EF4-FFF2-40B4-BE49-F238E27FC236}">
                  <a16:creationId xmlns:a16="http://schemas.microsoft.com/office/drawing/2014/main" id="{6F94B2CB-8F12-5692-398D-2CC23CF394C2}"/>
                </a:ext>
              </a:extLst>
            </p:cNvPr>
            <p:cNvSpPr/>
            <p:nvPr/>
          </p:nvSpPr>
          <p:spPr bwMode="auto">
            <a:xfrm>
              <a:off x="7093994" y="1839576"/>
              <a:ext cx="3505734" cy="2691880"/>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cs typeface="Segoe UI" pitchFamily="34" charset="0"/>
              </a:endParaRPr>
            </a:p>
          </p:txBody>
        </p:sp>
        <p:sp>
          <p:nvSpPr>
            <p:cNvPr id="57" name="Rectangle 56">
              <a:extLst>
                <a:ext uri="{FF2B5EF4-FFF2-40B4-BE49-F238E27FC236}">
                  <a16:creationId xmlns:a16="http://schemas.microsoft.com/office/drawing/2014/main" id="{0088B804-58A4-AAAB-3355-0AACD9593D81}"/>
                </a:ext>
              </a:extLst>
            </p:cNvPr>
            <p:cNvSpPr/>
            <p:nvPr/>
          </p:nvSpPr>
          <p:spPr bwMode="auto">
            <a:xfrm>
              <a:off x="2331204" y="1885108"/>
              <a:ext cx="3501651" cy="3882037"/>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cs typeface="Segoe UI" pitchFamily="34" charset="0"/>
              </a:endParaRPr>
            </a:p>
          </p:txBody>
        </p:sp>
        <p:sp>
          <p:nvSpPr>
            <p:cNvPr id="55" name="TextBox 54">
              <a:extLst>
                <a:ext uri="{FF2B5EF4-FFF2-40B4-BE49-F238E27FC236}">
                  <a16:creationId xmlns:a16="http://schemas.microsoft.com/office/drawing/2014/main" id="{9398A0C9-0259-9A5E-5CD1-5568233FB718}"/>
                </a:ext>
              </a:extLst>
            </p:cNvPr>
            <p:cNvSpPr txBox="1"/>
            <p:nvPr/>
          </p:nvSpPr>
          <p:spPr>
            <a:xfrm>
              <a:off x="2652957" y="1688076"/>
              <a:ext cx="2273358" cy="343492"/>
            </a:xfrm>
            <a:prstGeom prst="rect">
              <a:avLst/>
            </a:prstGeom>
            <a:solidFill>
              <a:schemeClr val="bg1"/>
            </a:solidFill>
          </p:spPr>
          <p:txBody>
            <a:bodyPr wrap="square">
              <a:spAutoFit/>
            </a:bodyPr>
            <a:lstStyle/>
            <a:p>
              <a:pPr algn="r"/>
              <a:r>
                <a:rPr lang="fr-FR" sz="1632" dirty="0"/>
                <a:t>az104-rg-region1</a:t>
              </a:r>
            </a:p>
          </p:txBody>
        </p:sp>
        <p:pic>
          <p:nvPicPr>
            <p:cNvPr id="59" name="Graphic 58">
              <a:extLst>
                <a:ext uri="{FF2B5EF4-FFF2-40B4-BE49-F238E27FC236}">
                  <a16:creationId xmlns:a16="http://schemas.microsoft.com/office/drawing/2014/main" id="{DB6CF43B-0F87-5942-C7F0-564BFF98F3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90326" y="1718364"/>
              <a:ext cx="368970" cy="333487"/>
            </a:xfrm>
            <a:prstGeom prst="rect">
              <a:avLst/>
            </a:prstGeom>
          </p:spPr>
        </p:pic>
        <p:sp>
          <p:nvSpPr>
            <p:cNvPr id="63" name="TextBox 62">
              <a:extLst>
                <a:ext uri="{FF2B5EF4-FFF2-40B4-BE49-F238E27FC236}">
                  <a16:creationId xmlns:a16="http://schemas.microsoft.com/office/drawing/2014/main" id="{BBC318BC-3112-4713-7112-BB75BE3545FB}"/>
                </a:ext>
              </a:extLst>
            </p:cNvPr>
            <p:cNvSpPr txBox="1"/>
            <p:nvPr/>
          </p:nvSpPr>
          <p:spPr>
            <a:xfrm>
              <a:off x="7572218" y="1688076"/>
              <a:ext cx="2129359" cy="343492"/>
            </a:xfrm>
            <a:prstGeom prst="rect">
              <a:avLst/>
            </a:prstGeom>
            <a:solidFill>
              <a:schemeClr val="bg1"/>
            </a:solidFill>
          </p:spPr>
          <p:txBody>
            <a:bodyPr wrap="square">
              <a:spAutoFit/>
            </a:bodyPr>
            <a:lstStyle/>
            <a:p>
              <a:pPr algn="r"/>
              <a:r>
                <a:rPr lang="fr-FR" sz="1632" dirty="0"/>
                <a:t>az104-rg-region2</a:t>
              </a:r>
            </a:p>
          </p:txBody>
        </p:sp>
        <p:sp>
          <p:nvSpPr>
            <p:cNvPr id="10" name="Rectangle 9">
              <a:extLst>
                <a:ext uri="{FF2B5EF4-FFF2-40B4-BE49-F238E27FC236}">
                  <a16:creationId xmlns:a16="http://schemas.microsoft.com/office/drawing/2014/main" id="{965C981D-A086-F53F-4FA8-75823AE7835B}"/>
                </a:ext>
              </a:extLst>
            </p:cNvPr>
            <p:cNvSpPr/>
            <p:nvPr/>
          </p:nvSpPr>
          <p:spPr bwMode="auto">
            <a:xfrm>
              <a:off x="2618412" y="3247473"/>
              <a:ext cx="2941762" cy="1072443"/>
            </a:xfrm>
            <a:prstGeom prst="rect">
              <a:avLst/>
            </a:prstGeom>
            <a:solidFill>
              <a:schemeClr val="accent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1632" dirty="0" err="1">
                <a:gradFill>
                  <a:gsLst>
                    <a:gs pos="0">
                      <a:srgbClr val="FFFFFF"/>
                    </a:gs>
                    <a:gs pos="100000">
                      <a:srgbClr val="FFFFFF"/>
                    </a:gs>
                  </a:gsLst>
                  <a:lin ang="5400000" scaled="0"/>
                </a:gradFill>
                <a:ea typeface="Segoe UI" pitchFamily="34" charset="0"/>
                <a:cs typeface="Segoe UI" pitchFamily="34" charset="0"/>
              </a:endParaRPr>
            </a:p>
          </p:txBody>
        </p:sp>
        <p:sp>
          <p:nvSpPr>
            <p:cNvPr id="67" name="TextBox 66">
              <a:extLst>
                <a:ext uri="{FF2B5EF4-FFF2-40B4-BE49-F238E27FC236}">
                  <a16:creationId xmlns:a16="http://schemas.microsoft.com/office/drawing/2014/main" id="{D0D904AD-EE0C-CA16-2955-146E1ED19E49}"/>
                </a:ext>
              </a:extLst>
            </p:cNvPr>
            <p:cNvSpPr txBox="1"/>
            <p:nvPr/>
          </p:nvSpPr>
          <p:spPr>
            <a:xfrm>
              <a:off x="4720533" y="3263331"/>
              <a:ext cx="839641" cy="343492"/>
            </a:xfrm>
            <a:prstGeom prst="rect">
              <a:avLst/>
            </a:prstGeom>
            <a:noFill/>
          </p:spPr>
          <p:txBody>
            <a:bodyPr wrap="square">
              <a:spAutoFit/>
            </a:bodyPr>
            <a:lstStyle/>
            <a:p>
              <a:r>
                <a:rPr lang="en-US" sz="1632" b="1" dirty="0">
                  <a:solidFill>
                    <a:schemeClr val="tx2">
                      <a:lumMod val="50000"/>
                    </a:schemeClr>
                  </a:solidFill>
                </a:rPr>
                <a:t>Task</a:t>
              </a:r>
              <a:r>
                <a:rPr lang="fr-FR" sz="1632" b="1" dirty="0">
                  <a:solidFill>
                    <a:schemeClr val="tx2">
                      <a:lumMod val="50000"/>
                    </a:schemeClr>
                  </a:solidFill>
                </a:rPr>
                <a:t> 2</a:t>
              </a:r>
            </a:p>
          </p:txBody>
        </p:sp>
        <p:pic>
          <p:nvPicPr>
            <p:cNvPr id="69" name="Graphic 68">
              <a:extLst>
                <a:ext uri="{FF2B5EF4-FFF2-40B4-BE49-F238E27FC236}">
                  <a16:creationId xmlns:a16="http://schemas.microsoft.com/office/drawing/2014/main" id="{DC692ABC-9909-4543-AC01-677BA6BF41F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38861" y="3339835"/>
              <a:ext cx="676899" cy="611804"/>
            </a:xfrm>
            <a:prstGeom prst="rect">
              <a:avLst/>
            </a:prstGeom>
          </p:spPr>
        </p:pic>
        <p:pic>
          <p:nvPicPr>
            <p:cNvPr id="71" name="Graphic 70">
              <a:extLst>
                <a:ext uri="{FF2B5EF4-FFF2-40B4-BE49-F238E27FC236}">
                  <a16:creationId xmlns:a16="http://schemas.microsoft.com/office/drawing/2014/main" id="{F062EE0F-B2D4-39D2-CBBF-9B853854CE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55305" y="1672832"/>
              <a:ext cx="368970" cy="333487"/>
            </a:xfrm>
            <a:prstGeom prst="rect">
              <a:avLst/>
            </a:prstGeom>
          </p:spPr>
        </p:pic>
        <p:sp>
          <p:nvSpPr>
            <p:cNvPr id="73" name="TextBox 72">
              <a:extLst>
                <a:ext uri="{FF2B5EF4-FFF2-40B4-BE49-F238E27FC236}">
                  <a16:creationId xmlns:a16="http://schemas.microsoft.com/office/drawing/2014/main" id="{867EB593-5541-00AE-F7DE-2D53FB7859EC}"/>
                </a:ext>
              </a:extLst>
            </p:cNvPr>
            <p:cNvSpPr txBox="1"/>
            <p:nvPr/>
          </p:nvSpPr>
          <p:spPr>
            <a:xfrm>
              <a:off x="3122226" y="3953885"/>
              <a:ext cx="2110168" cy="343492"/>
            </a:xfrm>
            <a:prstGeom prst="rect">
              <a:avLst/>
            </a:prstGeom>
            <a:noFill/>
          </p:spPr>
          <p:txBody>
            <a:bodyPr wrap="square">
              <a:spAutoFit/>
            </a:bodyPr>
            <a:lstStyle/>
            <a:p>
              <a:r>
                <a:rPr lang="fr-FR" sz="1632" dirty="0"/>
                <a:t>az104-rsv-region1</a:t>
              </a:r>
            </a:p>
          </p:txBody>
        </p:sp>
        <p:sp>
          <p:nvSpPr>
            <p:cNvPr id="13" name="Rectangle 12">
              <a:extLst>
                <a:ext uri="{FF2B5EF4-FFF2-40B4-BE49-F238E27FC236}">
                  <a16:creationId xmlns:a16="http://schemas.microsoft.com/office/drawing/2014/main" id="{63D3DE6C-3DB2-739D-DC61-FF19E0BA1C52}"/>
                </a:ext>
              </a:extLst>
            </p:cNvPr>
            <p:cNvSpPr/>
            <p:nvPr/>
          </p:nvSpPr>
          <p:spPr bwMode="auto">
            <a:xfrm>
              <a:off x="2622497" y="2079410"/>
              <a:ext cx="2941762" cy="1072443"/>
            </a:xfrm>
            <a:prstGeom prst="rect">
              <a:avLst/>
            </a:prstGeom>
            <a:solidFill>
              <a:schemeClr val="accent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1632" dirty="0" err="1">
                <a:gradFill>
                  <a:gsLst>
                    <a:gs pos="0">
                      <a:srgbClr val="FFFFFF"/>
                    </a:gs>
                    <a:gs pos="100000">
                      <a:srgbClr val="FFFFFF"/>
                    </a:gs>
                  </a:gsLst>
                  <a:lin ang="5400000" scaled="0"/>
                </a:gradFill>
                <a:ea typeface="Segoe UI" pitchFamily="34" charset="0"/>
                <a:cs typeface="Segoe UI" pitchFamily="34" charset="0"/>
              </a:endParaRPr>
            </a:p>
          </p:txBody>
        </p:sp>
        <p:sp>
          <p:nvSpPr>
            <p:cNvPr id="93" name="TextBox 92">
              <a:extLst>
                <a:ext uri="{FF2B5EF4-FFF2-40B4-BE49-F238E27FC236}">
                  <a16:creationId xmlns:a16="http://schemas.microsoft.com/office/drawing/2014/main" id="{93F2F0D0-55E4-E6B5-BBB1-966D1C7E1BCA}"/>
                </a:ext>
              </a:extLst>
            </p:cNvPr>
            <p:cNvSpPr txBox="1"/>
            <p:nvPr/>
          </p:nvSpPr>
          <p:spPr>
            <a:xfrm>
              <a:off x="3117427" y="2769462"/>
              <a:ext cx="1737146" cy="343492"/>
            </a:xfrm>
            <a:prstGeom prst="rect">
              <a:avLst/>
            </a:prstGeom>
            <a:noFill/>
          </p:spPr>
          <p:txBody>
            <a:bodyPr wrap="square">
              <a:spAutoFit/>
            </a:bodyPr>
            <a:lstStyle/>
            <a:p>
              <a:pPr algn="ctr"/>
              <a:r>
                <a:rPr lang="fr-FR" sz="1632" dirty="0"/>
                <a:t>az104-10-vm0</a:t>
              </a:r>
            </a:p>
          </p:txBody>
        </p:sp>
        <p:pic>
          <p:nvPicPr>
            <p:cNvPr id="95" name="Graphic 94">
              <a:extLst>
                <a:ext uri="{FF2B5EF4-FFF2-40B4-BE49-F238E27FC236}">
                  <a16:creationId xmlns:a16="http://schemas.microsoft.com/office/drawing/2014/main" id="{8F732D88-DA00-58D3-E163-AB57BCAA989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744564" y="2298731"/>
              <a:ext cx="482873" cy="436437"/>
            </a:xfrm>
            <a:prstGeom prst="rect">
              <a:avLst/>
            </a:prstGeom>
          </p:spPr>
        </p:pic>
        <p:sp>
          <p:nvSpPr>
            <p:cNvPr id="11" name="Rectangle 10">
              <a:extLst>
                <a:ext uri="{FF2B5EF4-FFF2-40B4-BE49-F238E27FC236}">
                  <a16:creationId xmlns:a16="http://schemas.microsoft.com/office/drawing/2014/main" id="{C4DDDB12-BF98-8E80-54E2-16950BC34A24}"/>
                </a:ext>
              </a:extLst>
            </p:cNvPr>
            <p:cNvSpPr/>
            <p:nvPr/>
          </p:nvSpPr>
          <p:spPr bwMode="auto">
            <a:xfrm>
              <a:off x="2621316" y="4480334"/>
              <a:ext cx="2941762" cy="1072443"/>
            </a:xfrm>
            <a:prstGeom prst="rect">
              <a:avLst/>
            </a:prstGeom>
            <a:solidFill>
              <a:schemeClr val="accent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1632" dirty="0" err="1">
                <a:gradFill>
                  <a:gsLst>
                    <a:gs pos="0">
                      <a:srgbClr val="FFFFFF"/>
                    </a:gs>
                    <a:gs pos="100000">
                      <a:srgbClr val="FFFFFF"/>
                    </a:gs>
                  </a:gsLst>
                  <a:lin ang="5400000" scaled="0"/>
                </a:gradFill>
                <a:ea typeface="Segoe UI" pitchFamily="34" charset="0"/>
                <a:cs typeface="Segoe UI" pitchFamily="34" charset="0"/>
              </a:endParaRPr>
            </a:p>
          </p:txBody>
        </p:sp>
        <p:sp>
          <p:nvSpPr>
            <p:cNvPr id="12" name="TextBox 11">
              <a:extLst>
                <a:ext uri="{FF2B5EF4-FFF2-40B4-BE49-F238E27FC236}">
                  <a16:creationId xmlns:a16="http://schemas.microsoft.com/office/drawing/2014/main" id="{4079E449-FDF4-B595-137E-8B98C0F84F44}"/>
                </a:ext>
              </a:extLst>
            </p:cNvPr>
            <p:cNvSpPr txBox="1"/>
            <p:nvPr/>
          </p:nvSpPr>
          <p:spPr>
            <a:xfrm>
              <a:off x="4723437" y="4496192"/>
              <a:ext cx="839641" cy="343492"/>
            </a:xfrm>
            <a:prstGeom prst="rect">
              <a:avLst/>
            </a:prstGeom>
            <a:noFill/>
          </p:spPr>
          <p:txBody>
            <a:bodyPr wrap="square">
              <a:spAutoFit/>
            </a:bodyPr>
            <a:lstStyle/>
            <a:p>
              <a:r>
                <a:rPr lang="en-US" sz="1632" b="1" dirty="0">
                  <a:solidFill>
                    <a:schemeClr val="tx2">
                      <a:lumMod val="50000"/>
                    </a:schemeClr>
                  </a:solidFill>
                </a:rPr>
                <a:t>Task</a:t>
              </a:r>
              <a:r>
                <a:rPr lang="fr-FR" sz="1632" b="1" dirty="0">
                  <a:solidFill>
                    <a:schemeClr val="tx2">
                      <a:lumMod val="50000"/>
                    </a:schemeClr>
                  </a:solidFill>
                </a:rPr>
                <a:t> 3</a:t>
              </a:r>
            </a:p>
          </p:txBody>
        </p:sp>
        <p:pic>
          <p:nvPicPr>
            <p:cNvPr id="4" name="Graphic 3">
              <a:extLst>
                <a:ext uri="{FF2B5EF4-FFF2-40B4-BE49-F238E27FC236}">
                  <a16:creationId xmlns:a16="http://schemas.microsoft.com/office/drawing/2014/main" id="{B70D8AB6-D1F2-673F-AF71-FB6EF8C0F98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773799" y="4531456"/>
              <a:ext cx="776923" cy="702209"/>
            </a:xfrm>
            <a:prstGeom prst="rect">
              <a:avLst/>
            </a:prstGeom>
          </p:spPr>
        </p:pic>
        <p:sp>
          <p:nvSpPr>
            <p:cNvPr id="6" name="TextBox 5">
              <a:extLst>
                <a:ext uri="{FF2B5EF4-FFF2-40B4-BE49-F238E27FC236}">
                  <a16:creationId xmlns:a16="http://schemas.microsoft.com/office/drawing/2014/main" id="{D6F9E20D-5121-07B4-DC4E-DD03350C59C6}"/>
                </a:ext>
              </a:extLst>
            </p:cNvPr>
            <p:cNvSpPr txBox="1"/>
            <p:nvPr/>
          </p:nvSpPr>
          <p:spPr>
            <a:xfrm>
              <a:off x="3510260" y="1328965"/>
              <a:ext cx="1434353" cy="343492"/>
            </a:xfrm>
            <a:prstGeom prst="rect">
              <a:avLst/>
            </a:prstGeom>
            <a:noFill/>
          </p:spPr>
          <p:txBody>
            <a:bodyPr wrap="square">
              <a:spAutoFit/>
            </a:bodyPr>
            <a:lstStyle/>
            <a:p>
              <a:r>
                <a:rPr lang="en-US" sz="1632" b="1" dirty="0"/>
                <a:t>Region 1</a:t>
              </a:r>
            </a:p>
          </p:txBody>
        </p:sp>
        <p:sp>
          <p:nvSpPr>
            <p:cNvPr id="7" name="TextBox 6">
              <a:extLst>
                <a:ext uri="{FF2B5EF4-FFF2-40B4-BE49-F238E27FC236}">
                  <a16:creationId xmlns:a16="http://schemas.microsoft.com/office/drawing/2014/main" id="{15424227-FBD4-FD78-5C6D-5C25B6C9065D}"/>
                </a:ext>
              </a:extLst>
            </p:cNvPr>
            <p:cNvSpPr txBox="1"/>
            <p:nvPr/>
          </p:nvSpPr>
          <p:spPr>
            <a:xfrm>
              <a:off x="8267224" y="1355829"/>
              <a:ext cx="1434353" cy="343492"/>
            </a:xfrm>
            <a:prstGeom prst="rect">
              <a:avLst/>
            </a:prstGeom>
            <a:noFill/>
          </p:spPr>
          <p:txBody>
            <a:bodyPr wrap="square">
              <a:spAutoFit/>
            </a:bodyPr>
            <a:lstStyle/>
            <a:p>
              <a:r>
                <a:rPr lang="en-US" sz="1632" b="1" dirty="0"/>
                <a:t>Region 2</a:t>
              </a:r>
            </a:p>
          </p:txBody>
        </p:sp>
        <p:sp>
          <p:nvSpPr>
            <p:cNvPr id="9" name="TextBox 8">
              <a:extLst>
                <a:ext uri="{FF2B5EF4-FFF2-40B4-BE49-F238E27FC236}">
                  <a16:creationId xmlns:a16="http://schemas.microsoft.com/office/drawing/2014/main" id="{836F04F9-F245-68B1-133E-635F12852DD2}"/>
                </a:ext>
              </a:extLst>
            </p:cNvPr>
            <p:cNvSpPr txBox="1"/>
            <p:nvPr/>
          </p:nvSpPr>
          <p:spPr>
            <a:xfrm>
              <a:off x="3331743" y="5206606"/>
              <a:ext cx="1691499" cy="343492"/>
            </a:xfrm>
            <a:prstGeom prst="rect">
              <a:avLst/>
            </a:prstGeom>
            <a:noFill/>
          </p:spPr>
          <p:txBody>
            <a:bodyPr wrap="square">
              <a:spAutoFit/>
            </a:bodyPr>
            <a:lstStyle/>
            <a:p>
              <a:r>
                <a:rPr lang="en-US" sz="1632" dirty="0"/>
                <a:t>Azure Backup</a:t>
              </a:r>
            </a:p>
          </p:txBody>
        </p:sp>
        <p:sp>
          <p:nvSpPr>
            <p:cNvPr id="61" name="TextBox 60">
              <a:extLst>
                <a:ext uri="{FF2B5EF4-FFF2-40B4-BE49-F238E27FC236}">
                  <a16:creationId xmlns:a16="http://schemas.microsoft.com/office/drawing/2014/main" id="{38951EF5-0D37-FFD5-358B-55BAF45FAC9D}"/>
                </a:ext>
              </a:extLst>
            </p:cNvPr>
            <p:cNvSpPr txBox="1"/>
            <p:nvPr/>
          </p:nvSpPr>
          <p:spPr>
            <a:xfrm>
              <a:off x="4682991" y="2061451"/>
              <a:ext cx="839641" cy="343492"/>
            </a:xfrm>
            <a:prstGeom prst="rect">
              <a:avLst/>
            </a:prstGeom>
            <a:noFill/>
          </p:spPr>
          <p:txBody>
            <a:bodyPr wrap="square">
              <a:spAutoFit/>
            </a:bodyPr>
            <a:lstStyle/>
            <a:p>
              <a:r>
                <a:rPr lang="fr-FR" sz="1632" b="1" dirty="0">
                  <a:solidFill>
                    <a:schemeClr val="tx2">
                      <a:lumMod val="50000"/>
                    </a:schemeClr>
                  </a:solidFill>
                </a:rPr>
                <a:t>Task 1</a:t>
              </a:r>
            </a:p>
          </p:txBody>
        </p:sp>
        <p:sp>
          <p:nvSpPr>
            <p:cNvPr id="19" name="Rectangle 18">
              <a:extLst>
                <a:ext uri="{FF2B5EF4-FFF2-40B4-BE49-F238E27FC236}">
                  <a16:creationId xmlns:a16="http://schemas.microsoft.com/office/drawing/2014/main" id="{F4069F41-B673-27F7-298D-80F0BC814BEE}"/>
                </a:ext>
              </a:extLst>
            </p:cNvPr>
            <p:cNvSpPr/>
            <p:nvPr/>
          </p:nvSpPr>
          <p:spPr bwMode="auto">
            <a:xfrm>
              <a:off x="7381629" y="2093287"/>
              <a:ext cx="2941762" cy="1072443"/>
            </a:xfrm>
            <a:prstGeom prst="rect">
              <a:avLst/>
            </a:prstGeom>
            <a:solidFill>
              <a:schemeClr val="accent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1632" dirty="0" err="1">
                <a:gradFill>
                  <a:gsLst>
                    <a:gs pos="0">
                      <a:srgbClr val="FFFFFF"/>
                    </a:gs>
                    <a:gs pos="100000">
                      <a:srgbClr val="FFFFFF"/>
                    </a:gs>
                  </a:gsLst>
                  <a:lin ang="5400000" scaled="0"/>
                </a:gradFill>
                <a:ea typeface="Segoe UI" pitchFamily="34" charset="0"/>
                <a:cs typeface="Segoe UI" pitchFamily="34" charset="0"/>
              </a:endParaRPr>
            </a:p>
          </p:txBody>
        </p:sp>
        <p:sp>
          <p:nvSpPr>
            <p:cNvPr id="20" name="TextBox 19">
              <a:extLst>
                <a:ext uri="{FF2B5EF4-FFF2-40B4-BE49-F238E27FC236}">
                  <a16:creationId xmlns:a16="http://schemas.microsoft.com/office/drawing/2014/main" id="{4F9D4C84-663B-64FC-8196-BE49E361569A}"/>
                </a:ext>
              </a:extLst>
            </p:cNvPr>
            <p:cNvSpPr txBox="1"/>
            <p:nvPr/>
          </p:nvSpPr>
          <p:spPr>
            <a:xfrm>
              <a:off x="9560585" y="2090073"/>
              <a:ext cx="839641" cy="343492"/>
            </a:xfrm>
            <a:prstGeom prst="rect">
              <a:avLst/>
            </a:prstGeom>
            <a:noFill/>
          </p:spPr>
          <p:txBody>
            <a:bodyPr wrap="square">
              <a:spAutoFit/>
            </a:bodyPr>
            <a:lstStyle/>
            <a:p>
              <a:r>
                <a:rPr lang="en-US" sz="1632" b="1" dirty="0">
                  <a:solidFill>
                    <a:schemeClr val="tx2">
                      <a:lumMod val="50000"/>
                    </a:schemeClr>
                  </a:solidFill>
                </a:rPr>
                <a:t>Task</a:t>
              </a:r>
              <a:r>
                <a:rPr lang="fr-FR" sz="1632" b="1" dirty="0">
                  <a:solidFill>
                    <a:schemeClr val="tx2">
                      <a:lumMod val="50000"/>
                    </a:schemeClr>
                  </a:solidFill>
                </a:rPr>
                <a:t> 5</a:t>
              </a:r>
            </a:p>
          </p:txBody>
        </p:sp>
        <p:cxnSp>
          <p:nvCxnSpPr>
            <p:cNvPr id="23" name="Connector: Elbow 22">
              <a:extLst>
                <a:ext uri="{FF2B5EF4-FFF2-40B4-BE49-F238E27FC236}">
                  <a16:creationId xmlns:a16="http://schemas.microsoft.com/office/drawing/2014/main" id="{28BCF9AD-5D63-32B4-DFE4-DED57116EA1D}"/>
                </a:ext>
              </a:extLst>
            </p:cNvPr>
            <p:cNvCxnSpPr>
              <a:cxnSpLocks/>
              <a:stCxn id="95" idx="3"/>
            </p:cNvCxnSpPr>
            <p:nvPr/>
          </p:nvCxnSpPr>
          <p:spPr>
            <a:xfrm flipV="1">
              <a:off x="4227437" y="2513435"/>
              <a:ext cx="3154192" cy="3515"/>
            </a:xfrm>
            <a:prstGeom prst="bentConnector3">
              <a:avLst>
                <a:gd name="adj1" fmla="val 50000"/>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32" name="Graphic 31">
              <a:extLst>
                <a:ext uri="{FF2B5EF4-FFF2-40B4-BE49-F238E27FC236}">
                  <a16:creationId xmlns:a16="http://schemas.microsoft.com/office/drawing/2014/main" id="{E727CC47-7A91-4068-ABD3-11754976BE0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06872" y="2142981"/>
              <a:ext cx="676899" cy="611804"/>
            </a:xfrm>
            <a:prstGeom prst="rect">
              <a:avLst/>
            </a:prstGeom>
          </p:spPr>
        </p:pic>
        <p:pic>
          <p:nvPicPr>
            <p:cNvPr id="5" name="Graphic 4">
              <a:extLst>
                <a:ext uri="{FF2B5EF4-FFF2-40B4-BE49-F238E27FC236}">
                  <a16:creationId xmlns:a16="http://schemas.microsoft.com/office/drawing/2014/main" id="{16B21469-8D8C-E33F-67DE-2384581D212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72031" y="4645757"/>
              <a:ext cx="843257" cy="762164"/>
            </a:xfrm>
            <a:prstGeom prst="rect">
              <a:avLst/>
            </a:prstGeom>
          </p:spPr>
        </p:pic>
        <p:sp>
          <p:nvSpPr>
            <p:cNvPr id="8" name="TextBox 7">
              <a:extLst>
                <a:ext uri="{FF2B5EF4-FFF2-40B4-BE49-F238E27FC236}">
                  <a16:creationId xmlns:a16="http://schemas.microsoft.com/office/drawing/2014/main" id="{C4035E2A-23D8-0BB8-EFC7-CBF4960BB665}"/>
                </a:ext>
              </a:extLst>
            </p:cNvPr>
            <p:cNvSpPr txBox="1"/>
            <p:nvPr/>
          </p:nvSpPr>
          <p:spPr>
            <a:xfrm>
              <a:off x="907371" y="4291646"/>
              <a:ext cx="839641" cy="343492"/>
            </a:xfrm>
            <a:prstGeom prst="rect">
              <a:avLst/>
            </a:prstGeom>
            <a:noFill/>
          </p:spPr>
          <p:txBody>
            <a:bodyPr wrap="square">
              <a:spAutoFit/>
            </a:bodyPr>
            <a:lstStyle/>
            <a:p>
              <a:r>
                <a:rPr lang="en-US" sz="1632" b="1" dirty="0">
                  <a:solidFill>
                    <a:schemeClr val="tx2">
                      <a:lumMod val="50000"/>
                    </a:schemeClr>
                  </a:solidFill>
                </a:rPr>
                <a:t>Task</a:t>
              </a:r>
              <a:r>
                <a:rPr lang="fr-FR" sz="1632" b="1" dirty="0">
                  <a:solidFill>
                    <a:schemeClr val="tx2">
                      <a:lumMod val="50000"/>
                    </a:schemeClr>
                  </a:solidFill>
                </a:rPr>
                <a:t> 4</a:t>
              </a:r>
            </a:p>
          </p:txBody>
        </p:sp>
        <p:sp>
          <p:nvSpPr>
            <p:cNvPr id="14" name="TextBox 13">
              <a:extLst>
                <a:ext uri="{FF2B5EF4-FFF2-40B4-BE49-F238E27FC236}">
                  <a16:creationId xmlns:a16="http://schemas.microsoft.com/office/drawing/2014/main" id="{E6DE96BB-9B3B-3F54-6343-FFD9E276BDFE}"/>
                </a:ext>
              </a:extLst>
            </p:cNvPr>
            <p:cNvSpPr txBox="1"/>
            <p:nvPr/>
          </p:nvSpPr>
          <p:spPr>
            <a:xfrm>
              <a:off x="829873" y="5386566"/>
              <a:ext cx="961495" cy="343492"/>
            </a:xfrm>
            <a:prstGeom prst="rect">
              <a:avLst/>
            </a:prstGeom>
            <a:noFill/>
          </p:spPr>
          <p:txBody>
            <a:bodyPr wrap="square">
              <a:spAutoFit/>
            </a:bodyPr>
            <a:lstStyle/>
            <a:p>
              <a:r>
                <a:rPr lang="en-US" sz="1632" dirty="0"/>
                <a:t>Monitor</a:t>
              </a:r>
            </a:p>
          </p:txBody>
        </p:sp>
        <p:cxnSp>
          <p:nvCxnSpPr>
            <p:cNvPr id="17" name="Straight Arrow Connector 16">
              <a:extLst>
                <a:ext uri="{FF2B5EF4-FFF2-40B4-BE49-F238E27FC236}">
                  <a16:creationId xmlns:a16="http://schemas.microsoft.com/office/drawing/2014/main" id="{D477A649-9401-34AB-919A-BC73541B2D3B}"/>
                </a:ext>
              </a:extLst>
            </p:cNvPr>
            <p:cNvCxnSpPr>
              <a:cxnSpLocks/>
              <a:stCxn id="5" idx="3"/>
              <a:endCxn id="11" idx="1"/>
            </p:cNvCxnSpPr>
            <p:nvPr/>
          </p:nvCxnSpPr>
          <p:spPr>
            <a:xfrm flipV="1">
              <a:off x="1715288" y="5016556"/>
              <a:ext cx="906028" cy="10283"/>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947A304-5209-B8DF-5A54-EF385E40ACB6}"/>
                </a:ext>
              </a:extLst>
            </p:cNvPr>
            <p:cNvSpPr txBox="1"/>
            <p:nvPr/>
          </p:nvSpPr>
          <p:spPr>
            <a:xfrm>
              <a:off x="8000534" y="2754785"/>
              <a:ext cx="2110168" cy="343492"/>
            </a:xfrm>
            <a:prstGeom prst="rect">
              <a:avLst/>
            </a:prstGeom>
            <a:noFill/>
          </p:spPr>
          <p:txBody>
            <a:bodyPr wrap="square">
              <a:spAutoFit/>
            </a:bodyPr>
            <a:lstStyle/>
            <a:p>
              <a:r>
                <a:rPr lang="fr-FR" sz="1632" dirty="0"/>
                <a:t>az104-rsv-region2</a:t>
              </a:r>
            </a:p>
          </p:txBody>
        </p:sp>
        <p:pic>
          <p:nvPicPr>
            <p:cNvPr id="30" name="Graphic 29">
              <a:extLst>
                <a:ext uri="{FF2B5EF4-FFF2-40B4-BE49-F238E27FC236}">
                  <a16:creationId xmlns:a16="http://schemas.microsoft.com/office/drawing/2014/main" id="{7C59F7AF-7DFC-71DC-A30C-307BAC80D71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08411" y="2136247"/>
              <a:ext cx="676899" cy="611804"/>
            </a:xfrm>
            <a:prstGeom prst="rect">
              <a:avLst/>
            </a:prstGeom>
          </p:spPr>
        </p:pic>
        <p:sp>
          <p:nvSpPr>
            <p:cNvPr id="33" name="TextBox 32">
              <a:extLst>
                <a:ext uri="{FF2B5EF4-FFF2-40B4-BE49-F238E27FC236}">
                  <a16:creationId xmlns:a16="http://schemas.microsoft.com/office/drawing/2014/main" id="{60180073-195A-E566-3088-66069BD4D9B9}"/>
                </a:ext>
              </a:extLst>
            </p:cNvPr>
            <p:cNvSpPr txBox="1"/>
            <p:nvPr/>
          </p:nvSpPr>
          <p:spPr>
            <a:xfrm>
              <a:off x="5851894" y="2694741"/>
              <a:ext cx="1296266" cy="374846"/>
            </a:xfrm>
            <a:prstGeom prst="rect">
              <a:avLst/>
            </a:prstGeom>
            <a:noFill/>
          </p:spPr>
          <p:txBody>
            <a:bodyPr wrap="square">
              <a:spAutoFit/>
            </a:bodyPr>
            <a:lstStyle/>
            <a:p>
              <a:r>
                <a:rPr lang="en-US" sz="1836" dirty="0"/>
                <a:t>replication</a:t>
              </a:r>
            </a:p>
          </p:txBody>
        </p:sp>
      </p:grpSp>
    </p:spTree>
    <p:extLst>
      <p:ext uri="{BB962C8B-B14F-4D97-AF65-F5344CB8AC3E}">
        <p14:creationId xmlns:p14="http://schemas.microsoft.com/office/powerpoint/2010/main" val="9388687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B52E49E-C399-4EC8-B5AC-9D50248ACAF0}"/>
              </a:ext>
            </a:extLst>
          </p:cNvPr>
          <p:cNvSpPr>
            <a:spLocks noGrp="1"/>
          </p:cNvSpPr>
          <p:nvPr>
            <p:ph type="title"/>
          </p:nvPr>
        </p:nvSpPr>
        <p:spPr/>
        <p:txBody>
          <a:bodyPr/>
          <a:lstStyle/>
          <a:p>
            <a:r>
              <a:rPr lang="en-US" dirty="0"/>
              <a:t>End of presentation</a:t>
            </a:r>
          </a:p>
        </p:txBody>
      </p:sp>
    </p:spTree>
    <p:extLst>
      <p:ext uri="{BB962C8B-B14F-4D97-AF65-F5344CB8AC3E}">
        <p14:creationId xmlns:p14="http://schemas.microsoft.com/office/powerpoint/2010/main" val="2189076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1940</Words>
  <Application>Microsoft Office PowerPoint</Application>
  <PresentationFormat>Custom</PresentationFormat>
  <Paragraphs>244</Paragraphs>
  <Slides>25</Slides>
  <Notes>25</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Segoe UI</vt:lpstr>
      <vt:lpstr>Segoe UI Semibold</vt:lpstr>
      <vt:lpstr>Segoe UI Semilight</vt:lpstr>
      <vt:lpstr>Wingdings</vt:lpstr>
      <vt:lpstr>1_Azure 1</vt:lpstr>
      <vt:lpstr>AZ-104T00A Administer Data Protection</vt:lpstr>
      <vt:lpstr>Learning Objectives - Administer Data Protection</vt:lpstr>
      <vt:lpstr>Administer Data Protection whiteboard</vt:lpstr>
      <vt:lpstr>Introduction to Azure Backup</vt:lpstr>
      <vt:lpstr>Learning Objectives – Introduction to Azure Backup</vt:lpstr>
      <vt:lpstr>What is Azure Backup?</vt:lpstr>
      <vt:lpstr>How Azure Backup works (vaults and policies)</vt:lpstr>
      <vt:lpstr>Use the Azure Business Continuity Center</vt:lpstr>
      <vt:lpstr>Demonstration – Backup Azure File Shares</vt:lpstr>
      <vt:lpstr>Learning Recap – Introduction to Azure Backup</vt:lpstr>
      <vt:lpstr>Protect your virtual machines by using Azure Backup</vt:lpstr>
      <vt:lpstr>Learning Objectives – Protect your virtual machines with Azure Backup</vt:lpstr>
      <vt:lpstr>Explore options to protect virtual machine data</vt:lpstr>
      <vt:lpstr>Create virtual machine snapshots in Azure Backup</vt:lpstr>
      <vt:lpstr>Set up Azure Recovery Services vault backup options</vt:lpstr>
      <vt:lpstr>Backup Virtual Machines</vt:lpstr>
      <vt:lpstr>Restore Virtual Machines</vt:lpstr>
      <vt:lpstr>Demonstration – Virtual Machine Backups</vt:lpstr>
      <vt:lpstr>Manage Soft Delete</vt:lpstr>
      <vt:lpstr>Implement Azure Site Recovery</vt:lpstr>
      <vt:lpstr>Learning Recap – Protect your virtual machines by using Azure Backup</vt:lpstr>
      <vt:lpstr>Lab – Implement Data Protection</vt:lpstr>
      <vt:lpstr>Lab 10 – Implement Data Protection resume at 2:10</vt:lpstr>
      <vt:lpstr>Lab 10 – Architecture diagram</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2023-11-13T15:58:06Z</dcterms:created>
  <dcterms:modified xsi:type="dcterms:W3CDTF">2026-03-05T12:41:03Z</dcterms:modified>
</cp:coreProperties>
</file>