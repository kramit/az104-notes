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4639" r:id="rId1"/>
  </p:sldMasterIdLst>
  <p:notesMasterIdLst>
    <p:notesMasterId r:id="rId47"/>
  </p:notesMasterIdLst>
  <p:handoutMasterIdLst>
    <p:handoutMasterId r:id="rId48"/>
  </p:handoutMasterIdLst>
  <p:sldIdLst>
    <p:sldId id="1719" r:id="rId2"/>
    <p:sldId id="2253" r:id="rId3"/>
    <p:sldId id="2076138224" r:id="rId4"/>
    <p:sldId id="1865" r:id="rId5"/>
    <p:sldId id="1905" r:id="rId6"/>
    <p:sldId id="1922" r:id="rId7"/>
    <p:sldId id="2076138294" r:id="rId8"/>
    <p:sldId id="2480" r:id="rId9"/>
    <p:sldId id="2482" r:id="rId10"/>
    <p:sldId id="2489" r:id="rId11"/>
    <p:sldId id="2471" r:id="rId12"/>
    <p:sldId id="2476" r:id="rId13"/>
    <p:sldId id="2481" r:id="rId14"/>
    <p:sldId id="2472" r:id="rId15"/>
    <p:sldId id="2477" r:id="rId16"/>
    <p:sldId id="2479" r:id="rId17"/>
    <p:sldId id="1926" r:id="rId18"/>
    <p:sldId id="1946" r:id="rId19"/>
    <p:sldId id="2483" r:id="rId20"/>
    <p:sldId id="1862" r:id="rId21"/>
    <p:sldId id="2490" r:id="rId22"/>
    <p:sldId id="2523" r:id="rId23"/>
    <p:sldId id="2485" r:id="rId24"/>
    <p:sldId id="2492" r:id="rId25"/>
    <p:sldId id="2527" r:id="rId26"/>
    <p:sldId id="2076138292" r:id="rId27"/>
    <p:sldId id="2516" r:id="rId28"/>
    <p:sldId id="2518" r:id="rId29"/>
    <p:sldId id="2526" r:id="rId30"/>
    <p:sldId id="2076138231" r:id="rId31"/>
    <p:sldId id="2076138293" r:id="rId32"/>
    <p:sldId id="2076138225" r:id="rId33"/>
    <p:sldId id="2524" r:id="rId34"/>
    <p:sldId id="2469" r:id="rId35"/>
    <p:sldId id="2592" r:id="rId36"/>
    <p:sldId id="2076138227" r:id="rId37"/>
    <p:sldId id="2076138228" r:id="rId38"/>
    <p:sldId id="2600" r:id="rId39"/>
    <p:sldId id="2601" r:id="rId40"/>
    <p:sldId id="2602" r:id="rId41"/>
    <p:sldId id="2519" r:id="rId42"/>
    <p:sldId id="2511" r:id="rId43"/>
    <p:sldId id="2517" r:id="rId44"/>
    <p:sldId id="2510" r:id="rId45"/>
    <p:sldId id="1980" r:id="rId46"/>
  </p:sldIdLst>
  <p:sldSz cx="12436475" cy="6994525"/>
  <p:notesSz cx="68580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aaS Compute Options" id="{4F1F8CE5-B2C3-456C-A812-418E477651AC}">
          <p14:sldIdLst>
            <p14:sldId id="1719"/>
            <p14:sldId id="2253"/>
            <p14:sldId id="2076138224"/>
          </p14:sldIdLst>
        </p14:section>
        <p14:section name="App Service Plans" id="{2F65BD05-5507-43B4-8D36-8216A9125082}">
          <p14:sldIdLst>
            <p14:sldId id="1865"/>
            <p14:sldId id="1905"/>
            <p14:sldId id="1922"/>
            <p14:sldId id="2076138294"/>
            <p14:sldId id="2480"/>
            <p14:sldId id="2482"/>
            <p14:sldId id="2489"/>
            <p14:sldId id="2471"/>
          </p14:sldIdLst>
        </p14:section>
        <p14:section name="App Services" id="{4F66F9CE-5C35-44D8-8DF8-3031384F09D2}">
          <p14:sldIdLst>
            <p14:sldId id="2476"/>
            <p14:sldId id="2481"/>
            <p14:sldId id="2472"/>
            <p14:sldId id="2477"/>
            <p14:sldId id="2479"/>
            <p14:sldId id="1926"/>
            <p14:sldId id="1946"/>
            <p14:sldId id="2483"/>
            <p14:sldId id="1862"/>
            <p14:sldId id="2490"/>
            <p14:sldId id="2523"/>
          </p14:sldIdLst>
        </p14:section>
        <p14:section name="Container Instances" id="{BBC19043-BCF1-45ED-B9AB-68FD08EBCE8E}">
          <p14:sldIdLst>
            <p14:sldId id="2485"/>
            <p14:sldId id="2492"/>
            <p14:sldId id="2527"/>
            <p14:sldId id="2076138292"/>
            <p14:sldId id="2516"/>
            <p14:sldId id="2518"/>
            <p14:sldId id="2526"/>
            <p14:sldId id="2076138231"/>
            <p14:sldId id="2076138293"/>
            <p14:sldId id="2076138225"/>
            <p14:sldId id="2524"/>
          </p14:sldIdLst>
        </p14:section>
        <p14:section name="Labs" id="{C99B9DCC-896B-4011-B449-D7D5E048D74C}">
          <p14:sldIdLst>
            <p14:sldId id="2469"/>
            <p14:sldId id="2592"/>
            <p14:sldId id="2076138227"/>
            <p14:sldId id="2076138228"/>
            <p14:sldId id="2600"/>
            <p14:sldId id="2601"/>
            <p14:sldId id="2602"/>
            <p14:sldId id="2519"/>
          </p14:sldIdLst>
        </p14:section>
        <p14:section name="Extra Slides" id="{0D0AB77B-25D2-419E-9668-254C2A33370C}">
          <p14:sldIdLst>
            <p14:sldId id="2511"/>
            <p14:sldId id="2517"/>
            <p14:sldId id="2510"/>
            <p14:sldId id="1980"/>
          </p14:sldIdLst>
        </p14:section>
      </p14:section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5" name="Author" initials="A"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43A5E"/>
    <a:srgbClr val="FFFFCC"/>
    <a:srgbClr val="FFF100"/>
    <a:srgbClr val="0067B4"/>
    <a:srgbClr val="0070C4"/>
    <a:srgbClr val="EDEDED"/>
    <a:srgbClr val="EBEBEB"/>
    <a:srgbClr val="59B4D9"/>
    <a:srgbClr val="FFFFFF"/>
    <a:srgbClr val="75757A"/>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2EA3AB-8066-704A-B1C6-C180D31E028D}" v="38" dt="2026-03-05T10:31:42.0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presProps" Target="presProps.xml"/><Relationship Id="rId55" Type="http://schemas.microsoft.com/office/2018/10/relationships/authors" Targe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A5FDB7B-8DB8-4A3A-95C8-7102BBC9A9E1}" type="datetime8">
              <a:rPr lang="en-US" smtClean="0">
                <a:latin typeface="Segoe UI" pitchFamily="34" charset="0"/>
              </a:rPr>
              <a:t>3/5/2026 2:31 AM</a:t>
            </a:fld>
            <a:endParaRPr lang="en-US">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000">
                <a:latin typeface="+mn-lt"/>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dt="0"/>
  <p:notesStyle>
    <a:lvl1pPr marL="0" algn="l" defTabSz="932742" rtl="0" eaLnBrk="1" latinLnBrk="0" hangingPunct="1">
      <a:lnSpc>
        <a:spcPct val="90000"/>
      </a:lnSpc>
      <a:spcAft>
        <a:spcPts val="340"/>
      </a:spcAft>
      <a:defRPr sz="1100" kern="1200">
        <a:solidFill>
          <a:schemeClr val="tx1"/>
        </a:solidFill>
        <a:latin typeface="+mn-lt"/>
        <a:ea typeface="+mn-ea"/>
        <a:cs typeface="+mn-cs"/>
      </a:defRPr>
    </a:lvl1pPr>
    <a:lvl2pPr marL="217262" indent="-107956" algn="l" defTabSz="932742" rtl="0" eaLnBrk="1" latinLnBrk="0" hangingPunct="1">
      <a:lnSpc>
        <a:spcPct val="90000"/>
      </a:lnSpc>
      <a:spcAft>
        <a:spcPts val="340"/>
      </a:spcAft>
      <a:buFont typeface="Arial" pitchFamily="34" charset="0"/>
      <a:buChar char="•"/>
      <a:defRPr sz="1100" kern="1200">
        <a:solidFill>
          <a:schemeClr val="tx1"/>
        </a:solidFill>
        <a:latin typeface="+mn-lt"/>
        <a:ea typeface="+mn-ea"/>
        <a:cs typeface="+mn-cs"/>
      </a:defRPr>
    </a:lvl2pPr>
    <a:lvl3pPr marL="334664" indent="-117403" algn="l" defTabSz="932742" rtl="0" eaLnBrk="1" latinLnBrk="0" hangingPunct="1">
      <a:lnSpc>
        <a:spcPct val="90000"/>
      </a:lnSpc>
      <a:spcAft>
        <a:spcPts val="340"/>
      </a:spcAft>
      <a:buFont typeface="Arial" pitchFamily="34" charset="0"/>
      <a:buChar char="•"/>
      <a:defRPr sz="1100" kern="1200">
        <a:solidFill>
          <a:schemeClr val="tx1"/>
        </a:solidFill>
        <a:latin typeface="+mn-lt"/>
        <a:ea typeface="+mn-ea"/>
        <a:cs typeface="+mn-cs"/>
      </a:defRPr>
    </a:lvl3pPr>
    <a:lvl4pPr marL="492551" indent="-149789" algn="l" defTabSz="932742" rtl="0" eaLnBrk="1" latinLnBrk="0" hangingPunct="1">
      <a:lnSpc>
        <a:spcPct val="90000"/>
      </a:lnSpc>
      <a:spcAft>
        <a:spcPts val="340"/>
      </a:spcAft>
      <a:buFont typeface="Arial" pitchFamily="34" charset="0"/>
      <a:buChar char="•"/>
      <a:defRPr sz="1100" kern="1200">
        <a:solidFill>
          <a:schemeClr val="tx1"/>
        </a:solidFill>
        <a:latin typeface="+mn-lt"/>
        <a:ea typeface="+mn-ea"/>
        <a:cs typeface="+mn-cs"/>
      </a:defRPr>
    </a:lvl4pPr>
    <a:lvl5pPr marL="627496" indent="-117403" algn="l" defTabSz="932742" rtl="0" eaLnBrk="1" latinLnBrk="0" hangingPunct="1">
      <a:lnSpc>
        <a:spcPct val="90000"/>
      </a:lnSpc>
      <a:spcAft>
        <a:spcPts val="340"/>
      </a:spcAft>
      <a:buFont typeface="Arial" pitchFamily="34" charset="0"/>
      <a:buChar char="•"/>
      <a:defRPr sz="1100" kern="1200">
        <a:solidFill>
          <a:schemeClr val="tx1"/>
        </a:solidFill>
        <a:latin typeface="+mn-lt"/>
        <a:ea typeface="+mn-ea"/>
        <a:cs typeface="+mn-cs"/>
      </a:defRPr>
    </a:lvl5pPr>
    <a:lvl6pPr marL="2331856" algn="l" defTabSz="932742" rtl="0" eaLnBrk="1" latinLnBrk="0" hangingPunct="1">
      <a:defRPr sz="1200" kern="1200">
        <a:solidFill>
          <a:schemeClr val="tx1"/>
        </a:solidFill>
        <a:latin typeface="+mn-lt"/>
        <a:ea typeface="+mn-ea"/>
        <a:cs typeface="+mn-cs"/>
      </a:defRPr>
    </a:lvl6pPr>
    <a:lvl7pPr marL="2798226" algn="l" defTabSz="932742" rtl="0" eaLnBrk="1" latinLnBrk="0" hangingPunct="1">
      <a:defRPr sz="1200" kern="1200">
        <a:solidFill>
          <a:schemeClr val="tx1"/>
        </a:solidFill>
        <a:latin typeface="+mn-lt"/>
        <a:ea typeface="+mn-ea"/>
        <a:cs typeface="+mn-cs"/>
      </a:defRPr>
    </a:lvl7pPr>
    <a:lvl8pPr marL="3264597" algn="l" defTabSz="932742" rtl="0" eaLnBrk="1" latinLnBrk="0" hangingPunct="1">
      <a:defRPr sz="1200" kern="1200">
        <a:solidFill>
          <a:schemeClr val="tx1"/>
        </a:solidFill>
        <a:latin typeface="+mn-lt"/>
        <a:ea typeface="+mn-ea"/>
        <a:cs typeface="+mn-cs"/>
      </a:defRPr>
    </a:lvl8pPr>
    <a:lvl9pPr marL="3730969" algn="l" defTabSz="9327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endParaRPr lang="en-US" b="0" i="0">
              <a:solidFill>
                <a:srgbClr val="171717"/>
              </a:solidFill>
              <a:effectLst/>
              <a:latin typeface="Segoe UI" panose="020B0502040204020203" pitchFamily="34" charset="0"/>
            </a:endParaRPr>
          </a:p>
        </p:txBody>
      </p:sp>
      <p:sp>
        <p:nvSpPr>
          <p:cNvPr id="7" name="Slide Number Placeholder 6"/>
          <p:cNvSpPr>
            <a:spLocks noGrp="1"/>
          </p:cNvSpPr>
          <p:nvPr>
            <p:ph type="sldNum" sz="quarter" idx="13"/>
          </p:nvPr>
        </p:nvSpPr>
        <p:spPr/>
        <p:txBody>
          <a:bodyPr/>
          <a:lstStyle/>
          <a:p>
            <a:fld id="{B4008EB6-D09E-4580-8CD6-DDB14511944F}" type="slidenum">
              <a:rPr lang="en-US" smtClean="0"/>
              <a:pPr/>
              <a:t>1</a:t>
            </a:fld>
            <a:endParaRPr lang="en-US"/>
          </a:p>
        </p:txBody>
      </p:sp>
    </p:spTree>
    <p:extLst>
      <p:ext uri="{BB962C8B-B14F-4D97-AF65-F5344CB8AC3E}">
        <p14:creationId xmlns:p14="http://schemas.microsoft.com/office/powerpoint/2010/main" val="20803959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a:t>These Learn modules are part of the AZ-104: Deploy and manage Azure compute resources (https://learn.microsoft.com/learn/paths/az-104-manage-compute-resources/) learning path. </a:t>
            </a:r>
          </a:p>
          <a:p>
            <a:endParaRPr lang="en-US"/>
          </a:p>
        </p:txBody>
      </p:sp>
      <p:sp>
        <p:nvSpPr>
          <p:cNvPr id="4" name="Slide Number Placeholder 3"/>
          <p:cNvSpPr>
            <a:spLocks noGrp="1"/>
          </p:cNvSpPr>
          <p:nvPr>
            <p:ph type="sldNum" sz="quarter" idx="5"/>
          </p:nvPr>
        </p:nvSpPr>
        <p:spPr/>
        <p:txBody>
          <a:bodyPr/>
          <a:lstStyle/>
          <a:p>
            <a:fld id="{8507DC7E-BC41-4478-BA30-CBCC3A644F0A}" type="slidenum">
              <a:rPr lang="en-US" smtClean="0"/>
              <a:pPr/>
              <a:t>2</a:t>
            </a:fld>
            <a:endParaRPr lang="en-US"/>
          </a:p>
        </p:txBody>
      </p:sp>
      <p:sp>
        <p:nvSpPr>
          <p:cNvPr id="7" name="Slide Image Placeholder 6">
            <a:extLst>
              <a:ext uri="{FF2B5EF4-FFF2-40B4-BE49-F238E27FC236}">
                <a16:creationId xmlns:a16="http://schemas.microsoft.com/office/drawing/2014/main" id="{6A715260-0B63-2F00-F50D-F22A47B574B1}"/>
              </a:ext>
            </a:extLst>
          </p:cNvPr>
          <p:cNvSpPr>
            <a:spLocks noGrp="1" noRot="1" noChangeAspect="1"/>
          </p:cNvSpPr>
          <p:nvPr>
            <p:ph type="sldImg"/>
          </p:nvPr>
        </p:nvSpPr>
        <p:spPr/>
      </p:sp>
    </p:spTree>
    <p:extLst>
      <p:ext uri="{BB962C8B-B14F-4D97-AF65-F5344CB8AC3E}">
        <p14:creationId xmlns:p14="http://schemas.microsoft.com/office/powerpoint/2010/main" val="7420882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a:t>Optional whiteboard slide to introduce the module or review the content. Use the whiteboard diagram directly or recreate the image during the class. </a:t>
            </a:r>
          </a:p>
        </p:txBody>
      </p:sp>
      <p:sp>
        <p:nvSpPr>
          <p:cNvPr id="4" name="Slide Number Placeholder 3"/>
          <p:cNvSpPr>
            <a:spLocks noGrp="1"/>
          </p:cNvSpPr>
          <p:nvPr>
            <p:ph type="sldNum" sz="quarter" idx="5"/>
          </p:nvPr>
        </p:nvSpPr>
        <p:spPr/>
        <p:txBody>
          <a:bodyPr/>
          <a:lstStyle/>
          <a:p>
            <a:pPr lvl="0"/>
            <a:fld id="{FA5AD710-EC89-4888-BD15-6B04A0D5F96B}" type="slidenum">
              <a:rPr lang="en-US" noProof="0" smtClean="0"/>
              <a:pPr lvl="0"/>
              <a:t>3</a:t>
            </a:fld>
            <a:endParaRPr lang="en-US" noProof="0"/>
          </a:p>
        </p:txBody>
      </p:sp>
      <p:sp>
        <p:nvSpPr>
          <p:cNvPr id="7" name="Slide Image Placeholder 6">
            <a:extLst>
              <a:ext uri="{FF2B5EF4-FFF2-40B4-BE49-F238E27FC236}">
                <a16:creationId xmlns:a16="http://schemas.microsoft.com/office/drawing/2014/main" id="{D5FFA09E-CD06-3F5D-525E-810AF5B71C4F}"/>
              </a:ext>
            </a:extLst>
          </p:cNvPr>
          <p:cNvSpPr>
            <a:spLocks noGrp="1" noRot="1" noChangeAspect="1"/>
          </p:cNvSpPr>
          <p:nvPr>
            <p:ph type="sldImg"/>
          </p:nvPr>
        </p:nvSpPr>
        <p:spPr/>
      </p:sp>
    </p:spTree>
    <p:extLst>
      <p:ext uri="{BB962C8B-B14F-4D97-AF65-F5344CB8AC3E}">
        <p14:creationId xmlns:p14="http://schemas.microsoft.com/office/powerpoint/2010/main" val="16502750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008EB6-D09E-4580-8CD6-DDB14511944F}" type="slidenum">
              <a:rPr lang="en-US" smtClean="0"/>
              <a:pPr/>
              <a:t>4</a:t>
            </a:fld>
            <a:endParaRPr lang="en-US"/>
          </a:p>
        </p:txBody>
      </p:sp>
    </p:spTree>
    <p:extLst>
      <p:ext uri="{BB962C8B-B14F-4D97-AF65-F5344CB8AC3E}">
        <p14:creationId xmlns:p14="http://schemas.microsoft.com/office/powerpoint/2010/main" val="13508199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r>
              <a:rPr lang="en-US" sz="8800" b="0">
                <a:solidFill>
                  <a:srgbClr val="000000"/>
                </a:solidFill>
                <a:effectLst/>
                <a:latin typeface="Consolas" panose="020B0609020204030204" pitchFamily="49" charset="0"/>
              </a:rPr>
            </a:br>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5</a:t>
            </a:fld>
            <a:endParaRPr lang="en-US"/>
          </a:p>
        </p:txBody>
      </p:sp>
    </p:spTree>
    <p:extLst>
      <p:ext uri="{BB962C8B-B14F-4D97-AF65-F5344CB8AC3E}">
        <p14:creationId xmlns:p14="http://schemas.microsoft.com/office/powerpoint/2010/main" val="26132019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Azure App Service plan overview </a:t>
            </a:r>
          </a:p>
          <a:p>
            <a:r>
              <a:rPr lang="en-US"/>
              <a:t>https://learn.microsoft.com/azure/app-service/overview-hosting-plans</a:t>
            </a:r>
          </a:p>
          <a:p>
            <a:br>
              <a:rPr lang="en-US"/>
            </a:br>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6</a:t>
            </a:fld>
            <a:endParaRPr lang="en-US"/>
          </a:p>
        </p:txBody>
      </p:sp>
      <p:sp>
        <p:nvSpPr>
          <p:cNvPr id="10" name="Slide Image Placeholder 9">
            <a:extLst>
              <a:ext uri="{FF2B5EF4-FFF2-40B4-BE49-F238E27FC236}">
                <a16:creationId xmlns:a16="http://schemas.microsoft.com/office/drawing/2014/main" id="{839C10BA-693E-A126-F478-E5168934024E}"/>
              </a:ext>
            </a:extLst>
          </p:cNvPr>
          <p:cNvSpPr>
            <a:spLocks noGrp="1" noRot="1" noChangeAspect="1"/>
          </p:cNvSpPr>
          <p:nvPr>
            <p:ph type="sldImg"/>
          </p:nvPr>
        </p:nvSpPr>
        <p:spPr/>
      </p:sp>
    </p:spTree>
    <p:extLst>
      <p:ext uri="{BB962C8B-B14F-4D97-AF65-F5344CB8AC3E}">
        <p14:creationId xmlns:p14="http://schemas.microsoft.com/office/powerpoint/2010/main" val="1331409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App Service pricing </a:t>
            </a:r>
          </a:p>
          <a:p>
            <a:r>
              <a:rPr lang="en-US"/>
              <a:t>https://azure.microsoft.com/pricing/details/app-service/windows/</a:t>
            </a:r>
          </a:p>
        </p:txBody>
      </p:sp>
      <p:sp>
        <p:nvSpPr>
          <p:cNvPr id="7" name="Slide Number Placeholder 6"/>
          <p:cNvSpPr>
            <a:spLocks noGrp="1"/>
          </p:cNvSpPr>
          <p:nvPr>
            <p:ph type="sldNum" sz="quarter" idx="13"/>
          </p:nvPr>
        </p:nvSpPr>
        <p:spPr/>
        <p:txBody>
          <a:bodyPr/>
          <a:lstStyle/>
          <a:p>
            <a:fld id="{B4008EB6-D09E-4580-8CD6-DDB14511944F}" type="slidenum">
              <a:rPr lang="en-US" smtClean="0"/>
              <a:pPr/>
              <a:t>7</a:t>
            </a:fld>
            <a:endParaRPr lang="en-US"/>
          </a:p>
        </p:txBody>
      </p:sp>
    </p:spTree>
    <p:extLst>
      <p:ext uri="{BB962C8B-B14F-4D97-AF65-F5344CB8AC3E}">
        <p14:creationId xmlns:p14="http://schemas.microsoft.com/office/powerpoint/2010/main" val="1729604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Scale up an app in Azure App Service </a:t>
            </a:r>
          </a:p>
          <a:p>
            <a:r>
              <a:rPr lang="en-US"/>
              <a:t>https://learn.microsoft.com/azure/app-service/manage-scale-up</a:t>
            </a:r>
          </a:p>
          <a:p>
            <a:endParaRPr lang="en-US"/>
          </a:p>
          <a:p>
            <a:r>
              <a:rPr lang="en-US"/>
              <a:t>Automatic scaling in Azure App Service</a:t>
            </a:r>
          </a:p>
          <a:p>
            <a:r>
              <a:rPr lang="en-US"/>
              <a:t>https://learn.microsoft.com/azure/app-service/manage-automatic-scaling</a:t>
            </a:r>
          </a:p>
          <a:p>
            <a:endParaRPr lang="en-US"/>
          </a:p>
          <a:p>
            <a:endParaRPr lang="en-US"/>
          </a:p>
        </p:txBody>
      </p:sp>
      <p:sp>
        <p:nvSpPr>
          <p:cNvPr id="6" name="Slide Number Placeholder 5"/>
          <p:cNvSpPr>
            <a:spLocks noGrp="1"/>
          </p:cNvSpPr>
          <p:nvPr>
            <p:ph type="sldNum" sz="quarter" idx="5"/>
          </p:nvPr>
        </p:nvSpPr>
        <p:spPr/>
        <p:txBody>
          <a:bodyPr/>
          <a:lstStyle/>
          <a:p>
            <a:fld id="{B4008EB6-D09E-4580-8CD6-DDB14511944F}" type="slidenum">
              <a:rPr lang="en-US" smtClean="0"/>
              <a:pPr/>
              <a:t>8</a:t>
            </a:fld>
            <a:endParaRPr lang="en-US"/>
          </a:p>
        </p:txBody>
      </p:sp>
    </p:spTree>
    <p:extLst>
      <p:ext uri="{BB962C8B-B14F-4D97-AF65-F5344CB8AC3E}">
        <p14:creationId xmlns:p14="http://schemas.microsoft.com/office/powerpoint/2010/main" val="16700556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Get started with Autoscale in Azure</a:t>
            </a:r>
          </a:p>
          <a:p>
            <a:r>
              <a:rPr lang="en-US"/>
              <a:t>https://learn.microsoft.com/azure/azure-monitor/platform/autoscale-get-started?toc=/azure/app-service/toc.json</a:t>
            </a:r>
          </a:p>
          <a:p>
            <a:endParaRPr lang="en-US"/>
          </a:p>
        </p:txBody>
      </p:sp>
      <p:sp>
        <p:nvSpPr>
          <p:cNvPr id="6" name="Slide Number Placeholder 5"/>
          <p:cNvSpPr>
            <a:spLocks noGrp="1"/>
          </p:cNvSpPr>
          <p:nvPr>
            <p:ph type="sldNum" sz="quarter" idx="5"/>
          </p:nvPr>
        </p:nvSpPr>
        <p:spPr/>
        <p:txBody>
          <a:bodyPr/>
          <a:lstStyle/>
          <a:p>
            <a:fld id="{B4008EB6-D09E-4580-8CD6-DDB14511944F}" type="slidenum">
              <a:rPr lang="en-US" smtClean="0"/>
              <a:pPr/>
              <a:t>9</a:t>
            </a:fld>
            <a:endParaRPr lang="en-US"/>
          </a:p>
        </p:txBody>
      </p:sp>
    </p:spTree>
    <p:extLst>
      <p:ext uri="{BB962C8B-B14F-4D97-AF65-F5344CB8AC3E}">
        <p14:creationId xmlns:p14="http://schemas.microsoft.com/office/powerpoint/2010/main" val="1811783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Demonstration App Service Plans </a:t>
            </a:r>
          </a:p>
          <a:p>
            <a:r>
              <a:rPr lang="en-US"/>
              <a:t>https://microsoftlearning.github.io/AZ-104-MicrosoftAzureAdministrator/Instructions/Demos/09%20-%20Administer%20PaaS%20Compute%20Options.html#configure-azure-app-service-plans</a:t>
            </a:r>
          </a:p>
        </p:txBody>
      </p:sp>
      <p:sp>
        <p:nvSpPr>
          <p:cNvPr id="7" name="Slide Number Placeholder 6"/>
          <p:cNvSpPr>
            <a:spLocks noGrp="1"/>
          </p:cNvSpPr>
          <p:nvPr>
            <p:ph type="sldNum" sz="quarter" idx="5"/>
          </p:nvPr>
        </p:nvSpPr>
        <p:spPr/>
        <p:txBody>
          <a:bodyPr/>
          <a:lstStyle/>
          <a:p>
            <a:fld id="{B4008EB6-D09E-4580-8CD6-DDB14511944F}" type="slidenum">
              <a:rPr lang="en-US" smtClean="0"/>
              <a:pPr/>
              <a:t>10</a:t>
            </a:fld>
            <a:endParaRPr lang="en-US"/>
          </a:p>
        </p:txBody>
      </p:sp>
    </p:spTree>
    <p:extLst>
      <p:ext uri="{BB962C8B-B14F-4D97-AF65-F5344CB8AC3E}">
        <p14:creationId xmlns:p14="http://schemas.microsoft.com/office/powerpoint/2010/main" val="37122270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Additional questions are available in Office Forms - https://forms.office.com/Pages/ShareFormPage.aspx?id=v4j5cvGGr0GRqy180BHbR5NEFZBpuAZBgxPOGXi_gX5UQkpEQ0VFUlZRUDM3Q1BCMDZVTEI5WjVORC4u&amp;sharetoken=tbjUH7154spTWZnYjmrj</a:t>
            </a:r>
          </a:p>
          <a:p>
            <a:endParaRPr lang="en-US"/>
          </a:p>
          <a:p>
            <a:pPr lvl="0"/>
            <a:r>
              <a:rPr lang="en-US"/>
              <a:t>What is an App Service Plan and what will you consider in deciding which plan to choose?</a:t>
            </a:r>
          </a:p>
          <a:p>
            <a:pPr lvl="0"/>
            <a:r>
              <a:rPr lang="en-US" b="1"/>
              <a:t>Answer</a:t>
            </a:r>
            <a:r>
              <a:rPr lang="en-US"/>
              <a:t>: An App Service Plan defines a set of compute resources for a web app to run. The plan determines performance, price, and features for a web app. Considerations for which plan to choose include how many web apps you can have, the disk space available to the web apps, if the web app can autoscale, how many deployment slots are available, and how many web app instances can be created. </a:t>
            </a:r>
          </a:p>
          <a:p>
            <a:endParaRPr lang="en-US"/>
          </a:p>
        </p:txBody>
      </p:sp>
      <p:sp>
        <p:nvSpPr>
          <p:cNvPr id="4" name="Slide Number Placeholder 3"/>
          <p:cNvSpPr>
            <a:spLocks noGrp="1"/>
          </p:cNvSpPr>
          <p:nvPr>
            <p:ph type="sldNum" sz="quarter" idx="5"/>
          </p:nvPr>
        </p:nvSpPr>
        <p:spPr/>
        <p:txBody>
          <a:bodyPr/>
          <a:lstStyle/>
          <a:p>
            <a:fld id="{8507DC7E-BC41-4478-BA30-CBCC3A644F0A}" type="slidenum">
              <a:rPr lang="en-US" smtClean="0"/>
              <a:pPr/>
              <a:t>11</a:t>
            </a:fld>
            <a:endParaRPr lang="en-US"/>
          </a:p>
        </p:txBody>
      </p:sp>
      <p:sp>
        <p:nvSpPr>
          <p:cNvPr id="7" name="Slide Image Placeholder 6">
            <a:extLst>
              <a:ext uri="{FF2B5EF4-FFF2-40B4-BE49-F238E27FC236}">
                <a16:creationId xmlns:a16="http://schemas.microsoft.com/office/drawing/2014/main" id="{C6C0C891-0465-059C-94EE-2B8DD6BA2748}"/>
              </a:ext>
            </a:extLst>
          </p:cNvPr>
          <p:cNvSpPr>
            <a:spLocks noGrp="1" noRot="1" noChangeAspect="1"/>
          </p:cNvSpPr>
          <p:nvPr>
            <p:ph type="sldImg"/>
          </p:nvPr>
        </p:nvSpPr>
        <p:spPr/>
      </p:sp>
    </p:spTree>
    <p:extLst>
      <p:ext uri="{BB962C8B-B14F-4D97-AF65-F5344CB8AC3E}">
        <p14:creationId xmlns:p14="http://schemas.microsoft.com/office/powerpoint/2010/main" val="29526231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a:p>
        </p:txBody>
      </p:sp>
      <p:sp>
        <p:nvSpPr>
          <p:cNvPr id="6" name="Slide Number Placeholder 5"/>
          <p:cNvSpPr>
            <a:spLocks noGrp="1"/>
          </p:cNvSpPr>
          <p:nvPr>
            <p:ph type="sldNum" sz="quarter" idx="5"/>
          </p:nvPr>
        </p:nvSpPr>
        <p:spPr/>
        <p:txBody>
          <a:bodyPr/>
          <a:lstStyle/>
          <a:p>
            <a:fld id="{B4008EB6-D09E-4580-8CD6-DDB14511944F}" type="slidenum">
              <a:rPr lang="en-US" smtClean="0"/>
              <a:pPr/>
              <a:t>12</a:t>
            </a:fld>
            <a:endParaRPr lang="en-US"/>
          </a:p>
        </p:txBody>
      </p:sp>
    </p:spTree>
    <p:extLst>
      <p:ext uri="{BB962C8B-B14F-4D97-AF65-F5344CB8AC3E}">
        <p14:creationId xmlns:p14="http://schemas.microsoft.com/office/powerpoint/2010/main" val="28195555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13</a:t>
            </a:fld>
            <a:endParaRPr lang="en-US"/>
          </a:p>
        </p:txBody>
      </p:sp>
    </p:spTree>
    <p:extLst>
      <p:ext uri="{BB962C8B-B14F-4D97-AF65-F5344CB8AC3E}">
        <p14:creationId xmlns:p14="http://schemas.microsoft.com/office/powerpoint/2010/main" val="23748409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App Service overview</a:t>
            </a:r>
          </a:p>
          <a:p>
            <a:r>
              <a:rPr lang="en-US"/>
              <a:t>https://learn.microsoft.com/azure/app-service/overview</a:t>
            </a:r>
          </a:p>
          <a:p>
            <a:endParaRPr lang="en-US"/>
          </a:p>
          <a:p>
            <a:r>
              <a:rPr lang="en-US"/>
              <a:t>Deployment best practices</a:t>
            </a:r>
          </a:p>
          <a:p>
            <a:r>
              <a:rPr lang="en-US"/>
              <a:t>https://learn.microsoft.com/azure/app-service/deploy-best-practices</a:t>
            </a:r>
          </a:p>
        </p:txBody>
      </p:sp>
      <p:sp>
        <p:nvSpPr>
          <p:cNvPr id="7" name="Slide Number Placeholder 6"/>
          <p:cNvSpPr>
            <a:spLocks noGrp="1"/>
          </p:cNvSpPr>
          <p:nvPr>
            <p:ph type="sldNum" sz="quarter" idx="13"/>
          </p:nvPr>
        </p:nvSpPr>
        <p:spPr/>
        <p:txBody>
          <a:bodyPr/>
          <a:lstStyle/>
          <a:p>
            <a:fld id="{B4008EB6-D09E-4580-8CD6-DDB14511944F}" type="slidenum">
              <a:rPr lang="en-US" smtClean="0"/>
              <a:pPr/>
              <a:t>14</a:t>
            </a:fld>
            <a:endParaRPr lang="en-US"/>
          </a:p>
        </p:txBody>
      </p:sp>
    </p:spTree>
    <p:extLst>
      <p:ext uri="{BB962C8B-B14F-4D97-AF65-F5344CB8AC3E}">
        <p14:creationId xmlns:p14="http://schemas.microsoft.com/office/powerpoint/2010/main" val="25347251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Manage an App Service plan in Azure </a:t>
            </a:r>
          </a:p>
          <a:p>
            <a:r>
              <a:rPr lang="en-US"/>
              <a:t>https://learn.microsoft.com/azure/app-service/app-service-plan-manage</a:t>
            </a:r>
          </a:p>
          <a:p>
            <a:endParaRPr lang="en-US"/>
          </a:p>
        </p:txBody>
      </p:sp>
      <p:sp>
        <p:nvSpPr>
          <p:cNvPr id="6" name="Slide Number Placeholder 5"/>
          <p:cNvSpPr>
            <a:spLocks noGrp="1"/>
          </p:cNvSpPr>
          <p:nvPr>
            <p:ph type="sldNum" sz="quarter" idx="5"/>
          </p:nvPr>
        </p:nvSpPr>
        <p:spPr/>
        <p:txBody>
          <a:bodyPr/>
          <a:lstStyle/>
          <a:p>
            <a:fld id="{B4008EB6-D09E-4580-8CD6-DDB14511944F}" type="slidenum">
              <a:rPr lang="en-US" smtClean="0"/>
              <a:pPr/>
              <a:t>15</a:t>
            </a:fld>
            <a:endParaRPr lang="en-US"/>
          </a:p>
        </p:txBody>
      </p:sp>
    </p:spTree>
    <p:extLst>
      <p:ext uri="{BB962C8B-B14F-4D97-AF65-F5344CB8AC3E}">
        <p14:creationId xmlns:p14="http://schemas.microsoft.com/office/powerpoint/2010/main" val="23702752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Five deployment slots could be: Test, Dev, Q&amp;A, Staging, and Production</a:t>
            </a:r>
          </a:p>
          <a:p>
            <a:endParaRPr lang="en-US"/>
          </a:p>
          <a:p>
            <a:r>
              <a:rPr lang="en-US"/>
              <a:t>Set up staging environments </a:t>
            </a:r>
          </a:p>
          <a:p>
            <a:r>
              <a:rPr lang="en-US"/>
              <a:t>https://learn.microsoft.com/azure/app-service/web-sites-staged-publishing?toc=%2Fazure%2Fapp-service%2Ftoc.json#add-a-deployment-slot</a:t>
            </a:r>
          </a:p>
          <a:p>
            <a:endParaRPr lang="en-US"/>
          </a:p>
          <a:p>
            <a:r>
              <a:rPr lang="en-US"/>
              <a:t>✔ Each App Service plan mode supports a different number of deployment slots. To find out the number of slots your app’s mode supports, see App Service Limits. </a:t>
            </a:r>
          </a:p>
          <a:p>
            <a:endParaRPr lang="en-US"/>
          </a:p>
          <a:p>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16</a:t>
            </a:fld>
            <a:endParaRPr lang="en-US"/>
          </a:p>
        </p:txBody>
      </p:sp>
      <p:sp>
        <p:nvSpPr>
          <p:cNvPr id="10" name="Slide Image Placeholder 9">
            <a:extLst>
              <a:ext uri="{FF2B5EF4-FFF2-40B4-BE49-F238E27FC236}">
                <a16:creationId xmlns:a16="http://schemas.microsoft.com/office/drawing/2014/main" id="{E3EA06B3-3D3C-AFF2-3BFB-56A14B36AC0F}"/>
              </a:ext>
            </a:extLst>
          </p:cNvPr>
          <p:cNvSpPr>
            <a:spLocks noGrp="1" noRot="1" noChangeAspect="1"/>
          </p:cNvSpPr>
          <p:nvPr>
            <p:ph type="sldImg"/>
          </p:nvPr>
        </p:nvSpPr>
        <p:spPr/>
      </p:sp>
    </p:spTree>
    <p:extLst>
      <p:ext uri="{BB962C8B-B14F-4D97-AF65-F5344CB8AC3E}">
        <p14:creationId xmlns:p14="http://schemas.microsoft.com/office/powerpoint/2010/main" val="40117581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a:t>✔ You can configure app settings and connections to stick to a slot and not be swapped. This done in the App Settings blade. A developer can create new settings for the web app. </a:t>
            </a:r>
          </a:p>
        </p:txBody>
      </p:sp>
      <p:sp>
        <p:nvSpPr>
          <p:cNvPr id="7" name="Slide Number Placeholder 6"/>
          <p:cNvSpPr>
            <a:spLocks noGrp="1"/>
          </p:cNvSpPr>
          <p:nvPr>
            <p:ph type="sldNum" sz="quarter" idx="13"/>
          </p:nvPr>
        </p:nvSpPr>
        <p:spPr/>
        <p:txBody>
          <a:bodyPr/>
          <a:lstStyle/>
          <a:p>
            <a:fld id="{B4008EB6-D09E-4580-8CD6-DDB14511944F}" type="slidenum">
              <a:rPr lang="en-US" smtClean="0"/>
              <a:pPr/>
              <a:t>17</a:t>
            </a:fld>
            <a:endParaRPr lang="en-US"/>
          </a:p>
        </p:txBody>
      </p:sp>
      <p:sp>
        <p:nvSpPr>
          <p:cNvPr id="10" name="Slide Image Placeholder 9">
            <a:extLst>
              <a:ext uri="{FF2B5EF4-FFF2-40B4-BE49-F238E27FC236}">
                <a16:creationId xmlns:a16="http://schemas.microsoft.com/office/drawing/2014/main" id="{3780B5FD-4F07-3B48-6AD9-060B75125DD4}"/>
              </a:ext>
            </a:extLst>
          </p:cNvPr>
          <p:cNvSpPr>
            <a:spLocks noGrp="1" noRot="1" noChangeAspect="1"/>
          </p:cNvSpPr>
          <p:nvPr>
            <p:ph type="sldImg"/>
          </p:nvPr>
        </p:nvSpPr>
        <p:spPr/>
      </p:sp>
    </p:spTree>
    <p:extLst>
      <p:ext uri="{BB962C8B-B14F-4D97-AF65-F5344CB8AC3E}">
        <p14:creationId xmlns:p14="http://schemas.microsoft.com/office/powerpoint/2010/main" val="24457469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Security recommendations for App Service </a:t>
            </a:r>
          </a:p>
          <a:p>
            <a:r>
              <a:rPr lang="en-US"/>
              <a:t>https://learn.microsoft.com/azure/app-service/security-recommendations</a:t>
            </a:r>
          </a:p>
        </p:txBody>
      </p:sp>
      <p:sp>
        <p:nvSpPr>
          <p:cNvPr id="7" name="Slide Number Placeholder 6"/>
          <p:cNvSpPr>
            <a:spLocks noGrp="1"/>
          </p:cNvSpPr>
          <p:nvPr>
            <p:ph type="sldNum" sz="quarter" idx="13"/>
          </p:nvPr>
        </p:nvSpPr>
        <p:spPr/>
        <p:txBody>
          <a:bodyPr/>
          <a:lstStyle/>
          <a:p>
            <a:fld id="{B4008EB6-D09E-4580-8CD6-DDB14511944F}" type="slidenum">
              <a:rPr lang="en-US" smtClean="0"/>
              <a:pPr/>
              <a:t>18</a:t>
            </a:fld>
            <a:endParaRPr lang="en-US"/>
          </a:p>
        </p:txBody>
      </p:sp>
    </p:spTree>
    <p:extLst>
      <p:ext uri="{BB962C8B-B14F-4D97-AF65-F5344CB8AC3E}">
        <p14:creationId xmlns:p14="http://schemas.microsoft.com/office/powerpoint/2010/main" val="22486057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Map an existing custom DNS name to Azure App Service</a:t>
            </a:r>
          </a:p>
          <a:p>
            <a:r>
              <a:rPr lang="en-US"/>
              <a:t>https://learn.microsoft.com/azure/app-service/app-service-web-tutorial-custom-domain?tabs=root%2Cazurecli</a:t>
            </a:r>
          </a:p>
        </p:txBody>
      </p:sp>
      <p:sp>
        <p:nvSpPr>
          <p:cNvPr id="4" name="Slide Number Placeholder 3"/>
          <p:cNvSpPr>
            <a:spLocks noGrp="1"/>
          </p:cNvSpPr>
          <p:nvPr>
            <p:ph type="sldNum" sz="quarter" idx="5"/>
          </p:nvPr>
        </p:nvSpPr>
        <p:spPr/>
        <p:txBody>
          <a:bodyPr/>
          <a:lstStyle/>
          <a:p>
            <a:fld id="{B4008EB6-D09E-4580-8CD6-DDB14511944F}" type="slidenum">
              <a:rPr lang="en-US" smtClean="0"/>
              <a:pPr/>
              <a:t>19</a:t>
            </a:fld>
            <a:endParaRPr lang="en-US"/>
          </a:p>
        </p:txBody>
      </p:sp>
    </p:spTree>
    <p:extLst>
      <p:ext uri="{BB962C8B-B14F-4D97-AF65-F5344CB8AC3E}">
        <p14:creationId xmlns:p14="http://schemas.microsoft.com/office/powerpoint/2010/main" val="22527445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Back up and restore your App in Azure </a:t>
            </a:r>
          </a:p>
          <a:p>
            <a:r>
              <a:rPr lang="en-US"/>
              <a:t>https://learn.microsoft.com/azure/app-service/web-sites-backup</a:t>
            </a:r>
          </a:p>
          <a:p>
            <a:endParaRPr lang="en-US"/>
          </a:p>
          <a:p>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20</a:t>
            </a:fld>
            <a:endParaRPr lang="en-US"/>
          </a:p>
        </p:txBody>
      </p:sp>
    </p:spTree>
    <p:extLst>
      <p:ext uri="{BB962C8B-B14F-4D97-AF65-F5344CB8AC3E}">
        <p14:creationId xmlns:p14="http://schemas.microsoft.com/office/powerpoint/2010/main" val="36479432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Demonstration Create a Web App </a:t>
            </a:r>
          </a:p>
          <a:p>
            <a:r>
              <a:rPr lang="en-US"/>
              <a:t>https://learn.microsoft.com/training/modules/host-a-web-app-with-azure-app-service/3-exercise-create-a-web-app-in-the-azure-portal?pivots=csharp </a:t>
            </a:r>
          </a:p>
        </p:txBody>
      </p:sp>
      <p:sp>
        <p:nvSpPr>
          <p:cNvPr id="7" name="Slide Number Placeholder 6"/>
          <p:cNvSpPr>
            <a:spLocks noGrp="1"/>
          </p:cNvSpPr>
          <p:nvPr>
            <p:ph type="sldNum" sz="quarter" idx="5"/>
          </p:nvPr>
        </p:nvSpPr>
        <p:spPr/>
        <p:txBody>
          <a:bodyPr/>
          <a:lstStyle/>
          <a:p>
            <a:fld id="{B4008EB6-D09E-4580-8CD6-DDB14511944F}" type="slidenum">
              <a:rPr lang="en-US" smtClean="0"/>
              <a:pPr/>
              <a:t>21</a:t>
            </a:fld>
            <a:endParaRPr lang="en-US"/>
          </a:p>
        </p:txBody>
      </p:sp>
    </p:spTree>
    <p:extLst>
      <p:ext uri="{BB962C8B-B14F-4D97-AF65-F5344CB8AC3E}">
        <p14:creationId xmlns:p14="http://schemas.microsoft.com/office/powerpoint/2010/main" val="20329528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Additional questions are available in Office Forms - https://forms.office.com/Pages/ShareFormPage.aspx?id=v4j5cvGGr0GRqy180BHbR5NEFZBpuAZBgxPOGXi_gX5UQkpEQ0VFUlZRUDM3Q1BCMDZVTEI5WjVORC4u&amp;sharetoken=tbjUH7154spTWZnYjmrj</a:t>
            </a:r>
          </a:p>
          <a:p>
            <a:endParaRPr lang="en-US"/>
          </a:p>
          <a:p>
            <a:pPr lvl="0"/>
            <a:r>
              <a:rPr lang="en-US"/>
              <a:t>List at least three administrator tasks for an organization’s web app.</a:t>
            </a:r>
          </a:p>
          <a:p>
            <a:pPr lvl="0"/>
            <a:r>
              <a:rPr lang="en-US" b="1"/>
              <a:t>Answer</a:t>
            </a:r>
            <a:r>
              <a:rPr lang="en-US"/>
              <a:t>: If you are administering an Azure web app you will need to monitor, secure, and backup the app. Monitoring includes usage stats, outages, page views, user sessions, performance, and troubleshooting. Securing tasks include access, authentication, certificates, and identity. Backup decisions make sure all parts of the app can be restored, as well as frequency of the backups. Creating a custom domain name is another important task; there are certainly other important tasks.  </a:t>
            </a:r>
          </a:p>
          <a:p>
            <a:pPr lvl="0"/>
            <a:endParaRPr lang="en-US"/>
          </a:p>
          <a:p>
            <a:pPr lvl="0"/>
            <a:r>
              <a:rPr lang="en-US"/>
              <a:t>What are web app deployment slots and how can they be used?</a:t>
            </a:r>
          </a:p>
          <a:p>
            <a:pPr lvl="0"/>
            <a:r>
              <a:rPr lang="en-US" b="1"/>
              <a:t>Answer</a:t>
            </a:r>
            <a:r>
              <a:rPr lang="en-US"/>
              <a:t>: Deployment slots allow your app to run different instances. For example, a staging instance and a production instance. Deployment slots are live apps with their own hostnames. Deployment slots help you validate changes before making the app live. Slots also avoid a cold start which eliminates downtime. Lastly, slots let you fall back to a known good site. </a:t>
            </a:r>
          </a:p>
          <a:p>
            <a:endParaRPr lang="en-US"/>
          </a:p>
          <a:p>
            <a:endParaRPr lang="en-US"/>
          </a:p>
        </p:txBody>
      </p:sp>
      <p:sp>
        <p:nvSpPr>
          <p:cNvPr id="4" name="Slide Number Placeholder 3"/>
          <p:cNvSpPr>
            <a:spLocks noGrp="1"/>
          </p:cNvSpPr>
          <p:nvPr>
            <p:ph type="sldNum" sz="quarter" idx="5"/>
          </p:nvPr>
        </p:nvSpPr>
        <p:spPr/>
        <p:txBody>
          <a:bodyPr/>
          <a:lstStyle/>
          <a:p>
            <a:fld id="{8507DC7E-BC41-4478-BA30-CBCC3A644F0A}" type="slidenum">
              <a:rPr lang="en-US" smtClean="0"/>
              <a:pPr/>
              <a:t>22</a:t>
            </a:fld>
            <a:endParaRPr lang="en-US"/>
          </a:p>
        </p:txBody>
      </p:sp>
      <p:sp>
        <p:nvSpPr>
          <p:cNvPr id="7" name="Slide Image Placeholder 6">
            <a:extLst>
              <a:ext uri="{FF2B5EF4-FFF2-40B4-BE49-F238E27FC236}">
                <a16:creationId xmlns:a16="http://schemas.microsoft.com/office/drawing/2014/main" id="{8C97821E-6F1A-13BA-B2BD-3EB39ECD75DC}"/>
              </a:ext>
            </a:extLst>
          </p:cNvPr>
          <p:cNvSpPr>
            <a:spLocks noGrp="1" noRot="1" noChangeAspect="1"/>
          </p:cNvSpPr>
          <p:nvPr>
            <p:ph type="sldImg"/>
          </p:nvPr>
        </p:nvSpPr>
        <p:spPr/>
      </p:sp>
    </p:spTree>
    <p:extLst>
      <p:ext uri="{BB962C8B-B14F-4D97-AF65-F5344CB8AC3E}">
        <p14:creationId xmlns:p14="http://schemas.microsoft.com/office/powerpoint/2010/main" val="29526231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6" name="Slide Number Placeholder 5"/>
          <p:cNvSpPr>
            <a:spLocks noGrp="1"/>
          </p:cNvSpPr>
          <p:nvPr>
            <p:ph type="sldNum" sz="quarter" idx="5"/>
          </p:nvPr>
        </p:nvSpPr>
        <p:spPr/>
        <p:txBody>
          <a:bodyPr/>
          <a:lstStyle/>
          <a:p>
            <a:fld id="{B4008EB6-D09E-4580-8CD6-DDB14511944F}" type="slidenum">
              <a:rPr lang="en-US" smtClean="0"/>
              <a:pPr/>
              <a:t>23</a:t>
            </a:fld>
            <a:endParaRPr lang="en-US"/>
          </a:p>
        </p:txBody>
      </p:sp>
    </p:spTree>
    <p:extLst>
      <p:ext uri="{BB962C8B-B14F-4D97-AF65-F5344CB8AC3E}">
        <p14:creationId xmlns:p14="http://schemas.microsoft.com/office/powerpoint/2010/main" val="12680204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Note this section of slides covers ACA as well as ACI. There isn't a separate ACA Learn module, rather it is within the ACI Learn module. </a:t>
            </a:r>
          </a:p>
        </p:txBody>
      </p:sp>
      <p:sp>
        <p:nvSpPr>
          <p:cNvPr id="7" name="Slide Number Placeholder 6"/>
          <p:cNvSpPr>
            <a:spLocks noGrp="1"/>
          </p:cNvSpPr>
          <p:nvPr>
            <p:ph type="sldNum" sz="quarter" idx="13"/>
          </p:nvPr>
        </p:nvSpPr>
        <p:spPr/>
        <p:txBody>
          <a:bodyPr/>
          <a:lstStyle/>
          <a:p>
            <a:fld id="{B4008EB6-D09E-4580-8CD6-DDB14511944F}" type="slidenum">
              <a:rPr lang="en-US" smtClean="0"/>
              <a:pPr/>
              <a:t>24</a:t>
            </a:fld>
            <a:endParaRPr lang="en-US"/>
          </a:p>
        </p:txBody>
      </p:sp>
      <p:sp>
        <p:nvSpPr>
          <p:cNvPr id="10" name="Slide Image Placeholder 9">
            <a:extLst>
              <a:ext uri="{FF2B5EF4-FFF2-40B4-BE49-F238E27FC236}">
                <a16:creationId xmlns:a16="http://schemas.microsoft.com/office/drawing/2014/main" id="{AF937A64-8AAA-3F87-C5EF-4C38DD66AACA}"/>
              </a:ext>
            </a:extLst>
          </p:cNvPr>
          <p:cNvSpPr>
            <a:spLocks noGrp="1" noRot="1" noChangeAspect="1"/>
          </p:cNvSpPr>
          <p:nvPr>
            <p:ph type="sldImg"/>
          </p:nvPr>
        </p:nvSpPr>
        <p:spPr/>
      </p:sp>
    </p:spTree>
    <p:extLst>
      <p:ext uri="{BB962C8B-B14F-4D97-AF65-F5344CB8AC3E}">
        <p14:creationId xmlns:p14="http://schemas.microsoft.com/office/powerpoint/2010/main" val="10950975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a:t>Containers vs. virtual machines https://learn.microsoft.com/virtualization/windowscontainers/about/containers-vs-vm</a:t>
            </a:r>
          </a:p>
        </p:txBody>
      </p:sp>
      <p:sp>
        <p:nvSpPr>
          <p:cNvPr id="6" name="Slide Number Placeholder 5"/>
          <p:cNvSpPr>
            <a:spLocks noGrp="1"/>
          </p:cNvSpPr>
          <p:nvPr>
            <p:ph type="sldNum" sz="quarter" idx="5"/>
          </p:nvPr>
        </p:nvSpPr>
        <p:spPr/>
        <p:txBody>
          <a:bodyPr/>
          <a:lstStyle/>
          <a:p>
            <a:fld id="{B4008EB6-D09E-4580-8CD6-DDB14511944F}" type="slidenum">
              <a:rPr lang="en-US" smtClean="0"/>
              <a:pPr/>
              <a:t>25</a:t>
            </a:fld>
            <a:endParaRPr lang="en-US"/>
          </a:p>
        </p:txBody>
      </p:sp>
    </p:spTree>
    <p:extLst>
      <p:ext uri="{BB962C8B-B14F-4D97-AF65-F5344CB8AC3E}">
        <p14:creationId xmlns:p14="http://schemas.microsoft.com/office/powerpoint/2010/main" val="380409531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a:solidFill>
                <a:srgbClr val="111111"/>
              </a:solidFill>
              <a:highlight>
                <a:srgbClr val="FFFFFF"/>
              </a:highlight>
              <a:latin typeface="-apple-system"/>
            </a:endParaRPr>
          </a:p>
        </p:txBody>
      </p:sp>
      <p:sp>
        <p:nvSpPr>
          <p:cNvPr id="6" name="Slide Number Placeholder 5"/>
          <p:cNvSpPr>
            <a:spLocks noGrp="1"/>
          </p:cNvSpPr>
          <p:nvPr>
            <p:ph type="sldNum" sz="quarter" idx="5"/>
          </p:nvPr>
        </p:nvSpPr>
        <p:spPr/>
        <p:txBody>
          <a:bodyPr/>
          <a:lstStyle/>
          <a:p>
            <a:fld id="{B4008EB6-D09E-4580-8CD6-DDB14511944F}" type="slidenum">
              <a:rPr lang="en-US" smtClean="0"/>
              <a:pPr/>
              <a:t>26</a:t>
            </a:fld>
            <a:endParaRPr lang="en-US"/>
          </a:p>
        </p:txBody>
      </p:sp>
    </p:spTree>
    <p:extLst>
      <p:ext uri="{BB962C8B-B14F-4D97-AF65-F5344CB8AC3E}">
        <p14:creationId xmlns:p14="http://schemas.microsoft.com/office/powerpoint/2010/main" val="32128599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What is Azure Container Instances? </a:t>
            </a:r>
          </a:p>
          <a:p>
            <a:r>
              <a:rPr lang="en-US"/>
              <a:t>https://learn.microsoft.com/azure/container-instances/container-instances-overview</a:t>
            </a:r>
          </a:p>
          <a:p>
            <a:endParaRPr lang="en-US"/>
          </a:p>
        </p:txBody>
      </p:sp>
      <p:sp>
        <p:nvSpPr>
          <p:cNvPr id="6" name="Slide Number Placeholder 5"/>
          <p:cNvSpPr>
            <a:spLocks noGrp="1"/>
          </p:cNvSpPr>
          <p:nvPr>
            <p:ph type="sldNum" sz="quarter" idx="5"/>
          </p:nvPr>
        </p:nvSpPr>
        <p:spPr/>
        <p:txBody>
          <a:bodyPr/>
          <a:lstStyle/>
          <a:p>
            <a:fld id="{B4008EB6-D09E-4580-8CD6-DDB14511944F}" type="slidenum">
              <a:rPr lang="en-US" smtClean="0"/>
              <a:pPr/>
              <a:t>27</a:t>
            </a:fld>
            <a:endParaRPr lang="en-US"/>
          </a:p>
        </p:txBody>
      </p:sp>
    </p:spTree>
    <p:extLst>
      <p:ext uri="{BB962C8B-B14F-4D97-AF65-F5344CB8AC3E}">
        <p14:creationId xmlns:p14="http://schemas.microsoft.com/office/powerpoint/2010/main" val="145087539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b="0"/>
              <a:t>Container groups in Azure Container Instances</a:t>
            </a:r>
          </a:p>
          <a:p>
            <a:r>
              <a:rPr lang="en-US" b="0"/>
              <a:t>https://learn.microsoft.com/azure/container-instances/container-instances-container-groups</a:t>
            </a:r>
          </a:p>
          <a:p>
            <a:endParaRPr lang="en-US"/>
          </a:p>
          <a:p>
            <a:r>
              <a:rPr lang="en-US" b="0"/>
              <a:t>Quickstart: Deploy a container instance in Azure using the Azure portal https://learn.microsoft.com/azure/container-instances/container-instances-quickstart-portal</a:t>
            </a:r>
          </a:p>
          <a:p>
            <a:endParaRPr lang="en-US" b="1"/>
          </a:p>
        </p:txBody>
      </p:sp>
      <p:sp>
        <p:nvSpPr>
          <p:cNvPr id="7" name="Slide Number Placeholder 6"/>
          <p:cNvSpPr>
            <a:spLocks noGrp="1"/>
          </p:cNvSpPr>
          <p:nvPr>
            <p:ph type="sldNum" sz="quarter" idx="5"/>
          </p:nvPr>
        </p:nvSpPr>
        <p:spPr/>
        <p:txBody>
          <a:bodyPr/>
          <a:lstStyle/>
          <a:p>
            <a:fld id="{B4008EB6-D09E-4580-8CD6-DDB14511944F}" type="slidenum">
              <a:rPr lang="en-US" smtClean="0"/>
              <a:pPr/>
              <a:t>28</a:t>
            </a:fld>
            <a:endParaRPr lang="en-US"/>
          </a:p>
        </p:txBody>
      </p:sp>
    </p:spTree>
    <p:extLst>
      <p:ext uri="{BB962C8B-B14F-4D97-AF65-F5344CB8AC3E}">
        <p14:creationId xmlns:p14="http://schemas.microsoft.com/office/powerpoint/2010/main" val="115471076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Demonstration ACI </a:t>
            </a:r>
          </a:p>
          <a:p>
            <a:r>
              <a:rPr lang="en-US"/>
              <a:t>https://microsoftlearning.github.io/AZ-104-MicrosoftAzureAdministrator/Instructions/Demos/09%20-%20Administer%20PaaS%20Compute%20Options.html#configure-azure-container-instances</a:t>
            </a:r>
          </a:p>
        </p:txBody>
      </p:sp>
      <p:sp>
        <p:nvSpPr>
          <p:cNvPr id="7" name="Slide Number Placeholder 6"/>
          <p:cNvSpPr>
            <a:spLocks noGrp="1"/>
          </p:cNvSpPr>
          <p:nvPr>
            <p:ph type="sldNum" sz="quarter" idx="5"/>
          </p:nvPr>
        </p:nvSpPr>
        <p:spPr/>
        <p:txBody>
          <a:bodyPr/>
          <a:lstStyle/>
          <a:p>
            <a:fld id="{B4008EB6-D09E-4580-8CD6-DDB14511944F}" type="slidenum">
              <a:rPr lang="en-US" smtClean="0"/>
              <a:pPr/>
              <a:t>29</a:t>
            </a:fld>
            <a:endParaRPr lang="en-US"/>
          </a:p>
        </p:txBody>
      </p:sp>
    </p:spTree>
    <p:extLst>
      <p:ext uri="{BB962C8B-B14F-4D97-AF65-F5344CB8AC3E}">
        <p14:creationId xmlns:p14="http://schemas.microsoft.com/office/powerpoint/2010/main" val="20329528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Deploy microservices with Azure Container Apps - https://learn.microsoft.com/azure/architecture/example-scenario/serverless/microservices-with-container-apps</a:t>
            </a:r>
          </a:p>
          <a:p>
            <a:endParaRPr lang="en-US"/>
          </a:p>
          <a:p>
            <a:r>
              <a:rPr lang="en-US"/>
              <a:t>Azure Container Apps documentation </a:t>
            </a:r>
          </a:p>
          <a:p>
            <a:r>
              <a:rPr lang="en-US"/>
              <a:t>https://learn.microsoft.com/azure/container-apps/</a:t>
            </a:r>
          </a:p>
          <a:p>
            <a:endParaRPr lang="en-US"/>
          </a:p>
          <a:p>
            <a:endParaRPr lang="en-US"/>
          </a:p>
        </p:txBody>
      </p:sp>
      <p:sp>
        <p:nvSpPr>
          <p:cNvPr id="6" name="Slide Number Placeholder 5"/>
          <p:cNvSpPr>
            <a:spLocks noGrp="1"/>
          </p:cNvSpPr>
          <p:nvPr>
            <p:ph type="sldNum" sz="quarter" idx="5"/>
          </p:nvPr>
        </p:nvSpPr>
        <p:spPr/>
        <p:txBody>
          <a:bodyPr/>
          <a:lstStyle/>
          <a:p>
            <a:fld id="{B4008EB6-D09E-4580-8CD6-DDB14511944F}" type="slidenum">
              <a:rPr lang="en-US" smtClean="0"/>
              <a:pPr/>
              <a:t>30</a:t>
            </a:fld>
            <a:endParaRPr lang="en-US"/>
          </a:p>
        </p:txBody>
      </p:sp>
    </p:spTree>
    <p:extLst>
      <p:ext uri="{BB962C8B-B14F-4D97-AF65-F5344CB8AC3E}">
        <p14:creationId xmlns:p14="http://schemas.microsoft.com/office/powerpoint/2010/main" val="3538566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a:t>Comparing Container Apps with other Azure container options</a:t>
            </a:r>
          </a:p>
          <a:p>
            <a:r>
              <a:rPr lang="en-GB"/>
              <a:t>https://learn.microsoft.com/azure/container-apps/compare-options</a:t>
            </a:r>
          </a:p>
          <a:p>
            <a:endParaRPr lang="en-US"/>
          </a:p>
        </p:txBody>
      </p:sp>
      <p:sp>
        <p:nvSpPr>
          <p:cNvPr id="6" name="Slide Number Placeholder 5"/>
          <p:cNvSpPr>
            <a:spLocks noGrp="1"/>
          </p:cNvSpPr>
          <p:nvPr>
            <p:ph type="sldNum" sz="quarter" idx="5"/>
          </p:nvPr>
        </p:nvSpPr>
        <p:spPr/>
        <p:txBody>
          <a:bodyPr/>
          <a:lstStyle/>
          <a:p>
            <a:pPr lvl="0"/>
            <a:fld id="{B4008EB6-D09E-4580-8CD6-DDB14511944F}" type="slidenum">
              <a:rPr lang="en-US" noProof="0" smtClean="0"/>
              <a:pPr lvl="0"/>
              <a:t>31</a:t>
            </a:fld>
            <a:endParaRPr lang="en-US" noProof="0"/>
          </a:p>
        </p:txBody>
      </p:sp>
      <p:sp>
        <p:nvSpPr>
          <p:cNvPr id="7" name="Slide Image Placeholder 6">
            <a:extLst>
              <a:ext uri="{FF2B5EF4-FFF2-40B4-BE49-F238E27FC236}">
                <a16:creationId xmlns:a16="http://schemas.microsoft.com/office/drawing/2014/main" id="{1BF254FC-EE8A-2126-AF97-B2F652B9E415}"/>
              </a:ext>
            </a:extLst>
          </p:cNvPr>
          <p:cNvSpPr>
            <a:spLocks noGrp="1" noRot="1" noChangeAspect="1"/>
          </p:cNvSpPr>
          <p:nvPr>
            <p:ph type="sldImg"/>
          </p:nvPr>
        </p:nvSpPr>
        <p:spPr/>
      </p:sp>
    </p:spTree>
    <p:extLst>
      <p:ext uri="{BB962C8B-B14F-4D97-AF65-F5344CB8AC3E}">
        <p14:creationId xmlns:p14="http://schemas.microsoft.com/office/powerpoint/2010/main" val="136555822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Demonstration Container Apps </a:t>
            </a:r>
          </a:p>
          <a:p>
            <a:r>
              <a:rPr lang="en-US"/>
              <a:t>https://microsoftlearning.github.io/AZ-104-MicrosoftAzureAdministrator/Instructions/Demos/09%20-%20Administer%20PaaS%20Compute%20Options.html#configure-azure-container-apps</a:t>
            </a:r>
          </a:p>
        </p:txBody>
      </p:sp>
      <p:sp>
        <p:nvSpPr>
          <p:cNvPr id="7" name="Slide Number Placeholder 6"/>
          <p:cNvSpPr>
            <a:spLocks noGrp="1"/>
          </p:cNvSpPr>
          <p:nvPr>
            <p:ph type="sldNum" sz="quarter" idx="5"/>
          </p:nvPr>
        </p:nvSpPr>
        <p:spPr/>
        <p:txBody>
          <a:bodyPr/>
          <a:lstStyle/>
          <a:p>
            <a:fld id="{B4008EB6-D09E-4580-8CD6-DDB14511944F}" type="slidenum">
              <a:rPr lang="en-US" smtClean="0"/>
              <a:pPr/>
              <a:t>32</a:t>
            </a:fld>
            <a:endParaRPr lang="en-US"/>
          </a:p>
        </p:txBody>
      </p:sp>
    </p:spTree>
    <p:extLst>
      <p:ext uri="{BB962C8B-B14F-4D97-AF65-F5344CB8AC3E}">
        <p14:creationId xmlns:p14="http://schemas.microsoft.com/office/powerpoint/2010/main" val="150184970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Additional questions are available in Office Forms - https://forms.office.com/Pages/ShareFormPage.aspx?id=v4j5cvGGr0GRqy180BHbR5NEFZBpuAZBgxPOGXi_gX5UQkpEQ0VFUlZRUDM3Q1BCMDZVTEI5WjVORC4u&amp;sharetoken=tbjUH7154spTWZnYjmrj</a:t>
            </a:r>
          </a:p>
          <a:p>
            <a:endParaRPr lang="en-US"/>
          </a:p>
          <a:p>
            <a:pPr lvl="0"/>
            <a:r>
              <a:rPr lang="en-US"/>
              <a:t>Describe at least two differences between containers and virtual machines. </a:t>
            </a:r>
          </a:p>
          <a:p>
            <a:pPr lvl="0"/>
            <a:r>
              <a:rPr lang="en-US" b="1"/>
              <a:t>Answer</a:t>
            </a:r>
            <a:r>
              <a:rPr lang="en-US"/>
              <a:t>: Containers provide only lightweight isolation, whereas VMs provide complete isolation. VMs run the entire operating systems, but containers only run the OS services that are needed. Containers are deployed with Docker and orchestrated with Azure Kubernetes service. VMs are deployed and managed  different tools with Azure. Containers can use local disk storage or file shares. VMs use a virtual hard disk and file shares. </a:t>
            </a:r>
          </a:p>
          <a:p>
            <a:endParaRPr lang="en-US"/>
          </a:p>
          <a:p>
            <a:endParaRPr lang="en-US"/>
          </a:p>
        </p:txBody>
      </p:sp>
      <p:sp>
        <p:nvSpPr>
          <p:cNvPr id="4" name="Slide Number Placeholder 3"/>
          <p:cNvSpPr>
            <a:spLocks noGrp="1"/>
          </p:cNvSpPr>
          <p:nvPr>
            <p:ph type="sldNum" sz="quarter" idx="5"/>
          </p:nvPr>
        </p:nvSpPr>
        <p:spPr/>
        <p:txBody>
          <a:bodyPr/>
          <a:lstStyle/>
          <a:p>
            <a:fld id="{8507DC7E-BC41-4478-BA30-CBCC3A644F0A}" type="slidenum">
              <a:rPr lang="en-US" smtClean="0"/>
              <a:pPr/>
              <a:t>33</a:t>
            </a:fld>
            <a:endParaRPr lang="en-US"/>
          </a:p>
        </p:txBody>
      </p:sp>
      <p:sp>
        <p:nvSpPr>
          <p:cNvPr id="7" name="Slide Image Placeholder 6">
            <a:extLst>
              <a:ext uri="{FF2B5EF4-FFF2-40B4-BE49-F238E27FC236}">
                <a16:creationId xmlns:a16="http://schemas.microsoft.com/office/drawing/2014/main" id="{BDF7C702-591A-82E8-2935-92C2D9911375}"/>
              </a:ext>
            </a:extLst>
          </p:cNvPr>
          <p:cNvSpPr>
            <a:spLocks noGrp="1" noRot="1" noChangeAspect="1"/>
          </p:cNvSpPr>
          <p:nvPr>
            <p:ph type="sldImg"/>
          </p:nvPr>
        </p:nvSpPr>
        <p:spPr/>
      </p:sp>
    </p:spTree>
    <p:extLst>
      <p:ext uri="{BB962C8B-B14F-4D97-AF65-F5344CB8AC3E}">
        <p14:creationId xmlns:p14="http://schemas.microsoft.com/office/powerpoint/2010/main" val="295262319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6" name="Slide Number Placeholder 5"/>
          <p:cNvSpPr>
            <a:spLocks noGrp="1"/>
          </p:cNvSpPr>
          <p:nvPr>
            <p:ph type="sldNum" sz="quarter" idx="5"/>
          </p:nvPr>
        </p:nvSpPr>
        <p:spPr/>
        <p:txBody>
          <a:bodyPr/>
          <a:lstStyle/>
          <a:p>
            <a:fld id="{B4008EB6-D09E-4580-8CD6-DDB14511944F}" type="slidenum">
              <a:rPr lang="en-US" smtClean="0"/>
              <a:pPr/>
              <a:t>34</a:t>
            </a:fld>
            <a:endParaRPr lang="en-US"/>
          </a:p>
        </p:txBody>
      </p:sp>
    </p:spTree>
    <p:extLst>
      <p:ext uri="{BB962C8B-B14F-4D97-AF65-F5344CB8AC3E}">
        <p14:creationId xmlns:p14="http://schemas.microsoft.com/office/powerpoint/2010/main" val="189549859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There are 3 labs in Module 09. 09a is Web Apps. 09b is ACI. 09c is ACA.</a:t>
            </a:r>
          </a:p>
          <a:p>
            <a:endParaRPr lang="en-US"/>
          </a:p>
          <a:p>
            <a:r>
              <a:rPr lang="en-US"/>
              <a:t>Lab 09a - https://microsoftlearning.github.io/AZ-104-MicrosoftAzureAdministrator/Instructions/Labs/LAB_09a-Implement_Web_Apps.html</a:t>
            </a:r>
          </a:p>
        </p:txBody>
      </p:sp>
      <p:sp>
        <p:nvSpPr>
          <p:cNvPr id="7" name="Slide Number Placeholder 6"/>
          <p:cNvSpPr>
            <a:spLocks noGrp="1"/>
          </p:cNvSpPr>
          <p:nvPr>
            <p:ph type="sldNum" sz="quarter" idx="5"/>
          </p:nvPr>
        </p:nvSpPr>
        <p:spPr/>
        <p:txBody>
          <a:bodyPr/>
          <a:lstStyle/>
          <a:p>
            <a:fld id="{B4008EB6-D09E-4580-8CD6-DDB14511944F}" type="slidenum">
              <a:rPr lang="en-US" smtClean="0"/>
              <a:pPr/>
              <a:t>35</a:t>
            </a:fld>
            <a:endParaRPr lang="en-US"/>
          </a:p>
        </p:txBody>
      </p:sp>
    </p:spTree>
    <p:extLst>
      <p:ext uri="{BB962C8B-B14F-4D97-AF65-F5344CB8AC3E}">
        <p14:creationId xmlns:p14="http://schemas.microsoft.com/office/powerpoint/2010/main" val="128289287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008EB6-D09E-4580-8CD6-DDB14511944F}" type="slidenum">
              <a:rPr lang="en-US" smtClean="0"/>
              <a:pPr/>
              <a:t>36</a:t>
            </a:fld>
            <a:endParaRPr lang="en-US"/>
          </a:p>
        </p:txBody>
      </p:sp>
    </p:spTree>
    <p:extLst>
      <p:ext uri="{BB962C8B-B14F-4D97-AF65-F5344CB8AC3E}">
        <p14:creationId xmlns:p14="http://schemas.microsoft.com/office/powerpoint/2010/main" val="397191687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a:t>Lab 09b - https://microsoftlearning.github.io/AZ-104-MicrosoftAzureAdministrator/Instructions/Labs/LAB_09b-Implement_Azure_Container_Instances.html</a:t>
            </a:r>
          </a:p>
        </p:txBody>
      </p:sp>
      <p:sp>
        <p:nvSpPr>
          <p:cNvPr id="6" name="Slide Number Placeholder 5"/>
          <p:cNvSpPr>
            <a:spLocks noGrp="1"/>
          </p:cNvSpPr>
          <p:nvPr>
            <p:ph type="sldNum" sz="quarter" idx="5"/>
          </p:nvPr>
        </p:nvSpPr>
        <p:spPr/>
        <p:txBody>
          <a:bodyPr/>
          <a:lstStyle/>
          <a:p>
            <a:fld id="{B4008EB6-D09E-4580-8CD6-DDB14511944F}" type="slidenum">
              <a:rPr lang="en-US" smtClean="0"/>
              <a:pPr/>
              <a:t>37</a:t>
            </a:fld>
            <a:endParaRPr lang="en-US"/>
          </a:p>
        </p:txBody>
      </p:sp>
    </p:spTree>
    <p:extLst>
      <p:ext uri="{BB962C8B-B14F-4D97-AF65-F5344CB8AC3E}">
        <p14:creationId xmlns:p14="http://schemas.microsoft.com/office/powerpoint/2010/main" val="83649887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008EB6-D09E-4580-8CD6-DDB14511944F}" type="slidenum">
              <a:rPr lang="en-US" smtClean="0"/>
              <a:pPr/>
              <a:t>38</a:t>
            </a:fld>
            <a:endParaRPr lang="en-US"/>
          </a:p>
        </p:txBody>
      </p:sp>
    </p:spTree>
    <p:extLst>
      <p:ext uri="{BB962C8B-B14F-4D97-AF65-F5344CB8AC3E}">
        <p14:creationId xmlns:p14="http://schemas.microsoft.com/office/powerpoint/2010/main" val="52303525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69501-FC82-A792-34F0-B18D2334C8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9A68ED-2B82-942C-E2C7-728D9082BE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58D8F2-336E-B1C3-9B17-B1CF1DF66703}"/>
              </a:ext>
            </a:extLst>
          </p:cNvPr>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a:t>Lab 09c - https://microsoftlearning.github.io/AZ-104-MicrosoftAzureAdministrator/Instructions/Labs/LAB_09c-Implement-Azure-Container-Apps.html</a:t>
            </a:r>
          </a:p>
        </p:txBody>
      </p:sp>
      <p:sp>
        <p:nvSpPr>
          <p:cNvPr id="6" name="Slide Number Placeholder 5">
            <a:extLst>
              <a:ext uri="{FF2B5EF4-FFF2-40B4-BE49-F238E27FC236}">
                <a16:creationId xmlns:a16="http://schemas.microsoft.com/office/drawing/2014/main" id="{DF1A2359-A7BF-CA88-B8FA-6483D0567262}"/>
              </a:ext>
            </a:extLst>
          </p:cNvPr>
          <p:cNvSpPr>
            <a:spLocks noGrp="1"/>
          </p:cNvSpPr>
          <p:nvPr>
            <p:ph type="sldNum" sz="quarter" idx="5"/>
          </p:nvPr>
        </p:nvSpPr>
        <p:spPr/>
        <p:txBody>
          <a:bodyPr/>
          <a:lstStyle/>
          <a:p>
            <a:fld id="{B4008EB6-D09E-4580-8CD6-DDB14511944F}" type="slidenum">
              <a:rPr lang="en-US" smtClean="0"/>
              <a:pPr/>
              <a:t>39</a:t>
            </a:fld>
            <a:endParaRPr lang="en-US"/>
          </a:p>
        </p:txBody>
      </p:sp>
    </p:spTree>
    <p:extLst>
      <p:ext uri="{BB962C8B-B14F-4D97-AF65-F5344CB8AC3E}">
        <p14:creationId xmlns:p14="http://schemas.microsoft.com/office/powerpoint/2010/main" val="416578924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008EB6-D09E-4580-8CD6-DDB14511944F}" type="slidenum">
              <a:rPr lang="en-US" smtClean="0"/>
              <a:pPr/>
              <a:t>40</a:t>
            </a:fld>
            <a:endParaRPr lang="en-US"/>
          </a:p>
        </p:txBody>
      </p:sp>
    </p:spTree>
    <p:extLst>
      <p:ext uri="{BB962C8B-B14F-4D97-AF65-F5344CB8AC3E}">
        <p14:creationId xmlns:p14="http://schemas.microsoft.com/office/powerpoint/2010/main" val="334122039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008EB6-D09E-4580-8CD6-DDB14511944F}" type="slidenum">
              <a:rPr lang="en-US" smtClean="0"/>
              <a:pPr/>
              <a:t>41</a:t>
            </a:fld>
            <a:endParaRPr lang="en-US"/>
          </a:p>
        </p:txBody>
      </p:sp>
    </p:spTree>
    <p:extLst>
      <p:ext uri="{BB962C8B-B14F-4D97-AF65-F5344CB8AC3E}">
        <p14:creationId xmlns:p14="http://schemas.microsoft.com/office/powerpoint/2010/main" val="229772058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What is Kubernetes</a:t>
            </a:r>
          </a:p>
          <a:p>
            <a:r>
              <a:rPr lang="en-US"/>
              <a:t>https://azure.microsoft.com/topic/what-is-kubernetes/</a:t>
            </a:r>
          </a:p>
          <a:p>
            <a:endParaRPr lang="en-US"/>
          </a:p>
          <a:p>
            <a:pPr algn="l"/>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42</a:t>
            </a:fld>
            <a:endParaRPr lang="en-US"/>
          </a:p>
        </p:txBody>
      </p:sp>
    </p:spTree>
    <p:extLst>
      <p:ext uri="{BB962C8B-B14F-4D97-AF65-F5344CB8AC3E}">
        <p14:creationId xmlns:p14="http://schemas.microsoft.com/office/powerpoint/2010/main" val="393696104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a:t>Kubernetes core concepts for Azure Kubernetes Service (AKS) - https://learn.microsoft.com/azure/aks/concepts-clusters-workloads</a:t>
            </a:r>
          </a:p>
        </p:txBody>
      </p:sp>
      <p:sp>
        <p:nvSpPr>
          <p:cNvPr id="7" name="Slide Number Placeholder 6"/>
          <p:cNvSpPr>
            <a:spLocks noGrp="1"/>
          </p:cNvSpPr>
          <p:nvPr>
            <p:ph type="sldNum" sz="quarter" idx="5"/>
          </p:nvPr>
        </p:nvSpPr>
        <p:spPr/>
        <p:txBody>
          <a:bodyPr/>
          <a:lstStyle/>
          <a:p>
            <a:fld id="{B4008EB6-D09E-4580-8CD6-DDB14511944F}" type="slidenum">
              <a:rPr lang="en-US" smtClean="0"/>
              <a:pPr/>
              <a:t>43</a:t>
            </a:fld>
            <a:endParaRPr lang="en-US"/>
          </a:p>
        </p:txBody>
      </p:sp>
      <p:sp>
        <p:nvSpPr>
          <p:cNvPr id="10" name="Slide Image Placeholder 9">
            <a:extLst>
              <a:ext uri="{FF2B5EF4-FFF2-40B4-BE49-F238E27FC236}">
                <a16:creationId xmlns:a16="http://schemas.microsoft.com/office/drawing/2014/main" id="{B4C15D42-7823-A6EF-0B9A-4BAD0B6DB245}"/>
              </a:ext>
            </a:extLst>
          </p:cNvPr>
          <p:cNvSpPr>
            <a:spLocks noGrp="1" noRot="1" noChangeAspect="1"/>
          </p:cNvSpPr>
          <p:nvPr>
            <p:ph type="sldImg"/>
          </p:nvPr>
        </p:nvSpPr>
        <p:spPr/>
      </p:sp>
    </p:spTree>
    <p:extLst>
      <p:ext uri="{BB962C8B-B14F-4D97-AF65-F5344CB8AC3E}">
        <p14:creationId xmlns:p14="http://schemas.microsoft.com/office/powerpoint/2010/main" val="234176891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50" b="0" i="0" kern="1200">
                <a:solidFill>
                  <a:schemeClr val="tx1"/>
                </a:solidFill>
                <a:effectLst/>
                <a:cs typeface="Segoe UI" panose="020B0502040204020203" pitchFamily="34" charset="0"/>
              </a:rPr>
              <a:t>Docker on Azure </a:t>
            </a:r>
            <a:endParaRPr lang="en-US" sz="850">
              <a:cs typeface="Segoe UI" panose="020B0502040204020203" pitchFamily="34" charset="0"/>
            </a:endParaRPr>
          </a:p>
          <a:p>
            <a:r>
              <a:rPr lang="en-US" b="0"/>
              <a:t>https://azure.microsoft.com/services/kubernetes-service/docker/</a:t>
            </a:r>
          </a:p>
        </p:txBody>
      </p:sp>
      <p:sp>
        <p:nvSpPr>
          <p:cNvPr id="7" name="Slide Number Placeholder 6"/>
          <p:cNvSpPr>
            <a:spLocks noGrp="1"/>
          </p:cNvSpPr>
          <p:nvPr>
            <p:ph type="sldNum" sz="quarter" idx="5"/>
          </p:nvPr>
        </p:nvSpPr>
        <p:spPr/>
        <p:txBody>
          <a:bodyPr/>
          <a:lstStyle/>
          <a:p>
            <a:fld id="{B4008EB6-D09E-4580-8CD6-DDB14511944F}" type="slidenum">
              <a:rPr lang="en-US" smtClean="0"/>
              <a:pPr/>
              <a:t>44</a:t>
            </a:fld>
            <a:endParaRPr lang="en-US"/>
          </a:p>
        </p:txBody>
      </p:sp>
    </p:spTree>
    <p:extLst>
      <p:ext uri="{BB962C8B-B14F-4D97-AF65-F5344CB8AC3E}">
        <p14:creationId xmlns:p14="http://schemas.microsoft.com/office/powerpoint/2010/main" val="343043605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Azure Container Apps manages the details of Kubernetes and container orchestration for you. Containers in Azure Container Apps can use any runtime, programming language, or development stack of your choice.</a:t>
            </a:r>
          </a:p>
        </p:txBody>
      </p:sp>
      <p:sp>
        <p:nvSpPr>
          <p:cNvPr id="6" name="Slide Number Placeholder 5"/>
          <p:cNvSpPr>
            <a:spLocks noGrp="1"/>
          </p:cNvSpPr>
          <p:nvPr>
            <p:ph type="sldNum" sz="quarter" idx="5"/>
          </p:nvPr>
        </p:nvSpPr>
        <p:spPr/>
        <p:txBody>
          <a:bodyPr/>
          <a:lstStyle/>
          <a:p>
            <a:fld id="{B4008EB6-D09E-4580-8CD6-DDB14511944F}" type="slidenum">
              <a:rPr lang="en-US" smtClean="0"/>
              <a:pPr/>
              <a:t>45</a:t>
            </a:fld>
            <a:endParaRPr lang="en-US"/>
          </a:p>
        </p:txBody>
      </p:sp>
      <p:sp>
        <p:nvSpPr>
          <p:cNvPr id="9" name="Slide Image Placeholder 8">
            <a:extLst>
              <a:ext uri="{FF2B5EF4-FFF2-40B4-BE49-F238E27FC236}">
                <a16:creationId xmlns:a16="http://schemas.microsoft.com/office/drawing/2014/main" id="{30B5BF9E-9D6D-E5AE-9E75-B2825B1E25B8}"/>
              </a:ext>
            </a:extLst>
          </p:cNvPr>
          <p:cNvSpPr>
            <a:spLocks noGrp="1" noRot="1" noChangeAspect="1"/>
          </p:cNvSpPr>
          <p:nvPr>
            <p:ph type="sldImg"/>
          </p:nvPr>
        </p:nvSpPr>
        <p:spPr/>
      </p:sp>
    </p:spTree>
    <p:extLst>
      <p:ext uri="{BB962C8B-B14F-4D97-AF65-F5344CB8AC3E}">
        <p14:creationId xmlns:p14="http://schemas.microsoft.com/office/powerpoint/2010/main" val="320272984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2E9348E-FA16-FE20-38FB-EDD806C9464D}"/>
              </a:ext>
            </a:extLst>
          </p:cNvPr>
          <p:cNvPicPr>
            <a:picLocks noChangeAspect="1"/>
          </p:cNvPicPr>
          <p:nvPr userDrawn="1"/>
        </p:nvPicPr>
        <p:blipFill>
          <a:blip r:embed="rId2"/>
          <a:stretch>
            <a:fillRect/>
          </a:stretch>
        </p:blipFill>
        <p:spPr>
          <a:xfrm>
            <a:off x="-1" y="11112"/>
            <a:ext cx="12436475" cy="6972300"/>
          </a:xfrm>
          <a:prstGeom prst="rect">
            <a:avLst/>
          </a:prstGeom>
        </p:spPr>
      </p:pic>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userDrawn="1"/>
        </p:nvPicPr>
        <p:blipFill>
          <a:blip r:embed="rId3"/>
          <a:stretch>
            <a:fillRect/>
          </a:stretch>
        </p:blipFill>
        <p:spPr bwMode="black">
          <a:xfrm>
            <a:off x="595914" y="597450"/>
            <a:ext cx="1393840" cy="298433"/>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581341" y="3622696"/>
            <a:ext cx="5800990" cy="1130181"/>
          </a:xfrm>
          <a:noFill/>
        </p:spPr>
        <p:txBody>
          <a:bodyPr wrap="square" lIns="0" tIns="0" rIns="0" bIns="0" anchor="ctr" anchorCtr="0">
            <a:spAutoFit/>
          </a:bodyPr>
          <a:lstStyle>
            <a:lvl1pPr>
              <a:defRPr sz="4080" b="0" i="0" spc="-51" baseline="0">
                <a:solidFill>
                  <a:schemeClr val="tx1"/>
                </a:solidFill>
                <a:latin typeface="+mn-lt"/>
                <a:cs typeface="Segoe UI" panose="020B0502040204020203" pitchFamily="34" charset="0"/>
              </a:defRPr>
            </a:lvl1pPr>
          </a:lstStyle>
          <a:p>
            <a:r>
              <a:rPr lang="en-US"/>
              <a:t>Event name or </a:t>
            </a:r>
            <a:br>
              <a:rPr lang="en-US"/>
            </a:br>
            <a:r>
              <a:rPr lang="en-US"/>
              <a:t>presentation title </a:t>
            </a:r>
          </a:p>
        </p:txBody>
      </p:sp>
      <p:sp>
        <p:nvSpPr>
          <p:cNvPr id="5" name="Footer Placeholder 10">
            <a:extLst>
              <a:ext uri="{FF2B5EF4-FFF2-40B4-BE49-F238E27FC236}">
                <a16:creationId xmlns:a16="http://schemas.microsoft.com/office/drawing/2014/main" id="{44253EDB-56F0-1036-A65B-02ABC067A9E8}"/>
              </a:ext>
            </a:extLst>
          </p:cNvPr>
          <p:cNvSpPr>
            <a:spLocks noGrp="1"/>
          </p:cNvSpPr>
          <p:nvPr>
            <p:ph type="ftr" sz="quarter" idx="3"/>
          </p:nvPr>
        </p:nvSpPr>
        <p:spPr>
          <a:xfrm>
            <a:off x="591057" y="6548910"/>
            <a:ext cx="4234554" cy="201917"/>
          </a:xfrm>
          <a:prstGeom prst="rect">
            <a:avLst/>
          </a:prstGeom>
        </p:spPr>
        <p:txBody>
          <a:bodyPr vert="horz" lIns="0" tIns="0" rIns="0" bIns="0" rtlCol="0" anchor="ctr"/>
          <a:lstStyle>
            <a:lvl1pPr marL="0" algn="l" defTabSz="932597" rtl="0" eaLnBrk="1" latinLnBrk="0" hangingPunct="1">
              <a:defRPr lang="en-US" sz="1020" kern="1200" dirty="0">
                <a:solidFill>
                  <a:schemeClr val="tx1"/>
                </a:solidFill>
                <a:latin typeface="+mn-lt"/>
                <a:ea typeface="+mn-ea"/>
                <a:cs typeface="+mn-cs"/>
              </a:defRPr>
            </a:lvl1pPr>
            <a:lvl5pPr>
              <a:defRPr lang="en-US" sz="765" kern="100" cap="all" spc="0" baseline="0" dirty="0">
                <a:solidFill>
                  <a:schemeClr val="tx1"/>
                </a:solidFill>
                <a:latin typeface="Arial" panose="020B0604020202020204" pitchFamily="34" charset="0"/>
                <a:ea typeface="+mn-ea"/>
                <a:cs typeface="Arial" panose="020B0604020202020204" pitchFamily="34" charset="0"/>
              </a:defRPr>
            </a:lvl5pPr>
          </a:lstStyle>
          <a:p>
            <a:pPr defTabSz="932563">
              <a:defRPr/>
            </a:pPr>
            <a:r>
              <a:rPr lang="en-US">
                <a:solidFill>
                  <a:srgbClr val="000000"/>
                </a:solidFill>
              </a:rPr>
              <a:t>© Copyright Microsoft Corporation. All rights reserved.</a:t>
            </a:r>
          </a:p>
        </p:txBody>
      </p:sp>
      <p:sp>
        <p:nvSpPr>
          <p:cNvPr id="2" name="Footer Placeholder 10">
            <a:extLst>
              <a:ext uri="{FF2B5EF4-FFF2-40B4-BE49-F238E27FC236}">
                <a16:creationId xmlns:a16="http://schemas.microsoft.com/office/drawing/2014/main" id="{A2E85BCA-8C5F-EFAA-DEF3-E5518406532B}"/>
              </a:ext>
            </a:extLst>
          </p:cNvPr>
          <p:cNvSpPr txBox="1">
            <a:spLocks/>
          </p:cNvSpPr>
          <p:nvPr userDrawn="1"/>
        </p:nvSpPr>
        <p:spPr>
          <a:xfrm>
            <a:off x="591057" y="6548910"/>
            <a:ext cx="4234554" cy="201917"/>
          </a:xfrm>
          <a:prstGeom prst="rect">
            <a:avLst/>
          </a:prstGeom>
        </p:spPr>
        <p:txBody>
          <a:bodyPr vert="horz" lIns="0" tIns="0" rIns="0" bIns="0" rtlCol="0" anchor="ctr"/>
          <a:lstStyle>
            <a:defPPr>
              <a:defRPr lang="en-US"/>
            </a:defPPr>
            <a:lvl1pPr marL="0" algn="l" defTabSz="914400" rtl="0" eaLnBrk="1" latinLnBrk="0" hangingPunct="1">
              <a:defRPr lang="en-US" sz="1000" kern="1200" dirty="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lang="en-US" sz="750" kern="100" cap="all" spc="0" baseline="0" dirty="0">
                <a:solidFill>
                  <a:schemeClr val="tx1"/>
                </a:solidFill>
                <a:latin typeface="Arial" panose="020B0604020202020204" pitchFamily="34" charset="0"/>
                <a:ea typeface="+mn-ea"/>
                <a:cs typeface="Arial" panose="020B0604020202020204" pitchFamily="34" charset="0"/>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defTabSz="932563">
              <a:defRPr/>
            </a:pPr>
            <a:r>
              <a:rPr lang="en-US" sz="1020">
                <a:solidFill>
                  <a:srgbClr val="000000"/>
                </a:solidFill>
              </a:rPr>
              <a:t>© Copyright Microsoft Corporation. All rights reserved.</a:t>
            </a:r>
          </a:p>
        </p:txBody>
      </p:sp>
    </p:spTree>
    <p:extLst>
      <p:ext uri="{BB962C8B-B14F-4D97-AF65-F5344CB8AC3E}">
        <p14:creationId xmlns:p14="http://schemas.microsoft.com/office/powerpoint/2010/main" val="114259996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sl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4707CDC-9BD2-0073-85EB-939160E4C7CC}"/>
              </a:ext>
            </a:extLst>
          </p:cNvPr>
          <p:cNvPicPr>
            <a:picLocks noChangeAspect="1"/>
          </p:cNvPicPr>
          <p:nvPr userDrawn="1"/>
        </p:nvPicPr>
        <p:blipFill>
          <a:blip r:embed="rId2"/>
          <a:stretch>
            <a:fillRect/>
          </a:stretch>
        </p:blipFill>
        <p:spPr>
          <a:xfrm>
            <a:off x="0" y="1587"/>
            <a:ext cx="12436475" cy="6991350"/>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81340" y="3514705"/>
            <a:ext cx="6472474" cy="565091"/>
          </a:xfrm>
          <a:noFill/>
        </p:spPr>
        <p:txBody>
          <a:bodyPr wrap="square" lIns="0" tIns="0" rIns="0" bIns="0" anchor="ctr" anchorCtr="0">
            <a:spAutoFit/>
          </a:bodyPr>
          <a:lstStyle>
            <a:lvl1pPr>
              <a:defRPr sz="4080" b="0" i="0" spc="-51" baseline="0">
                <a:solidFill>
                  <a:schemeClr val="tx1"/>
                </a:solidFill>
                <a:latin typeface="+mn-lt"/>
                <a:cs typeface="Segoe UI" panose="020B0502040204020203" pitchFamily="34" charset="0"/>
              </a:defRPr>
            </a:lvl1pPr>
          </a:lstStyle>
          <a:p>
            <a:r>
              <a:rPr lang="en-US"/>
              <a:t>Section divider title</a:t>
            </a:r>
          </a:p>
        </p:txBody>
      </p:sp>
      <p:sp>
        <p:nvSpPr>
          <p:cNvPr id="7" name="TextBox 6">
            <a:extLst>
              <a:ext uri="{FF2B5EF4-FFF2-40B4-BE49-F238E27FC236}">
                <a16:creationId xmlns:a16="http://schemas.microsoft.com/office/drawing/2014/main" id="{49AE7960-A7FE-D692-112F-471C560CCA67}"/>
              </a:ext>
            </a:extLst>
          </p:cNvPr>
          <p:cNvSpPr txBox="1"/>
          <p:nvPr userDrawn="1"/>
        </p:nvSpPr>
        <p:spPr>
          <a:xfrm>
            <a:off x="427038" y="6411853"/>
            <a:ext cx="6216728" cy="270285"/>
          </a:xfrm>
          <a:prstGeom prst="rect">
            <a:avLst/>
          </a:prstGeom>
          <a:noFill/>
        </p:spPr>
        <p:txBody>
          <a:bodyPr wrap="square">
            <a:spAutoFit/>
          </a:bodyPr>
          <a:lstStyle/>
          <a:p>
            <a:pPr defTabSz="932563">
              <a:defRPr/>
            </a:pPr>
            <a:r>
              <a:rPr lang="en-US" sz="1122">
                <a:solidFill>
                  <a:srgbClr val="000000"/>
                </a:solidFill>
              </a:rPr>
              <a:t>© Copyright Microsoft Corporation. All rights reserved.</a:t>
            </a:r>
          </a:p>
        </p:txBody>
      </p:sp>
    </p:spTree>
    <p:extLst>
      <p:ext uri="{BB962C8B-B14F-4D97-AF65-F5344CB8AC3E}">
        <p14:creationId xmlns:p14="http://schemas.microsoft.com/office/powerpoint/2010/main" val="372200024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Tree>
    <p:extLst>
      <p:ext uri="{BB962C8B-B14F-4D97-AF65-F5344CB8AC3E}">
        <p14:creationId xmlns:p14="http://schemas.microsoft.com/office/powerpoint/2010/main" val="963251355"/>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427038" y="449263"/>
            <a:ext cx="11568684" cy="655637"/>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440753" y="998040"/>
            <a:ext cx="11568684" cy="439465"/>
          </a:xfrm>
        </p:spPr>
        <p:txBody>
          <a:bodyPr tIns="45720" rIns="0" bIns="45720"/>
          <a:lstStyle>
            <a:lvl1pPr>
              <a:defRPr sz="2244">
                <a:solidFill>
                  <a:schemeClr val="tx2">
                    <a:lumMod val="50000"/>
                  </a:schemeClr>
                </a:solidFill>
              </a:defRPr>
            </a:lvl1pPr>
          </a:lstStyle>
          <a:p>
            <a:r>
              <a:rPr lang="en-US"/>
              <a:t>Subheading Segoe UI </a:t>
            </a:r>
            <a:r>
              <a:rPr lang="en-US" err="1"/>
              <a:t>Semibold</a:t>
            </a:r>
            <a:r>
              <a:rPr lang="en-US"/>
              <a:t> 22 </a:t>
            </a:r>
            <a:r>
              <a:rPr lang="en-US" err="1"/>
              <a:t>pt</a:t>
            </a:r>
            <a:endParaRPr lang="en-US"/>
          </a:p>
        </p:txBody>
      </p:sp>
    </p:spTree>
    <p:extLst>
      <p:ext uri="{BB962C8B-B14F-4D97-AF65-F5344CB8AC3E}">
        <p14:creationId xmlns:p14="http://schemas.microsoft.com/office/powerpoint/2010/main" val="3707348999"/>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Learning Objs - no O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DA845-DD15-1C56-8B25-22EAA1B45A8A}"/>
              </a:ext>
            </a:extLst>
          </p:cNvPr>
          <p:cNvSpPr>
            <a:spLocks noGrp="1"/>
          </p:cNvSpPr>
          <p:nvPr>
            <p:ph type="title"/>
          </p:nvPr>
        </p:nvSpPr>
        <p:spPr/>
        <p:txBody>
          <a:bodyPr/>
          <a:lstStyle/>
          <a:p>
            <a:r>
              <a:rPr lang="en-US"/>
              <a:t>Click to edit Master title style</a:t>
            </a:r>
          </a:p>
        </p:txBody>
      </p:sp>
      <p:pic>
        <p:nvPicPr>
          <p:cNvPr id="15" name="Graphic 14">
            <a:extLst>
              <a:ext uri="{FF2B5EF4-FFF2-40B4-BE49-F238E27FC236}">
                <a16:creationId xmlns:a16="http://schemas.microsoft.com/office/drawing/2014/main" id="{B2A34330-BC4D-94AB-2A95-93170E54289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3207262"/>
            <a:ext cx="12436476" cy="3095623"/>
          </a:xfrm>
          <a:prstGeom prst="rect">
            <a:avLst/>
          </a:prstGeom>
        </p:spPr>
      </p:pic>
    </p:spTree>
    <p:extLst>
      <p:ext uri="{BB962C8B-B14F-4D97-AF65-F5344CB8AC3E}">
        <p14:creationId xmlns:p14="http://schemas.microsoft.com/office/powerpoint/2010/main" val="1701499246"/>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arning Objs">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DA845-DD15-1C56-8B25-22EAA1B45A8A}"/>
              </a:ext>
            </a:extLst>
          </p:cNvPr>
          <p:cNvSpPr>
            <a:spLocks noGrp="1"/>
          </p:cNvSpPr>
          <p:nvPr>
            <p:ph type="title"/>
          </p:nvPr>
        </p:nvSpPr>
        <p:spPr/>
        <p:txBody>
          <a:bodyPr/>
          <a:lstStyle/>
          <a:p>
            <a:r>
              <a:rPr lang="en-US"/>
              <a:t>Click to edit Master title style</a:t>
            </a:r>
          </a:p>
        </p:txBody>
      </p:sp>
      <p:pic>
        <p:nvPicPr>
          <p:cNvPr id="15" name="Graphic 14">
            <a:extLst>
              <a:ext uri="{FF2B5EF4-FFF2-40B4-BE49-F238E27FC236}">
                <a16:creationId xmlns:a16="http://schemas.microsoft.com/office/drawing/2014/main" id="{B2A34330-BC4D-94AB-2A95-93170E54289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3207262"/>
            <a:ext cx="12436476" cy="3095623"/>
          </a:xfrm>
          <a:prstGeom prst="rect">
            <a:avLst/>
          </a:prstGeom>
        </p:spPr>
      </p:pic>
      <p:sp>
        <p:nvSpPr>
          <p:cNvPr id="7" name="Rectangle: Rounded Corners 6">
            <a:extLst>
              <a:ext uri="{FF2B5EF4-FFF2-40B4-BE49-F238E27FC236}">
                <a16:creationId xmlns:a16="http://schemas.microsoft.com/office/drawing/2014/main" id="{E8885716-8A7B-42A7-93E2-E8749AF5C6BC}"/>
              </a:ext>
            </a:extLst>
          </p:cNvPr>
          <p:cNvSpPr/>
          <p:nvPr userDrawn="1"/>
        </p:nvSpPr>
        <p:spPr bwMode="auto">
          <a:xfrm>
            <a:off x="6116130" y="1476375"/>
            <a:ext cx="5313870" cy="4333875"/>
          </a:xfrm>
          <a:prstGeom prst="roundRect">
            <a:avLst/>
          </a:prstGeom>
          <a:solidFill>
            <a:schemeClr val="bg1"/>
          </a:solidFill>
          <a:ln>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593095037"/>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arning Recap">
    <p:spTree>
      <p:nvGrpSpPr>
        <p:cNvPr id="1" name=""/>
        <p:cNvGrpSpPr/>
        <p:nvPr/>
      </p:nvGrpSpPr>
      <p:grpSpPr>
        <a:xfrm>
          <a:off x="0" y="0"/>
          <a:ext cx="0" cy="0"/>
          <a:chOff x="0" y="0"/>
          <a:chExt cx="0" cy="0"/>
        </a:xfrm>
      </p:grpSpPr>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51559"/>
            <a:ext cx="3183609" cy="4015292"/>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ctr" anchorCtr="0" forceAA="0" compatLnSpc="1">
            <a:prstTxWarp prst="textNoShape">
              <a:avLst/>
            </a:prstTxWarp>
            <a:noAutofit/>
          </a:bodyPr>
          <a:lstStyle/>
          <a:p>
            <a:pPr algn="ctr" defTabSz="951028" fontAlgn="base">
              <a:spcBef>
                <a:spcPct val="0"/>
              </a:spcBef>
              <a:spcAft>
                <a:spcPct val="0"/>
              </a:spcAft>
            </a:pPr>
            <a:endParaRPr lang="en-US" sz="2448">
              <a:solidFill>
                <a:schemeClr val="tx1"/>
              </a:solidFill>
              <a:ea typeface="Segoe UI" pitchFamily="34" charset="0"/>
              <a:cs typeface="Segoe UI" pitchFamily="34" charset="0"/>
            </a:endParaRPr>
          </a:p>
        </p:txBody>
      </p:sp>
      <p:grpSp>
        <p:nvGrpSpPr>
          <p:cNvPr id="3" name="Group 2">
            <a:extLst>
              <a:ext uri="{FF2B5EF4-FFF2-40B4-BE49-F238E27FC236}">
                <a16:creationId xmlns:a16="http://schemas.microsoft.com/office/drawing/2014/main" id="{C54C7EE8-4313-2803-B06C-A5BA61EA412A}"/>
              </a:ext>
              <a:ext uri="{C183D7F6-B498-43B3-948B-1728B52AA6E4}">
                <adec:decorative xmlns:adec="http://schemas.microsoft.com/office/drawing/2017/decorative" val="1"/>
              </a:ext>
            </a:extLst>
          </p:cNvPr>
          <p:cNvGrpSpPr/>
          <p:nvPr userDrawn="1"/>
        </p:nvGrpSpPr>
        <p:grpSpPr>
          <a:xfrm>
            <a:off x="2614984" y="1617484"/>
            <a:ext cx="1132870" cy="1132709"/>
            <a:chOff x="5540700" y="2116300"/>
            <a:chExt cx="1110600" cy="1110600"/>
          </a:xfrm>
        </p:grpSpPr>
        <p:sp>
          <p:nvSpPr>
            <p:cNvPr id="4" name="Oval 3">
              <a:extLst>
                <a:ext uri="{FF2B5EF4-FFF2-40B4-BE49-F238E27FC236}">
                  <a16:creationId xmlns:a16="http://schemas.microsoft.com/office/drawing/2014/main" id="{3F97E22B-DD1F-99A5-25F7-1E4F4F58DA7D}"/>
                </a:ext>
              </a:extLst>
            </p:cNvPr>
            <p:cNvSpPr/>
            <p:nvPr/>
          </p:nvSpPr>
          <p:spPr>
            <a:xfrm>
              <a:off x="5540700"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32597"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B1C046DA-F3B0-17BF-4867-63F317F8ACA9}"/>
                </a:ext>
              </a:extLst>
            </p:cNvPr>
            <p:cNvPicPr/>
            <p:nvPr/>
          </p:nvPicPr>
          <p:blipFill>
            <a:blip r:embed="rId2"/>
            <a:srcRect/>
            <a:stretch/>
          </p:blipFill>
          <p:spPr>
            <a:xfrm>
              <a:off x="5749602" y="2325202"/>
              <a:ext cx="692796" cy="692796"/>
            </a:xfrm>
            <a:prstGeom prst="rect">
              <a:avLst/>
            </a:prstGeom>
            <a:noFill/>
          </p:spPr>
        </p:pic>
      </p:grpSp>
      <p:sp>
        <p:nvSpPr>
          <p:cNvPr id="7" name="TextBox 6">
            <a:extLst>
              <a:ext uri="{FF2B5EF4-FFF2-40B4-BE49-F238E27FC236}">
                <a16:creationId xmlns:a16="http://schemas.microsoft.com/office/drawing/2014/main" id="{05350FFB-1FC5-59FA-F297-3FE6E8364735}"/>
              </a:ext>
            </a:extLst>
          </p:cNvPr>
          <p:cNvSpPr txBox="1"/>
          <p:nvPr userDrawn="1"/>
        </p:nvSpPr>
        <p:spPr>
          <a:xfrm>
            <a:off x="600058" y="2927690"/>
            <a:ext cx="2228017" cy="2366802"/>
          </a:xfrm>
          <a:prstGeom prst="rect">
            <a:avLst/>
          </a:prstGeom>
          <a:noFill/>
        </p:spPr>
        <p:txBody>
          <a:bodyPr wrap="square" lIns="182880" tIns="146304" rIns="182880" bIns="146304" rtlCol="0">
            <a:spAutoFit/>
          </a:bodyPr>
          <a:lstStyle/>
          <a:p>
            <a:pPr marL="0" marR="0" lvl="0" indent="0" algn="l" defTabSz="932742" rtl="0" eaLnBrk="1" fontAlgn="auto" latinLnBrk="0" hangingPunct="1">
              <a:lnSpc>
                <a:spcPct val="90000"/>
              </a:lnSpc>
              <a:spcBef>
                <a:spcPts val="0"/>
              </a:spcBef>
              <a:spcAft>
                <a:spcPts val="600"/>
              </a:spcAft>
              <a:buClrTx/>
              <a:buSzTx/>
              <a:buFontTx/>
              <a:buNone/>
              <a:tabLst/>
              <a:defRPr/>
            </a:pPr>
            <a:r>
              <a:rPr lang="en-US" sz="2400" kern="1200" spc="-50" baseline="0">
                <a:solidFill>
                  <a:srgbClr val="000000"/>
                </a:solidFill>
                <a:latin typeface="+mj-lt"/>
                <a:ea typeface="+mn-ea"/>
                <a:cs typeface="+mn-cs"/>
              </a:rPr>
              <a:t>Check your knowledge questions and additional study</a:t>
            </a:r>
          </a:p>
          <a:p>
            <a:pPr>
              <a:lnSpc>
                <a:spcPct val="90000"/>
              </a:lnSpc>
              <a:spcAft>
                <a:spcPts val="600"/>
              </a:spcAft>
            </a:pPr>
            <a:endParaRPr lang="en-US" sz="2400">
              <a:gradFill>
                <a:gsLst>
                  <a:gs pos="2917">
                    <a:schemeClr val="tx1"/>
                  </a:gs>
                  <a:gs pos="30000">
                    <a:schemeClr val="tx1"/>
                  </a:gs>
                </a:gsLst>
                <a:lin ang="5400000" scaled="0"/>
              </a:gradFill>
            </a:endParaRPr>
          </a:p>
        </p:txBody>
      </p:sp>
      <p:sp>
        <p:nvSpPr>
          <p:cNvPr id="5" name="Title 1">
            <a:extLst>
              <a:ext uri="{FF2B5EF4-FFF2-40B4-BE49-F238E27FC236}">
                <a16:creationId xmlns:a16="http://schemas.microsoft.com/office/drawing/2014/main" id="{DA9EEDEA-6687-D76A-D227-7C52A001F415}"/>
              </a:ext>
            </a:extLst>
          </p:cNvPr>
          <p:cNvSpPr>
            <a:spLocks noGrp="1"/>
          </p:cNvSpPr>
          <p:nvPr>
            <p:ph type="title"/>
          </p:nvPr>
        </p:nvSpPr>
        <p:spPr>
          <a:xfrm>
            <a:off x="427038" y="449263"/>
            <a:ext cx="11568684" cy="693737"/>
          </a:xfrm>
        </p:spPr>
        <p:txBody>
          <a:bodyPr/>
          <a:lstStyle/>
          <a:p>
            <a:r>
              <a:rPr lang="en-US"/>
              <a:t>Click to edit Master title style</a:t>
            </a:r>
          </a:p>
        </p:txBody>
      </p:sp>
      <p:sp>
        <p:nvSpPr>
          <p:cNvPr id="8" name="TextBox 7">
            <a:extLst>
              <a:ext uri="{FF2B5EF4-FFF2-40B4-BE49-F238E27FC236}">
                <a16:creationId xmlns:a16="http://schemas.microsoft.com/office/drawing/2014/main" id="{63B66344-C2C8-C24B-1E86-8E13C9701ED0}"/>
              </a:ext>
            </a:extLst>
          </p:cNvPr>
          <p:cNvSpPr txBox="1"/>
          <p:nvPr userDrawn="1"/>
        </p:nvSpPr>
        <p:spPr>
          <a:xfrm>
            <a:off x="3837843" y="1830545"/>
            <a:ext cx="6216160" cy="400110"/>
          </a:xfrm>
          <a:prstGeom prst="rect">
            <a:avLst/>
          </a:prstGeom>
          <a:noFill/>
        </p:spPr>
        <p:txBody>
          <a:bodyPr wrap="square">
            <a:spAutoFit/>
          </a:bodyPr>
          <a:lstStyle/>
          <a:p>
            <a:r>
              <a:rPr lang="en-US" sz="2000" b="1"/>
              <a:t>Reference modules</a:t>
            </a:r>
          </a:p>
        </p:txBody>
      </p:sp>
    </p:spTree>
    <p:extLst>
      <p:ext uri="{BB962C8B-B14F-4D97-AF65-F5344CB8AC3E}">
        <p14:creationId xmlns:p14="http://schemas.microsoft.com/office/powerpoint/2010/main" val="648954712"/>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emonstration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DA845-DD15-1C56-8B25-22EAA1B45A8A}"/>
              </a:ext>
            </a:extLst>
          </p:cNvPr>
          <p:cNvSpPr>
            <a:spLocks noGrp="1"/>
          </p:cNvSpPr>
          <p:nvPr>
            <p:ph type="title"/>
          </p:nvPr>
        </p:nvSpPr>
        <p:spPr/>
        <p:txBody>
          <a:bodyPr/>
          <a:lstStyle/>
          <a:p>
            <a:r>
              <a:rPr lang="en-US"/>
              <a:t>Click to edit Master title style</a:t>
            </a:r>
          </a:p>
        </p:txBody>
      </p:sp>
      <p:sp>
        <p:nvSpPr>
          <p:cNvPr id="4" name="Rounded Rectangle 3_1">
            <a:extLst>
              <a:ext uri="{FF2B5EF4-FFF2-40B4-BE49-F238E27FC236}">
                <a16:creationId xmlns:a16="http://schemas.microsoft.com/office/drawing/2014/main" id="{FC76C8DF-13B1-1B33-CBD3-D0B1496658D3}"/>
              </a:ext>
            </a:extLst>
          </p:cNvPr>
          <p:cNvSpPr/>
          <p:nvPr userDrawn="1"/>
        </p:nvSpPr>
        <p:spPr>
          <a:xfrm>
            <a:off x="521111" y="1292745"/>
            <a:ext cx="10387932" cy="4749970"/>
          </a:xfrm>
          <a:prstGeom prst="roundRect">
            <a:avLst>
              <a:gd name="adj" fmla="val 6113"/>
            </a:avLst>
          </a:prstGeom>
          <a:solidFill>
            <a:schemeClr val="bg1"/>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6" name="Oval 5">
            <a:extLst>
              <a:ext uri="{FF2B5EF4-FFF2-40B4-BE49-F238E27FC236}">
                <a16:creationId xmlns:a16="http://schemas.microsoft.com/office/drawing/2014/main" id="{C0B7F7B8-27DC-CB90-9841-2B0EB6BDC8A9}"/>
              </a:ext>
            </a:extLst>
          </p:cNvPr>
          <p:cNvSpPr/>
          <p:nvPr userDrawn="1"/>
        </p:nvSpPr>
        <p:spPr>
          <a:xfrm>
            <a:off x="10324155" y="1117294"/>
            <a:ext cx="1132870" cy="1132709"/>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32597"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a:ln>
                <a:noFill/>
              </a:ln>
              <a:solidFill>
                <a:srgbClr val="FFFFFF"/>
              </a:solidFill>
              <a:effectLst/>
              <a:uLnTx/>
              <a:uFillTx/>
              <a:latin typeface="Segoe UI"/>
              <a:ea typeface="+mn-ea"/>
              <a:cs typeface="+mn-cs"/>
            </a:endParaRPr>
          </a:p>
        </p:txBody>
      </p:sp>
      <p:pic>
        <p:nvPicPr>
          <p:cNvPr id="15" name="Graphic 14">
            <a:extLst>
              <a:ext uri="{FF2B5EF4-FFF2-40B4-BE49-F238E27FC236}">
                <a16:creationId xmlns:a16="http://schemas.microsoft.com/office/drawing/2014/main" id="{B2A34330-BC4D-94AB-2A95-93170E54289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3207262"/>
            <a:ext cx="12436476" cy="3095623"/>
          </a:xfrm>
          <a:prstGeom prst="rect">
            <a:avLst/>
          </a:prstGeom>
        </p:spPr>
      </p:pic>
      <p:pic>
        <p:nvPicPr>
          <p:cNvPr id="5" name="Graphic 4" descr="Beaker with solid fill">
            <a:extLst>
              <a:ext uri="{FF2B5EF4-FFF2-40B4-BE49-F238E27FC236}">
                <a16:creationId xmlns:a16="http://schemas.microsoft.com/office/drawing/2014/main" id="{0A4277E8-514E-E7C0-EEAE-4DBF838AD06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433390" y="1141729"/>
            <a:ext cx="914400" cy="914400"/>
          </a:xfrm>
          <a:prstGeom prst="rect">
            <a:avLst/>
          </a:prstGeom>
        </p:spPr>
      </p:pic>
    </p:spTree>
    <p:extLst>
      <p:ext uri="{BB962C8B-B14F-4D97-AF65-F5344CB8AC3E}">
        <p14:creationId xmlns:p14="http://schemas.microsoft.com/office/powerpoint/2010/main" val="283398033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Lab">
    <p:spTree>
      <p:nvGrpSpPr>
        <p:cNvPr id="1" name=""/>
        <p:cNvGrpSpPr/>
        <p:nvPr/>
      </p:nvGrpSpPr>
      <p:grpSpPr>
        <a:xfrm>
          <a:off x="0" y="0"/>
          <a:ext cx="0" cy="0"/>
          <a:chOff x="0" y="0"/>
          <a:chExt cx="0" cy="0"/>
        </a:xfrm>
      </p:grpSpPr>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51559"/>
            <a:ext cx="4282290" cy="4015292"/>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ctr" anchorCtr="0" forceAA="0" compatLnSpc="1">
            <a:prstTxWarp prst="textNoShape">
              <a:avLst/>
            </a:prstTxWarp>
            <a:noAutofit/>
          </a:bodyPr>
          <a:lstStyle/>
          <a:p>
            <a:pPr algn="ctr" defTabSz="951028" fontAlgn="base">
              <a:spcBef>
                <a:spcPct val="0"/>
              </a:spcBef>
              <a:spcAft>
                <a:spcPct val="0"/>
              </a:spcAft>
            </a:pPr>
            <a:endParaRPr lang="en-US" sz="2448">
              <a:solidFill>
                <a:schemeClr val="tx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600058" y="525428"/>
            <a:ext cx="11703601" cy="502246"/>
          </a:xfrm>
        </p:spPr>
        <p:txBody>
          <a:bodyPr/>
          <a:lstStyle>
            <a:lvl1pPr>
              <a:defRPr sz="3264" b="0" i="0">
                <a:solidFill>
                  <a:schemeClr val="tx1"/>
                </a:solidFill>
                <a:latin typeface="+mj-lt"/>
                <a:cs typeface="Segoe UI Semibold" panose="020B0502040204020203" pitchFamily="34" charset="0"/>
              </a:defRPr>
            </a:lvl1pPr>
          </a:lstStyle>
          <a:p>
            <a:r>
              <a:rPr lang="en-US"/>
              <a:t> </a:t>
            </a:r>
          </a:p>
        </p:txBody>
      </p:sp>
      <p:grpSp>
        <p:nvGrpSpPr>
          <p:cNvPr id="8" name="Group 7">
            <a:extLst>
              <a:ext uri="{FF2B5EF4-FFF2-40B4-BE49-F238E27FC236}">
                <a16:creationId xmlns:a16="http://schemas.microsoft.com/office/drawing/2014/main" id="{1682E78A-A36F-A9AB-B5BC-51FF48A0C477}"/>
              </a:ext>
              <a:ext uri="{C183D7F6-B498-43B3-948B-1728B52AA6E4}">
                <adec:decorative xmlns:adec="http://schemas.microsoft.com/office/drawing/2017/decorative" val="1"/>
              </a:ext>
            </a:extLst>
          </p:cNvPr>
          <p:cNvGrpSpPr/>
          <p:nvPr userDrawn="1"/>
        </p:nvGrpSpPr>
        <p:grpSpPr>
          <a:xfrm>
            <a:off x="3726989" y="1477271"/>
            <a:ext cx="1110600" cy="1110600"/>
            <a:chOff x="5540700" y="2116300"/>
            <a:chExt cx="1110600" cy="1110600"/>
          </a:xfrm>
        </p:grpSpPr>
        <p:sp>
          <p:nvSpPr>
            <p:cNvPr id="10" name="Oval 9">
              <a:extLst>
                <a:ext uri="{FF2B5EF4-FFF2-40B4-BE49-F238E27FC236}">
                  <a16:creationId xmlns:a16="http://schemas.microsoft.com/office/drawing/2014/main" id="{A006B05E-82F0-67C0-F4BE-484546169B05}"/>
                </a:ext>
              </a:extLst>
            </p:cNvPr>
            <p:cNvSpPr/>
            <p:nvPr/>
          </p:nvSpPr>
          <p:spPr>
            <a:xfrm>
              <a:off x="5540700" y="2116300"/>
              <a:ext cx="1110600" cy="1110600"/>
            </a:xfrm>
            <a:prstGeom prst="ellipse">
              <a:avLst/>
            </a:prstGeom>
            <a:solidFill>
              <a:srgbClr val="8D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11" name="Picture 33">
              <a:extLst>
                <a:ext uri="{FF2B5EF4-FFF2-40B4-BE49-F238E27FC236}">
                  <a16:creationId xmlns:a16="http://schemas.microsoft.com/office/drawing/2014/main" id="{B551F7BB-0B62-B45A-97E8-BDBC64276EB2}"/>
                </a:ext>
              </a:extLst>
            </p:cNvPr>
            <p:cNvPicPr/>
            <p:nvPr/>
          </p:nvPicPr>
          <p:blipFill>
            <a:blip r:embed="rId2">
              <a:extLst>
                <a:ext uri="{96DAC541-7B7A-43D3-8B79-37D633B846F1}">
                  <asvg:svgBlip xmlns:asvg="http://schemas.microsoft.com/office/drawing/2016/SVG/main" r:embed="rId3"/>
                </a:ext>
              </a:extLst>
            </a:blip>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45766203"/>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14D7AC5C-A0C4-4850-8CA1-CF211FDC36CF}"/>
              </a:ext>
            </a:extLst>
          </p:cNvPr>
          <p:cNvSpPr>
            <a:spLocks noGrp="1"/>
          </p:cNvSpPr>
          <p:nvPr>
            <p:ph type="body" sz="quarter" idx="10"/>
          </p:nvPr>
        </p:nvSpPr>
        <p:spPr>
          <a:xfrm>
            <a:off x="427504" y="1486338"/>
            <a:ext cx="11568513" cy="1446550"/>
          </a:xfrm>
          <a:prstGeom prst="rect">
            <a:avLst/>
          </a:prstGeo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1">
            <a:extLst>
              <a:ext uri="{FF2B5EF4-FFF2-40B4-BE49-F238E27FC236}">
                <a16:creationId xmlns:a16="http://schemas.microsoft.com/office/drawing/2014/main" id="{38846C7A-1465-453E-954F-398A9C851325}"/>
              </a:ext>
            </a:extLst>
          </p:cNvPr>
          <p:cNvSpPr txBox="1">
            <a:spLocks/>
          </p:cNvSpPr>
          <p:nvPr userDrawn="1"/>
        </p:nvSpPr>
        <p:spPr>
          <a:xfrm>
            <a:off x="4119583" y="6728855"/>
            <a:ext cx="4197310" cy="14406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918"/>
              <a:t>© Copyright Microsoft Corporation. All rights reserved.</a:t>
            </a:r>
          </a:p>
        </p:txBody>
      </p:sp>
    </p:spTree>
    <p:extLst>
      <p:ext uri="{BB962C8B-B14F-4D97-AF65-F5344CB8AC3E}">
        <p14:creationId xmlns:p14="http://schemas.microsoft.com/office/powerpoint/2010/main" val="1569980791"/>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Blank_with 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600058" y="596867"/>
            <a:ext cx="11232406" cy="38779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spTree>
    <p:extLst>
      <p:ext uri="{BB962C8B-B14F-4D97-AF65-F5344CB8AC3E}">
        <p14:creationId xmlns:p14="http://schemas.microsoft.com/office/powerpoint/2010/main" val="3311894635"/>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65138" y="567457"/>
            <a:ext cx="11530584" cy="830020"/>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4" name="Text Placeholder 3"/>
          <p:cNvSpPr>
            <a:spLocks noGrp="1"/>
          </p:cNvSpPr>
          <p:nvPr>
            <p:ph type="body" idx="1"/>
          </p:nvPr>
        </p:nvSpPr>
        <p:spPr>
          <a:xfrm>
            <a:off x="465138" y="1853742"/>
            <a:ext cx="11456988" cy="2062103"/>
          </a:xfrm>
          <a:prstGeom prst="rect">
            <a:avLst/>
          </a:prstGeom>
        </p:spPr>
        <p:txBody>
          <a:bodyPr vert="horz" wrap="square" lIns="0" tIns="91440" rIns="146304" bIns="91440" rtlCol="0">
            <a:spAutoFit/>
          </a:bodyPr>
          <a:lstStyle/>
          <a:p>
            <a:pPr lvl="1"/>
            <a:r>
              <a:rPr lang="en-US"/>
              <a:t>Large: subhead Segoe UI Regular 20/24</a:t>
            </a:r>
          </a:p>
          <a:p>
            <a:pPr lvl="1"/>
            <a:endParaRPr lang="en-US"/>
          </a:p>
          <a:p>
            <a:pPr lvl="2"/>
            <a:r>
              <a:rPr lang="en-US"/>
              <a:t>Medium: paragraph heading Segoe UI </a:t>
            </a:r>
            <a:r>
              <a:rPr lang="en-US" err="1"/>
              <a:t>Semibold</a:t>
            </a:r>
            <a:r>
              <a:rPr lang="en-US"/>
              <a:t> 14/18</a:t>
            </a:r>
          </a:p>
          <a:p>
            <a:pPr lvl="3"/>
            <a:r>
              <a:rPr lang="en-US"/>
              <a:t>Medium: paragraph body copy Segoe UI Regular 14/18</a:t>
            </a:r>
          </a:p>
          <a:p>
            <a:pPr lvl="3"/>
            <a:endParaRPr lang="en-US"/>
          </a:p>
          <a:p>
            <a:pPr lvl="4"/>
            <a:r>
              <a:rPr lang="en-US"/>
              <a:t>Small: caption heading Segoe UI Bold 10/12</a:t>
            </a:r>
          </a:p>
          <a:p>
            <a:pPr lvl="6"/>
            <a:r>
              <a:rPr lang="en-US"/>
              <a:t>Small: caption body copy Segoe UI Regular 10/12</a:t>
            </a:r>
          </a:p>
          <a:p>
            <a:pPr lvl="6"/>
            <a:endParaRPr lang="en-US"/>
          </a:p>
          <a:p>
            <a:pPr lvl="6"/>
            <a:endParaRPr lang="en-US"/>
          </a:p>
        </p:txBody>
      </p:sp>
      <p:sp>
        <p:nvSpPr>
          <p:cNvPr id="6" name="TextBox 5">
            <a:extLst>
              <a:ext uri="{FF2B5EF4-FFF2-40B4-BE49-F238E27FC236}">
                <a16:creationId xmlns:a16="http://schemas.microsoft.com/office/drawing/2014/main" id="{3DFC1871-CFCE-3B3A-64D9-F7F5A4441034}"/>
              </a:ext>
            </a:extLst>
          </p:cNvPr>
          <p:cNvSpPr txBox="1"/>
          <p:nvPr userDrawn="1"/>
        </p:nvSpPr>
        <p:spPr>
          <a:xfrm>
            <a:off x="465138" y="6267044"/>
            <a:ext cx="3794950" cy="447815"/>
          </a:xfrm>
          <a:prstGeom prst="rect">
            <a:avLst/>
          </a:prstGeom>
          <a:noFill/>
        </p:spPr>
        <p:txBody>
          <a:bodyPr wrap="none" lIns="182880" tIns="146304" rIns="182880" bIns="146304" rtlCol="0">
            <a:spAutoFit/>
          </a:bodyPr>
          <a:lstStyle/>
          <a:p>
            <a:pPr marL="0" marR="0" lvl="0" indent="0" algn="l" defTabSz="932742" rtl="0" eaLnBrk="1" fontAlgn="auto" latinLnBrk="0" hangingPunct="1">
              <a:lnSpc>
                <a:spcPct val="90000"/>
              </a:lnSpc>
              <a:spcBef>
                <a:spcPts val="0"/>
              </a:spcBef>
              <a:spcAft>
                <a:spcPts val="600"/>
              </a:spcAft>
              <a:buClrTx/>
              <a:buSzTx/>
              <a:buFontTx/>
              <a:buNone/>
              <a:tabLst/>
              <a:defRPr/>
            </a:pPr>
            <a:r>
              <a:rPr lang="en-US" sz="1100">
                <a:solidFill>
                  <a:srgbClr val="000000"/>
                </a:solidFill>
              </a:rPr>
              <a:t>© Copyright Microsoft Corporation. All rights reserved.</a:t>
            </a:r>
          </a:p>
        </p:txBody>
      </p:sp>
    </p:spTree>
    <p:extLst>
      <p:ext uri="{BB962C8B-B14F-4D97-AF65-F5344CB8AC3E}">
        <p14:creationId xmlns:p14="http://schemas.microsoft.com/office/powerpoint/2010/main" val="1762929650"/>
      </p:ext>
    </p:extLst>
  </p:cSld>
  <p:clrMap bg1="lt1" tx1="dk1" bg2="lt2" tx2="dk2" accent1="accent1" accent2="accent2" accent3="accent3" accent4="accent4" accent5="accent5" accent6="accent6" hlink="hlink" folHlink="folHlink"/>
  <p:sldLayoutIdLst>
    <p:sldLayoutId id="2147484640" r:id="rId1"/>
    <p:sldLayoutId id="2147484641" r:id="rId2"/>
    <p:sldLayoutId id="2147484642" r:id="rId3"/>
    <p:sldLayoutId id="2147484643" r:id="rId4"/>
    <p:sldLayoutId id="2147484644" r:id="rId5"/>
    <p:sldLayoutId id="2147484645" r:id="rId6"/>
    <p:sldLayoutId id="2147484646" r:id="rId7"/>
    <p:sldLayoutId id="2147484647" r:id="rId8"/>
    <p:sldLayoutId id="2147484652" r:id="rId9"/>
    <p:sldLayoutId id="2147484653" r:id="rId10"/>
    <p:sldLayoutId id="2147484654" r:id="rId11"/>
  </p:sldLayoutIdLst>
  <p:transition>
    <p:fade/>
  </p:transition>
  <p:hf hdr="0" dt="0"/>
  <p:txStyles>
    <p:titleStyle>
      <a:lvl1pPr algn="l" defTabSz="932742" rtl="0" eaLnBrk="1" latinLnBrk="0" hangingPunct="1">
        <a:lnSpc>
          <a:spcPct val="90000"/>
        </a:lnSpc>
        <a:spcBef>
          <a:spcPct val="0"/>
        </a:spcBef>
        <a:buNone/>
        <a:defRPr lang="en-US" sz="2800" b="0" kern="1200" cap="none" spc="-50" baseline="0" dirty="0" smtClean="0">
          <a:ln w="3175">
            <a:noFill/>
          </a:ln>
          <a:solidFill>
            <a:srgbClr val="000000"/>
          </a:solidFill>
          <a:effectLst/>
          <a:latin typeface="+mj-lt"/>
          <a:ea typeface="+mn-ea"/>
          <a:cs typeface="Segoe UI" pitchFamily="34" charset="0"/>
        </a:defRPr>
      </a:lvl1pPr>
    </p:titleStyle>
    <p:body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49">
          <p15:clr>
            <a:srgbClr val="C35EA4"/>
          </p15:clr>
        </p15:guide>
        <p15:guide id="32" pos="1528">
          <p15:clr>
            <a:srgbClr val="C35EA4"/>
          </p15:clr>
        </p15:guide>
        <p15:guide id="33" pos="2621">
          <p15:clr>
            <a:srgbClr val="C35EA4"/>
          </p15:clr>
        </p15:guide>
        <p15:guide id="34" pos="2765">
          <p15:clr>
            <a:srgbClr val="C35EA4"/>
          </p15:clr>
        </p15:guide>
        <p15:guide id="35" pos="3854">
          <p15:clr>
            <a:srgbClr val="C35EA4"/>
          </p15:clr>
        </p15:guide>
        <p15:guide id="36" pos="4003">
          <p15:clr>
            <a:srgbClr val="C35EA4"/>
          </p15:clr>
        </p15:guide>
        <p15:guide id="37" pos="5083">
          <p15:clr>
            <a:srgbClr val="C35EA4"/>
          </p15:clr>
        </p15:guide>
        <p15:guide id="38" pos="5230">
          <p15:clr>
            <a:srgbClr val="C35EA4"/>
          </p15:clr>
        </p15:guide>
        <p15:guide id="39" pos="6323">
          <p15:clr>
            <a:srgbClr val="C35EA4"/>
          </p15:clr>
        </p15:guide>
        <p15:guide id="40" pos="6469">
          <p15:clr>
            <a:srgbClr val="C35EA4"/>
          </p15:clr>
        </p15:guide>
        <p15:guide id="41" pos="269">
          <p15:clr>
            <a:srgbClr val="F26B43"/>
          </p15:clr>
        </p15:guide>
        <p15:guide id="42" pos="7565">
          <p15:clr>
            <a:srgbClr val="F26B43"/>
          </p15:clr>
        </p15:guide>
        <p15:guide id="43" orient="horz" pos="751">
          <p15:clr>
            <a:srgbClr val="5ACBF0"/>
          </p15:clr>
        </p15:guide>
        <p15:guide id="44" orient="horz" pos="1387">
          <p15:clr>
            <a:srgbClr val="5ACBF0"/>
          </p15:clr>
        </p15:guide>
        <p15:guide id="45" orient="horz" pos="605">
          <p15:clr>
            <a:srgbClr val="5ACBF0"/>
          </p15:clr>
        </p15:guide>
        <p15:guide id="46" orient="horz" pos="1514">
          <p15:clr>
            <a:srgbClr val="5ACBF0"/>
          </p15:clr>
        </p15:guide>
        <p15:guide id="47" orient="horz" pos="2130">
          <p15:clr>
            <a:srgbClr val="5ACBF0"/>
          </p15:clr>
        </p15:guide>
        <p15:guide id="48" orient="horz" pos="2299">
          <p15:clr>
            <a:srgbClr val="5ACBF0"/>
          </p15:clr>
        </p15:guide>
        <p15:guide id="49" orient="horz" pos="283">
          <p15:clr>
            <a:srgbClr val="F26B43"/>
          </p15:clr>
        </p15:guide>
        <p15:guide id="50" orient="horz" pos="4123">
          <p15:clr>
            <a:srgbClr val="F26B43"/>
          </p15:clr>
        </p15:guide>
        <p15:guide id="51" orient="horz" pos="2891">
          <p15:clr>
            <a:srgbClr val="5ACBF0"/>
          </p15:clr>
        </p15:guide>
        <p15:guide id="52" orient="horz" pos="3019">
          <p15:clr>
            <a:srgbClr val="5ACBF0"/>
          </p15:clr>
        </p15:guide>
        <p15:guide id="53" orient="horz" pos="3643">
          <p15:clr>
            <a:srgbClr val="5ACBF0"/>
          </p15:clr>
        </p15:guide>
        <p15:guide id="54" orient="horz" pos="3763">
          <p15:clr>
            <a:srgbClr val="5ACBF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1.emf"/><Relationship Id="rId7" Type="http://schemas.openxmlformats.org/officeDocument/2006/relationships/image" Target="../media/image15.emf"/><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17.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hyperlink" Target="https://learn.microsoft.com/training/modules/configure-app-service-plans/" TargetMode="External"/><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hyperlink" Target="https://learn.microsoft.com/training/modules/app-service-scale-up-scale-out/"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3.xml"/><Relationship Id="rId5" Type="http://schemas.openxmlformats.org/officeDocument/2006/relationships/image" Target="../media/image24.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hyperlink" Target="https://learn.microsoft.com/training/modules/host-a-web-app-with-azure-app-service/" TargetMode="External"/><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hyperlink" Target="https://learn.microsoft.com/training/modules/stage-deploy-app-service-deployment-slots/" TargetMode="External"/><Relationship Id="rId5" Type="http://schemas.openxmlformats.org/officeDocument/2006/relationships/hyperlink" Target="https://learn.microsoft.com/training/modules/understand-app-service-deployment-slots/" TargetMode="External"/><Relationship Id="rId4" Type="http://schemas.openxmlformats.org/officeDocument/2006/relationships/hyperlink" Target="https://learn.microsoft.com/training/modules/scale-apps-app-service/" TargetMode="Externa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3" Type="http://schemas.openxmlformats.org/officeDocument/2006/relationships/hyperlink" Target="https://learn.microsoft.com/training/modules/configure-azure-container-instances/" TargetMode="External"/><Relationship Id="rId2" Type="http://schemas.openxmlformats.org/officeDocument/2006/relationships/notesSlide" Target="../notesSlides/notesSlide33.xml"/><Relationship Id="rId1" Type="http://schemas.openxmlformats.org/officeDocument/2006/relationships/slideLayout" Target="../slideLayouts/slideLayout7.xml"/><Relationship Id="rId6" Type="http://schemas.openxmlformats.org/officeDocument/2006/relationships/hyperlink" Target="https://learn.microsoft.com/training/modules/implement-azure-container-apps/" TargetMode="External"/><Relationship Id="rId5" Type="http://schemas.openxmlformats.org/officeDocument/2006/relationships/hyperlink" Target="https://learn.microsoft.com/training/modules/run-docker-with-azure-container-instances/" TargetMode="External"/><Relationship Id="rId4" Type="http://schemas.openxmlformats.org/officeDocument/2006/relationships/hyperlink" Target="https://learn.microsoft.com/training/modules/intro-to-docker-containers/" TargetMode="Externa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svg"/><Relationship Id="rId3" Type="http://schemas.openxmlformats.org/officeDocument/2006/relationships/image" Target="../media/image16.png"/><Relationship Id="rId7" Type="http://schemas.openxmlformats.org/officeDocument/2006/relationships/image" Target="../media/image36.png"/><Relationship Id="rId12" Type="http://schemas.openxmlformats.org/officeDocument/2006/relationships/image" Target="../media/image41.png"/><Relationship Id="rId2" Type="http://schemas.openxmlformats.org/officeDocument/2006/relationships/notesSlide" Target="../notesSlides/notesSlide36.xml"/><Relationship Id="rId1" Type="http://schemas.openxmlformats.org/officeDocument/2006/relationships/slideLayout" Target="../slideLayouts/slideLayout3.xml"/><Relationship Id="rId6" Type="http://schemas.openxmlformats.org/officeDocument/2006/relationships/image" Target="../media/image35.svg"/><Relationship Id="rId11" Type="http://schemas.openxmlformats.org/officeDocument/2006/relationships/image" Target="../media/image40.svg"/><Relationship Id="rId5" Type="http://schemas.openxmlformats.org/officeDocument/2006/relationships/image" Target="../media/image34.png"/><Relationship Id="rId15" Type="http://schemas.openxmlformats.org/officeDocument/2006/relationships/image" Target="../media/image44.svg"/><Relationship Id="rId10" Type="http://schemas.openxmlformats.org/officeDocument/2006/relationships/image" Target="../media/image39.png"/><Relationship Id="rId4" Type="http://schemas.openxmlformats.org/officeDocument/2006/relationships/image" Target="../media/image17.svg"/><Relationship Id="rId9" Type="http://schemas.openxmlformats.org/officeDocument/2006/relationships/image" Target="../media/image38.svg"/><Relationship Id="rId14" Type="http://schemas.openxmlformats.org/officeDocument/2006/relationships/image" Target="../media/image43.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8.xml"/><Relationship Id="rId1" Type="http://schemas.openxmlformats.org/officeDocument/2006/relationships/slideLayout" Target="../slideLayouts/slideLayout3.xml"/><Relationship Id="rId5" Type="http://schemas.openxmlformats.org/officeDocument/2006/relationships/image" Target="../media/image47.png"/><Relationship Id="rId4" Type="http://schemas.openxmlformats.org/officeDocument/2006/relationships/image" Target="../media/image46.sv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3" Type="http://schemas.openxmlformats.org/officeDocument/2006/relationships/image" Target="../media/image47.png"/><Relationship Id="rId7" Type="http://schemas.openxmlformats.org/officeDocument/2006/relationships/image" Target="../media/image51.svg"/><Relationship Id="rId2" Type="http://schemas.openxmlformats.org/officeDocument/2006/relationships/notesSlide" Target="../notesSlides/notesSlide40.xml"/><Relationship Id="rId1" Type="http://schemas.openxmlformats.org/officeDocument/2006/relationships/slideLayout" Target="../slideLayouts/slideLayout3.xml"/><Relationship Id="rId6" Type="http://schemas.openxmlformats.org/officeDocument/2006/relationships/image" Target="../media/image50.png"/><Relationship Id="rId5" Type="http://schemas.openxmlformats.org/officeDocument/2006/relationships/image" Target="../media/image49.svg"/><Relationship Id="rId4" Type="http://schemas.openxmlformats.org/officeDocument/2006/relationships/image" Target="../media/image48.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2.xml"/><Relationship Id="rId1" Type="http://schemas.openxmlformats.org/officeDocument/2006/relationships/slideLayout" Target="../slideLayouts/slideLayout3.xml"/><Relationship Id="rId4" Type="http://schemas.openxmlformats.org/officeDocument/2006/relationships/image" Target="../media/image53.png"/></Relationships>
</file>

<file path=ppt/slides/_rels/slide4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5.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81026" y="3622675"/>
            <a:ext cx="4259916" cy="1130300"/>
          </a:xfrm>
        </p:spPr>
        <p:txBody>
          <a:bodyPr bIns="0" anchor="ctr">
            <a:noAutofit/>
          </a:bodyPr>
          <a:lstStyle/>
          <a:p>
            <a:r>
              <a:rPr lang="en-US"/>
              <a:t>AZ-104T00A</a:t>
            </a:r>
            <a:br>
              <a:rPr lang="en-US"/>
            </a:br>
            <a:r>
              <a:rPr lang="en-US"/>
              <a:t>Administer PaaS Compute Options</a:t>
            </a:r>
          </a:p>
        </p:txBody>
      </p:sp>
    </p:spTree>
    <p:extLst>
      <p:ext uri="{BB962C8B-B14F-4D97-AF65-F5344CB8AC3E}">
        <p14:creationId xmlns:p14="http://schemas.microsoft.com/office/powerpoint/2010/main" val="363585291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736BC-719D-45C5-872C-A705A220D04C}"/>
              </a:ext>
            </a:extLst>
          </p:cNvPr>
          <p:cNvSpPr>
            <a:spLocks noGrp="1"/>
          </p:cNvSpPr>
          <p:nvPr>
            <p:ph type="title"/>
          </p:nvPr>
        </p:nvSpPr>
        <p:spPr/>
        <p:txBody>
          <a:bodyPr/>
          <a:lstStyle/>
          <a:p>
            <a:pPr>
              <a:lnSpc>
                <a:spcPct val="100000"/>
              </a:lnSpc>
            </a:pPr>
            <a:r>
              <a:rPr lang="en-US" spc="0"/>
              <a:t>Administer PaaS Compute Options Introduction</a:t>
            </a:r>
          </a:p>
        </p:txBody>
      </p:sp>
      <p:sp>
        <p:nvSpPr>
          <p:cNvPr id="36" name="Rectangle 35">
            <a:extLst>
              <a:ext uri="{FF2B5EF4-FFF2-40B4-BE49-F238E27FC236}">
                <a16:creationId xmlns:a16="http://schemas.microsoft.com/office/drawing/2014/main" id="{E5E2A559-5126-49E9-895D-A84B498B7AEE}"/>
              </a:ext>
            </a:extLst>
          </p:cNvPr>
          <p:cNvSpPr/>
          <p:nvPr/>
        </p:nvSpPr>
        <p:spPr bwMode="auto">
          <a:xfrm>
            <a:off x="465138" y="1397477"/>
            <a:ext cx="7044709" cy="359041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342900" indent="-342900">
              <a:lnSpc>
                <a:spcPct val="150000"/>
              </a:lnSpc>
              <a:spcAft>
                <a:spcPts val="600"/>
              </a:spcAft>
              <a:buFont typeface="Arial" panose="020B0604020202020204" pitchFamily="34" charset="0"/>
              <a:buChar char="•"/>
            </a:pPr>
            <a:r>
              <a:rPr lang="en-US" sz="2200">
                <a:solidFill>
                  <a:schemeClr val="tx1"/>
                </a:solidFill>
              </a:rPr>
              <a:t>Configure Azure App Service Plans</a:t>
            </a:r>
          </a:p>
          <a:p>
            <a:pPr marL="342900" indent="-342900">
              <a:lnSpc>
                <a:spcPct val="150000"/>
              </a:lnSpc>
              <a:spcAft>
                <a:spcPts val="600"/>
              </a:spcAft>
              <a:buFont typeface="Arial" panose="020B0604020202020204" pitchFamily="34" charset="0"/>
              <a:buChar char="•"/>
            </a:pPr>
            <a:r>
              <a:rPr lang="en-US" sz="2200">
                <a:solidFill>
                  <a:schemeClr val="tx1"/>
                </a:solidFill>
              </a:rPr>
              <a:t>Configure Azure App Services</a:t>
            </a:r>
          </a:p>
          <a:p>
            <a:pPr marL="342900" indent="-342900">
              <a:lnSpc>
                <a:spcPct val="150000"/>
              </a:lnSpc>
              <a:spcAft>
                <a:spcPts val="600"/>
              </a:spcAft>
              <a:buFont typeface="Arial" panose="020B0604020202020204" pitchFamily="34" charset="0"/>
              <a:buChar char="•"/>
            </a:pPr>
            <a:r>
              <a:rPr lang="en-US" sz="2200">
                <a:solidFill>
                  <a:schemeClr val="tx1"/>
                </a:solidFill>
              </a:rPr>
              <a:t>Configure Azure Container Instances</a:t>
            </a:r>
          </a:p>
          <a:p>
            <a:pPr marL="342900" indent="-342900">
              <a:lnSpc>
                <a:spcPct val="150000"/>
              </a:lnSpc>
              <a:spcAft>
                <a:spcPts val="600"/>
              </a:spcAft>
              <a:buFont typeface="Arial" panose="020B0604020202020204" pitchFamily="34" charset="0"/>
              <a:buChar char="•"/>
            </a:pPr>
            <a:r>
              <a:rPr lang="en-US" sz="2200">
                <a:solidFill>
                  <a:schemeClr val="tx1"/>
                </a:solidFill>
              </a:rPr>
              <a:t>Lab 09a - Implement Web Apps</a:t>
            </a:r>
          </a:p>
          <a:p>
            <a:pPr marL="342900" indent="-342900">
              <a:lnSpc>
                <a:spcPct val="150000"/>
              </a:lnSpc>
              <a:spcAft>
                <a:spcPts val="600"/>
              </a:spcAft>
              <a:buFont typeface="Arial" panose="020B0604020202020204" pitchFamily="34" charset="0"/>
              <a:buChar char="•"/>
            </a:pPr>
            <a:r>
              <a:rPr lang="en-US" sz="2200">
                <a:solidFill>
                  <a:schemeClr val="tx1"/>
                </a:solidFill>
              </a:rPr>
              <a:t>Lab 09b - Implement Azure Container Instances</a:t>
            </a:r>
          </a:p>
          <a:p>
            <a:pPr marL="342900" indent="-342900">
              <a:lnSpc>
                <a:spcPct val="150000"/>
              </a:lnSpc>
              <a:spcAft>
                <a:spcPts val="600"/>
              </a:spcAft>
              <a:buFont typeface="Arial" panose="020B0604020202020204" pitchFamily="34" charset="0"/>
              <a:buChar char="•"/>
            </a:pPr>
            <a:r>
              <a:rPr lang="en-US" sz="2200">
                <a:solidFill>
                  <a:schemeClr val="tx1"/>
                </a:solidFill>
              </a:rPr>
              <a:t>Lab 09c – Implement Azure Container Apps</a:t>
            </a:r>
          </a:p>
          <a:p>
            <a:pPr marL="342900" indent="-342900">
              <a:lnSpc>
                <a:spcPct val="150000"/>
              </a:lnSpc>
              <a:spcAft>
                <a:spcPts val="600"/>
              </a:spcAft>
              <a:buFont typeface="Arial" panose="020B0604020202020204" pitchFamily="34" charset="0"/>
              <a:buChar char="•"/>
            </a:pPr>
            <a:endParaRPr lang="en-US" sz="2200">
              <a:solidFill>
                <a:schemeClr val="tx1"/>
              </a:solidFill>
            </a:endParaRPr>
          </a:p>
          <a:p>
            <a:pPr marL="342900" indent="-342900">
              <a:lnSpc>
                <a:spcPct val="150000"/>
              </a:lnSpc>
              <a:spcAft>
                <a:spcPts val="600"/>
              </a:spcAft>
              <a:buFont typeface="Arial" panose="020B0604020202020204" pitchFamily="34" charset="0"/>
              <a:buChar char="•"/>
            </a:pPr>
            <a:endParaRPr lang="en-US" sz="2200">
              <a:solidFill>
                <a:schemeClr val="tx1"/>
              </a:solidFill>
            </a:endParaRPr>
          </a:p>
          <a:p>
            <a:pPr marL="342900" indent="-342900">
              <a:lnSpc>
                <a:spcPct val="150000"/>
              </a:lnSpc>
              <a:spcAft>
                <a:spcPts val="600"/>
              </a:spcAft>
              <a:buFont typeface="Arial" panose="020B0604020202020204" pitchFamily="34" charset="0"/>
              <a:buChar char="•"/>
            </a:pPr>
            <a:endParaRPr lang="en-US" sz="2200">
              <a:solidFill>
                <a:schemeClr val="tx1"/>
              </a:solidFill>
            </a:endParaRPr>
          </a:p>
        </p:txBody>
      </p:sp>
    </p:spTree>
    <p:extLst>
      <p:ext uri="{BB962C8B-B14F-4D97-AF65-F5344CB8AC3E}">
        <p14:creationId xmlns:p14="http://schemas.microsoft.com/office/powerpoint/2010/main" val="3058943118"/>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261A9-F61B-1582-D1C4-F1B85DCA262C}"/>
              </a:ext>
            </a:extLst>
          </p:cNvPr>
          <p:cNvSpPr>
            <a:spLocks noGrp="1"/>
          </p:cNvSpPr>
          <p:nvPr>
            <p:ph type="title"/>
          </p:nvPr>
        </p:nvSpPr>
        <p:spPr/>
        <p:txBody>
          <a:bodyPr/>
          <a:lstStyle/>
          <a:p>
            <a:r>
              <a:rPr lang="en-US"/>
              <a:t>Administer PaaS Compute Options whiteboard</a:t>
            </a:r>
          </a:p>
        </p:txBody>
      </p:sp>
      <p:sp>
        <p:nvSpPr>
          <p:cNvPr id="7" name="Content Placeholder 6">
            <a:extLst>
              <a:ext uri="{FF2B5EF4-FFF2-40B4-BE49-F238E27FC236}">
                <a16:creationId xmlns:a16="http://schemas.microsoft.com/office/drawing/2014/main" id="{50575D32-F6E1-C6BD-6B86-6AB691647E91}"/>
              </a:ext>
            </a:extLst>
          </p:cNvPr>
          <p:cNvSpPr>
            <a:spLocks noGrp="1"/>
          </p:cNvSpPr>
          <p:nvPr>
            <p:ph sz="quarter" idx="4294967295"/>
          </p:nvPr>
        </p:nvSpPr>
        <p:spPr>
          <a:xfrm>
            <a:off x="474257" y="1518584"/>
            <a:ext cx="4830763" cy="3582988"/>
          </a:xfrm>
        </p:spPr>
        <p:txBody>
          <a:bodyPr/>
          <a:lstStyle/>
          <a:p>
            <a:pPr marL="349724" indent="-349724">
              <a:buFont typeface="Arial" panose="020B0604020202020204" pitchFamily="34" charset="0"/>
              <a:buChar char="•"/>
            </a:pPr>
            <a:r>
              <a:rPr lang="en-US">
                <a:latin typeface="Calibri" panose="020F0502020204030204" pitchFamily="34" charset="0"/>
                <a:ea typeface="Calibri" panose="020F0502020204030204" pitchFamily="34" charset="0"/>
                <a:cs typeface="Calibri" panose="020F0502020204030204" pitchFamily="34" charset="0"/>
              </a:rPr>
              <a:t>Describe the differences  between containers and virtual machines. </a:t>
            </a:r>
          </a:p>
          <a:p>
            <a:pPr marL="349724" indent="-349724">
              <a:buFont typeface="Arial" panose="020B0604020202020204" pitchFamily="34" charset="0"/>
              <a:buChar char="•"/>
            </a:pPr>
            <a:r>
              <a:rPr lang="en-US">
                <a:latin typeface="Calibri" panose="020F0502020204030204" pitchFamily="34" charset="0"/>
                <a:ea typeface="Calibri" panose="020F0502020204030204" pitchFamily="34" charset="0"/>
                <a:cs typeface="Calibri" panose="020F0502020204030204" pitchFamily="34" charset="0"/>
              </a:rPr>
              <a:t>What is an App Service plan? Things to consider when selecting?</a:t>
            </a:r>
          </a:p>
          <a:p>
            <a:pPr marL="349724" indent="-349724">
              <a:buFont typeface="Arial" panose="020B0604020202020204" pitchFamily="34" charset="0"/>
              <a:buChar char="•"/>
            </a:pPr>
            <a:r>
              <a:rPr lang="en-US">
                <a:latin typeface="Calibri" panose="020F0502020204030204" pitchFamily="34" charset="0"/>
                <a:ea typeface="Calibri" panose="020F0502020204030204" pitchFamily="34" charset="0"/>
                <a:cs typeface="Calibri" panose="020F0502020204030204" pitchFamily="34" charset="0"/>
              </a:rPr>
              <a:t>What are deployment slots? Usage cases for slots?</a:t>
            </a:r>
          </a:p>
          <a:p>
            <a:pPr marL="349724" indent="-349724">
              <a:buFont typeface="Arial" panose="020B0604020202020204" pitchFamily="34" charset="0"/>
              <a:buChar char="•"/>
            </a:pPr>
            <a:r>
              <a:rPr lang="en-US">
                <a:latin typeface="Calibri" panose="020F0502020204030204" pitchFamily="34" charset="0"/>
                <a:ea typeface="Calibri" panose="020F0502020204030204" pitchFamily="34" charset="0"/>
                <a:cs typeface="Calibri" panose="020F0502020204030204" pitchFamily="34" charset="0"/>
              </a:rPr>
              <a:t>List at least three admin tasks for web apps.</a:t>
            </a:r>
          </a:p>
        </p:txBody>
      </p:sp>
      <p:pic>
        <p:nvPicPr>
          <p:cNvPr id="12" name="Picture 11">
            <a:extLst>
              <a:ext uri="{FF2B5EF4-FFF2-40B4-BE49-F238E27FC236}">
                <a16:creationId xmlns:a16="http://schemas.microsoft.com/office/drawing/2014/main" id="{B69A4E7E-3E98-A3B5-3931-C6C220C35B4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203813" y="1441403"/>
            <a:ext cx="1647825" cy="722947"/>
          </a:xfrm>
          <a:prstGeom prst="rect">
            <a:avLst/>
          </a:prstGeom>
          <a:ln>
            <a:solidFill>
              <a:schemeClr val="tx1"/>
            </a:solidFill>
          </a:ln>
        </p:spPr>
      </p:pic>
      <p:pic>
        <p:nvPicPr>
          <p:cNvPr id="14" name="Picture 13">
            <a:extLst>
              <a:ext uri="{FF2B5EF4-FFF2-40B4-BE49-F238E27FC236}">
                <a16:creationId xmlns:a16="http://schemas.microsoft.com/office/drawing/2014/main" id="{3874CD2A-AAEF-AA81-703B-B276C7114B9C}"/>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203813" y="2335630"/>
            <a:ext cx="1676400" cy="722947"/>
          </a:xfrm>
          <a:prstGeom prst="rect">
            <a:avLst/>
          </a:prstGeom>
          <a:ln>
            <a:noFill/>
          </a:ln>
        </p:spPr>
      </p:pic>
      <p:pic>
        <p:nvPicPr>
          <p:cNvPr id="16" name="Picture 15">
            <a:extLst>
              <a:ext uri="{FF2B5EF4-FFF2-40B4-BE49-F238E27FC236}">
                <a16:creationId xmlns:a16="http://schemas.microsoft.com/office/drawing/2014/main" id="{63CC530A-691C-582C-B93C-6576CDF84AE0}"/>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10203813" y="3252718"/>
            <a:ext cx="1647825" cy="711993"/>
          </a:xfrm>
          <a:prstGeom prst="rect">
            <a:avLst/>
          </a:prstGeom>
          <a:ln>
            <a:solidFill>
              <a:schemeClr val="tx1"/>
            </a:solidFill>
          </a:ln>
        </p:spPr>
      </p:pic>
      <p:pic>
        <p:nvPicPr>
          <p:cNvPr id="22" name="Picture 21">
            <a:extLst>
              <a:ext uri="{FF2B5EF4-FFF2-40B4-BE49-F238E27FC236}">
                <a16:creationId xmlns:a16="http://schemas.microsoft.com/office/drawing/2014/main" id="{F877B9B0-0B27-CD7E-B979-05E98FFE039F}"/>
              </a:ex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10203813" y="4160279"/>
            <a:ext cx="1657350" cy="701039"/>
          </a:xfrm>
          <a:prstGeom prst="rect">
            <a:avLst/>
          </a:prstGeom>
          <a:ln>
            <a:solidFill>
              <a:schemeClr val="tx1"/>
            </a:solidFill>
          </a:ln>
        </p:spPr>
      </p:pic>
      <p:pic>
        <p:nvPicPr>
          <p:cNvPr id="28" name="Picture 27">
            <a:extLst>
              <a:ext uri="{FF2B5EF4-FFF2-40B4-BE49-F238E27FC236}">
                <a16:creationId xmlns:a16="http://schemas.microsoft.com/office/drawing/2014/main" id="{0187C44F-72ED-0A36-0645-AC228EE8271B}"/>
              </a:ex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10203813" y="5069748"/>
            <a:ext cx="1676400" cy="755808"/>
          </a:xfrm>
          <a:prstGeom prst="rect">
            <a:avLst/>
          </a:prstGeom>
        </p:spPr>
      </p:pic>
      <p:grpSp>
        <p:nvGrpSpPr>
          <p:cNvPr id="8" name="Group 7">
            <a:extLst>
              <a:ext uri="{FF2B5EF4-FFF2-40B4-BE49-F238E27FC236}">
                <a16:creationId xmlns:a16="http://schemas.microsoft.com/office/drawing/2014/main" id="{56A02F53-F7E2-3B29-EA5B-652B664B4FC6}"/>
              </a:ext>
              <a:ext uri="{C183D7F6-B498-43B3-948B-1728B52AA6E4}">
                <adec:decorative xmlns:adec="http://schemas.microsoft.com/office/drawing/2017/decorative" val="1"/>
              </a:ext>
            </a:extLst>
          </p:cNvPr>
          <p:cNvGrpSpPr/>
          <p:nvPr/>
        </p:nvGrpSpPr>
        <p:grpSpPr>
          <a:xfrm>
            <a:off x="6320244" y="1583292"/>
            <a:ext cx="3883569" cy="4035096"/>
            <a:chOff x="6320244" y="1583292"/>
            <a:chExt cx="3883569" cy="4035096"/>
          </a:xfrm>
        </p:grpSpPr>
        <p:grpSp>
          <p:nvGrpSpPr>
            <p:cNvPr id="6" name="Group 5">
              <a:extLst>
                <a:ext uri="{FF2B5EF4-FFF2-40B4-BE49-F238E27FC236}">
                  <a16:creationId xmlns:a16="http://schemas.microsoft.com/office/drawing/2014/main" id="{6DF6A6DC-CAAD-6C73-2055-4158F1A1AF48}"/>
                </a:ext>
                <a:ext uri="{C183D7F6-B498-43B3-948B-1728B52AA6E4}">
                  <adec:decorative xmlns:adec="http://schemas.microsoft.com/office/drawing/2017/decorative" val="1"/>
                </a:ext>
              </a:extLst>
            </p:cNvPr>
            <p:cNvGrpSpPr/>
            <p:nvPr/>
          </p:nvGrpSpPr>
          <p:grpSpPr>
            <a:xfrm>
              <a:off x="6320244" y="1583292"/>
              <a:ext cx="3883569" cy="4035096"/>
              <a:chOff x="6320244" y="1583292"/>
              <a:chExt cx="3883569" cy="4035096"/>
            </a:xfrm>
          </p:grpSpPr>
          <p:sp>
            <p:nvSpPr>
              <p:cNvPr id="29" name="Diamond 28">
                <a:extLst>
                  <a:ext uri="{FF2B5EF4-FFF2-40B4-BE49-F238E27FC236}">
                    <a16:creationId xmlns:a16="http://schemas.microsoft.com/office/drawing/2014/main" id="{FF32318F-ED0D-5BF9-4C29-8ED20F4DD748}"/>
                  </a:ext>
                </a:extLst>
              </p:cNvPr>
              <p:cNvSpPr/>
              <p:nvPr/>
            </p:nvSpPr>
            <p:spPr bwMode="auto">
              <a:xfrm>
                <a:off x="6327326" y="1583292"/>
                <a:ext cx="342900" cy="394335"/>
              </a:xfrm>
              <a:prstGeom prst="diamond">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0" name="Diamond 29">
                <a:extLst>
                  <a:ext uri="{FF2B5EF4-FFF2-40B4-BE49-F238E27FC236}">
                    <a16:creationId xmlns:a16="http://schemas.microsoft.com/office/drawing/2014/main" id="{1425950C-B334-BFAE-AA7F-8854004CC0D6}"/>
                  </a:ext>
                </a:extLst>
              </p:cNvPr>
              <p:cNvSpPr/>
              <p:nvPr/>
            </p:nvSpPr>
            <p:spPr bwMode="auto">
              <a:xfrm>
                <a:off x="6327050" y="2469116"/>
                <a:ext cx="342900" cy="394335"/>
              </a:xfrm>
              <a:prstGeom prst="diamond">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1" name="Diamond 30">
                <a:extLst>
                  <a:ext uri="{FF2B5EF4-FFF2-40B4-BE49-F238E27FC236}">
                    <a16:creationId xmlns:a16="http://schemas.microsoft.com/office/drawing/2014/main" id="{0FCF35E4-F3D6-EB4F-327F-9D29E590D94E}"/>
                  </a:ext>
                </a:extLst>
              </p:cNvPr>
              <p:cNvSpPr/>
              <p:nvPr/>
            </p:nvSpPr>
            <p:spPr bwMode="auto">
              <a:xfrm>
                <a:off x="6331950" y="3390967"/>
                <a:ext cx="342900" cy="394335"/>
              </a:xfrm>
              <a:prstGeom prst="diamond">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2" name="Diamond 31">
                <a:extLst>
                  <a:ext uri="{FF2B5EF4-FFF2-40B4-BE49-F238E27FC236}">
                    <a16:creationId xmlns:a16="http://schemas.microsoft.com/office/drawing/2014/main" id="{229BD9DB-ABA5-E0C3-97DF-D0CE90F9418D}"/>
                  </a:ext>
                </a:extLst>
              </p:cNvPr>
              <p:cNvSpPr/>
              <p:nvPr/>
            </p:nvSpPr>
            <p:spPr bwMode="auto">
              <a:xfrm>
                <a:off x="6320244" y="4291658"/>
                <a:ext cx="342900" cy="394335"/>
              </a:xfrm>
              <a:prstGeom prst="diamond">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3" name="Diamond 32">
                <a:extLst>
                  <a:ext uri="{FF2B5EF4-FFF2-40B4-BE49-F238E27FC236}">
                    <a16:creationId xmlns:a16="http://schemas.microsoft.com/office/drawing/2014/main" id="{F05FE1D3-020A-8699-7FE5-E2AC49085C8E}"/>
                  </a:ext>
                </a:extLst>
              </p:cNvPr>
              <p:cNvSpPr/>
              <p:nvPr/>
            </p:nvSpPr>
            <p:spPr bwMode="auto">
              <a:xfrm>
                <a:off x="6327050" y="5224053"/>
                <a:ext cx="342900" cy="394335"/>
              </a:xfrm>
              <a:prstGeom prst="diamond">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cxnSp>
            <p:nvCxnSpPr>
              <p:cNvPr id="35" name="Straight Arrow Connector 34">
                <a:extLst>
                  <a:ext uri="{FF2B5EF4-FFF2-40B4-BE49-F238E27FC236}">
                    <a16:creationId xmlns:a16="http://schemas.microsoft.com/office/drawing/2014/main" id="{D1D00277-F97B-3F83-6709-BEA061B2F817}"/>
                  </a:ext>
                </a:extLst>
              </p:cNvPr>
              <p:cNvCxnSpPr>
                <a:cxnSpLocks/>
                <a:stCxn id="29" idx="3"/>
                <a:endCxn id="12" idx="1"/>
              </p:cNvCxnSpPr>
              <p:nvPr/>
            </p:nvCxnSpPr>
            <p:spPr>
              <a:xfrm>
                <a:off x="6670226" y="1780460"/>
                <a:ext cx="3533587" cy="22417"/>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BFF372F8-5B84-22A8-02C4-5075A29E9594}"/>
                  </a:ext>
                </a:extLst>
              </p:cNvPr>
              <p:cNvCxnSpPr>
                <a:cxnSpLocks/>
                <a:stCxn id="30" idx="3"/>
                <a:endCxn id="14" idx="1"/>
              </p:cNvCxnSpPr>
              <p:nvPr/>
            </p:nvCxnSpPr>
            <p:spPr>
              <a:xfrm>
                <a:off x="6669950" y="2666284"/>
                <a:ext cx="3533863" cy="30820"/>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355F997C-1EA0-5ADA-9037-33B22C84DB62}"/>
                  </a:ext>
                </a:extLst>
              </p:cNvPr>
              <p:cNvCxnSpPr>
                <a:cxnSpLocks/>
                <a:stCxn id="31" idx="3"/>
                <a:endCxn id="16" idx="1"/>
              </p:cNvCxnSpPr>
              <p:nvPr/>
            </p:nvCxnSpPr>
            <p:spPr>
              <a:xfrm>
                <a:off x="6674850" y="3588135"/>
                <a:ext cx="3528963" cy="20580"/>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978FB06A-2BBF-8D70-9079-0F401954DBA9}"/>
                  </a:ext>
                </a:extLst>
              </p:cNvPr>
              <p:cNvCxnSpPr>
                <a:cxnSpLocks/>
                <a:stCxn id="32" idx="3"/>
                <a:endCxn id="22" idx="1"/>
              </p:cNvCxnSpPr>
              <p:nvPr/>
            </p:nvCxnSpPr>
            <p:spPr>
              <a:xfrm>
                <a:off x="6663144" y="4488826"/>
                <a:ext cx="3540669" cy="21973"/>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D139ADC1-9CA6-5CD2-8FC2-9B4380292592}"/>
                  </a:ext>
                </a:extLst>
              </p:cNvPr>
              <p:cNvCxnSpPr>
                <a:cxnSpLocks/>
                <a:stCxn id="33" idx="3"/>
                <a:endCxn id="28" idx="1"/>
              </p:cNvCxnSpPr>
              <p:nvPr/>
            </p:nvCxnSpPr>
            <p:spPr>
              <a:xfrm>
                <a:off x="6669950" y="5421221"/>
                <a:ext cx="3533863" cy="26431"/>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cxnSp>
          <p:nvCxnSpPr>
            <p:cNvPr id="48" name="Straight Arrow Connector 47">
              <a:extLst>
                <a:ext uri="{FF2B5EF4-FFF2-40B4-BE49-F238E27FC236}">
                  <a16:creationId xmlns:a16="http://schemas.microsoft.com/office/drawing/2014/main" id="{65BA12B2-45BB-A3DE-094F-498E470CA299}"/>
                </a:ext>
              </a:extLst>
            </p:cNvPr>
            <p:cNvCxnSpPr>
              <a:cxnSpLocks/>
              <a:stCxn id="29" idx="2"/>
              <a:endCxn id="30" idx="0"/>
            </p:cNvCxnSpPr>
            <p:nvPr/>
          </p:nvCxnSpPr>
          <p:spPr>
            <a:xfrm flipH="1">
              <a:off x="6498500" y="1977627"/>
              <a:ext cx="276" cy="491489"/>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B3962B21-E7BC-0264-ED0D-8211539E2A34}"/>
                </a:ext>
              </a:extLst>
            </p:cNvPr>
            <p:cNvCxnSpPr>
              <a:cxnSpLocks/>
              <a:stCxn id="30" idx="2"/>
              <a:endCxn id="31" idx="0"/>
            </p:cNvCxnSpPr>
            <p:nvPr/>
          </p:nvCxnSpPr>
          <p:spPr>
            <a:xfrm>
              <a:off x="6498500" y="2863451"/>
              <a:ext cx="4900" cy="527516"/>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E7738F47-4575-ED98-9391-317F5F774D65}"/>
                </a:ext>
              </a:extLst>
            </p:cNvPr>
            <p:cNvCxnSpPr>
              <a:cxnSpLocks/>
              <a:stCxn id="31" idx="2"/>
              <a:endCxn id="32" idx="0"/>
            </p:cNvCxnSpPr>
            <p:nvPr/>
          </p:nvCxnSpPr>
          <p:spPr>
            <a:xfrm flipH="1">
              <a:off x="6491694" y="3785302"/>
              <a:ext cx="11706" cy="506356"/>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ABAF322C-B2CD-910B-DF48-763B94DF565A}"/>
                </a:ext>
              </a:extLst>
            </p:cNvPr>
            <p:cNvCxnSpPr>
              <a:cxnSpLocks/>
              <a:stCxn id="32" idx="2"/>
              <a:endCxn id="33" idx="0"/>
            </p:cNvCxnSpPr>
            <p:nvPr/>
          </p:nvCxnSpPr>
          <p:spPr>
            <a:xfrm>
              <a:off x="6491694" y="4685993"/>
              <a:ext cx="6806" cy="538060"/>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sp>
        <p:nvSpPr>
          <p:cNvPr id="65" name="TextBox 64">
            <a:extLst>
              <a:ext uri="{FF2B5EF4-FFF2-40B4-BE49-F238E27FC236}">
                <a16:creationId xmlns:a16="http://schemas.microsoft.com/office/drawing/2014/main" id="{59F50206-376D-A74E-A377-52AA9954AA34}"/>
              </a:ext>
            </a:extLst>
          </p:cNvPr>
          <p:cNvSpPr txBox="1"/>
          <p:nvPr/>
        </p:nvSpPr>
        <p:spPr>
          <a:xfrm>
            <a:off x="6686867" y="1413545"/>
            <a:ext cx="2152016" cy="369332"/>
          </a:xfrm>
          <a:prstGeom prst="rect">
            <a:avLst/>
          </a:prstGeom>
          <a:noFill/>
        </p:spPr>
        <p:txBody>
          <a:bodyPr wrap="square">
            <a:spAutoFit/>
          </a:bodyPr>
          <a:lstStyle/>
          <a:p>
            <a:r>
              <a:rPr lang="en-US">
                <a:latin typeface="Calibri" panose="020F0502020204030204" pitchFamily="34" charset="0"/>
                <a:ea typeface="Calibri" panose="020F0502020204030204" pitchFamily="34" charset="0"/>
                <a:cs typeface="Calibri" panose="020F0502020204030204" pitchFamily="34" charset="0"/>
              </a:rPr>
              <a:t>Full control?</a:t>
            </a:r>
            <a:endParaRPr lang="en-US"/>
          </a:p>
        </p:txBody>
      </p:sp>
      <p:sp>
        <p:nvSpPr>
          <p:cNvPr id="66" name="TextBox 65">
            <a:extLst>
              <a:ext uri="{FF2B5EF4-FFF2-40B4-BE49-F238E27FC236}">
                <a16:creationId xmlns:a16="http://schemas.microsoft.com/office/drawing/2014/main" id="{2CBF127E-F059-E65C-BE21-F0F4CC3A250F}"/>
              </a:ext>
            </a:extLst>
          </p:cNvPr>
          <p:cNvSpPr txBox="1"/>
          <p:nvPr/>
        </p:nvSpPr>
        <p:spPr>
          <a:xfrm>
            <a:off x="6639058" y="2275878"/>
            <a:ext cx="3389203" cy="369332"/>
          </a:xfrm>
          <a:prstGeom prst="rect">
            <a:avLst/>
          </a:prstGeom>
          <a:noFill/>
        </p:spPr>
        <p:txBody>
          <a:bodyPr wrap="square">
            <a:spAutoFit/>
          </a:bodyPr>
          <a:lstStyle/>
          <a:p>
            <a:r>
              <a:rPr lang="en-US">
                <a:latin typeface="Calibri" panose="020F0502020204030204" pitchFamily="34" charset="0"/>
                <a:ea typeface="Calibri" panose="020F0502020204030204" pitchFamily="34" charset="0"/>
                <a:cs typeface="Calibri" panose="020F0502020204030204" pitchFamily="34" charset="0"/>
              </a:rPr>
              <a:t>Web apps, mobile app back ends?</a:t>
            </a:r>
            <a:endParaRPr lang="en-US"/>
          </a:p>
        </p:txBody>
      </p:sp>
      <p:sp>
        <p:nvSpPr>
          <p:cNvPr id="79" name="TextBox 78">
            <a:extLst>
              <a:ext uri="{FF2B5EF4-FFF2-40B4-BE49-F238E27FC236}">
                <a16:creationId xmlns:a16="http://schemas.microsoft.com/office/drawing/2014/main" id="{A004CE2E-D049-04DB-E31E-7AB59CFA3A5F}"/>
              </a:ext>
            </a:extLst>
          </p:cNvPr>
          <p:cNvSpPr txBox="1"/>
          <p:nvPr/>
        </p:nvSpPr>
        <p:spPr>
          <a:xfrm>
            <a:off x="6635299" y="3191998"/>
            <a:ext cx="3389203" cy="369332"/>
          </a:xfrm>
          <a:prstGeom prst="rect">
            <a:avLst/>
          </a:prstGeom>
          <a:noFill/>
        </p:spPr>
        <p:txBody>
          <a:bodyPr wrap="square">
            <a:spAutoFit/>
          </a:bodyPr>
          <a:lstStyle/>
          <a:p>
            <a:r>
              <a:rPr lang="en-US">
                <a:latin typeface="Calibri" panose="020F0502020204030204" pitchFamily="34" charset="0"/>
                <a:ea typeface="Calibri" panose="020F0502020204030204" pitchFamily="34" charset="0"/>
                <a:cs typeface="Calibri" panose="020F0502020204030204" pitchFamily="34" charset="0"/>
              </a:rPr>
              <a:t>Container solutions?</a:t>
            </a:r>
            <a:endParaRPr lang="en-US"/>
          </a:p>
        </p:txBody>
      </p:sp>
      <p:sp>
        <p:nvSpPr>
          <p:cNvPr id="80" name="TextBox 79">
            <a:extLst>
              <a:ext uri="{FF2B5EF4-FFF2-40B4-BE49-F238E27FC236}">
                <a16:creationId xmlns:a16="http://schemas.microsoft.com/office/drawing/2014/main" id="{A02782E6-36EB-EF22-A6AF-EDF59EBFDD08}"/>
              </a:ext>
            </a:extLst>
          </p:cNvPr>
          <p:cNvSpPr txBox="1"/>
          <p:nvPr/>
        </p:nvSpPr>
        <p:spPr>
          <a:xfrm>
            <a:off x="6649965" y="4099492"/>
            <a:ext cx="3523414" cy="369332"/>
          </a:xfrm>
          <a:prstGeom prst="rect">
            <a:avLst/>
          </a:prstGeom>
          <a:noFill/>
        </p:spPr>
        <p:txBody>
          <a:bodyPr wrap="square">
            <a:spAutoFit/>
          </a:bodyPr>
          <a:lstStyle/>
          <a:p>
            <a:r>
              <a:rPr lang="en-US">
                <a:latin typeface="Calibri" panose="020F0502020204030204" pitchFamily="34" charset="0"/>
                <a:ea typeface="Calibri" panose="020F0502020204030204" pitchFamily="34" charset="0"/>
                <a:cs typeface="Calibri" panose="020F0502020204030204" pitchFamily="34" charset="0"/>
              </a:rPr>
              <a:t>Simplified container orchestration?</a:t>
            </a:r>
            <a:endParaRPr lang="en-US"/>
          </a:p>
        </p:txBody>
      </p:sp>
      <p:sp>
        <p:nvSpPr>
          <p:cNvPr id="81" name="TextBox 80">
            <a:extLst>
              <a:ext uri="{FF2B5EF4-FFF2-40B4-BE49-F238E27FC236}">
                <a16:creationId xmlns:a16="http://schemas.microsoft.com/office/drawing/2014/main" id="{426D51EF-50CB-D1E6-F1AF-7388D3FF7D63}"/>
              </a:ext>
            </a:extLst>
          </p:cNvPr>
          <p:cNvSpPr txBox="1"/>
          <p:nvPr/>
        </p:nvSpPr>
        <p:spPr>
          <a:xfrm>
            <a:off x="6635299" y="5043317"/>
            <a:ext cx="3538080" cy="369332"/>
          </a:xfrm>
          <a:prstGeom prst="rect">
            <a:avLst/>
          </a:prstGeom>
          <a:noFill/>
        </p:spPr>
        <p:txBody>
          <a:bodyPr wrap="square">
            <a:spAutoFit/>
          </a:bodyPr>
          <a:lstStyle/>
          <a:p>
            <a:r>
              <a:rPr lang="en-US">
                <a:latin typeface="Calibri" panose="020F0502020204030204" pitchFamily="34" charset="0"/>
                <a:ea typeface="Calibri" panose="020F0502020204030204" pitchFamily="34" charset="0"/>
                <a:cs typeface="Calibri" panose="020F0502020204030204" pitchFamily="34" charset="0"/>
              </a:rPr>
              <a:t>Advanced container orchestration?</a:t>
            </a:r>
            <a:endParaRPr lang="en-US"/>
          </a:p>
        </p:txBody>
      </p:sp>
      <p:sp>
        <p:nvSpPr>
          <p:cNvPr id="88" name="TextBox 87">
            <a:extLst>
              <a:ext uri="{FF2B5EF4-FFF2-40B4-BE49-F238E27FC236}">
                <a16:creationId xmlns:a16="http://schemas.microsoft.com/office/drawing/2014/main" id="{59058A38-5E8D-33BD-9785-845ABC2F1370}"/>
              </a:ext>
              <a:ext uri="{C183D7F6-B498-43B3-948B-1728B52AA6E4}">
                <adec:decorative xmlns:adec="http://schemas.microsoft.com/office/drawing/2017/decorative" val="1"/>
              </a:ext>
            </a:extLst>
          </p:cNvPr>
          <p:cNvSpPr txBox="1"/>
          <p:nvPr/>
        </p:nvSpPr>
        <p:spPr>
          <a:xfrm>
            <a:off x="5975828" y="1985142"/>
            <a:ext cx="642937" cy="369332"/>
          </a:xfrm>
          <a:prstGeom prst="rect">
            <a:avLst/>
          </a:prstGeom>
          <a:noFill/>
        </p:spPr>
        <p:txBody>
          <a:bodyPr wrap="square">
            <a:spAutoFit/>
          </a:bodyPr>
          <a:lstStyle/>
          <a:p>
            <a:r>
              <a:rPr lang="en-US">
                <a:latin typeface="Calibri" panose="020F0502020204030204" pitchFamily="34" charset="0"/>
                <a:ea typeface="Calibri" panose="020F0502020204030204" pitchFamily="34" charset="0"/>
                <a:cs typeface="Calibri" panose="020F0502020204030204" pitchFamily="34" charset="0"/>
              </a:rPr>
              <a:t>No</a:t>
            </a:r>
            <a:endParaRPr lang="en-US"/>
          </a:p>
        </p:txBody>
      </p:sp>
      <p:sp>
        <p:nvSpPr>
          <p:cNvPr id="3" name="TextBox 2">
            <a:extLst>
              <a:ext uri="{FF2B5EF4-FFF2-40B4-BE49-F238E27FC236}">
                <a16:creationId xmlns:a16="http://schemas.microsoft.com/office/drawing/2014/main" id="{C42E5066-77E9-6943-C867-C8A07138D1EC}"/>
              </a:ext>
              <a:ext uri="{C183D7F6-B498-43B3-948B-1728B52AA6E4}">
                <adec:decorative xmlns:adec="http://schemas.microsoft.com/office/drawing/2017/decorative" val="1"/>
              </a:ext>
            </a:extLst>
          </p:cNvPr>
          <p:cNvSpPr txBox="1"/>
          <p:nvPr/>
        </p:nvSpPr>
        <p:spPr>
          <a:xfrm>
            <a:off x="5975828" y="2892111"/>
            <a:ext cx="642937" cy="369332"/>
          </a:xfrm>
          <a:prstGeom prst="rect">
            <a:avLst/>
          </a:prstGeom>
          <a:noFill/>
        </p:spPr>
        <p:txBody>
          <a:bodyPr wrap="square">
            <a:spAutoFit/>
          </a:bodyPr>
          <a:lstStyle/>
          <a:p>
            <a:r>
              <a:rPr lang="en-US">
                <a:latin typeface="Calibri" panose="020F0502020204030204" pitchFamily="34" charset="0"/>
                <a:ea typeface="Calibri" panose="020F0502020204030204" pitchFamily="34" charset="0"/>
                <a:cs typeface="Calibri" panose="020F0502020204030204" pitchFamily="34" charset="0"/>
              </a:rPr>
              <a:t>No</a:t>
            </a:r>
            <a:endParaRPr lang="en-US"/>
          </a:p>
        </p:txBody>
      </p:sp>
      <p:sp>
        <p:nvSpPr>
          <p:cNvPr id="4" name="TextBox 3">
            <a:extLst>
              <a:ext uri="{FF2B5EF4-FFF2-40B4-BE49-F238E27FC236}">
                <a16:creationId xmlns:a16="http://schemas.microsoft.com/office/drawing/2014/main" id="{B7A814D6-E073-DE6A-9EC2-606ACB7B7AE1}"/>
              </a:ext>
              <a:ext uri="{C183D7F6-B498-43B3-948B-1728B52AA6E4}">
                <adec:decorative xmlns:adec="http://schemas.microsoft.com/office/drawing/2017/decorative" val="1"/>
              </a:ext>
            </a:extLst>
          </p:cNvPr>
          <p:cNvSpPr txBox="1"/>
          <p:nvPr/>
        </p:nvSpPr>
        <p:spPr>
          <a:xfrm>
            <a:off x="5990049" y="3868423"/>
            <a:ext cx="642937" cy="369332"/>
          </a:xfrm>
          <a:prstGeom prst="rect">
            <a:avLst/>
          </a:prstGeom>
          <a:noFill/>
        </p:spPr>
        <p:txBody>
          <a:bodyPr wrap="square">
            <a:spAutoFit/>
          </a:bodyPr>
          <a:lstStyle/>
          <a:p>
            <a:r>
              <a:rPr lang="en-US">
                <a:latin typeface="Calibri" panose="020F0502020204030204" pitchFamily="34" charset="0"/>
                <a:ea typeface="Calibri" panose="020F0502020204030204" pitchFamily="34" charset="0"/>
                <a:cs typeface="Calibri" panose="020F0502020204030204" pitchFamily="34" charset="0"/>
              </a:rPr>
              <a:t>No</a:t>
            </a:r>
            <a:endParaRPr lang="en-US"/>
          </a:p>
        </p:txBody>
      </p:sp>
      <p:sp>
        <p:nvSpPr>
          <p:cNvPr id="5" name="TextBox 4">
            <a:extLst>
              <a:ext uri="{FF2B5EF4-FFF2-40B4-BE49-F238E27FC236}">
                <a16:creationId xmlns:a16="http://schemas.microsoft.com/office/drawing/2014/main" id="{BF86EF6D-8A37-5853-8FD9-1794619BBFEC}"/>
              </a:ext>
              <a:ext uri="{C183D7F6-B498-43B3-948B-1728B52AA6E4}">
                <adec:decorative xmlns:adec="http://schemas.microsoft.com/office/drawing/2017/decorative" val="1"/>
              </a:ext>
            </a:extLst>
          </p:cNvPr>
          <p:cNvSpPr txBox="1"/>
          <p:nvPr/>
        </p:nvSpPr>
        <p:spPr>
          <a:xfrm>
            <a:off x="5990049" y="4775392"/>
            <a:ext cx="642937" cy="369332"/>
          </a:xfrm>
          <a:prstGeom prst="rect">
            <a:avLst/>
          </a:prstGeom>
          <a:noFill/>
        </p:spPr>
        <p:txBody>
          <a:bodyPr wrap="square">
            <a:spAutoFit/>
          </a:bodyPr>
          <a:lstStyle/>
          <a:p>
            <a:r>
              <a:rPr lang="en-US">
                <a:latin typeface="Calibri" panose="020F0502020204030204" pitchFamily="34" charset="0"/>
                <a:ea typeface="Calibri" panose="020F0502020204030204" pitchFamily="34" charset="0"/>
                <a:cs typeface="Calibri" panose="020F0502020204030204" pitchFamily="34" charset="0"/>
              </a:rPr>
              <a:t>No</a:t>
            </a:r>
            <a:endParaRPr lang="en-US"/>
          </a:p>
        </p:txBody>
      </p:sp>
    </p:spTree>
    <p:extLst>
      <p:ext uri="{BB962C8B-B14F-4D97-AF65-F5344CB8AC3E}">
        <p14:creationId xmlns:p14="http://schemas.microsoft.com/office/powerpoint/2010/main" val="2321695913"/>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D8665D-5A50-4F07-9D33-48CCD3FD74C7}"/>
              </a:ext>
            </a:extLst>
          </p:cNvPr>
          <p:cNvSpPr>
            <a:spLocks noGrp="1"/>
          </p:cNvSpPr>
          <p:nvPr>
            <p:ph type="title"/>
          </p:nvPr>
        </p:nvSpPr>
        <p:spPr/>
        <p:txBody>
          <a:bodyPr/>
          <a:lstStyle/>
          <a:p>
            <a:pPr>
              <a:lnSpc>
                <a:spcPct val="100000"/>
              </a:lnSpc>
            </a:pPr>
            <a:r>
              <a:rPr lang="en-US" sz="3200" spc="0"/>
              <a:t>Configure Azure App Service Plans</a:t>
            </a:r>
          </a:p>
        </p:txBody>
      </p:sp>
    </p:spTree>
    <p:extLst>
      <p:ext uri="{BB962C8B-B14F-4D97-AF65-F5344CB8AC3E}">
        <p14:creationId xmlns:p14="http://schemas.microsoft.com/office/powerpoint/2010/main" val="374676602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pPr>
              <a:lnSpc>
                <a:spcPct val="100000"/>
              </a:lnSpc>
            </a:pPr>
            <a:r>
              <a:rPr lang="en-US" sz="2800" spc="0"/>
              <a:t>Learning Objectives - Configure </a:t>
            </a:r>
            <a:r>
              <a:rPr lang="en-US" spc="0"/>
              <a:t>Azure App Service Plans </a:t>
            </a:r>
          </a:p>
        </p:txBody>
      </p:sp>
      <p:sp>
        <p:nvSpPr>
          <p:cNvPr id="34" name="Rectangle 33" descr="Icon of a document with a checkmark">
            <a:extLst>
              <a:ext uri="{FF2B5EF4-FFF2-40B4-BE49-F238E27FC236}">
                <a16:creationId xmlns:a16="http://schemas.microsoft.com/office/drawing/2014/main" id="{9D31645C-F97F-4C81-8AEA-109FEFAF0678}"/>
              </a:ext>
            </a:extLst>
          </p:cNvPr>
          <p:cNvSpPr/>
          <p:nvPr/>
        </p:nvSpPr>
        <p:spPr>
          <a:xfrm>
            <a:off x="465138" y="1535186"/>
            <a:ext cx="5406682" cy="3924151"/>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t" anchorCtr="0">
            <a:noAutofit/>
          </a:bodyPr>
          <a:lstStyle/>
          <a:p>
            <a:pPr marL="342900" indent="-342900">
              <a:spcAft>
                <a:spcPts val="600"/>
              </a:spcAft>
              <a:buFont typeface="Arial" panose="020B0604020202020204" pitchFamily="34" charset="0"/>
              <a:buChar char="•"/>
            </a:pPr>
            <a:r>
              <a:rPr lang="en-US" sz="2000">
                <a:solidFill>
                  <a:schemeClr val="tx1"/>
                </a:solidFill>
                <a:cs typeface="Segoe UI Semilight"/>
              </a:rPr>
              <a:t>Implement Azure App Service Plans</a:t>
            </a:r>
          </a:p>
          <a:p>
            <a:pPr marL="342900" indent="-342900">
              <a:spcAft>
                <a:spcPts val="600"/>
              </a:spcAft>
              <a:buFont typeface="Arial" panose="020B0604020202020204" pitchFamily="34" charset="0"/>
              <a:buChar char="•"/>
            </a:pPr>
            <a:r>
              <a:rPr lang="en-US" sz="2000">
                <a:solidFill>
                  <a:schemeClr val="tx1"/>
                </a:solidFill>
                <a:cs typeface="Segoe UI Semilight"/>
              </a:rPr>
              <a:t>Determine App Service Plan Pricing</a:t>
            </a:r>
          </a:p>
          <a:p>
            <a:pPr marL="342900" indent="-342900">
              <a:spcAft>
                <a:spcPts val="600"/>
              </a:spcAft>
              <a:buFont typeface="Arial" panose="020B0604020202020204" pitchFamily="34" charset="0"/>
              <a:buChar char="•"/>
            </a:pPr>
            <a:r>
              <a:rPr lang="en-US" sz="2000">
                <a:solidFill>
                  <a:schemeClr val="tx1"/>
                </a:solidFill>
                <a:cs typeface="Segoe UI Semilight"/>
              </a:rPr>
              <a:t>Scale Up and Scale Out the App Service Plan</a:t>
            </a:r>
          </a:p>
          <a:p>
            <a:pPr marL="342900" indent="-342900">
              <a:spcAft>
                <a:spcPts val="600"/>
              </a:spcAft>
              <a:buFont typeface="Arial" panose="020B0604020202020204" pitchFamily="34" charset="0"/>
              <a:buChar char="•"/>
            </a:pPr>
            <a:r>
              <a:rPr lang="en-US" sz="2000">
                <a:solidFill>
                  <a:schemeClr val="tx1"/>
                </a:solidFill>
                <a:cs typeface="Segoe UI Semilight"/>
              </a:rPr>
              <a:t>Configure App Service Plan Scaling</a:t>
            </a:r>
          </a:p>
          <a:p>
            <a:pPr marL="342900" indent="-342900">
              <a:spcAft>
                <a:spcPts val="600"/>
              </a:spcAft>
              <a:buFont typeface="Arial" panose="020B0604020202020204" pitchFamily="34" charset="0"/>
              <a:buChar char="•"/>
            </a:pPr>
            <a:r>
              <a:rPr lang="en-US" sz="2000">
                <a:solidFill>
                  <a:schemeClr val="tx1"/>
                </a:solidFill>
                <a:cs typeface="Segoe UI Semilight"/>
              </a:rPr>
              <a:t>Demonstration – Configure Azure App Service Plans</a:t>
            </a:r>
          </a:p>
          <a:p>
            <a:pPr marL="342900" indent="-342900">
              <a:spcAft>
                <a:spcPts val="600"/>
              </a:spcAft>
              <a:buFont typeface="Arial" panose="020B0604020202020204" pitchFamily="34" charset="0"/>
              <a:buChar char="•"/>
            </a:pPr>
            <a:r>
              <a:rPr lang="en-US" sz="2000">
                <a:solidFill>
                  <a:schemeClr val="tx1"/>
                </a:solidFill>
                <a:cs typeface="Segoe UI Semilight"/>
              </a:rPr>
              <a:t>Learning Recap</a:t>
            </a:r>
          </a:p>
          <a:p>
            <a:pPr marL="342900" indent="-342900">
              <a:spcAft>
                <a:spcPts val="600"/>
              </a:spcAft>
              <a:buFont typeface="Arial" panose="020B0604020202020204" pitchFamily="34" charset="0"/>
              <a:buChar char="•"/>
            </a:pPr>
            <a:endParaRPr lang="en-US" sz="2000">
              <a:solidFill>
                <a:schemeClr val="tx1"/>
              </a:solidFill>
              <a:cs typeface="Segoe UI Semilight"/>
            </a:endParaRPr>
          </a:p>
          <a:p>
            <a:pPr marL="342900" indent="-342900">
              <a:spcAft>
                <a:spcPts val="600"/>
              </a:spcAft>
              <a:buFont typeface="Arial" panose="020B0604020202020204" pitchFamily="34" charset="0"/>
              <a:buChar char="•"/>
            </a:pPr>
            <a:endParaRPr lang="en-US" sz="2000">
              <a:solidFill>
                <a:schemeClr val="tx1"/>
              </a:solidFill>
              <a:cs typeface="Segoe UI Semilight"/>
            </a:endParaRPr>
          </a:p>
          <a:p>
            <a:pPr marL="342900" indent="-342900">
              <a:spcAft>
                <a:spcPts val="600"/>
              </a:spcAft>
              <a:buFont typeface="Arial" panose="020B0604020202020204" pitchFamily="34" charset="0"/>
              <a:buChar char="•"/>
            </a:pPr>
            <a:endParaRPr lang="en-US" sz="2000">
              <a:solidFill>
                <a:schemeClr val="tx1"/>
              </a:solidFill>
              <a:cs typeface="Segoe UI Semilight"/>
            </a:endParaRPr>
          </a:p>
          <a:p>
            <a:pPr marL="342900" indent="-342900">
              <a:spcAft>
                <a:spcPts val="600"/>
              </a:spcAft>
              <a:buFont typeface="Arial" panose="020B0604020202020204" pitchFamily="34" charset="0"/>
              <a:buChar char="•"/>
            </a:pPr>
            <a:endParaRPr lang="en-US" sz="2000">
              <a:solidFill>
                <a:schemeClr val="tx1"/>
              </a:solidFill>
            </a:endParaRPr>
          </a:p>
        </p:txBody>
      </p:sp>
      <p:sp>
        <p:nvSpPr>
          <p:cNvPr id="6" name="TextBox 5">
            <a:extLst>
              <a:ext uri="{FF2B5EF4-FFF2-40B4-BE49-F238E27FC236}">
                <a16:creationId xmlns:a16="http://schemas.microsoft.com/office/drawing/2014/main" id="{E0FE39D2-CB3B-35B9-872B-99944407FB48}"/>
              </a:ext>
            </a:extLst>
          </p:cNvPr>
          <p:cNvSpPr txBox="1"/>
          <p:nvPr/>
        </p:nvSpPr>
        <p:spPr>
          <a:xfrm>
            <a:off x="6472355" y="1716224"/>
            <a:ext cx="4761702" cy="1631216"/>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600"/>
              </a:spcAft>
              <a:buClrTx/>
              <a:buSzTx/>
              <a:buFontTx/>
              <a:buNone/>
              <a:tabLst/>
              <a:defRPr/>
            </a:pPr>
            <a:r>
              <a:rPr kumimoji="0" lang="en-US" b="0" i="0" u="none" strike="noStrike" kern="0" cap="none" spc="0" normalizeH="0" baseline="0" noProof="0">
                <a:ln>
                  <a:noFill/>
                </a:ln>
                <a:solidFill>
                  <a:srgbClr val="243A5E"/>
                </a:solidFill>
                <a:effectLst/>
                <a:uLnTx/>
                <a:uFillTx/>
              </a:rPr>
              <a:t>Deploy and manage Azure compute resources (20-25%): Create and configure Azure App Service</a:t>
            </a:r>
          </a:p>
          <a:p>
            <a:pPr marL="173038" marR="0" lvl="0" indent="-173038" defTabSz="91440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b="0" i="0" u="none" strike="noStrike" kern="0" cap="none" spc="0" normalizeH="0" baseline="0" noProof="0">
                <a:ln>
                  <a:noFill/>
                </a:ln>
                <a:solidFill>
                  <a:srgbClr val="000000"/>
                </a:solidFill>
                <a:effectLst/>
                <a:uLnTx/>
                <a:uFillTx/>
              </a:rPr>
              <a:t>Provision an App Service plan</a:t>
            </a:r>
          </a:p>
          <a:p>
            <a:pPr marL="173038" marR="0" lvl="0" indent="-173038" defTabSz="91440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b="0" i="0" u="none" strike="noStrike" kern="0" cap="none" spc="0" normalizeH="0" baseline="0" noProof="0">
                <a:ln>
                  <a:noFill/>
                </a:ln>
                <a:solidFill>
                  <a:srgbClr val="000000"/>
                </a:solidFill>
                <a:effectLst/>
                <a:uLnTx/>
                <a:uFillTx/>
              </a:rPr>
              <a:t>Configure scaling for an App Service plan</a:t>
            </a:r>
          </a:p>
        </p:txBody>
      </p:sp>
    </p:spTree>
    <p:extLst>
      <p:ext uri="{BB962C8B-B14F-4D97-AF65-F5344CB8AC3E}">
        <p14:creationId xmlns:p14="http://schemas.microsoft.com/office/powerpoint/2010/main" val="3287605724"/>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pPr>
              <a:lnSpc>
                <a:spcPct val="100000"/>
              </a:lnSpc>
            </a:pPr>
            <a:r>
              <a:rPr lang="en-US" spc="0">
                <a:solidFill>
                  <a:schemeClr val="tx1"/>
                </a:solidFill>
              </a:rPr>
              <a:t>Implement Azure App Service Plans</a:t>
            </a:r>
          </a:p>
        </p:txBody>
      </p:sp>
      <p:sp>
        <p:nvSpPr>
          <p:cNvPr id="36" name="TextBox 35">
            <a:extLst>
              <a:ext uri="{FF2B5EF4-FFF2-40B4-BE49-F238E27FC236}">
                <a16:creationId xmlns:a16="http://schemas.microsoft.com/office/drawing/2014/main" id="{D42F2A4E-4628-48CD-94EB-2CB8F583BC58}"/>
              </a:ext>
            </a:extLst>
          </p:cNvPr>
          <p:cNvSpPr txBox="1"/>
          <p:nvPr/>
        </p:nvSpPr>
        <p:spPr>
          <a:xfrm>
            <a:off x="465138" y="1397477"/>
            <a:ext cx="8345375" cy="3846895"/>
          </a:xfrm>
          <a:prstGeom prst="rect">
            <a:avLst/>
          </a:prstGeom>
          <a:noFill/>
        </p:spPr>
        <p:txBody>
          <a:bodyPr wrap="square" lIns="0" tIns="0" rIns="0" bIns="0" rtlCol="0" anchor="t">
            <a:noAutofit/>
          </a:bodyPr>
          <a:lstStyle/>
          <a:p>
            <a:pPr marL="342900" indent="-342900" defTabSz="932472" fontAlgn="base">
              <a:spcBef>
                <a:spcPct val="0"/>
              </a:spcBef>
              <a:spcAft>
                <a:spcPts val="600"/>
              </a:spcAft>
              <a:buFont typeface="Arial" panose="020B0604020202020204" pitchFamily="34" charset="0"/>
              <a:buChar char="•"/>
            </a:pPr>
            <a:r>
              <a:rPr lang="en-US" sz="2200"/>
              <a:t>Determines performance, price, and features</a:t>
            </a:r>
          </a:p>
          <a:p>
            <a:pPr marL="342900" indent="-342900" defTabSz="932472" fontAlgn="base">
              <a:spcBef>
                <a:spcPct val="0"/>
              </a:spcBef>
              <a:spcAft>
                <a:spcPts val="600"/>
              </a:spcAft>
              <a:buFont typeface="Arial" panose="020B0604020202020204" pitchFamily="34" charset="0"/>
              <a:buChar char="•"/>
            </a:pPr>
            <a:r>
              <a:rPr lang="en-US" sz="2200"/>
              <a:t>Defines a set of compute resources for a web app to run</a:t>
            </a:r>
          </a:p>
          <a:p>
            <a:pPr marL="809271" lvl="1" indent="-342900" defTabSz="932472" fontAlgn="base">
              <a:spcBef>
                <a:spcPct val="0"/>
              </a:spcBef>
              <a:spcAft>
                <a:spcPts val="600"/>
              </a:spcAft>
              <a:buFont typeface="Arial" panose="020B0604020202020204" pitchFamily="34" charset="0"/>
              <a:buChar char="•"/>
            </a:pPr>
            <a:r>
              <a:rPr lang="en-US" sz="2200"/>
              <a:t>Region where compute resources will be created </a:t>
            </a:r>
          </a:p>
          <a:p>
            <a:pPr marL="809271" lvl="1" indent="-342900" defTabSz="932472" fontAlgn="base">
              <a:spcBef>
                <a:spcPct val="0"/>
              </a:spcBef>
              <a:spcAft>
                <a:spcPts val="600"/>
              </a:spcAft>
              <a:buFont typeface="Arial" panose="020B0604020202020204" pitchFamily="34" charset="0"/>
              <a:buChar char="•"/>
            </a:pPr>
            <a:r>
              <a:rPr lang="en-US" sz="2200"/>
              <a:t>Number of virtual machine instances </a:t>
            </a:r>
          </a:p>
          <a:p>
            <a:pPr marL="809271" lvl="1" indent="-342900" defTabSz="932472" fontAlgn="base">
              <a:spcBef>
                <a:spcPct val="0"/>
              </a:spcBef>
              <a:spcAft>
                <a:spcPts val="600"/>
              </a:spcAft>
              <a:buFont typeface="Arial" panose="020B0604020202020204" pitchFamily="34" charset="0"/>
              <a:buChar char="•"/>
            </a:pPr>
            <a:r>
              <a:rPr lang="en-US" sz="2200"/>
              <a:t>Size of virtual machine instances </a:t>
            </a:r>
          </a:p>
          <a:p>
            <a:pPr marL="809271" lvl="1" indent="-342900" defTabSz="932472" fontAlgn="base">
              <a:spcBef>
                <a:spcPct val="0"/>
              </a:spcBef>
              <a:spcAft>
                <a:spcPts val="600"/>
              </a:spcAft>
              <a:buFont typeface="Arial" panose="020B0604020202020204" pitchFamily="34" charset="0"/>
              <a:buChar char="•"/>
            </a:pPr>
            <a:r>
              <a:rPr lang="en-US" sz="2200"/>
              <a:t>Pricing tier (next slide)</a:t>
            </a:r>
          </a:p>
          <a:p>
            <a:pPr marL="342900" indent="-342900" defTabSz="932472" fontAlgn="base">
              <a:spcBef>
                <a:spcPct val="0"/>
              </a:spcBef>
              <a:spcAft>
                <a:spcPts val="600"/>
              </a:spcAft>
              <a:buFont typeface="Arial" panose="020B0604020202020204" pitchFamily="34" charset="0"/>
              <a:buChar char="•"/>
            </a:pPr>
            <a:r>
              <a:rPr lang="en-US" sz="2200"/>
              <a:t>One or more apps can be configured to run in the same App Service plan</a:t>
            </a:r>
          </a:p>
          <a:p>
            <a:pPr marL="342900" indent="-342900" defTabSz="932472" fontAlgn="base">
              <a:lnSpc>
                <a:spcPct val="150000"/>
              </a:lnSpc>
              <a:spcBef>
                <a:spcPct val="0"/>
              </a:spcBef>
              <a:spcAft>
                <a:spcPct val="0"/>
              </a:spcAft>
              <a:buFont typeface="Arial" panose="020B0604020202020204" pitchFamily="34" charset="0"/>
              <a:buChar char="•"/>
            </a:pPr>
            <a:endParaRPr lang="en-US" sz="2200"/>
          </a:p>
          <a:p>
            <a:pPr marL="342900" indent="-342900" defTabSz="932472" fontAlgn="base">
              <a:lnSpc>
                <a:spcPct val="150000"/>
              </a:lnSpc>
              <a:spcBef>
                <a:spcPct val="0"/>
              </a:spcBef>
              <a:spcAft>
                <a:spcPct val="0"/>
              </a:spcAft>
              <a:buFont typeface="Arial" panose="020B0604020202020204" pitchFamily="34" charset="0"/>
              <a:buChar char="•"/>
            </a:pPr>
            <a:endParaRPr lang="en-US" sz="2200"/>
          </a:p>
          <a:p>
            <a:pPr marL="342900" indent="-342900" defTabSz="932472" fontAlgn="base">
              <a:lnSpc>
                <a:spcPct val="150000"/>
              </a:lnSpc>
              <a:spcBef>
                <a:spcPct val="0"/>
              </a:spcBef>
              <a:spcAft>
                <a:spcPct val="0"/>
              </a:spcAft>
              <a:buFont typeface="Arial" panose="020B0604020202020204" pitchFamily="34" charset="0"/>
              <a:buChar char="•"/>
            </a:pPr>
            <a:endParaRPr lang="en-US" sz="2200"/>
          </a:p>
          <a:p>
            <a:pPr marL="342900" indent="-342900" defTabSz="932472" fontAlgn="base">
              <a:lnSpc>
                <a:spcPct val="150000"/>
              </a:lnSpc>
              <a:spcBef>
                <a:spcPct val="0"/>
              </a:spcBef>
              <a:spcAft>
                <a:spcPct val="0"/>
              </a:spcAft>
              <a:buFont typeface="Arial" panose="020B0604020202020204" pitchFamily="34" charset="0"/>
              <a:buChar char="•"/>
            </a:pPr>
            <a:endParaRPr lang="en-US" sz="2200"/>
          </a:p>
        </p:txBody>
      </p:sp>
      <p:pic>
        <p:nvPicPr>
          <p:cNvPr id="5" name="Graphic 4">
            <a:extLst>
              <a:ext uri="{FF2B5EF4-FFF2-40B4-BE49-F238E27FC236}">
                <a16:creationId xmlns:a16="http://schemas.microsoft.com/office/drawing/2014/main" id="{E21912FC-2672-A7AB-AA55-EE449C58300F}"/>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27533" y="1797871"/>
            <a:ext cx="1785116" cy="1785116"/>
          </a:xfrm>
          <a:prstGeom prst="rect">
            <a:avLst/>
          </a:prstGeom>
        </p:spPr>
      </p:pic>
    </p:spTree>
    <p:extLst>
      <p:ext uri="{BB962C8B-B14F-4D97-AF65-F5344CB8AC3E}">
        <p14:creationId xmlns:p14="http://schemas.microsoft.com/office/powerpoint/2010/main" val="295580691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pPr>
              <a:lnSpc>
                <a:spcPct val="100000"/>
              </a:lnSpc>
            </a:pPr>
            <a:r>
              <a:rPr lang="en-US" spc="0"/>
              <a:t>Determine App Service Plan Pricing</a:t>
            </a:r>
          </a:p>
        </p:txBody>
      </p:sp>
      <p:graphicFrame>
        <p:nvGraphicFramePr>
          <p:cNvPr id="3" name="Table 6">
            <a:extLst>
              <a:ext uri="{FF2B5EF4-FFF2-40B4-BE49-F238E27FC236}">
                <a16:creationId xmlns:a16="http://schemas.microsoft.com/office/drawing/2014/main" id="{4B5435FF-C9C8-4E89-BA7E-35BEA62379BD}"/>
              </a:ext>
            </a:extLst>
          </p:cNvPr>
          <p:cNvGraphicFramePr>
            <a:graphicFrameLocks noGrp="1"/>
          </p:cNvGraphicFramePr>
          <p:nvPr/>
        </p:nvGraphicFramePr>
        <p:xfrm>
          <a:off x="465138" y="1255563"/>
          <a:ext cx="11582402" cy="3163824"/>
        </p:xfrm>
        <a:graphic>
          <a:graphicData uri="http://schemas.openxmlformats.org/drawingml/2006/table">
            <a:tbl>
              <a:tblPr firstRow="1" bandRow="1">
                <a:tableStyleId>{5C22544A-7EE6-4342-B048-85BDC9FD1C3A}</a:tableStyleId>
              </a:tblPr>
              <a:tblGrid>
                <a:gridCol w="1824748">
                  <a:extLst>
                    <a:ext uri="{9D8B030D-6E8A-4147-A177-3AD203B41FA5}">
                      <a16:colId xmlns:a16="http://schemas.microsoft.com/office/drawing/2014/main" val="1289156279"/>
                    </a:ext>
                  </a:extLst>
                </a:gridCol>
                <a:gridCol w="821137">
                  <a:extLst>
                    <a:ext uri="{9D8B030D-6E8A-4147-A177-3AD203B41FA5}">
                      <a16:colId xmlns:a16="http://schemas.microsoft.com/office/drawing/2014/main" val="2759990731"/>
                    </a:ext>
                  </a:extLst>
                </a:gridCol>
                <a:gridCol w="1277324">
                  <a:extLst>
                    <a:ext uri="{9D8B030D-6E8A-4147-A177-3AD203B41FA5}">
                      <a16:colId xmlns:a16="http://schemas.microsoft.com/office/drawing/2014/main" val="4259266004"/>
                    </a:ext>
                  </a:extLst>
                </a:gridCol>
                <a:gridCol w="1529852">
                  <a:extLst>
                    <a:ext uri="{9D8B030D-6E8A-4147-A177-3AD203B41FA5}">
                      <a16:colId xmlns:a16="http://schemas.microsoft.com/office/drawing/2014/main" val="2550190184"/>
                    </a:ext>
                  </a:extLst>
                </a:gridCol>
                <a:gridCol w="1562100">
                  <a:extLst>
                    <a:ext uri="{9D8B030D-6E8A-4147-A177-3AD203B41FA5}">
                      <a16:colId xmlns:a16="http://schemas.microsoft.com/office/drawing/2014/main" val="2415514144"/>
                    </a:ext>
                  </a:extLst>
                </a:gridCol>
                <a:gridCol w="2095500">
                  <a:extLst>
                    <a:ext uri="{9D8B030D-6E8A-4147-A177-3AD203B41FA5}">
                      <a16:colId xmlns:a16="http://schemas.microsoft.com/office/drawing/2014/main" val="1966991295"/>
                    </a:ext>
                  </a:extLst>
                </a:gridCol>
                <a:gridCol w="2471741">
                  <a:extLst>
                    <a:ext uri="{9D8B030D-6E8A-4147-A177-3AD203B41FA5}">
                      <a16:colId xmlns:a16="http://schemas.microsoft.com/office/drawing/2014/main" val="876137511"/>
                    </a:ext>
                  </a:extLst>
                </a:gridCol>
              </a:tblGrid>
              <a:tr h="0">
                <a:tc>
                  <a:txBody>
                    <a:bodyPr/>
                    <a:lstStyle/>
                    <a:p>
                      <a:pPr lvl="0" algn="l">
                        <a:buNone/>
                      </a:pPr>
                      <a:r>
                        <a:rPr lang="en-US" sz="1800" b="0" kern="1200" cap="none">
                          <a:solidFill>
                            <a:schemeClr val="bg1"/>
                          </a:solidFill>
                          <a:effectLst/>
                          <a:latin typeface="+mj-lt"/>
                          <a:ea typeface="+mn-ea"/>
                          <a:cs typeface="+mn-cs"/>
                        </a:rPr>
                        <a:t>Selected Features</a:t>
                      </a:r>
                    </a:p>
                  </a:txBody>
                  <a:tcPr marT="73152" marB="73152" anchor="ctr">
                    <a:lnL w="6350" cap="flat" cmpd="sng" algn="ctr">
                      <a:solidFill>
                        <a:srgbClr val="243A5E"/>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43A5E"/>
                    </a:solidFill>
                  </a:tcPr>
                </a:tc>
                <a:tc>
                  <a:txBody>
                    <a:bodyPr/>
                    <a:lstStyle/>
                    <a:p>
                      <a:pPr algn="l" fontAlgn="t"/>
                      <a:r>
                        <a:rPr lang="en-US" sz="1800" b="0" cap="none">
                          <a:solidFill>
                            <a:schemeClr val="bg1"/>
                          </a:solidFill>
                          <a:effectLst/>
                          <a:latin typeface="+mj-lt"/>
                        </a:rPr>
                        <a:t>Free </a:t>
                      </a:r>
                    </a:p>
                  </a:txBody>
                  <a:tcPr marT="73152" marB="73152"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43A5E"/>
                    </a:solidFill>
                  </a:tcPr>
                </a:tc>
                <a:tc>
                  <a:txBody>
                    <a:bodyPr/>
                    <a:lstStyle/>
                    <a:p>
                      <a:pPr algn="l" fontAlgn="t"/>
                      <a:r>
                        <a:rPr lang="en-US" sz="1800" b="0" cap="none">
                          <a:solidFill>
                            <a:schemeClr val="bg1"/>
                          </a:solidFill>
                          <a:effectLst/>
                          <a:latin typeface="+mj-lt"/>
                        </a:rPr>
                        <a:t>Shared </a:t>
                      </a:r>
                    </a:p>
                    <a:p>
                      <a:pPr algn="l" fontAlgn="t"/>
                      <a:r>
                        <a:rPr lang="en-US" sz="1800" b="0" cap="none">
                          <a:solidFill>
                            <a:schemeClr val="bg1"/>
                          </a:solidFill>
                          <a:effectLst/>
                          <a:latin typeface="+mj-lt"/>
                        </a:rPr>
                        <a:t>(dev/test)</a:t>
                      </a:r>
                    </a:p>
                  </a:txBody>
                  <a:tcPr marT="73152" marB="73152"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43A5E"/>
                    </a:solidFill>
                  </a:tcPr>
                </a:tc>
                <a:tc>
                  <a:txBody>
                    <a:bodyPr/>
                    <a:lstStyle/>
                    <a:p>
                      <a:pPr algn="l" fontAlgn="t"/>
                      <a:r>
                        <a:rPr lang="en-US" sz="1800" b="0" kern="1200" cap="none">
                          <a:solidFill>
                            <a:schemeClr val="bg1"/>
                          </a:solidFill>
                          <a:effectLst/>
                          <a:latin typeface="+mj-lt"/>
                          <a:ea typeface="+mn-ea"/>
                          <a:cs typeface="+mn-cs"/>
                        </a:rPr>
                        <a:t>Basic </a:t>
                      </a:r>
                    </a:p>
                    <a:p>
                      <a:pPr algn="l" fontAlgn="t"/>
                      <a:r>
                        <a:rPr lang="en-US" sz="1800" b="0" cap="none">
                          <a:solidFill>
                            <a:schemeClr val="bg1"/>
                          </a:solidFill>
                          <a:effectLst/>
                          <a:latin typeface="+mj-lt"/>
                        </a:rPr>
                        <a:t>(dedicated dev/test)</a:t>
                      </a:r>
                    </a:p>
                  </a:txBody>
                  <a:tcPr marT="73152" marB="73152"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43A5E"/>
                    </a:solidFill>
                  </a:tcPr>
                </a:tc>
                <a:tc>
                  <a:txBody>
                    <a:bodyPr/>
                    <a:lstStyle/>
                    <a:p>
                      <a:pPr algn="l" fontAlgn="t"/>
                      <a:r>
                        <a:rPr lang="en-US" sz="1800" b="0" kern="1200" cap="none">
                          <a:solidFill>
                            <a:schemeClr val="bg1"/>
                          </a:solidFill>
                          <a:effectLst/>
                          <a:latin typeface="+mj-lt"/>
                          <a:ea typeface="+mn-ea"/>
                          <a:cs typeface="+mn-cs"/>
                        </a:rPr>
                        <a:t>Standard</a:t>
                      </a:r>
                      <a:r>
                        <a:rPr lang="en-US" sz="1800" b="0" cap="none">
                          <a:solidFill>
                            <a:schemeClr val="bg1"/>
                          </a:solidFill>
                          <a:effectLst/>
                          <a:latin typeface="+mj-lt"/>
                        </a:rPr>
                        <a:t> </a:t>
                      </a:r>
                    </a:p>
                    <a:p>
                      <a:pPr algn="l" fontAlgn="t"/>
                      <a:r>
                        <a:rPr lang="en-US" sz="1800" b="0" cap="none">
                          <a:solidFill>
                            <a:schemeClr val="bg1"/>
                          </a:solidFill>
                          <a:effectLst/>
                          <a:latin typeface="+mj-lt"/>
                        </a:rPr>
                        <a:t>(production workloads)</a:t>
                      </a:r>
                    </a:p>
                  </a:txBody>
                  <a:tcPr marT="73152" marB="73152"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43A5E"/>
                    </a:solidFill>
                  </a:tcPr>
                </a:tc>
                <a:tc>
                  <a:txBody>
                    <a:bodyPr/>
                    <a:lstStyle/>
                    <a:p>
                      <a:pPr algn="l" fontAlgn="t"/>
                      <a:r>
                        <a:rPr lang="en-US" sz="1800" b="0" kern="1200" cap="none">
                          <a:solidFill>
                            <a:schemeClr val="bg1"/>
                          </a:solidFill>
                          <a:effectLst/>
                          <a:latin typeface="+mj-lt"/>
                          <a:ea typeface="+mn-ea"/>
                          <a:cs typeface="+mn-cs"/>
                        </a:rPr>
                        <a:t>Premium </a:t>
                      </a:r>
                    </a:p>
                    <a:p>
                      <a:pPr algn="l" fontAlgn="t"/>
                      <a:r>
                        <a:rPr lang="en-US" sz="1800" b="0" cap="none">
                          <a:solidFill>
                            <a:schemeClr val="bg1"/>
                          </a:solidFill>
                          <a:effectLst/>
                          <a:latin typeface="+mj-lt"/>
                        </a:rPr>
                        <a:t>(enhanced scale</a:t>
                      </a:r>
                      <a:br>
                        <a:rPr lang="en-US" sz="1800" b="0" cap="none">
                          <a:solidFill>
                            <a:schemeClr val="bg1"/>
                          </a:solidFill>
                          <a:effectLst/>
                          <a:latin typeface="+mj-lt"/>
                        </a:rPr>
                      </a:br>
                      <a:r>
                        <a:rPr lang="en-US" sz="1800" b="0" cap="none">
                          <a:solidFill>
                            <a:schemeClr val="bg1"/>
                          </a:solidFill>
                          <a:effectLst/>
                          <a:latin typeface="+mj-lt"/>
                        </a:rPr>
                        <a:t>and performance)</a:t>
                      </a:r>
                    </a:p>
                  </a:txBody>
                  <a:tcPr marT="73152" marB="73152"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43A5E"/>
                    </a:solidFill>
                  </a:tcPr>
                </a:tc>
                <a:tc>
                  <a:txBody>
                    <a:bodyPr/>
                    <a:lstStyle/>
                    <a:p>
                      <a:pPr algn="l" fontAlgn="t"/>
                      <a:r>
                        <a:rPr lang="en-US" sz="1800" b="0" kern="1200" cap="none">
                          <a:solidFill>
                            <a:schemeClr val="bg1"/>
                          </a:solidFill>
                          <a:effectLst/>
                          <a:latin typeface="+mj-lt"/>
                          <a:ea typeface="+mn-ea"/>
                          <a:cs typeface="+mn-cs"/>
                        </a:rPr>
                        <a:t>Isolated </a:t>
                      </a:r>
                    </a:p>
                    <a:p>
                      <a:pPr algn="l" fontAlgn="t"/>
                      <a:r>
                        <a:rPr lang="en-US" sz="1800" b="0" cap="none">
                          <a:solidFill>
                            <a:schemeClr val="bg1"/>
                          </a:solidFill>
                          <a:effectLst/>
                          <a:latin typeface="+mj-lt"/>
                        </a:rPr>
                        <a:t>(high-performance, security and isolation)</a:t>
                      </a:r>
                    </a:p>
                  </a:txBody>
                  <a:tcPr marT="73152" marB="73152" anchor="ctr">
                    <a:lnL w="6350" cap="flat" cmpd="sng" algn="ctr">
                      <a:solidFill>
                        <a:schemeClr val="bg1"/>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43A5E"/>
                    </a:solidFill>
                  </a:tcPr>
                </a:tc>
                <a:extLst>
                  <a:ext uri="{0D108BD9-81ED-4DB2-BD59-A6C34878D82A}">
                    <a16:rowId xmlns:a16="http://schemas.microsoft.com/office/drawing/2014/main" val="2897835809"/>
                  </a:ext>
                </a:extLst>
              </a:tr>
              <a:tr h="0">
                <a:tc>
                  <a:txBody>
                    <a:bodyPr/>
                    <a:lstStyle/>
                    <a:p>
                      <a:pPr algn="l" fontAlgn="t"/>
                      <a:r>
                        <a:rPr lang="en-US" sz="1600">
                          <a:solidFill>
                            <a:schemeClr val="tx1"/>
                          </a:solidFill>
                          <a:effectLst/>
                          <a:latin typeface="+mj-lt"/>
                        </a:rPr>
                        <a:t>Web, mobile, or API apps</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t"/>
                      <a:r>
                        <a:rPr lang="en-US" sz="1600">
                          <a:solidFill>
                            <a:schemeClr val="tx1"/>
                          </a:solidFill>
                          <a:effectLst/>
                          <a:latin typeface="+mn-lt"/>
                        </a:rPr>
                        <a:t>10 </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a:r>
                        <a:rPr lang="en-US" sz="1600">
                          <a:solidFill>
                            <a:schemeClr val="tx1"/>
                          </a:solidFill>
                          <a:effectLst/>
                          <a:latin typeface="+mn-lt"/>
                        </a:rPr>
                        <a:t>100 </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a:r>
                        <a:rPr lang="en-US" sz="1600">
                          <a:solidFill>
                            <a:schemeClr val="tx1"/>
                          </a:solidFill>
                          <a:effectLst/>
                          <a:latin typeface="+mn-lt"/>
                        </a:rPr>
                        <a:t>Unlimited </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a:r>
                        <a:rPr lang="en-US" sz="1600">
                          <a:solidFill>
                            <a:schemeClr val="tx1"/>
                          </a:solidFill>
                          <a:effectLst/>
                          <a:latin typeface="+mn-lt"/>
                        </a:rPr>
                        <a:t>Unlimited </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a:r>
                        <a:rPr lang="en-US" sz="1600">
                          <a:solidFill>
                            <a:schemeClr val="tx1"/>
                          </a:solidFill>
                          <a:effectLst/>
                          <a:latin typeface="+mn-lt"/>
                        </a:rPr>
                        <a:t>Unlimited </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a:r>
                        <a:rPr lang="en-US" sz="1600">
                          <a:solidFill>
                            <a:schemeClr val="tx1"/>
                          </a:solidFill>
                          <a:effectLst/>
                          <a:latin typeface="+mn-lt"/>
                        </a:rPr>
                        <a:t>Unlimited </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88139117"/>
                  </a:ext>
                </a:extLst>
              </a:tr>
              <a:tr h="0">
                <a:tc>
                  <a:txBody>
                    <a:bodyPr/>
                    <a:lstStyle/>
                    <a:p>
                      <a:pPr algn="l" fontAlgn="t"/>
                      <a:r>
                        <a:rPr lang="en-US" sz="1600">
                          <a:solidFill>
                            <a:schemeClr val="tx1"/>
                          </a:solidFill>
                          <a:effectLst/>
                          <a:latin typeface="+mj-lt"/>
                        </a:rPr>
                        <a:t>Disk space</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t"/>
                      <a:r>
                        <a:rPr lang="en-US" sz="1600">
                          <a:solidFill>
                            <a:schemeClr val="tx1"/>
                          </a:solidFill>
                          <a:effectLst/>
                          <a:latin typeface="+mn-lt"/>
                        </a:rPr>
                        <a:t>1 GB </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a:r>
                        <a:rPr lang="en-US" sz="1600">
                          <a:solidFill>
                            <a:schemeClr val="tx1"/>
                          </a:solidFill>
                          <a:effectLst/>
                          <a:latin typeface="+mn-lt"/>
                        </a:rPr>
                        <a:t>1 GB </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a:r>
                        <a:rPr lang="en-US" sz="1600">
                          <a:solidFill>
                            <a:schemeClr val="tx1"/>
                          </a:solidFill>
                          <a:effectLst/>
                          <a:latin typeface="+mn-lt"/>
                        </a:rPr>
                        <a:t>10 GB </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a:r>
                        <a:rPr lang="en-US" sz="1600">
                          <a:solidFill>
                            <a:schemeClr val="tx1"/>
                          </a:solidFill>
                          <a:effectLst/>
                          <a:latin typeface="+mn-lt"/>
                        </a:rPr>
                        <a:t>50 GB </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a:r>
                        <a:rPr lang="en-US" sz="1600">
                          <a:solidFill>
                            <a:schemeClr val="tx1"/>
                          </a:solidFill>
                          <a:effectLst/>
                          <a:latin typeface="+mn-lt"/>
                        </a:rPr>
                        <a:t>250 GB </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a:r>
                        <a:rPr lang="en-US" sz="1600">
                          <a:solidFill>
                            <a:schemeClr val="tx1"/>
                          </a:solidFill>
                          <a:effectLst/>
                          <a:latin typeface="+mn-lt"/>
                        </a:rPr>
                        <a:t>1 TB </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58439219"/>
                  </a:ext>
                </a:extLst>
              </a:tr>
              <a:tr h="0">
                <a:tc>
                  <a:txBody>
                    <a:bodyPr/>
                    <a:lstStyle/>
                    <a:p>
                      <a:pPr algn="l" fontAlgn="t"/>
                      <a:r>
                        <a:rPr lang="en-US" sz="1600">
                          <a:solidFill>
                            <a:schemeClr val="tx1"/>
                          </a:solidFill>
                          <a:effectLst/>
                          <a:latin typeface="+mj-lt"/>
                        </a:rPr>
                        <a:t>Auto Scale</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t"/>
                      <a:r>
                        <a:rPr lang="en-US" sz="1600">
                          <a:solidFill>
                            <a:schemeClr val="tx1"/>
                          </a:solidFill>
                          <a:effectLst/>
                          <a:latin typeface="+mn-lt"/>
                        </a:rPr>
                        <a:t>–</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a:r>
                        <a:rPr lang="en-US" sz="1600">
                          <a:solidFill>
                            <a:schemeClr val="tx1"/>
                          </a:solidFill>
                          <a:effectLst/>
                          <a:latin typeface="+mn-lt"/>
                        </a:rPr>
                        <a:t>–</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a:r>
                        <a:rPr lang="en-US" sz="1600">
                          <a:solidFill>
                            <a:schemeClr val="tx1"/>
                          </a:solidFill>
                          <a:effectLst/>
                          <a:latin typeface="+mn-lt"/>
                        </a:rPr>
                        <a:t>–</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a:r>
                        <a:rPr lang="en-US" sz="1600">
                          <a:solidFill>
                            <a:schemeClr val="tx1"/>
                          </a:solidFill>
                          <a:effectLst/>
                          <a:latin typeface="+mn-lt"/>
                        </a:rPr>
                        <a:t>Supported</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a:r>
                        <a:rPr lang="en-US" sz="1600">
                          <a:solidFill>
                            <a:schemeClr val="tx1"/>
                          </a:solidFill>
                          <a:effectLst/>
                          <a:latin typeface="+mn-lt"/>
                        </a:rPr>
                        <a:t>Supported</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a:r>
                        <a:rPr lang="en-US" sz="1600">
                          <a:solidFill>
                            <a:schemeClr val="tx1"/>
                          </a:solidFill>
                          <a:effectLst/>
                          <a:latin typeface="+mn-lt"/>
                        </a:rPr>
                        <a:t>Supported</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98512727"/>
                  </a:ext>
                </a:extLst>
              </a:tr>
              <a:tr h="0">
                <a:tc>
                  <a:txBody>
                    <a:bodyPr/>
                    <a:lstStyle/>
                    <a:p>
                      <a:pPr algn="l" fontAlgn="t"/>
                      <a:r>
                        <a:rPr lang="en-US" sz="1600">
                          <a:solidFill>
                            <a:schemeClr val="tx1"/>
                          </a:solidFill>
                          <a:effectLst/>
                          <a:latin typeface="+mj-lt"/>
                        </a:rPr>
                        <a:t>Deployment Slots</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t"/>
                      <a:r>
                        <a:rPr lang="en-US" sz="1600">
                          <a:solidFill>
                            <a:schemeClr val="tx1"/>
                          </a:solidFill>
                          <a:effectLst/>
                          <a:latin typeface="+mn-lt"/>
                        </a:rPr>
                        <a:t>0</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a:r>
                        <a:rPr lang="en-US" sz="1600">
                          <a:solidFill>
                            <a:schemeClr val="tx1"/>
                          </a:solidFill>
                          <a:effectLst/>
                          <a:latin typeface="+mn-lt"/>
                        </a:rPr>
                        <a:t>0</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a:r>
                        <a:rPr lang="en-US" sz="1600">
                          <a:solidFill>
                            <a:schemeClr val="tx1"/>
                          </a:solidFill>
                          <a:effectLst/>
                          <a:latin typeface="+mn-lt"/>
                        </a:rPr>
                        <a:t>0</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a:r>
                        <a:rPr lang="en-US" sz="1600">
                          <a:solidFill>
                            <a:schemeClr val="tx1"/>
                          </a:solidFill>
                          <a:effectLst/>
                          <a:latin typeface="+mn-lt"/>
                        </a:rPr>
                        <a:t>5</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a:r>
                        <a:rPr lang="en-US" sz="1600">
                          <a:solidFill>
                            <a:schemeClr val="tx1"/>
                          </a:solidFill>
                          <a:effectLst/>
                          <a:latin typeface="+mn-lt"/>
                        </a:rPr>
                        <a:t>20</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a:r>
                        <a:rPr lang="en-US" sz="1600">
                          <a:solidFill>
                            <a:schemeClr val="tx1"/>
                          </a:solidFill>
                          <a:effectLst/>
                          <a:latin typeface="+mn-lt"/>
                        </a:rPr>
                        <a:t>20</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2684497"/>
                  </a:ext>
                </a:extLst>
              </a:tr>
              <a:tr h="0">
                <a:tc>
                  <a:txBody>
                    <a:bodyPr/>
                    <a:lstStyle/>
                    <a:p>
                      <a:pPr algn="l" fontAlgn="t"/>
                      <a:r>
                        <a:rPr lang="en-US" sz="1600">
                          <a:solidFill>
                            <a:schemeClr val="tx1"/>
                          </a:solidFill>
                          <a:effectLst/>
                          <a:latin typeface="+mj-lt"/>
                        </a:rPr>
                        <a:t>Max Instances</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32742" rtl="0" eaLnBrk="1" fontAlgn="t"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UI"/>
                          <a:ea typeface="+mn-ea"/>
                          <a:cs typeface="+mn-cs"/>
                        </a:rPr>
                        <a:t>–</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32742" rtl="0" eaLnBrk="1" fontAlgn="t"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UI"/>
                          <a:ea typeface="+mn-ea"/>
                          <a:cs typeface="+mn-cs"/>
                        </a:rPr>
                        <a:t>–</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a:r>
                        <a:rPr lang="en-US" sz="1600">
                          <a:solidFill>
                            <a:schemeClr val="tx1"/>
                          </a:solidFill>
                          <a:effectLst/>
                          <a:latin typeface="+mn-lt"/>
                        </a:rPr>
                        <a:t>Up to 3</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a:r>
                        <a:rPr lang="en-US" sz="1600">
                          <a:solidFill>
                            <a:schemeClr val="tx1"/>
                          </a:solidFill>
                          <a:effectLst/>
                          <a:latin typeface="+mn-lt"/>
                        </a:rPr>
                        <a:t>Up to 10</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a:r>
                        <a:rPr lang="en-US" sz="1600">
                          <a:solidFill>
                            <a:schemeClr val="tx1"/>
                          </a:solidFill>
                          <a:effectLst/>
                          <a:latin typeface="+mn-lt"/>
                        </a:rPr>
                        <a:t>Up to 30</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a:r>
                        <a:rPr lang="en-US" sz="1600">
                          <a:solidFill>
                            <a:schemeClr val="tx1"/>
                          </a:solidFill>
                          <a:effectLst/>
                          <a:latin typeface="+mn-lt"/>
                        </a:rPr>
                        <a:t>Up to 100</a:t>
                      </a:r>
                    </a:p>
                  </a:txBody>
                  <a:tcPr marT="73152" marB="73152"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38446895"/>
                  </a:ext>
                </a:extLst>
              </a:tr>
            </a:tbl>
          </a:graphicData>
        </a:graphic>
      </p:graphicFrame>
      <p:sp>
        <p:nvSpPr>
          <p:cNvPr id="6" name="Rectangle 5">
            <a:extLst>
              <a:ext uri="{FF2B5EF4-FFF2-40B4-BE49-F238E27FC236}">
                <a16:creationId xmlns:a16="http://schemas.microsoft.com/office/drawing/2014/main" id="{AF9A5DCE-0800-46E9-A832-98E20F75BC26}"/>
              </a:ext>
            </a:extLst>
          </p:cNvPr>
          <p:cNvSpPr/>
          <p:nvPr/>
        </p:nvSpPr>
        <p:spPr>
          <a:xfrm>
            <a:off x="432592" y="4704714"/>
            <a:ext cx="3754389" cy="1607185"/>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91440" tIns="45720" rIns="91440" bIns="45720" numCol="1" spcCol="1270" anchor="t" anchorCtr="0">
            <a:noAutofit/>
          </a:bodyPr>
          <a:lstStyle/>
          <a:p>
            <a:pPr defTabSz="932472" fontAlgn="base"/>
            <a:r>
              <a:rPr lang="en-US">
                <a:solidFill>
                  <a:schemeClr val="tx1"/>
                </a:solidFill>
                <a:latin typeface="+mj-lt"/>
                <a:cs typeface="Segoe UI Semilight"/>
              </a:rPr>
              <a:t>Shared compute </a:t>
            </a:r>
            <a:r>
              <a:rPr lang="en-US">
                <a:solidFill>
                  <a:schemeClr val="tx1"/>
                </a:solidFill>
                <a:cs typeface="Segoe UI Semilight"/>
              </a:rPr>
              <a:t>(Free and Shared). Run apps on </a:t>
            </a:r>
            <a:br>
              <a:rPr lang="en-US">
                <a:solidFill>
                  <a:schemeClr val="tx1"/>
                </a:solidFill>
                <a:cs typeface="Segoe UI Semilight"/>
              </a:rPr>
            </a:br>
            <a:r>
              <a:rPr lang="en-US">
                <a:solidFill>
                  <a:schemeClr val="tx1"/>
                </a:solidFill>
                <a:cs typeface="Segoe UI Semilight"/>
              </a:rPr>
              <a:t>the same Azure VM as other App Service apps, and the resources cannot scale out</a:t>
            </a:r>
          </a:p>
        </p:txBody>
      </p:sp>
      <p:sp>
        <p:nvSpPr>
          <p:cNvPr id="7" name="Rectangle 6">
            <a:extLst>
              <a:ext uri="{FF2B5EF4-FFF2-40B4-BE49-F238E27FC236}">
                <a16:creationId xmlns:a16="http://schemas.microsoft.com/office/drawing/2014/main" id="{16196D3E-3ED5-49F9-9FCE-0AEFD664E325}"/>
              </a:ext>
            </a:extLst>
          </p:cNvPr>
          <p:cNvSpPr/>
          <p:nvPr/>
        </p:nvSpPr>
        <p:spPr>
          <a:xfrm>
            <a:off x="4343821" y="4704714"/>
            <a:ext cx="3754389" cy="1607185"/>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91440" tIns="45720" rIns="91440" bIns="45720" numCol="1" spcCol="1270" anchor="t" anchorCtr="0">
            <a:noAutofit/>
          </a:bodyPr>
          <a:lstStyle/>
          <a:p>
            <a:pPr lvl="0"/>
            <a:r>
              <a:rPr lang="en-US">
                <a:solidFill>
                  <a:schemeClr val="tx1"/>
                </a:solidFill>
                <a:latin typeface="+mj-lt"/>
                <a:cs typeface="Segoe UI Semilight"/>
              </a:rPr>
              <a:t>Dedicated compute</a:t>
            </a:r>
            <a:br>
              <a:rPr lang="en-US">
                <a:solidFill>
                  <a:schemeClr val="tx1"/>
                </a:solidFill>
                <a:latin typeface="+mj-lt"/>
                <a:cs typeface="Segoe UI Semilight"/>
              </a:rPr>
            </a:br>
            <a:r>
              <a:rPr lang="en-US">
                <a:solidFill>
                  <a:schemeClr val="tx1"/>
                </a:solidFill>
                <a:cs typeface="Segoe UI Semilight"/>
              </a:rPr>
              <a:t>(Basic, Standard, Premium). </a:t>
            </a:r>
            <a:br>
              <a:rPr lang="en-US">
                <a:solidFill>
                  <a:schemeClr val="tx1"/>
                </a:solidFill>
                <a:cs typeface="Segoe UI Semilight"/>
              </a:rPr>
            </a:br>
            <a:r>
              <a:rPr lang="en-US">
                <a:solidFill>
                  <a:schemeClr val="tx1"/>
                </a:solidFill>
                <a:cs typeface="Segoe UI Semilight"/>
              </a:rPr>
              <a:t>Run apps in the same plan in dedicated Azure VMs</a:t>
            </a:r>
          </a:p>
        </p:txBody>
      </p:sp>
      <p:sp>
        <p:nvSpPr>
          <p:cNvPr id="13" name="Rectangle 12">
            <a:extLst>
              <a:ext uri="{FF2B5EF4-FFF2-40B4-BE49-F238E27FC236}">
                <a16:creationId xmlns:a16="http://schemas.microsoft.com/office/drawing/2014/main" id="{0F3DDB70-4B80-417D-A395-5908898422BD}"/>
              </a:ext>
            </a:extLst>
          </p:cNvPr>
          <p:cNvSpPr/>
          <p:nvPr/>
        </p:nvSpPr>
        <p:spPr>
          <a:xfrm>
            <a:off x="8255051" y="4704714"/>
            <a:ext cx="3754389" cy="1607185"/>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91440" tIns="45720" rIns="91440" bIns="45720" numCol="1" spcCol="1270" anchor="t" anchorCtr="0">
            <a:noAutofit/>
          </a:bodyPr>
          <a:lstStyle/>
          <a:p>
            <a:pPr lvl="0"/>
            <a:r>
              <a:rPr lang="en-US">
                <a:solidFill>
                  <a:schemeClr val="tx1"/>
                </a:solidFill>
                <a:latin typeface="+mj-lt"/>
                <a:cs typeface="Segoe UI Semilight"/>
              </a:rPr>
              <a:t>Isolated.</a:t>
            </a:r>
            <a:r>
              <a:rPr lang="en-US">
                <a:solidFill>
                  <a:schemeClr val="tx1"/>
                </a:solidFill>
                <a:cs typeface="Segoe UI Semilight"/>
              </a:rPr>
              <a:t> Runs apps on</a:t>
            </a:r>
            <a:br>
              <a:rPr lang="en-US">
                <a:solidFill>
                  <a:schemeClr val="tx1"/>
                </a:solidFill>
                <a:cs typeface="Segoe UI Semilight"/>
              </a:rPr>
            </a:br>
            <a:r>
              <a:rPr lang="en-US">
                <a:solidFill>
                  <a:schemeClr val="tx1"/>
                </a:solidFill>
                <a:cs typeface="Segoe UI Semilight"/>
              </a:rPr>
              <a:t>dedicated Azure VMs in dedicated Azure virtual networks</a:t>
            </a:r>
          </a:p>
        </p:txBody>
      </p:sp>
    </p:spTree>
    <p:extLst>
      <p:ext uri="{BB962C8B-B14F-4D97-AF65-F5344CB8AC3E}">
        <p14:creationId xmlns:p14="http://schemas.microsoft.com/office/powerpoint/2010/main" val="425059112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50D68-47C9-4299-B726-AE540B3A3042}"/>
              </a:ext>
            </a:extLst>
          </p:cNvPr>
          <p:cNvSpPr>
            <a:spLocks noGrp="1"/>
          </p:cNvSpPr>
          <p:nvPr>
            <p:ph type="title"/>
          </p:nvPr>
        </p:nvSpPr>
        <p:spPr/>
        <p:txBody>
          <a:bodyPr/>
          <a:lstStyle/>
          <a:p>
            <a:pPr>
              <a:lnSpc>
                <a:spcPct val="100000"/>
              </a:lnSpc>
            </a:pPr>
            <a:r>
              <a:rPr lang="en-US" spc="0"/>
              <a:t>Scale Up and Scale Out the App Service Plan</a:t>
            </a:r>
          </a:p>
        </p:txBody>
      </p:sp>
      <p:pic>
        <p:nvPicPr>
          <p:cNvPr id="6" name="Picture 4" descr="A screenshot of scaling out the App Service Plan.  Manual scale is selected and Instance count is set to 3">
            <a:extLst>
              <a:ext uri="{FF2B5EF4-FFF2-40B4-BE49-F238E27FC236}">
                <a16:creationId xmlns:a16="http://schemas.microsoft.com/office/drawing/2014/main" id="{12A18769-0224-4754-9B16-4BF1797F38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9613" y="1353402"/>
            <a:ext cx="11017251" cy="3218598"/>
          </a:xfrm>
          <a:prstGeom prst="rect">
            <a:avLst/>
          </a:prstGeom>
          <a:ln>
            <a:noFill/>
          </a:ln>
        </p:spPr>
      </p:pic>
      <p:sp>
        <p:nvSpPr>
          <p:cNvPr id="4" name="Rectangle 3">
            <a:extLst>
              <a:ext uri="{FF2B5EF4-FFF2-40B4-BE49-F238E27FC236}">
                <a16:creationId xmlns:a16="http://schemas.microsoft.com/office/drawing/2014/main" id="{639DB60E-4D98-4F7F-9E6F-A2A7C405B514}"/>
              </a:ext>
            </a:extLst>
          </p:cNvPr>
          <p:cNvSpPr/>
          <p:nvPr/>
        </p:nvSpPr>
        <p:spPr>
          <a:xfrm>
            <a:off x="457381" y="4850978"/>
            <a:ext cx="5391773" cy="1361496"/>
          </a:xfrm>
          <a:prstGeom prst="rect">
            <a:avLst/>
          </a:prstGeom>
          <a:solidFill>
            <a:schemeClr val="bg1">
              <a:lumMod val="95000"/>
            </a:schemeClr>
          </a:solidFill>
          <a:ln w="63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91440" tIns="45720" rIns="91440" bIns="45720" numCol="1" spcCol="1270" anchor="t" anchorCtr="0">
            <a:noAutofit/>
          </a:bodyPr>
          <a:lstStyle/>
          <a:p>
            <a:pPr>
              <a:spcBef>
                <a:spcPts val="600"/>
              </a:spcBef>
            </a:pPr>
            <a:r>
              <a:rPr lang="en-US">
                <a:solidFill>
                  <a:schemeClr val="tx1"/>
                </a:solidFill>
                <a:latin typeface="+mj-lt"/>
              </a:rPr>
              <a:t>Scale up (change the App Service plan):</a:t>
            </a:r>
          </a:p>
          <a:p>
            <a:pPr marL="285750" lvl="1" indent="-285750">
              <a:spcBef>
                <a:spcPts val="600"/>
              </a:spcBef>
              <a:buFont typeface="Arial" panose="020B0604020202020204" pitchFamily="34" charset="0"/>
              <a:buChar char="•"/>
            </a:pPr>
            <a:r>
              <a:rPr lang="en-US">
                <a:solidFill>
                  <a:schemeClr val="tx1"/>
                </a:solidFill>
              </a:rPr>
              <a:t>More hardware (CPU, memory, disk)</a:t>
            </a:r>
          </a:p>
          <a:p>
            <a:pPr marL="285750" lvl="1" indent="-285750">
              <a:spcBef>
                <a:spcPts val="600"/>
              </a:spcBef>
              <a:buFont typeface="Arial" panose="020B0604020202020204" pitchFamily="34" charset="0"/>
              <a:buChar char="•"/>
            </a:pPr>
            <a:r>
              <a:rPr lang="en-US">
                <a:solidFill>
                  <a:schemeClr val="tx1"/>
                </a:solidFill>
              </a:rPr>
              <a:t>More features (dedicated virtual machines, staging slots, autoscaling)</a:t>
            </a:r>
          </a:p>
        </p:txBody>
      </p:sp>
      <p:sp>
        <p:nvSpPr>
          <p:cNvPr id="5" name="Rectangle 4">
            <a:extLst>
              <a:ext uri="{FF2B5EF4-FFF2-40B4-BE49-F238E27FC236}">
                <a16:creationId xmlns:a16="http://schemas.microsoft.com/office/drawing/2014/main" id="{87FDE356-CCED-467B-A3B2-2F7F88DFAD17}"/>
              </a:ext>
            </a:extLst>
          </p:cNvPr>
          <p:cNvSpPr/>
          <p:nvPr/>
        </p:nvSpPr>
        <p:spPr>
          <a:xfrm>
            <a:off x="6004866" y="4850978"/>
            <a:ext cx="6034915" cy="1361496"/>
          </a:xfrm>
          <a:prstGeom prst="rect">
            <a:avLst/>
          </a:prstGeom>
          <a:solidFill>
            <a:schemeClr val="bg1">
              <a:lumMod val="95000"/>
            </a:schemeClr>
          </a:solidFill>
          <a:ln w="63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91440" tIns="45720" rIns="91440" bIns="45720" numCol="1" spcCol="1270" anchor="t" anchorCtr="0">
            <a:noAutofit/>
          </a:bodyPr>
          <a:lstStyle/>
          <a:p>
            <a:pPr>
              <a:spcBef>
                <a:spcPts val="600"/>
              </a:spcBef>
            </a:pPr>
            <a:r>
              <a:rPr lang="en-US">
                <a:solidFill>
                  <a:schemeClr val="tx1"/>
                </a:solidFill>
                <a:latin typeface="+mj-lt"/>
              </a:rPr>
              <a:t>Scale out (increase the number of VM instances):</a:t>
            </a:r>
          </a:p>
          <a:p>
            <a:pPr marL="285750" lvl="1" indent="-285750">
              <a:spcBef>
                <a:spcPts val="600"/>
              </a:spcBef>
              <a:buFont typeface="Arial" panose="020B0604020202020204" pitchFamily="34" charset="0"/>
              <a:buChar char="•"/>
            </a:pPr>
            <a:r>
              <a:rPr lang="en-US">
                <a:solidFill>
                  <a:schemeClr val="tx1"/>
                </a:solidFill>
              </a:rPr>
              <a:t>Manual (fixed number of instances)</a:t>
            </a:r>
          </a:p>
          <a:p>
            <a:pPr marL="285750" lvl="1" indent="-285750">
              <a:spcBef>
                <a:spcPts val="600"/>
              </a:spcBef>
              <a:buFont typeface="Arial" panose="020B0604020202020204" pitchFamily="34" charset="0"/>
              <a:buChar char="•"/>
            </a:pPr>
            <a:r>
              <a:rPr lang="en-US">
                <a:solidFill>
                  <a:schemeClr val="tx1"/>
                </a:solidFill>
              </a:rPr>
              <a:t>Auto scale (based on predefined rules and schedules)</a:t>
            </a:r>
          </a:p>
        </p:txBody>
      </p:sp>
    </p:spTree>
    <p:extLst>
      <p:ext uri="{BB962C8B-B14F-4D97-AF65-F5344CB8AC3E}">
        <p14:creationId xmlns:p14="http://schemas.microsoft.com/office/powerpoint/2010/main" val="2132404164"/>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169FB-C106-4E27-BF41-DEE46FCBFF01}"/>
              </a:ext>
            </a:extLst>
          </p:cNvPr>
          <p:cNvSpPr>
            <a:spLocks noGrp="1"/>
          </p:cNvSpPr>
          <p:nvPr>
            <p:ph type="title"/>
          </p:nvPr>
        </p:nvSpPr>
        <p:spPr/>
        <p:txBody>
          <a:bodyPr/>
          <a:lstStyle/>
          <a:p>
            <a:pPr>
              <a:lnSpc>
                <a:spcPct val="100000"/>
              </a:lnSpc>
            </a:pPr>
            <a:r>
              <a:rPr lang="en-US" spc="0"/>
              <a:t>Configure App Service Plan Scaling</a:t>
            </a:r>
          </a:p>
        </p:txBody>
      </p:sp>
      <p:pic>
        <p:nvPicPr>
          <p:cNvPr id="7" name="Picture 6" descr="Screenshot of scale out. ">
            <a:extLst>
              <a:ext uri="{FF2B5EF4-FFF2-40B4-BE49-F238E27FC236}">
                <a16:creationId xmlns:a16="http://schemas.microsoft.com/office/drawing/2014/main" id="{DF6F13C8-36E1-994A-5121-49D68631B1D0}"/>
              </a:ext>
            </a:extLst>
          </p:cNvPr>
          <p:cNvPicPr>
            <a:picLocks noChangeAspect="1"/>
          </p:cNvPicPr>
          <p:nvPr/>
        </p:nvPicPr>
        <p:blipFill>
          <a:blip r:embed="rId3"/>
          <a:stretch>
            <a:fillRect/>
          </a:stretch>
        </p:blipFill>
        <p:spPr>
          <a:xfrm>
            <a:off x="1183563" y="1231641"/>
            <a:ext cx="9001223" cy="3517641"/>
          </a:xfrm>
          <a:prstGeom prst="rect">
            <a:avLst/>
          </a:prstGeom>
          <a:ln>
            <a:solidFill>
              <a:schemeClr val="bg1">
                <a:lumMod val="85000"/>
              </a:schemeClr>
            </a:solidFill>
          </a:ln>
        </p:spPr>
      </p:pic>
      <p:sp>
        <p:nvSpPr>
          <p:cNvPr id="4" name="Rectangle 3">
            <a:extLst>
              <a:ext uri="{FF2B5EF4-FFF2-40B4-BE49-F238E27FC236}">
                <a16:creationId xmlns:a16="http://schemas.microsoft.com/office/drawing/2014/main" id="{849E9509-96D9-4F19-BAB1-6072D830C2BE}"/>
              </a:ext>
            </a:extLst>
          </p:cNvPr>
          <p:cNvSpPr/>
          <p:nvPr/>
        </p:nvSpPr>
        <p:spPr>
          <a:xfrm>
            <a:off x="465138" y="4890854"/>
            <a:ext cx="1732804" cy="1281746"/>
          </a:xfrm>
          <a:prstGeom prst="rect">
            <a:avLst/>
          </a:prstGeom>
          <a:solidFill>
            <a:schemeClr val="bg1">
              <a:lumMod val="95000"/>
            </a:schemeClr>
          </a:solidFill>
          <a:ln w="63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91440" tIns="45720" rIns="91440" bIns="45720" numCol="1" spcCol="1270" anchor="ctr" anchorCtr="0">
            <a:noAutofit/>
          </a:bodyPr>
          <a:lstStyle/>
          <a:p>
            <a:pPr algn="ctr"/>
            <a:r>
              <a:rPr lang="en-US" sz="1600">
                <a:solidFill>
                  <a:schemeClr val="tx1"/>
                </a:solidFill>
              </a:rPr>
              <a:t>Adjust available resources based on the current demand</a:t>
            </a:r>
          </a:p>
        </p:txBody>
      </p:sp>
      <p:sp>
        <p:nvSpPr>
          <p:cNvPr id="9" name="Rectangle 8">
            <a:extLst>
              <a:ext uri="{FF2B5EF4-FFF2-40B4-BE49-F238E27FC236}">
                <a16:creationId xmlns:a16="http://schemas.microsoft.com/office/drawing/2014/main" id="{85926A27-6CE7-4278-89AB-7724A5EE5246}"/>
              </a:ext>
            </a:extLst>
          </p:cNvPr>
          <p:cNvSpPr/>
          <p:nvPr/>
        </p:nvSpPr>
        <p:spPr>
          <a:xfrm>
            <a:off x="2327890" y="4890854"/>
            <a:ext cx="1732804" cy="1281746"/>
          </a:xfrm>
          <a:prstGeom prst="rect">
            <a:avLst/>
          </a:prstGeom>
          <a:solidFill>
            <a:schemeClr val="bg1">
              <a:lumMod val="95000"/>
            </a:schemeClr>
          </a:solidFill>
          <a:ln w="63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91440" tIns="45720" rIns="91440" bIns="45720" numCol="1" spcCol="1270" anchor="ctr" anchorCtr="0">
            <a:noAutofit/>
          </a:bodyPr>
          <a:lstStyle/>
          <a:p>
            <a:pPr algn="ctr"/>
            <a:r>
              <a:rPr lang="en-US" sz="1600">
                <a:solidFill>
                  <a:schemeClr val="tx1"/>
                </a:solidFill>
              </a:rPr>
              <a:t>Improves availability and fault tolerance</a:t>
            </a:r>
          </a:p>
        </p:txBody>
      </p:sp>
      <p:sp>
        <p:nvSpPr>
          <p:cNvPr id="5" name="Rectangle 4">
            <a:extLst>
              <a:ext uri="{FF2B5EF4-FFF2-40B4-BE49-F238E27FC236}">
                <a16:creationId xmlns:a16="http://schemas.microsoft.com/office/drawing/2014/main" id="{A4CF62C6-CA34-4937-96AD-BCC3AC7245CA}"/>
              </a:ext>
            </a:extLst>
          </p:cNvPr>
          <p:cNvSpPr/>
          <p:nvPr/>
        </p:nvSpPr>
        <p:spPr>
          <a:xfrm>
            <a:off x="4197469" y="4890854"/>
            <a:ext cx="2282126" cy="1281746"/>
          </a:xfrm>
          <a:prstGeom prst="rect">
            <a:avLst/>
          </a:prstGeom>
          <a:solidFill>
            <a:schemeClr val="bg1">
              <a:lumMod val="95000"/>
            </a:schemeClr>
          </a:solidFill>
          <a:ln w="63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91440" tIns="45720" rIns="91440" bIns="45720" numCol="1" spcCol="1270" anchor="ctr" anchorCtr="0">
            <a:noAutofit/>
          </a:bodyPr>
          <a:lstStyle/>
          <a:p>
            <a:pPr algn="ctr"/>
            <a:r>
              <a:rPr lang="en-US" sz="1600">
                <a:solidFill>
                  <a:schemeClr val="tx1"/>
                </a:solidFill>
              </a:rPr>
              <a:t>Scale based on</a:t>
            </a:r>
            <a:br>
              <a:rPr lang="en-US" sz="1600">
                <a:solidFill>
                  <a:schemeClr val="tx1"/>
                </a:solidFill>
              </a:rPr>
            </a:br>
            <a:r>
              <a:rPr lang="en-US" sz="1600">
                <a:solidFill>
                  <a:schemeClr val="tx1"/>
                </a:solidFill>
              </a:rPr>
              <a:t>a metric (CPU percentage, memory percentage, HTTP requests) </a:t>
            </a:r>
          </a:p>
        </p:txBody>
      </p:sp>
      <p:sp>
        <p:nvSpPr>
          <p:cNvPr id="11" name="Rectangle 10">
            <a:extLst>
              <a:ext uri="{FF2B5EF4-FFF2-40B4-BE49-F238E27FC236}">
                <a16:creationId xmlns:a16="http://schemas.microsoft.com/office/drawing/2014/main" id="{68E8D8FE-18EF-4E61-A399-FE03DDCD4DE4}"/>
              </a:ext>
            </a:extLst>
          </p:cNvPr>
          <p:cNvSpPr/>
          <p:nvPr/>
        </p:nvSpPr>
        <p:spPr>
          <a:xfrm>
            <a:off x="6589230" y="4890854"/>
            <a:ext cx="1732804" cy="1281746"/>
          </a:xfrm>
          <a:prstGeom prst="rect">
            <a:avLst/>
          </a:prstGeom>
          <a:solidFill>
            <a:schemeClr val="bg1">
              <a:lumMod val="95000"/>
            </a:schemeClr>
          </a:solidFill>
          <a:ln w="63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91440" tIns="45720" rIns="91440" bIns="45720" numCol="1" spcCol="1270" anchor="ctr" anchorCtr="0">
            <a:noAutofit/>
          </a:bodyPr>
          <a:lstStyle/>
          <a:p>
            <a:pPr algn="ctr"/>
            <a:r>
              <a:rPr lang="en-US" sz="1600">
                <a:solidFill>
                  <a:schemeClr val="tx1"/>
                </a:solidFill>
              </a:rPr>
              <a:t>Scale according to a schedule (weekdays, weekends, times, holidays)</a:t>
            </a:r>
          </a:p>
        </p:txBody>
      </p:sp>
      <p:sp>
        <p:nvSpPr>
          <p:cNvPr id="10" name="Rectangle 9">
            <a:extLst>
              <a:ext uri="{FF2B5EF4-FFF2-40B4-BE49-F238E27FC236}">
                <a16:creationId xmlns:a16="http://schemas.microsoft.com/office/drawing/2014/main" id="{0EF41402-462C-4C7F-8239-65635244A641}"/>
              </a:ext>
            </a:extLst>
          </p:cNvPr>
          <p:cNvSpPr/>
          <p:nvPr/>
        </p:nvSpPr>
        <p:spPr>
          <a:xfrm>
            <a:off x="8451982" y="4890854"/>
            <a:ext cx="1732804" cy="1281746"/>
          </a:xfrm>
          <a:prstGeom prst="rect">
            <a:avLst/>
          </a:prstGeom>
          <a:solidFill>
            <a:schemeClr val="bg1">
              <a:lumMod val="95000"/>
            </a:schemeClr>
          </a:solidFill>
          <a:ln w="63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91440" tIns="45720" rIns="91440" bIns="45720" numCol="1" spcCol="1270" anchor="ctr" anchorCtr="0">
            <a:noAutofit/>
          </a:bodyPr>
          <a:lstStyle/>
          <a:p>
            <a:pPr algn="ctr"/>
            <a:r>
              <a:rPr lang="en-US" sz="1600">
                <a:solidFill>
                  <a:schemeClr val="tx1"/>
                </a:solidFill>
              </a:rPr>
              <a:t>Can implement multiple rules – combine metrics and schedules</a:t>
            </a:r>
          </a:p>
        </p:txBody>
      </p:sp>
      <p:sp>
        <p:nvSpPr>
          <p:cNvPr id="12" name="Rectangle 11">
            <a:extLst>
              <a:ext uri="{FF2B5EF4-FFF2-40B4-BE49-F238E27FC236}">
                <a16:creationId xmlns:a16="http://schemas.microsoft.com/office/drawing/2014/main" id="{61E18EE5-6A10-46B3-895F-28D20E649546}"/>
              </a:ext>
            </a:extLst>
          </p:cNvPr>
          <p:cNvSpPr/>
          <p:nvPr/>
        </p:nvSpPr>
        <p:spPr>
          <a:xfrm>
            <a:off x="10314734" y="4890854"/>
            <a:ext cx="1732804" cy="1281746"/>
          </a:xfrm>
          <a:prstGeom prst="rect">
            <a:avLst/>
          </a:prstGeom>
          <a:solidFill>
            <a:schemeClr val="bg1">
              <a:lumMod val="95000"/>
            </a:schemeClr>
          </a:solidFill>
          <a:ln w="63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91440" tIns="45720" rIns="91440" bIns="45720" numCol="1" spcCol="1270" anchor="ctr" anchorCtr="0">
            <a:noAutofit/>
          </a:bodyPr>
          <a:lstStyle/>
          <a:p>
            <a:pPr algn="ctr"/>
            <a:r>
              <a:rPr lang="en-US" sz="1600">
                <a:solidFill>
                  <a:schemeClr val="tx1"/>
                </a:solidFill>
              </a:rPr>
              <a:t>Don’t forget to scale in</a:t>
            </a:r>
          </a:p>
        </p:txBody>
      </p:sp>
    </p:spTree>
    <p:extLst>
      <p:ext uri="{BB962C8B-B14F-4D97-AF65-F5344CB8AC3E}">
        <p14:creationId xmlns:p14="http://schemas.microsoft.com/office/powerpoint/2010/main" val="1776299470"/>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B1B59-5A29-4ADD-9D90-235AA0014A02}"/>
              </a:ext>
            </a:extLst>
          </p:cNvPr>
          <p:cNvSpPr>
            <a:spLocks noGrp="1"/>
          </p:cNvSpPr>
          <p:nvPr>
            <p:ph type="title"/>
          </p:nvPr>
        </p:nvSpPr>
        <p:spPr/>
        <p:txBody>
          <a:bodyPr/>
          <a:lstStyle/>
          <a:p>
            <a:pPr>
              <a:lnSpc>
                <a:spcPct val="100000"/>
              </a:lnSpc>
            </a:pPr>
            <a:r>
              <a:rPr lang="en-US" spc="0"/>
              <a:t>Demonstration – Configure App Service plans</a:t>
            </a:r>
          </a:p>
        </p:txBody>
      </p:sp>
      <p:sp>
        <p:nvSpPr>
          <p:cNvPr id="28" name="TextBox 27">
            <a:extLst>
              <a:ext uri="{FF2B5EF4-FFF2-40B4-BE49-F238E27FC236}">
                <a16:creationId xmlns:a16="http://schemas.microsoft.com/office/drawing/2014/main" id="{2C706E16-2B09-4472-912F-0F4D17A21846}"/>
              </a:ext>
            </a:extLst>
          </p:cNvPr>
          <p:cNvSpPr txBox="1"/>
          <p:nvPr/>
        </p:nvSpPr>
        <p:spPr>
          <a:xfrm>
            <a:off x="935242" y="1631156"/>
            <a:ext cx="7498753" cy="1593193"/>
          </a:xfrm>
          <a:prstGeom prst="rect">
            <a:avLst/>
          </a:prstGeom>
          <a:noFill/>
        </p:spPr>
        <p:txBody>
          <a:bodyPr wrap="square" lIns="0" tIns="0" rIns="0" bIns="0" rtlCol="0" anchor="ctr">
            <a:spAutoFit/>
          </a:bodyPr>
          <a:lstStyle/>
          <a:p>
            <a:pPr marL="342900" indent="-342900">
              <a:lnSpc>
                <a:spcPct val="150000"/>
              </a:lnSpc>
              <a:buFont typeface="Arial" panose="020B0604020202020204" pitchFamily="34" charset="0"/>
              <a:buChar char="•"/>
            </a:pPr>
            <a:r>
              <a:rPr lang="en-US" sz="2400">
                <a:cs typeface="Segoe UI Semilight"/>
              </a:rPr>
              <a:t>Create and deploy a simple App Service Plan</a:t>
            </a:r>
          </a:p>
          <a:p>
            <a:pPr marL="342900" indent="-342900">
              <a:lnSpc>
                <a:spcPct val="150000"/>
              </a:lnSpc>
              <a:buFont typeface="Arial" panose="020B0604020202020204" pitchFamily="34" charset="0"/>
              <a:buChar char="•"/>
            </a:pPr>
            <a:r>
              <a:rPr lang="en-US" sz="2400">
                <a:cs typeface="Segoe UI Semilight"/>
              </a:rPr>
              <a:t>Review scaling options</a:t>
            </a:r>
          </a:p>
          <a:p>
            <a:pPr marL="342900" indent="-342900">
              <a:lnSpc>
                <a:spcPct val="150000"/>
              </a:lnSpc>
              <a:buFont typeface="Arial" panose="020B0604020202020204" pitchFamily="34" charset="0"/>
              <a:buChar char="•"/>
            </a:pPr>
            <a:endParaRPr lang="en-US" sz="2400">
              <a:cs typeface="Segoe UI Semilight"/>
            </a:endParaRPr>
          </a:p>
        </p:txBody>
      </p:sp>
    </p:spTree>
    <p:extLst>
      <p:ext uri="{BB962C8B-B14F-4D97-AF65-F5344CB8AC3E}">
        <p14:creationId xmlns:p14="http://schemas.microsoft.com/office/powerpoint/2010/main" val="4122508269"/>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p:txBody>
          <a:bodyPr/>
          <a:lstStyle/>
          <a:p>
            <a:pPr>
              <a:lnSpc>
                <a:spcPct val="100000"/>
              </a:lnSpc>
            </a:pPr>
            <a:r>
              <a:rPr lang="en-US" spc="0">
                <a:solidFill>
                  <a:schemeClr val="tx1"/>
                </a:solidFill>
                <a:cs typeface="Segoe UI"/>
              </a:rPr>
              <a:t>Learning Recap – Configure Azure App Service Plans</a:t>
            </a:r>
          </a:p>
        </p:txBody>
      </p:sp>
      <p:sp>
        <p:nvSpPr>
          <p:cNvPr id="9" name="Rectangle 8">
            <a:extLst>
              <a:ext uri="{FF2B5EF4-FFF2-40B4-BE49-F238E27FC236}">
                <a16:creationId xmlns:a16="http://schemas.microsoft.com/office/drawing/2014/main" id="{B5626745-2DE6-48D7-8FBA-2B4F0FA20E74}"/>
              </a:ext>
            </a:extLst>
          </p:cNvPr>
          <p:cNvSpPr/>
          <p:nvPr/>
        </p:nvSpPr>
        <p:spPr>
          <a:xfrm>
            <a:off x="3959183" y="2276887"/>
            <a:ext cx="7742238" cy="1147448"/>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285750" lvl="1" indent="-285750">
              <a:spcAft>
                <a:spcPts val="600"/>
              </a:spcAft>
              <a:buClr>
                <a:schemeClr val="accent3"/>
              </a:buClr>
              <a:buFont typeface="Arial" panose="020B0604020202020204" pitchFamily="34" charset="0"/>
              <a:buChar char="•"/>
            </a:pPr>
            <a:r>
              <a:rPr lang="en-US">
                <a:hlinkClick r:id="rId3"/>
              </a:rPr>
              <a:t>Configure Azure App Service plans </a:t>
            </a:r>
            <a:endParaRPr lang="en-US">
              <a:hlinkClick r:id="rId4"/>
            </a:endParaRPr>
          </a:p>
          <a:p>
            <a:pPr marL="285750" lvl="1" indent="-285750">
              <a:spcAft>
                <a:spcPts val="600"/>
              </a:spcAft>
              <a:buClr>
                <a:schemeClr val="accent3"/>
              </a:buClr>
              <a:buFont typeface="Arial" panose="020B0604020202020204" pitchFamily="34" charset="0"/>
              <a:buChar char="•"/>
            </a:pPr>
            <a:r>
              <a:rPr lang="en-US">
                <a:hlinkClick r:id="rId4"/>
              </a:rPr>
              <a:t>Scale an App Service web app to efficiently meet demand with App Service scale up and scale out </a:t>
            </a:r>
            <a:endParaRPr lang="en-US">
              <a:solidFill>
                <a:schemeClr val="tx1"/>
              </a:solidFill>
              <a:cs typeface="Segoe UI"/>
            </a:endParaRPr>
          </a:p>
        </p:txBody>
      </p:sp>
    </p:spTree>
    <p:extLst>
      <p:ext uri="{BB962C8B-B14F-4D97-AF65-F5344CB8AC3E}">
        <p14:creationId xmlns:p14="http://schemas.microsoft.com/office/powerpoint/2010/main" val="608908287"/>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D8665D-5A50-4F07-9D33-48CCD3FD74C7}"/>
              </a:ext>
            </a:extLst>
          </p:cNvPr>
          <p:cNvSpPr>
            <a:spLocks noGrp="1"/>
          </p:cNvSpPr>
          <p:nvPr>
            <p:ph type="title"/>
          </p:nvPr>
        </p:nvSpPr>
        <p:spPr/>
        <p:txBody>
          <a:bodyPr/>
          <a:lstStyle/>
          <a:p>
            <a:pPr>
              <a:lnSpc>
                <a:spcPct val="100000"/>
              </a:lnSpc>
            </a:pPr>
            <a:r>
              <a:rPr lang="en-US" sz="3200" spc="0"/>
              <a:t>Configure Azure App Services</a:t>
            </a:r>
          </a:p>
        </p:txBody>
      </p:sp>
    </p:spTree>
    <p:extLst>
      <p:ext uri="{BB962C8B-B14F-4D97-AF65-F5344CB8AC3E}">
        <p14:creationId xmlns:p14="http://schemas.microsoft.com/office/powerpoint/2010/main" val="34536843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465138" y="567457"/>
            <a:ext cx="11530584" cy="830020"/>
          </a:xfrm>
        </p:spPr>
        <p:txBody>
          <a:bodyPr/>
          <a:lstStyle/>
          <a:p>
            <a:r>
              <a:rPr lang="en-US"/>
              <a:t>Learning Objectives - Configure Azure App Services</a:t>
            </a:r>
          </a:p>
        </p:txBody>
      </p:sp>
      <p:sp>
        <p:nvSpPr>
          <p:cNvPr id="60" name="TextBox 59">
            <a:extLst>
              <a:ext uri="{FF2B5EF4-FFF2-40B4-BE49-F238E27FC236}">
                <a16:creationId xmlns:a16="http://schemas.microsoft.com/office/drawing/2014/main" id="{2067AF59-F776-4EE0-89F5-04A4A57BE968}"/>
              </a:ext>
            </a:extLst>
          </p:cNvPr>
          <p:cNvSpPr txBox="1"/>
          <p:nvPr/>
        </p:nvSpPr>
        <p:spPr>
          <a:xfrm>
            <a:off x="465138" y="1308760"/>
            <a:ext cx="5892631" cy="4338992"/>
          </a:xfrm>
          <a:prstGeom prst="rect">
            <a:avLst/>
          </a:prstGeom>
          <a:noFill/>
        </p:spPr>
        <p:txBody>
          <a:bodyPr wrap="square" lIns="0" tIns="0" rIns="0" bIns="0" rtlCol="0" anchor="ctr">
            <a:noAutofit/>
          </a:bodyPr>
          <a:lstStyle/>
          <a:p>
            <a:pPr marL="342900" indent="-342900">
              <a:lnSpc>
                <a:spcPct val="150000"/>
              </a:lnSpc>
              <a:buFont typeface="Arial" panose="020B0604020202020204" pitchFamily="34" charset="0"/>
              <a:buChar char="•"/>
            </a:pPr>
            <a:r>
              <a:rPr lang="en-US" sz="2000">
                <a:cs typeface="Segoe UI Semilight"/>
              </a:rPr>
              <a:t>Implement Azure App Service</a:t>
            </a:r>
          </a:p>
          <a:p>
            <a:pPr marL="342900" indent="-342900">
              <a:lnSpc>
                <a:spcPct val="150000"/>
              </a:lnSpc>
              <a:buFont typeface="Arial" panose="020B0604020202020204" pitchFamily="34" charset="0"/>
              <a:buChar char="•"/>
            </a:pPr>
            <a:r>
              <a:rPr lang="en-US" sz="2000">
                <a:cs typeface="Segoe UI Semilight"/>
              </a:rPr>
              <a:t>Create an App Service</a:t>
            </a:r>
          </a:p>
          <a:p>
            <a:pPr marL="342900" indent="-342900">
              <a:lnSpc>
                <a:spcPct val="150000"/>
              </a:lnSpc>
              <a:buFont typeface="Arial" panose="020B0604020202020204" pitchFamily="34" charset="0"/>
              <a:buChar char="•"/>
            </a:pPr>
            <a:r>
              <a:rPr lang="en-US" sz="2000">
                <a:cs typeface="Segoe UI Semilight"/>
              </a:rPr>
              <a:t>Create Deployment Slots</a:t>
            </a:r>
          </a:p>
          <a:p>
            <a:pPr marL="342900" indent="-342900">
              <a:lnSpc>
                <a:spcPct val="150000"/>
              </a:lnSpc>
              <a:buFont typeface="Arial" panose="020B0604020202020204" pitchFamily="34" charset="0"/>
              <a:buChar char="•"/>
            </a:pPr>
            <a:r>
              <a:rPr lang="en-US" sz="2000">
                <a:cs typeface="Segoe UI Semilight"/>
              </a:rPr>
              <a:t>Add Deployment Slots</a:t>
            </a:r>
          </a:p>
          <a:p>
            <a:pPr marL="342900" indent="-342900">
              <a:lnSpc>
                <a:spcPct val="150000"/>
              </a:lnSpc>
              <a:buFont typeface="Arial" panose="020B0604020202020204" pitchFamily="34" charset="0"/>
              <a:buChar char="•"/>
            </a:pPr>
            <a:r>
              <a:rPr lang="en-US" sz="2000">
                <a:cs typeface="Segoe UI Semilight"/>
              </a:rPr>
              <a:t>Secure an App Service</a:t>
            </a:r>
          </a:p>
          <a:p>
            <a:pPr marL="342900" indent="-342900">
              <a:lnSpc>
                <a:spcPct val="150000"/>
              </a:lnSpc>
              <a:buFont typeface="Arial" panose="020B0604020202020204" pitchFamily="34" charset="0"/>
              <a:buChar char="•"/>
            </a:pPr>
            <a:r>
              <a:rPr lang="en-US" sz="2000">
                <a:cs typeface="Segoe UI Semilight"/>
              </a:rPr>
              <a:t>Create Custom Domain Names</a:t>
            </a:r>
          </a:p>
          <a:p>
            <a:pPr marL="342900" indent="-342900">
              <a:lnSpc>
                <a:spcPct val="150000"/>
              </a:lnSpc>
              <a:buFont typeface="Arial" panose="020B0604020202020204" pitchFamily="34" charset="0"/>
              <a:buChar char="•"/>
            </a:pPr>
            <a:r>
              <a:rPr lang="en-US" sz="2000">
                <a:cs typeface="Segoe UI Semilight"/>
              </a:rPr>
              <a:t>Backup an App Service</a:t>
            </a:r>
          </a:p>
          <a:p>
            <a:pPr marL="342900" indent="-342900">
              <a:lnSpc>
                <a:spcPct val="150000"/>
              </a:lnSpc>
              <a:buFont typeface="Arial" panose="020B0604020202020204" pitchFamily="34" charset="0"/>
              <a:buChar char="•"/>
            </a:pPr>
            <a:r>
              <a:rPr lang="en-US" sz="2000">
                <a:cs typeface="Segoe UI Semilight"/>
              </a:rPr>
              <a:t>Demonstration – Azure App Services</a:t>
            </a:r>
          </a:p>
          <a:p>
            <a:pPr marL="342900" indent="-342900">
              <a:lnSpc>
                <a:spcPct val="150000"/>
              </a:lnSpc>
              <a:buFont typeface="Arial" panose="020B0604020202020204" pitchFamily="34" charset="0"/>
              <a:buChar char="•"/>
            </a:pPr>
            <a:r>
              <a:rPr lang="en-US" sz="2000">
                <a:cs typeface="Segoe UI Semilight"/>
              </a:rPr>
              <a:t>Learning Recap</a:t>
            </a:r>
          </a:p>
        </p:txBody>
      </p:sp>
      <p:sp>
        <p:nvSpPr>
          <p:cNvPr id="3" name="TextBox 2">
            <a:extLst>
              <a:ext uri="{FF2B5EF4-FFF2-40B4-BE49-F238E27FC236}">
                <a16:creationId xmlns:a16="http://schemas.microsoft.com/office/drawing/2014/main" id="{F38C71F0-23A1-3165-2308-B7071935CE88}"/>
              </a:ext>
            </a:extLst>
          </p:cNvPr>
          <p:cNvSpPr txBox="1"/>
          <p:nvPr/>
        </p:nvSpPr>
        <p:spPr>
          <a:xfrm>
            <a:off x="6472355" y="1716224"/>
            <a:ext cx="4761702" cy="3123932"/>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600"/>
              </a:spcAft>
              <a:buClrTx/>
              <a:buSzTx/>
              <a:buFontTx/>
              <a:buNone/>
              <a:tabLst/>
              <a:defRPr/>
            </a:pPr>
            <a:r>
              <a:rPr kumimoji="0" lang="en-US" b="0" i="0" u="none" strike="noStrike" kern="0" cap="none" spc="0" normalizeH="0" baseline="0" noProof="0">
                <a:ln>
                  <a:noFill/>
                </a:ln>
                <a:solidFill>
                  <a:srgbClr val="243A5E"/>
                </a:solidFill>
                <a:effectLst/>
                <a:uLnTx/>
                <a:uFillTx/>
              </a:rPr>
              <a:t>Implement and manage Azure compute resources (20-25%): Create and configure Azure App Service</a:t>
            </a:r>
          </a:p>
          <a:p>
            <a:pPr marL="173038" indent="-173038" defTabSz="914400">
              <a:spcAft>
                <a:spcPts val="600"/>
              </a:spcAft>
              <a:buFont typeface="Arial" panose="020B0604020202020204" pitchFamily="34" charset="0"/>
              <a:buChar char="•"/>
              <a:defRPr/>
            </a:pPr>
            <a:r>
              <a:rPr kumimoji="0" lang="en-US" b="0" i="0" u="none" strike="noStrike" kern="0" cap="none" spc="0" normalizeH="0" baseline="0" noProof="0">
                <a:ln>
                  <a:noFill/>
                </a:ln>
                <a:solidFill>
                  <a:srgbClr val="000000"/>
                </a:solidFill>
                <a:effectLst/>
                <a:uLnTx/>
                <a:uFillTx/>
              </a:rPr>
              <a:t>Create an App Service</a:t>
            </a:r>
          </a:p>
          <a:p>
            <a:pPr marL="173038" indent="-173038" defTabSz="914400">
              <a:spcAft>
                <a:spcPts val="600"/>
              </a:spcAft>
              <a:buFont typeface="Arial" panose="020B0604020202020204" pitchFamily="34" charset="0"/>
              <a:buChar char="•"/>
              <a:defRPr/>
            </a:pPr>
            <a:r>
              <a:rPr kumimoji="0" lang="en-US" b="0" i="0" u="none" strike="noStrike" kern="0" cap="none" spc="0" normalizeH="0" baseline="0" noProof="0">
                <a:ln>
                  <a:noFill/>
                </a:ln>
                <a:solidFill>
                  <a:srgbClr val="000000"/>
                </a:solidFill>
                <a:effectLst/>
                <a:uLnTx/>
                <a:uFillTx/>
              </a:rPr>
              <a:t>Configure certificates and TLS</a:t>
            </a:r>
          </a:p>
          <a:p>
            <a:pPr marL="173038" indent="-173038" defTabSz="914400">
              <a:spcAft>
                <a:spcPts val="600"/>
              </a:spcAft>
              <a:buFont typeface="Arial" panose="020B0604020202020204" pitchFamily="34" charset="0"/>
              <a:buChar char="•"/>
              <a:defRPr/>
            </a:pPr>
            <a:r>
              <a:rPr kumimoji="0" lang="en-US" b="0" i="0" u="none" strike="noStrike" kern="0" cap="none" spc="0" normalizeH="0" baseline="0" noProof="0">
                <a:ln>
                  <a:noFill/>
                </a:ln>
                <a:solidFill>
                  <a:srgbClr val="000000"/>
                </a:solidFill>
                <a:effectLst/>
                <a:uLnTx/>
                <a:uFillTx/>
              </a:rPr>
              <a:t>Map an existing custom DNS name</a:t>
            </a:r>
          </a:p>
          <a:p>
            <a:pPr marL="173038" indent="-173038" defTabSz="914400">
              <a:spcAft>
                <a:spcPts val="600"/>
              </a:spcAft>
              <a:buFont typeface="Arial" panose="020B0604020202020204" pitchFamily="34" charset="0"/>
              <a:buChar char="•"/>
              <a:defRPr/>
            </a:pPr>
            <a:r>
              <a:rPr kumimoji="0" lang="en-US" b="0" i="0" u="none" strike="noStrike" kern="0" cap="none" spc="0" normalizeH="0" baseline="0" noProof="0">
                <a:ln>
                  <a:noFill/>
                </a:ln>
                <a:solidFill>
                  <a:srgbClr val="000000"/>
                </a:solidFill>
                <a:effectLst/>
                <a:uLnTx/>
                <a:uFillTx/>
              </a:rPr>
              <a:t>Configure backup</a:t>
            </a:r>
          </a:p>
          <a:p>
            <a:pPr marL="173038" indent="-173038" defTabSz="914400">
              <a:spcAft>
                <a:spcPts val="600"/>
              </a:spcAft>
              <a:buFont typeface="Arial" panose="020B0604020202020204" pitchFamily="34" charset="0"/>
              <a:buChar char="•"/>
              <a:defRPr/>
            </a:pPr>
            <a:r>
              <a:rPr kumimoji="0" lang="en-US" b="0" i="0" u="none" strike="noStrike" kern="0" cap="none" spc="0" normalizeH="0" baseline="0" noProof="0">
                <a:ln>
                  <a:noFill/>
                </a:ln>
                <a:solidFill>
                  <a:srgbClr val="000000"/>
                </a:solidFill>
                <a:effectLst/>
                <a:uLnTx/>
                <a:uFillTx/>
              </a:rPr>
              <a:t>Configure networking settings</a:t>
            </a:r>
          </a:p>
          <a:p>
            <a:pPr marL="173038" indent="-173038" defTabSz="914400">
              <a:spcAft>
                <a:spcPts val="600"/>
              </a:spcAft>
              <a:buFont typeface="Arial" panose="020B0604020202020204" pitchFamily="34" charset="0"/>
              <a:buChar char="•"/>
              <a:defRPr/>
            </a:pPr>
            <a:r>
              <a:rPr kumimoji="0" lang="en-US" b="0" i="0" u="none" strike="noStrike" kern="0" cap="none" spc="0" normalizeH="0" baseline="0" noProof="0">
                <a:ln>
                  <a:noFill/>
                </a:ln>
                <a:solidFill>
                  <a:srgbClr val="000000"/>
                </a:solidFill>
                <a:effectLst/>
                <a:uLnTx/>
                <a:uFillTx/>
              </a:rPr>
              <a:t>Configure deployment slots</a:t>
            </a:r>
          </a:p>
        </p:txBody>
      </p:sp>
    </p:spTree>
    <p:extLst>
      <p:ext uri="{BB962C8B-B14F-4D97-AF65-F5344CB8AC3E}">
        <p14:creationId xmlns:p14="http://schemas.microsoft.com/office/powerpoint/2010/main" val="4147747430"/>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pPr>
              <a:lnSpc>
                <a:spcPct val="100000"/>
              </a:lnSpc>
            </a:pPr>
            <a:r>
              <a:rPr lang="en-US" spc="0">
                <a:solidFill>
                  <a:schemeClr val="tx1"/>
                </a:solidFill>
              </a:rPr>
              <a:t>Implement Azure App Service</a:t>
            </a:r>
          </a:p>
        </p:txBody>
      </p:sp>
      <p:sp>
        <p:nvSpPr>
          <p:cNvPr id="2" name="Rectangle 1">
            <a:extLst>
              <a:ext uri="{FF2B5EF4-FFF2-40B4-BE49-F238E27FC236}">
                <a16:creationId xmlns:a16="http://schemas.microsoft.com/office/drawing/2014/main" id="{E671AFEA-66A1-400A-9F14-3DBB100F271A}"/>
              </a:ext>
            </a:extLst>
          </p:cNvPr>
          <p:cNvSpPr/>
          <p:nvPr/>
        </p:nvSpPr>
        <p:spPr bwMode="auto">
          <a:xfrm>
            <a:off x="465138" y="1348128"/>
            <a:ext cx="7484544" cy="4747871"/>
          </a:xfrm>
          <a:prstGeom prst="rect">
            <a:avLst/>
          </a:prstGeom>
          <a:solidFill>
            <a:schemeClr val="bg1">
              <a:lumMod val="95000"/>
            </a:schemeClr>
          </a:solidFill>
          <a:ln>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t" anchorCtr="0" forceAA="0" compatLnSpc="1">
            <a:prstTxWarp prst="textNoShape">
              <a:avLst/>
            </a:prstTxWarp>
            <a:noAutofit/>
          </a:bodyPr>
          <a:lstStyle/>
          <a:p>
            <a:pPr marL="225425" indent="-225425">
              <a:spcAft>
                <a:spcPts val="1200"/>
              </a:spcAft>
              <a:buFont typeface="Arial" panose="020B0604020202020204" pitchFamily="34" charset="0"/>
              <a:buChar char="•"/>
            </a:pPr>
            <a:r>
              <a:rPr lang="en-US" sz="2000">
                <a:solidFill>
                  <a:schemeClr val="tx1"/>
                </a:solidFill>
                <a:cs typeface="Segoe UI Semilight"/>
              </a:rPr>
              <a:t>Includes Web Apps, API Apps, Mobile Apps, and Function Apps</a:t>
            </a:r>
          </a:p>
          <a:p>
            <a:pPr marL="225425" indent="-225425">
              <a:spcAft>
                <a:spcPts val="1200"/>
              </a:spcAft>
              <a:buFont typeface="Arial" panose="020B0604020202020204" pitchFamily="34" charset="0"/>
              <a:buChar char="•"/>
            </a:pPr>
            <a:r>
              <a:rPr lang="en-US" sz="2000">
                <a:solidFill>
                  <a:schemeClr val="tx1"/>
                </a:solidFill>
                <a:cs typeface="Segoe UI Semilight"/>
              </a:rPr>
              <a:t>Fully managed environment enabling high productivity development</a:t>
            </a:r>
          </a:p>
          <a:p>
            <a:pPr marL="225425" indent="-225425">
              <a:spcAft>
                <a:spcPts val="1200"/>
              </a:spcAft>
              <a:buFont typeface="Arial" panose="020B0604020202020204" pitchFamily="34" charset="0"/>
              <a:buChar char="•"/>
            </a:pPr>
            <a:r>
              <a:rPr lang="en-US" sz="2000">
                <a:solidFill>
                  <a:schemeClr val="tx1"/>
                </a:solidFill>
                <a:cs typeface="Segoe UI Semilight"/>
              </a:rPr>
              <a:t>Platform-as-a-service (PaaS) offering for building and deploying highly available cloud apps </a:t>
            </a:r>
            <a:br>
              <a:rPr lang="en-US" sz="2000">
                <a:solidFill>
                  <a:schemeClr val="tx1"/>
                </a:solidFill>
                <a:cs typeface="Segoe UI Semilight"/>
              </a:rPr>
            </a:br>
            <a:r>
              <a:rPr lang="en-US" sz="2000">
                <a:solidFill>
                  <a:schemeClr val="tx1"/>
                </a:solidFill>
                <a:cs typeface="Segoe UI Semilight"/>
              </a:rPr>
              <a:t>for web and mobile</a:t>
            </a:r>
          </a:p>
          <a:p>
            <a:pPr marL="225425" indent="-225425">
              <a:spcAft>
                <a:spcPts val="1200"/>
              </a:spcAft>
              <a:buFont typeface="Arial" panose="020B0604020202020204" pitchFamily="34" charset="0"/>
              <a:buChar char="•"/>
            </a:pPr>
            <a:r>
              <a:rPr lang="en-US" sz="2000">
                <a:solidFill>
                  <a:schemeClr val="tx1"/>
                </a:solidFill>
                <a:cs typeface="Segoe UI Semilight"/>
              </a:rPr>
              <a:t>Platform handles infrastructure so developers focus on core web apps and services</a:t>
            </a:r>
          </a:p>
          <a:p>
            <a:pPr marL="225425" indent="-225425">
              <a:spcAft>
                <a:spcPts val="1200"/>
              </a:spcAft>
              <a:buFont typeface="Arial" panose="020B0604020202020204" pitchFamily="34" charset="0"/>
              <a:buChar char="•"/>
            </a:pPr>
            <a:r>
              <a:rPr lang="en-US" sz="2000">
                <a:solidFill>
                  <a:schemeClr val="tx1"/>
                </a:solidFill>
                <a:cs typeface="Segoe UI Semilight"/>
              </a:rPr>
              <a:t>Developer productivity using .NET, .NET Core, Java, Python and a host of others</a:t>
            </a:r>
          </a:p>
          <a:p>
            <a:pPr marL="225425" indent="-225425">
              <a:spcAft>
                <a:spcPts val="1200"/>
              </a:spcAft>
              <a:buFont typeface="Arial" panose="020B0604020202020204" pitchFamily="34" charset="0"/>
              <a:buChar char="•"/>
            </a:pPr>
            <a:r>
              <a:rPr lang="en-US" sz="2000">
                <a:solidFill>
                  <a:schemeClr val="tx1"/>
                </a:solidFill>
                <a:cs typeface="Segoe UI Semilight"/>
              </a:rPr>
              <a:t>Provides enterprise-grade security and compliance</a:t>
            </a:r>
          </a:p>
        </p:txBody>
      </p:sp>
      <p:pic>
        <p:nvPicPr>
          <p:cNvPr id="4" name="Picture 3" descr="List of QuickStart programs like Python and PHP. ">
            <a:extLst>
              <a:ext uri="{FF2B5EF4-FFF2-40B4-BE49-F238E27FC236}">
                <a16:creationId xmlns:a16="http://schemas.microsoft.com/office/drawing/2014/main" id="{8A4269CB-CB42-89DB-B1C2-F9D84B4EB7E5}"/>
              </a:ext>
            </a:extLst>
          </p:cNvPr>
          <p:cNvPicPr>
            <a:picLocks noChangeAspect="1"/>
          </p:cNvPicPr>
          <p:nvPr/>
        </p:nvPicPr>
        <p:blipFill>
          <a:blip r:embed="rId3"/>
          <a:stretch>
            <a:fillRect/>
          </a:stretch>
        </p:blipFill>
        <p:spPr>
          <a:xfrm>
            <a:off x="8387360" y="1868129"/>
            <a:ext cx="2861902" cy="3140297"/>
          </a:xfrm>
          <a:prstGeom prst="rect">
            <a:avLst/>
          </a:prstGeom>
          <a:ln>
            <a:solidFill>
              <a:schemeClr val="bg1">
                <a:lumMod val="85000"/>
              </a:schemeClr>
            </a:solidFill>
          </a:ln>
        </p:spPr>
      </p:pic>
    </p:spTree>
    <p:extLst>
      <p:ext uri="{BB962C8B-B14F-4D97-AF65-F5344CB8AC3E}">
        <p14:creationId xmlns:p14="http://schemas.microsoft.com/office/powerpoint/2010/main" val="94673166"/>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6F7D4-A10D-4CEB-8507-7729B45F09AC}"/>
              </a:ext>
            </a:extLst>
          </p:cNvPr>
          <p:cNvSpPr>
            <a:spLocks noGrp="1"/>
          </p:cNvSpPr>
          <p:nvPr>
            <p:ph type="title"/>
          </p:nvPr>
        </p:nvSpPr>
        <p:spPr/>
        <p:txBody>
          <a:bodyPr/>
          <a:lstStyle/>
          <a:p>
            <a:pPr>
              <a:lnSpc>
                <a:spcPct val="100000"/>
              </a:lnSpc>
            </a:pPr>
            <a:r>
              <a:rPr lang="en-US" spc="0">
                <a:solidFill>
                  <a:schemeClr val="tx1"/>
                </a:solidFill>
              </a:rPr>
              <a:t>Create an App Service</a:t>
            </a:r>
          </a:p>
        </p:txBody>
      </p:sp>
      <p:sp>
        <p:nvSpPr>
          <p:cNvPr id="7" name="Rectangle 6">
            <a:extLst>
              <a:ext uri="{FF2B5EF4-FFF2-40B4-BE49-F238E27FC236}">
                <a16:creationId xmlns:a16="http://schemas.microsoft.com/office/drawing/2014/main" id="{BE0013CD-E608-4D87-8B1C-71A250588B67}"/>
              </a:ext>
            </a:extLst>
          </p:cNvPr>
          <p:cNvSpPr/>
          <p:nvPr/>
        </p:nvSpPr>
        <p:spPr>
          <a:xfrm>
            <a:off x="440753" y="1397477"/>
            <a:ext cx="5122862" cy="460789"/>
          </a:xfrm>
          <a:prstGeom prst="rect">
            <a:avLst/>
          </a:pr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2880" tIns="137160" rIns="182880" bIns="137160" numCol="1" spcCol="1270" anchor="ctr" anchorCtr="0">
            <a:noAutofit/>
          </a:bodyPr>
          <a:lstStyle/>
          <a:p>
            <a:pPr marL="0" lvl="0" indent="0" algn="l" defTabSz="711200">
              <a:spcBef>
                <a:spcPct val="0"/>
              </a:spcBef>
              <a:spcAft>
                <a:spcPct val="35000"/>
              </a:spcAft>
              <a:buNone/>
            </a:pPr>
            <a:r>
              <a:rPr lang="en-US" sz="2000" kern="1200">
                <a:solidFill>
                  <a:schemeClr val="tx1"/>
                </a:solidFill>
              </a:rPr>
              <a:t>Name must be unique</a:t>
            </a:r>
            <a:endParaRPr lang="en-IN" sz="2000" kern="1200">
              <a:solidFill>
                <a:schemeClr val="tx1"/>
              </a:solidFill>
            </a:endParaRPr>
          </a:p>
        </p:txBody>
      </p:sp>
      <p:sp>
        <p:nvSpPr>
          <p:cNvPr id="8" name="Rectangle 7">
            <a:extLst>
              <a:ext uri="{FF2B5EF4-FFF2-40B4-BE49-F238E27FC236}">
                <a16:creationId xmlns:a16="http://schemas.microsoft.com/office/drawing/2014/main" id="{35EF41C1-5F0C-4B67-94A8-5A187CBF96C4}"/>
              </a:ext>
            </a:extLst>
          </p:cNvPr>
          <p:cNvSpPr/>
          <p:nvPr/>
        </p:nvSpPr>
        <p:spPr>
          <a:xfrm>
            <a:off x="440753" y="2017119"/>
            <a:ext cx="5122862" cy="767982"/>
          </a:xfrm>
          <a:prstGeom prst="rect">
            <a:avLst/>
          </a:pr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2880" tIns="137160" rIns="182880" bIns="137160" numCol="1" spcCol="1270" anchor="ctr" anchorCtr="0">
            <a:noAutofit/>
          </a:bodyPr>
          <a:lstStyle/>
          <a:p>
            <a:pPr marL="0" lvl="0" indent="0" algn="l" defTabSz="711200">
              <a:spcBef>
                <a:spcPct val="0"/>
              </a:spcBef>
              <a:spcAft>
                <a:spcPct val="35000"/>
              </a:spcAft>
              <a:buNone/>
            </a:pPr>
            <a:r>
              <a:rPr lang="en-US" sz="2000" kern="1200">
                <a:solidFill>
                  <a:schemeClr val="tx1"/>
                </a:solidFill>
              </a:rPr>
              <a:t>Access using </a:t>
            </a:r>
            <a:r>
              <a:rPr lang="en-US" sz="2000" i="1" kern="1200">
                <a:solidFill>
                  <a:schemeClr val="tx1"/>
                </a:solidFill>
              </a:rPr>
              <a:t>azurewebsites.net – </a:t>
            </a:r>
            <a:r>
              <a:rPr lang="en-US" sz="2000" kern="1200">
                <a:solidFill>
                  <a:schemeClr val="tx1"/>
                </a:solidFill>
              </a:rPr>
              <a:t>can map to a custom domain</a:t>
            </a:r>
            <a:endParaRPr lang="en-IN" sz="2000" kern="1200">
              <a:solidFill>
                <a:schemeClr val="tx1"/>
              </a:solidFill>
            </a:endParaRPr>
          </a:p>
        </p:txBody>
      </p:sp>
      <p:sp>
        <p:nvSpPr>
          <p:cNvPr id="9" name="Rectangle 8">
            <a:extLst>
              <a:ext uri="{FF2B5EF4-FFF2-40B4-BE49-F238E27FC236}">
                <a16:creationId xmlns:a16="http://schemas.microsoft.com/office/drawing/2014/main" id="{A15791AE-389A-4934-9DA1-3E869CF2958C}"/>
              </a:ext>
            </a:extLst>
          </p:cNvPr>
          <p:cNvSpPr/>
          <p:nvPr/>
        </p:nvSpPr>
        <p:spPr>
          <a:xfrm>
            <a:off x="440753" y="2943954"/>
            <a:ext cx="5122862" cy="460789"/>
          </a:xfrm>
          <a:prstGeom prst="rect">
            <a:avLst/>
          </a:pr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2880" tIns="137160" rIns="182880" bIns="137160" numCol="1" spcCol="1270" anchor="ctr" anchorCtr="0">
            <a:noAutofit/>
          </a:bodyPr>
          <a:lstStyle/>
          <a:p>
            <a:pPr marL="0" lvl="0" indent="0" algn="l" defTabSz="711200">
              <a:spcBef>
                <a:spcPct val="0"/>
              </a:spcBef>
              <a:spcAft>
                <a:spcPct val="35000"/>
              </a:spcAft>
              <a:buNone/>
            </a:pPr>
            <a:r>
              <a:rPr lang="en-US" sz="2000" kern="1200">
                <a:solidFill>
                  <a:schemeClr val="tx1"/>
                </a:solidFill>
              </a:rPr>
              <a:t>Publish Code (Runtime Stack) </a:t>
            </a:r>
            <a:endParaRPr lang="en-IN" sz="2000" kern="1200">
              <a:solidFill>
                <a:schemeClr val="tx1"/>
              </a:solidFill>
            </a:endParaRPr>
          </a:p>
        </p:txBody>
      </p:sp>
      <p:sp>
        <p:nvSpPr>
          <p:cNvPr id="11" name="Rectangle 10">
            <a:extLst>
              <a:ext uri="{FF2B5EF4-FFF2-40B4-BE49-F238E27FC236}">
                <a16:creationId xmlns:a16="http://schemas.microsoft.com/office/drawing/2014/main" id="{900AA868-E8C0-4E58-A73B-E82C63DC546D}"/>
              </a:ext>
            </a:extLst>
          </p:cNvPr>
          <p:cNvSpPr/>
          <p:nvPr/>
        </p:nvSpPr>
        <p:spPr>
          <a:xfrm>
            <a:off x="440753" y="3563596"/>
            <a:ext cx="5122862" cy="460789"/>
          </a:xfrm>
          <a:prstGeom prst="rect">
            <a:avLst/>
          </a:pr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2880" tIns="137160" rIns="182880" bIns="137160" numCol="1" spcCol="1270" anchor="ctr" anchorCtr="0">
            <a:noAutofit/>
          </a:bodyPr>
          <a:lstStyle/>
          <a:p>
            <a:pPr marL="0" lvl="0" indent="0" algn="l" defTabSz="711200">
              <a:spcBef>
                <a:spcPct val="0"/>
              </a:spcBef>
              <a:spcAft>
                <a:spcPct val="35000"/>
              </a:spcAft>
              <a:buNone/>
            </a:pPr>
            <a:r>
              <a:rPr lang="en-US" sz="2000" kern="1200">
                <a:solidFill>
                  <a:schemeClr val="tx1"/>
                </a:solidFill>
              </a:rPr>
              <a:t>Publish Docker Container </a:t>
            </a:r>
            <a:endParaRPr lang="en-IN" sz="2000" kern="1200">
              <a:solidFill>
                <a:schemeClr val="tx1"/>
              </a:solidFill>
            </a:endParaRPr>
          </a:p>
        </p:txBody>
      </p:sp>
      <p:sp>
        <p:nvSpPr>
          <p:cNvPr id="12" name="Rectangle 11">
            <a:extLst>
              <a:ext uri="{FF2B5EF4-FFF2-40B4-BE49-F238E27FC236}">
                <a16:creationId xmlns:a16="http://schemas.microsoft.com/office/drawing/2014/main" id="{73264C0C-40B4-4342-BD6C-CF7BCF25B801}"/>
              </a:ext>
            </a:extLst>
          </p:cNvPr>
          <p:cNvSpPr/>
          <p:nvPr/>
        </p:nvSpPr>
        <p:spPr>
          <a:xfrm>
            <a:off x="440753" y="4183238"/>
            <a:ext cx="5122862" cy="460789"/>
          </a:xfrm>
          <a:prstGeom prst="rect">
            <a:avLst/>
          </a:pr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2880" tIns="137160" rIns="182880" bIns="137160" numCol="1" spcCol="1270" anchor="ctr" anchorCtr="0">
            <a:noAutofit/>
          </a:bodyPr>
          <a:lstStyle/>
          <a:p>
            <a:pPr marL="0" lvl="0" indent="0" algn="l" defTabSz="711200">
              <a:spcBef>
                <a:spcPct val="0"/>
              </a:spcBef>
              <a:spcAft>
                <a:spcPct val="35000"/>
              </a:spcAft>
              <a:buNone/>
            </a:pPr>
            <a:r>
              <a:rPr lang="en-US" sz="2000" kern="1200">
                <a:solidFill>
                  <a:schemeClr val="tx1"/>
                </a:solidFill>
              </a:rPr>
              <a:t>Linux or Windows</a:t>
            </a:r>
            <a:endParaRPr lang="en-IN" sz="2000" kern="1200">
              <a:solidFill>
                <a:schemeClr val="tx1"/>
              </a:solidFill>
            </a:endParaRPr>
          </a:p>
        </p:txBody>
      </p:sp>
      <p:sp>
        <p:nvSpPr>
          <p:cNvPr id="13" name="Rectangle 12">
            <a:extLst>
              <a:ext uri="{FF2B5EF4-FFF2-40B4-BE49-F238E27FC236}">
                <a16:creationId xmlns:a16="http://schemas.microsoft.com/office/drawing/2014/main" id="{3CD48C92-B9CE-4B52-A857-FCEAE788EA27}"/>
              </a:ext>
            </a:extLst>
          </p:cNvPr>
          <p:cNvSpPr/>
          <p:nvPr/>
        </p:nvSpPr>
        <p:spPr>
          <a:xfrm>
            <a:off x="440753" y="4802881"/>
            <a:ext cx="5122862" cy="460789"/>
          </a:xfrm>
          <a:prstGeom prst="rect">
            <a:avLst/>
          </a:pr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2880" tIns="137160" rIns="182880" bIns="137160" numCol="1" spcCol="1270" anchor="ctr" anchorCtr="0">
            <a:noAutofit/>
          </a:bodyPr>
          <a:lstStyle/>
          <a:p>
            <a:pPr marL="0" lvl="0" indent="0" algn="l" defTabSz="711200">
              <a:spcBef>
                <a:spcPct val="0"/>
              </a:spcBef>
              <a:spcAft>
                <a:spcPct val="35000"/>
              </a:spcAft>
              <a:buNone/>
            </a:pPr>
            <a:r>
              <a:rPr lang="en-US" sz="2000" kern="1200">
                <a:solidFill>
                  <a:schemeClr val="tx1"/>
                </a:solidFill>
              </a:rPr>
              <a:t>Region closest to your users</a:t>
            </a:r>
            <a:endParaRPr lang="en-IN" sz="2000" kern="1200">
              <a:solidFill>
                <a:schemeClr val="tx1"/>
              </a:solidFill>
            </a:endParaRPr>
          </a:p>
        </p:txBody>
      </p:sp>
      <p:sp>
        <p:nvSpPr>
          <p:cNvPr id="14" name="Rectangle 13">
            <a:extLst>
              <a:ext uri="{FF2B5EF4-FFF2-40B4-BE49-F238E27FC236}">
                <a16:creationId xmlns:a16="http://schemas.microsoft.com/office/drawing/2014/main" id="{821E5E01-714F-4DF4-9572-E0842DAE1E75}"/>
              </a:ext>
            </a:extLst>
          </p:cNvPr>
          <p:cNvSpPr/>
          <p:nvPr/>
        </p:nvSpPr>
        <p:spPr>
          <a:xfrm>
            <a:off x="440753" y="5422524"/>
            <a:ext cx="5122862" cy="460789"/>
          </a:xfrm>
          <a:prstGeom prst="rect">
            <a:avLst/>
          </a:pr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2880" tIns="137160" rIns="182880" bIns="137160" numCol="1" spcCol="1270" anchor="ctr" anchorCtr="0">
            <a:noAutofit/>
          </a:bodyPr>
          <a:lstStyle/>
          <a:p>
            <a:pPr marL="0" lvl="0" indent="0" algn="l" defTabSz="711200">
              <a:spcBef>
                <a:spcPct val="0"/>
              </a:spcBef>
              <a:spcAft>
                <a:spcPct val="35000"/>
              </a:spcAft>
              <a:buNone/>
            </a:pPr>
            <a:r>
              <a:rPr lang="en-US" sz="2000" kern="1200">
                <a:solidFill>
                  <a:schemeClr val="tx1"/>
                </a:solidFill>
              </a:rPr>
              <a:t>App Service Plan</a:t>
            </a:r>
            <a:endParaRPr lang="en-IN" sz="2000" kern="1200">
              <a:solidFill>
                <a:schemeClr val="tx1"/>
              </a:solidFill>
            </a:endParaRPr>
          </a:p>
        </p:txBody>
      </p:sp>
      <p:pic>
        <p:nvPicPr>
          <p:cNvPr id="4" name="Picture 3" descr="Screenshot of the Create Web App configuration page including the Publish radio button for Code or Docker Image">
            <a:extLst>
              <a:ext uri="{FF2B5EF4-FFF2-40B4-BE49-F238E27FC236}">
                <a16:creationId xmlns:a16="http://schemas.microsoft.com/office/drawing/2014/main" id="{E2198030-9872-5120-F31B-D4D92219C8A3}"/>
              </a:ext>
            </a:extLst>
          </p:cNvPr>
          <p:cNvPicPr>
            <a:picLocks noChangeAspect="1"/>
          </p:cNvPicPr>
          <p:nvPr/>
        </p:nvPicPr>
        <p:blipFill>
          <a:blip r:embed="rId3"/>
          <a:stretch>
            <a:fillRect/>
          </a:stretch>
        </p:blipFill>
        <p:spPr>
          <a:xfrm>
            <a:off x="6231731" y="1264961"/>
            <a:ext cx="5513556" cy="5024036"/>
          </a:xfrm>
          <a:prstGeom prst="rect">
            <a:avLst/>
          </a:prstGeom>
        </p:spPr>
      </p:pic>
    </p:spTree>
    <p:extLst>
      <p:ext uri="{BB962C8B-B14F-4D97-AF65-F5344CB8AC3E}">
        <p14:creationId xmlns:p14="http://schemas.microsoft.com/office/powerpoint/2010/main" val="3475508525"/>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a:t>Create Deployment Slots</a:t>
            </a:r>
          </a:p>
        </p:txBody>
      </p:sp>
      <p:sp>
        <p:nvSpPr>
          <p:cNvPr id="28" name="TextBox 27">
            <a:extLst>
              <a:ext uri="{FF2B5EF4-FFF2-40B4-BE49-F238E27FC236}">
                <a16:creationId xmlns:a16="http://schemas.microsoft.com/office/drawing/2014/main" id="{24495777-FC90-4ADD-9BC1-1CF728448D00}"/>
              </a:ext>
            </a:extLst>
          </p:cNvPr>
          <p:cNvSpPr txBox="1"/>
          <p:nvPr/>
        </p:nvSpPr>
        <p:spPr>
          <a:xfrm>
            <a:off x="726223" y="1413343"/>
            <a:ext cx="4193199" cy="276999"/>
          </a:xfrm>
          <a:prstGeom prst="rect">
            <a:avLst/>
          </a:prstGeom>
          <a:noFill/>
        </p:spPr>
        <p:txBody>
          <a:bodyPr wrap="none" lIns="0" tIns="0" rIns="0" bIns="0" rtlCol="0" anchor="t">
            <a:spAutoFit/>
          </a:bodyPr>
          <a:lstStyle/>
          <a:p>
            <a:pPr>
              <a:spcAft>
                <a:spcPts val="600"/>
              </a:spcAft>
            </a:pPr>
            <a:r>
              <a:rPr lang="en-US">
                <a:latin typeface="+mj-lt"/>
              </a:rPr>
              <a:t>Continuous Deployment with Stage Slot</a:t>
            </a:r>
            <a:endParaRPr lang="en-IN">
              <a:latin typeface="+mj-lt"/>
            </a:endParaRPr>
          </a:p>
        </p:txBody>
      </p:sp>
      <p:grpSp>
        <p:nvGrpSpPr>
          <p:cNvPr id="6" name="Group 5" descr="Graphic showing that two developers are sending information to GitHub. GitHub is sending information to the Staging slot. A production slot is shown which can swap information with the staging slot">
            <a:extLst>
              <a:ext uri="{FF2B5EF4-FFF2-40B4-BE49-F238E27FC236}">
                <a16:creationId xmlns:a16="http://schemas.microsoft.com/office/drawing/2014/main" id="{9136BC3A-A3D0-46F8-A356-4591700530EF}"/>
              </a:ext>
            </a:extLst>
          </p:cNvPr>
          <p:cNvGrpSpPr/>
          <p:nvPr/>
        </p:nvGrpSpPr>
        <p:grpSpPr>
          <a:xfrm>
            <a:off x="732426" y="2150316"/>
            <a:ext cx="5685194" cy="2429358"/>
            <a:chOff x="732426" y="2150316"/>
            <a:chExt cx="5685194" cy="2429358"/>
          </a:xfrm>
        </p:grpSpPr>
        <p:pic>
          <p:nvPicPr>
            <p:cNvPr id="33" name="Picture 32" descr="Icon of a computer screen">
              <a:extLst>
                <a:ext uri="{FF2B5EF4-FFF2-40B4-BE49-F238E27FC236}">
                  <a16:creationId xmlns:a16="http://schemas.microsoft.com/office/drawing/2014/main" id="{422338C3-931A-477F-A772-4CFA3F0A6BEF}"/>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920209" y="2150316"/>
              <a:ext cx="439465" cy="439465"/>
            </a:xfrm>
            <a:prstGeom prst="rect">
              <a:avLst/>
            </a:prstGeom>
          </p:spPr>
        </p:pic>
        <p:sp>
          <p:nvSpPr>
            <p:cNvPr id="30" name="TextBox 29">
              <a:extLst>
                <a:ext uri="{FF2B5EF4-FFF2-40B4-BE49-F238E27FC236}">
                  <a16:creationId xmlns:a16="http://schemas.microsoft.com/office/drawing/2014/main" id="{BAD85E3F-1479-4FBA-AE7D-216D49243242}"/>
                </a:ext>
              </a:extLst>
            </p:cNvPr>
            <p:cNvSpPr txBox="1"/>
            <p:nvPr/>
          </p:nvSpPr>
          <p:spPr>
            <a:xfrm>
              <a:off x="732426" y="2691418"/>
              <a:ext cx="815031" cy="184666"/>
            </a:xfrm>
            <a:prstGeom prst="rect">
              <a:avLst/>
            </a:prstGeom>
            <a:noFill/>
          </p:spPr>
          <p:txBody>
            <a:bodyPr wrap="none" lIns="0" tIns="0" rIns="0" bIns="0" rtlCol="0" anchor="t">
              <a:spAutoFit/>
            </a:bodyPr>
            <a:lstStyle/>
            <a:p>
              <a:pPr>
                <a:spcAft>
                  <a:spcPts val="600"/>
                </a:spcAft>
              </a:pPr>
              <a:r>
                <a:rPr lang="en-US" sz="1200"/>
                <a:t>Developer 1</a:t>
              </a:r>
              <a:endParaRPr lang="en-IN" sz="1200"/>
            </a:p>
          </p:txBody>
        </p:sp>
        <p:cxnSp>
          <p:nvCxnSpPr>
            <p:cNvPr id="24" name="Straight Arrow Connector 23">
              <a:extLst>
                <a:ext uri="{FF2B5EF4-FFF2-40B4-BE49-F238E27FC236}">
                  <a16:creationId xmlns:a16="http://schemas.microsoft.com/office/drawing/2014/main" id="{6B473FA1-0CCF-4C54-874B-A7D2052F1FEE}"/>
                </a:ext>
              </a:extLst>
            </p:cNvPr>
            <p:cNvCxnSpPr>
              <a:cxnSpLocks/>
            </p:cNvCxnSpPr>
            <p:nvPr/>
          </p:nvCxnSpPr>
          <p:spPr>
            <a:xfrm>
              <a:off x="1695135" y="2531740"/>
              <a:ext cx="594481" cy="721607"/>
            </a:xfrm>
            <a:prstGeom prst="straightConnector1">
              <a:avLst/>
            </a:prstGeom>
            <a:ln w="19050">
              <a:solidFill>
                <a:schemeClr val="bg1">
                  <a:lumMod val="65000"/>
                </a:schemeClr>
              </a:solidFill>
              <a:headEnd type="none" w="lg" len="med"/>
              <a:tailEnd type="triangle" w="lg" len="med"/>
            </a:ln>
          </p:spPr>
          <p:style>
            <a:lnRef idx="1">
              <a:schemeClr val="accent1"/>
            </a:lnRef>
            <a:fillRef idx="0">
              <a:schemeClr val="accent1"/>
            </a:fillRef>
            <a:effectRef idx="0">
              <a:schemeClr val="accent1"/>
            </a:effectRef>
            <a:fontRef idx="minor">
              <a:schemeClr val="tx1"/>
            </a:fontRef>
          </p:style>
        </p:cxnSp>
        <p:pic>
          <p:nvPicPr>
            <p:cNvPr id="34" name="Picture 33" descr="Icon of a computer screen">
              <a:extLst>
                <a:ext uri="{FF2B5EF4-FFF2-40B4-BE49-F238E27FC236}">
                  <a16:creationId xmlns:a16="http://schemas.microsoft.com/office/drawing/2014/main" id="{69465FAC-5D88-4C9A-B952-D5CE1C4D4BB6}"/>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920209" y="3839260"/>
              <a:ext cx="439465" cy="439465"/>
            </a:xfrm>
            <a:prstGeom prst="rect">
              <a:avLst/>
            </a:prstGeom>
          </p:spPr>
        </p:pic>
        <p:sp>
          <p:nvSpPr>
            <p:cNvPr id="31" name="TextBox 30">
              <a:extLst>
                <a:ext uri="{FF2B5EF4-FFF2-40B4-BE49-F238E27FC236}">
                  <a16:creationId xmlns:a16="http://schemas.microsoft.com/office/drawing/2014/main" id="{7E02D88C-4EB6-430A-B968-E2DF21DD5FAA}"/>
                </a:ext>
              </a:extLst>
            </p:cNvPr>
            <p:cNvSpPr txBox="1"/>
            <p:nvPr/>
          </p:nvSpPr>
          <p:spPr>
            <a:xfrm>
              <a:off x="732426" y="4395008"/>
              <a:ext cx="815031" cy="184666"/>
            </a:xfrm>
            <a:prstGeom prst="rect">
              <a:avLst/>
            </a:prstGeom>
            <a:noFill/>
          </p:spPr>
          <p:txBody>
            <a:bodyPr wrap="none" lIns="0" tIns="0" rIns="0" bIns="0" rtlCol="0" anchor="t">
              <a:spAutoFit/>
            </a:bodyPr>
            <a:lstStyle/>
            <a:p>
              <a:pPr>
                <a:spcAft>
                  <a:spcPts val="600"/>
                </a:spcAft>
              </a:pPr>
              <a:r>
                <a:rPr lang="en-US" sz="1200"/>
                <a:t>Developer 2</a:t>
              </a:r>
              <a:endParaRPr lang="en-IN" sz="1200"/>
            </a:p>
          </p:txBody>
        </p:sp>
        <p:cxnSp>
          <p:nvCxnSpPr>
            <p:cNvPr id="25" name="Straight Arrow Connector 24">
              <a:extLst>
                <a:ext uri="{FF2B5EF4-FFF2-40B4-BE49-F238E27FC236}">
                  <a16:creationId xmlns:a16="http://schemas.microsoft.com/office/drawing/2014/main" id="{B957E471-FAC7-4806-AE58-5BC3B624DC3E}"/>
                </a:ext>
              </a:extLst>
            </p:cNvPr>
            <p:cNvCxnSpPr>
              <a:cxnSpLocks/>
            </p:cNvCxnSpPr>
            <p:nvPr/>
          </p:nvCxnSpPr>
          <p:spPr>
            <a:xfrm flipV="1">
              <a:off x="1695135" y="3482506"/>
              <a:ext cx="596086" cy="723427"/>
            </a:xfrm>
            <a:prstGeom prst="straightConnector1">
              <a:avLst/>
            </a:prstGeom>
            <a:ln w="19050">
              <a:solidFill>
                <a:schemeClr val="bg1">
                  <a:lumMod val="65000"/>
                </a:schemeClr>
              </a:solidFill>
              <a:headEnd type="none" w="lg" len="med"/>
              <a:tailEnd type="triangle" w="lg" len="med"/>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83CECAF0-351E-45A8-9D58-DECAB50EB51A}"/>
                </a:ext>
              </a:extLst>
            </p:cNvPr>
            <p:cNvSpPr/>
            <p:nvPr/>
          </p:nvSpPr>
          <p:spPr bwMode="auto">
            <a:xfrm>
              <a:off x="2431298" y="2820568"/>
              <a:ext cx="992869" cy="992869"/>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algn="ctr" defTabSz="932472" fontAlgn="base">
                <a:spcBef>
                  <a:spcPct val="0"/>
                </a:spcBef>
                <a:spcAft>
                  <a:spcPct val="0"/>
                </a:spcAft>
              </a:pPr>
              <a:r>
                <a:rPr lang="en-US" sz="1100">
                  <a:solidFill>
                    <a:schemeClr val="bg1"/>
                  </a:solidFill>
                </a:rPr>
                <a:t>GitHub</a:t>
              </a:r>
              <a:endParaRPr lang="en-IN" sz="1100">
                <a:solidFill>
                  <a:schemeClr val="bg1"/>
                </a:solidFill>
              </a:endParaRPr>
            </a:p>
          </p:txBody>
        </p:sp>
        <p:pic>
          <p:nvPicPr>
            <p:cNvPr id="27" name="Picture 10" descr="Github character silhouette | Free Icon">
              <a:extLst>
                <a:ext uri="{FF2B5EF4-FFF2-40B4-BE49-F238E27FC236}">
                  <a16:creationId xmlns:a16="http://schemas.microsoft.com/office/drawing/2014/main" id="{F15CB571-A511-4F1D-91EB-839FF3B84B0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636475" y="2914748"/>
              <a:ext cx="582514" cy="582514"/>
            </a:xfrm>
            <a:prstGeom prst="rect">
              <a:avLst/>
            </a:prstGeom>
            <a:noFill/>
            <a:extLst>
              <a:ext uri="{909E8E84-426E-40DD-AFC4-6F175D3DCCD1}">
                <a14:hiddenFill xmlns:a14="http://schemas.microsoft.com/office/drawing/2010/main">
                  <a:solidFill>
                    <a:srgbClr val="FFFFFF"/>
                  </a:solidFill>
                </a14:hiddenFill>
              </a:ext>
            </a:extLst>
          </p:spPr>
        </p:pic>
        <p:cxnSp>
          <p:nvCxnSpPr>
            <p:cNvPr id="26" name="Straight Arrow Connector 25">
              <a:extLst>
                <a:ext uri="{FF2B5EF4-FFF2-40B4-BE49-F238E27FC236}">
                  <a16:creationId xmlns:a16="http://schemas.microsoft.com/office/drawing/2014/main" id="{FD256EC4-11B0-4D6F-A9E6-BF3ACC654418}"/>
                </a:ext>
              </a:extLst>
            </p:cNvPr>
            <p:cNvCxnSpPr>
              <a:cxnSpLocks/>
            </p:cNvCxnSpPr>
            <p:nvPr/>
          </p:nvCxnSpPr>
          <p:spPr>
            <a:xfrm>
              <a:off x="3481368" y="3317002"/>
              <a:ext cx="404556" cy="0"/>
            </a:xfrm>
            <a:prstGeom prst="straightConnector1">
              <a:avLst/>
            </a:prstGeom>
            <a:ln w="19050">
              <a:solidFill>
                <a:schemeClr val="bg1">
                  <a:lumMod val="65000"/>
                </a:schemeClr>
              </a:solidFill>
              <a:headEnd type="none" w="lg" len="med"/>
              <a:tailEnd type="triangle" w="lg" len="med"/>
            </a:ln>
          </p:spPr>
          <p:style>
            <a:lnRef idx="1">
              <a:schemeClr val="accent1"/>
            </a:lnRef>
            <a:fillRef idx="0">
              <a:schemeClr val="accent1"/>
            </a:fillRef>
            <a:effectRef idx="0">
              <a:schemeClr val="accent1"/>
            </a:effectRef>
            <a:fontRef idx="minor">
              <a:schemeClr val="tx1"/>
            </a:fontRef>
          </p:style>
        </p:cxnSp>
        <p:pic>
          <p:nvPicPr>
            <p:cNvPr id="35" name="Picture 34" descr="Icons of a series of circles with rings enclosing a bigger circle at the centre">
              <a:extLst>
                <a:ext uri="{FF2B5EF4-FFF2-40B4-BE49-F238E27FC236}">
                  <a16:creationId xmlns:a16="http://schemas.microsoft.com/office/drawing/2014/main" id="{5FAE832C-18C8-4464-9589-C477810AA44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267369" y="2999117"/>
              <a:ext cx="439465" cy="439465"/>
            </a:xfrm>
            <a:prstGeom prst="rect">
              <a:avLst/>
            </a:prstGeom>
          </p:spPr>
        </p:pic>
        <p:sp>
          <p:nvSpPr>
            <p:cNvPr id="32" name="TextBox 31">
              <a:extLst>
                <a:ext uri="{FF2B5EF4-FFF2-40B4-BE49-F238E27FC236}">
                  <a16:creationId xmlns:a16="http://schemas.microsoft.com/office/drawing/2014/main" id="{5ECCA94C-8C05-4014-B47E-45369E2C3B18}"/>
                </a:ext>
              </a:extLst>
            </p:cNvPr>
            <p:cNvSpPr txBox="1"/>
            <p:nvPr/>
          </p:nvSpPr>
          <p:spPr>
            <a:xfrm>
              <a:off x="4229883" y="3554220"/>
              <a:ext cx="514436" cy="184666"/>
            </a:xfrm>
            <a:prstGeom prst="rect">
              <a:avLst/>
            </a:prstGeom>
            <a:noFill/>
          </p:spPr>
          <p:txBody>
            <a:bodyPr wrap="none" lIns="0" tIns="0" rIns="0" bIns="0" rtlCol="0" anchor="t">
              <a:spAutoFit/>
            </a:bodyPr>
            <a:lstStyle/>
            <a:p>
              <a:pPr>
                <a:spcAft>
                  <a:spcPts val="600"/>
                </a:spcAft>
              </a:pPr>
              <a:r>
                <a:rPr lang="en-US" sz="1200"/>
                <a:t>Staging</a:t>
              </a:r>
              <a:endParaRPr lang="en-IN" sz="1200"/>
            </a:p>
          </p:txBody>
        </p:sp>
        <p:cxnSp>
          <p:nvCxnSpPr>
            <p:cNvPr id="43" name="Straight Arrow Connector 42">
              <a:extLst>
                <a:ext uri="{FF2B5EF4-FFF2-40B4-BE49-F238E27FC236}">
                  <a16:creationId xmlns:a16="http://schemas.microsoft.com/office/drawing/2014/main" id="{0DD06C0D-211E-42C7-9ADA-002C29D65FCA}"/>
                </a:ext>
              </a:extLst>
            </p:cNvPr>
            <p:cNvCxnSpPr>
              <a:cxnSpLocks/>
            </p:cNvCxnSpPr>
            <p:nvPr/>
          </p:nvCxnSpPr>
          <p:spPr>
            <a:xfrm>
              <a:off x="5041106" y="3317002"/>
              <a:ext cx="440532" cy="0"/>
            </a:xfrm>
            <a:prstGeom prst="straightConnector1">
              <a:avLst/>
            </a:prstGeom>
            <a:ln w="19050">
              <a:solidFill>
                <a:srgbClr val="FF0000"/>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449D2DCC-56F0-4CCB-960C-1A865D9DC543}"/>
                </a:ext>
              </a:extLst>
            </p:cNvPr>
            <p:cNvSpPr txBox="1"/>
            <p:nvPr/>
          </p:nvSpPr>
          <p:spPr>
            <a:xfrm>
              <a:off x="5094301" y="3023188"/>
              <a:ext cx="358624" cy="184666"/>
            </a:xfrm>
            <a:prstGeom prst="rect">
              <a:avLst/>
            </a:prstGeom>
            <a:noFill/>
          </p:spPr>
          <p:txBody>
            <a:bodyPr wrap="none" lIns="0" tIns="0" rIns="0" bIns="0" rtlCol="0" anchor="t">
              <a:spAutoFit/>
            </a:bodyPr>
            <a:lstStyle/>
            <a:p>
              <a:pPr>
                <a:spcAft>
                  <a:spcPts val="600"/>
                </a:spcAft>
              </a:pPr>
              <a:r>
                <a:rPr lang="en-US" sz="1200">
                  <a:solidFill>
                    <a:srgbClr val="FF0000"/>
                  </a:solidFill>
                </a:rPr>
                <a:t>Swap</a:t>
              </a:r>
              <a:endParaRPr lang="en-IN" sz="1200">
                <a:solidFill>
                  <a:srgbClr val="FF0000"/>
                </a:solidFill>
              </a:endParaRPr>
            </a:p>
          </p:txBody>
        </p:sp>
        <p:pic>
          <p:nvPicPr>
            <p:cNvPr id="37" name="Picture 36" descr="Icons of a series of circles with rings enclosing a bigger circle at the centre">
              <a:extLst>
                <a:ext uri="{FF2B5EF4-FFF2-40B4-BE49-F238E27FC236}">
                  <a16:creationId xmlns:a16="http://schemas.microsoft.com/office/drawing/2014/main" id="{8C3A0944-6B92-4023-8118-B38A6AFC4E9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827017" y="2999117"/>
              <a:ext cx="439465" cy="439465"/>
            </a:xfrm>
            <a:prstGeom prst="rect">
              <a:avLst/>
            </a:prstGeom>
          </p:spPr>
        </p:pic>
        <p:sp>
          <p:nvSpPr>
            <p:cNvPr id="40" name="TextBox 39">
              <a:extLst>
                <a:ext uri="{FF2B5EF4-FFF2-40B4-BE49-F238E27FC236}">
                  <a16:creationId xmlns:a16="http://schemas.microsoft.com/office/drawing/2014/main" id="{2A4315AE-DC6A-4887-9F59-29BA5EBA7DF5}"/>
                </a:ext>
              </a:extLst>
            </p:cNvPr>
            <p:cNvSpPr txBox="1"/>
            <p:nvPr/>
          </p:nvSpPr>
          <p:spPr>
            <a:xfrm>
              <a:off x="5675878" y="3554220"/>
              <a:ext cx="741742" cy="184666"/>
            </a:xfrm>
            <a:prstGeom prst="rect">
              <a:avLst/>
            </a:prstGeom>
            <a:noFill/>
          </p:spPr>
          <p:txBody>
            <a:bodyPr wrap="none" lIns="0" tIns="0" rIns="0" bIns="0" rtlCol="0" anchor="t">
              <a:spAutoFit/>
            </a:bodyPr>
            <a:lstStyle/>
            <a:p>
              <a:pPr>
                <a:spcAft>
                  <a:spcPts val="600"/>
                </a:spcAft>
              </a:pPr>
              <a:r>
                <a:rPr lang="en-US" sz="1200"/>
                <a:t>Production</a:t>
              </a:r>
              <a:endParaRPr lang="en-IN" sz="1200"/>
            </a:p>
          </p:txBody>
        </p:sp>
      </p:grpSp>
      <p:graphicFrame>
        <p:nvGraphicFramePr>
          <p:cNvPr id="3" name="Table 6">
            <a:extLst>
              <a:ext uri="{FF2B5EF4-FFF2-40B4-BE49-F238E27FC236}">
                <a16:creationId xmlns:a16="http://schemas.microsoft.com/office/drawing/2014/main" id="{F840DE11-44FA-42CB-B12E-5E601ECC6978}"/>
              </a:ext>
            </a:extLst>
          </p:cNvPr>
          <p:cNvGraphicFramePr>
            <a:graphicFrameLocks noGrp="1"/>
          </p:cNvGraphicFramePr>
          <p:nvPr>
            <p:extLst>
              <p:ext uri="{D42A27DB-BD31-4B8C-83A1-F6EECF244321}">
                <p14:modId xmlns:p14="http://schemas.microsoft.com/office/powerpoint/2010/main" val="2665639343"/>
              </p:ext>
            </p:extLst>
          </p:nvPr>
        </p:nvGraphicFramePr>
        <p:xfrm>
          <a:off x="6961338" y="1517123"/>
          <a:ext cx="5075438" cy="3012130"/>
        </p:xfrm>
        <a:graphic>
          <a:graphicData uri="http://schemas.openxmlformats.org/drawingml/2006/table">
            <a:tbl>
              <a:tblPr firstRow="1" bandRow="1">
                <a:tableStyleId>{5C22544A-7EE6-4342-B048-85BDC9FD1C3A}</a:tableStyleId>
              </a:tblPr>
              <a:tblGrid>
                <a:gridCol w="2537719">
                  <a:extLst>
                    <a:ext uri="{9D8B030D-6E8A-4147-A177-3AD203B41FA5}">
                      <a16:colId xmlns:a16="http://schemas.microsoft.com/office/drawing/2014/main" val="1289156279"/>
                    </a:ext>
                  </a:extLst>
                </a:gridCol>
                <a:gridCol w="2537719">
                  <a:extLst>
                    <a:ext uri="{9D8B030D-6E8A-4147-A177-3AD203B41FA5}">
                      <a16:colId xmlns:a16="http://schemas.microsoft.com/office/drawing/2014/main" val="2759990731"/>
                    </a:ext>
                  </a:extLst>
                </a:gridCol>
              </a:tblGrid>
              <a:tr h="602426">
                <a:tc>
                  <a:txBody>
                    <a:bodyPr/>
                    <a:lstStyle/>
                    <a:p>
                      <a:pPr algn="ctr"/>
                      <a:r>
                        <a:rPr lang="en-US" sz="2000" b="0">
                          <a:solidFill>
                            <a:schemeClr val="bg1"/>
                          </a:solidFill>
                          <a:latin typeface="+mj-lt"/>
                        </a:rPr>
                        <a:t>Service Plan</a:t>
                      </a:r>
                    </a:p>
                  </a:txBody>
                  <a:tcPr anchor="ctr">
                    <a:lnL w="6350" cap="flat" cmpd="sng" algn="ctr">
                      <a:solidFill>
                        <a:srgbClr val="243A5E"/>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lnTlToBr w="12700" cmpd="sng">
                      <a:noFill/>
                      <a:prstDash val="solid"/>
                    </a:lnTlToBr>
                    <a:lnBlToTr w="12700" cmpd="sng">
                      <a:noFill/>
                      <a:prstDash val="solid"/>
                    </a:lnBlToTr>
                    <a:solidFill>
                      <a:srgbClr val="243A5E"/>
                    </a:solidFill>
                  </a:tcPr>
                </a:tc>
                <a:tc>
                  <a:txBody>
                    <a:bodyPr/>
                    <a:lstStyle/>
                    <a:p>
                      <a:pPr algn="ctr"/>
                      <a:r>
                        <a:rPr lang="en-US" sz="2000" b="0">
                          <a:solidFill>
                            <a:schemeClr val="bg1"/>
                          </a:solidFill>
                          <a:latin typeface="+mj-lt"/>
                        </a:rPr>
                        <a:t>Slots</a:t>
                      </a:r>
                    </a:p>
                  </a:txBody>
                  <a:tcPr anchor="ctr">
                    <a:lnL w="6350" cap="flat" cmpd="sng" algn="ctr">
                      <a:solidFill>
                        <a:schemeClr val="bg1"/>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rgbClr val="243A5E"/>
                      </a:solidFill>
                      <a:prstDash val="solid"/>
                      <a:round/>
                      <a:headEnd type="none" w="med" len="med"/>
                      <a:tailEnd type="none" w="med" len="med"/>
                    </a:lnB>
                    <a:lnTlToBr w="12700" cmpd="sng">
                      <a:noFill/>
                      <a:prstDash val="solid"/>
                    </a:lnTlToBr>
                    <a:lnBlToTr w="12700" cmpd="sng">
                      <a:noFill/>
                      <a:prstDash val="solid"/>
                    </a:lnBlToTr>
                    <a:solidFill>
                      <a:srgbClr val="243A5E"/>
                    </a:solidFill>
                  </a:tcPr>
                </a:tc>
                <a:extLst>
                  <a:ext uri="{0D108BD9-81ED-4DB2-BD59-A6C34878D82A}">
                    <a16:rowId xmlns:a16="http://schemas.microsoft.com/office/drawing/2014/main" val="2897835809"/>
                  </a:ext>
                </a:extLst>
              </a:tr>
              <a:tr h="602426">
                <a:tc>
                  <a:txBody>
                    <a:bodyPr/>
                    <a:lstStyle/>
                    <a:p>
                      <a:pPr algn="l"/>
                      <a:r>
                        <a:rPr lang="en-US" sz="1800">
                          <a:solidFill>
                            <a:schemeClr val="tx1"/>
                          </a:solidFill>
                          <a:latin typeface="+mj-lt"/>
                        </a:rPr>
                        <a:t>Free, Shared, Basic</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800">
                          <a:solidFill>
                            <a:schemeClr val="tx1"/>
                          </a:solidFill>
                        </a:rPr>
                        <a:t>0</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88139117"/>
                  </a:ext>
                </a:extLst>
              </a:tr>
              <a:tr h="602426">
                <a:tc>
                  <a:txBody>
                    <a:bodyPr/>
                    <a:lstStyle/>
                    <a:p>
                      <a:pPr algn="l"/>
                      <a:r>
                        <a:rPr lang="en-US" sz="1800">
                          <a:solidFill>
                            <a:schemeClr val="tx1"/>
                          </a:solidFill>
                          <a:latin typeface="+mj-lt"/>
                        </a:rPr>
                        <a:t>Standard</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800">
                          <a:solidFill>
                            <a:schemeClr val="tx1"/>
                          </a:solidFill>
                        </a:rPr>
                        <a:t>Up to 5</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58439219"/>
                  </a:ext>
                </a:extLst>
              </a:tr>
              <a:tr h="602426">
                <a:tc>
                  <a:txBody>
                    <a:bodyPr/>
                    <a:lstStyle/>
                    <a:p>
                      <a:pPr algn="l"/>
                      <a:r>
                        <a:rPr lang="en-US" sz="1800">
                          <a:solidFill>
                            <a:schemeClr val="tx1"/>
                          </a:solidFill>
                          <a:latin typeface="+mj-lt"/>
                        </a:rPr>
                        <a:t>Premium</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800">
                          <a:solidFill>
                            <a:schemeClr val="tx1"/>
                          </a:solidFill>
                        </a:rPr>
                        <a:t>Up to 20</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8512727"/>
                  </a:ext>
                </a:extLst>
              </a:tr>
              <a:tr h="602426">
                <a:tc>
                  <a:txBody>
                    <a:bodyPr/>
                    <a:lstStyle/>
                    <a:p>
                      <a:pPr algn="l"/>
                      <a:r>
                        <a:rPr lang="en-US" sz="1800">
                          <a:solidFill>
                            <a:schemeClr val="tx1"/>
                          </a:solidFill>
                          <a:latin typeface="+mj-lt"/>
                        </a:rPr>
                        <a:t>Isolated</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800">
                          <a:solidFill>
                            <a:schemeClr val="tx1"/>
                          </a:solidFill>
                        </a:rPr>
                        <a:t>Up to 20</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2684497"/>
                  </a:ext>
                </a:extLst>
              </a:tr>
            </a:tbl>
          </a:graphicData>
        </a:graphic>
      </p:graphicFrame>
      <p:sp>
        <p:nvSpPr>
          <p:cNvPr id="9" name="Freeform: Shape 8">
            <a:extLst>
              <a:ext uri="{FF2B5EF4-FFF2-40B4-BE49-F238E27FC236}">
                <a16:creationId xmlns:a16="http://schemas.microsoft.com/office/drawing/2014/main" id="{2FA5C646-F393-499F-9F67-33959B7E743E}"/>
              </a:ext>
            </a:extLst>
          </p:cNvPr>
          <p:cNvSpPr/>
          <p:nvPr/>
        </p:nvSpPr>
        <p:spPr>
          <a:xfrm>
            <a:off x="454375" y="4943663"/>
            <a:ext cx="1797212" cy="1264283"/>
          </a:xfrm>
          <a:custGeom>
            <a:avLst/>
            <a:gdLst>
              <a:gd name="connsiteX0" fmla="*/ 0 w 1642285"/>
              <a:gd name="connsiteY0" fmla="*/ 0 h 821142"/>
              <a:gd name="connsiteX1" fmla="*/ 1642285 w 1642285"/>
              <a:gd name="connsiteY1" fmla="*/ 0 h 821142"/>
              <a:gd name="connsiteX2" fmla="*/ 1642285 w 1642285"/>
              <a:gd name="connsiteY2" fmla="*/ 821142 h 821142"/>
              <a:gd name="connsiteX3" fmla="*/ 0 w 1642285"/>
              <a:gd name="connsiteY3" fmla="*/ 821142 h 821142"/>
              <a:gd name="connsiteX4" fmla="*/ 0 w 1642285"/>
              <a:gd name="connsiteY4" fmla="*/ 0 h 8211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2285" h="821142">
                <a:moveTo>
                  <a:pt x="0" y="0"/>
                </a:moveTo>
                <a:lnTo>
                  <a:pt x="1642285" y="0"/>
                </a:lnTo>
                <a:lnTo>
                  <a:pt x="1642285" y="821142"/>
                </a:lnTo>
                <a:lnTo>
                  <a:pt x="0" y="821142"/>
                </a:lnTo>
                <a:lnTo>
                  <a:pt x="0" y="0"/>
                </a:lnTo>
                <a:close/>
              </a:path>
            </a:pathLst>
          </a:custGeom>
          <a:solidFill>
            <a:schemeClr val="bg1">
              <a:lumMod val="95000"/>
            </a:schemeClr>
          </a:solidFill>
          <a:ln>
            <a:solidFill>
              <a:schemeClr val="bg1">
                <a:lumMod val="95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Autofit/>
          </a:bodyPr>
          <a:lstStyle/>
          <a:p>
            <a:pPr marL="0" lvl="0" indent="0" algn="ctr" defTabSz="577850">
              <a:spcBef>
                <a:spcPct val="0"/>
              </a:spcBef>
              <a:spcAft>
                <a:spcPct val="35000"/>
              </a:spcAft>
              <a:buNone/>
            </a:pPr>
            <a:r>
              <a:rPr lang="en-US" sz="1600" kern="1200">
                <a:solidFill>
                  <a:schemeClr val="tx1"/>
                </a:solidFill>
              </a:rPr>
              <a:t>Deploy to a different deployment slots (depends on service plan)</a:t>
            </a:r>
            <a:endParaRPr lang="en-IN" sz="1600" kern="1200">
              <a:solidFill>
                <a:schemeClr val="tx1"/>
              </a:solidFill>
            </a:endParaRPr>
          </a:p>
        </p:txBody>
      </p:sp>
      <p:sp>
        <p:nvSpPr>
          <p:cNvPr id="10" name="Freeform: Shape 9">
            <a:extLst>
              <a:ext uri="{FF2B5EF4-FFF2-40B4-BE49-F238E27FC236}">
                <a16:creationId xmlns:a16="http://schemas.microsoft.com/office/drawing/2014/main" id="{A9BD7FB0-8B02-4C85-AE51-D08E4B844C64}"/>
              </a:ext>
            </a:extLst>
          </p:cNvPr>
          <p:cNvSpPr/>
          <p:nvPr/>
        </p:nvSpPr>
        <p:spPr>
          <a:xfrm>
            <a:off x="2411412" y="4943663"/>
            <a:ext cx="1797212" cy="1264283"/>
          </a:xfrm>
          <a:custGeom>
            <a:avLst/>
            <a:gdLst>
              <a:gd name="connsiteX0" fmla="*/ 0 w 1642285"/>
              <a:gd name="connsiteY0" fmla="*/ 0 h 821142"/>
              <a:gd name="connsiteX1" fmla="*/ 1642285 w 1642285"/>
              <a:gd name="connsiteY1" fmla="*/ 0 h 821142"/>
              <a:gd name="connsiteX2" fmla="*/ 1642285 w 1642285"/>
              <a:gd name="connsiteY2" fmla="*/ 821142 h 821142"/>
              <a:gd name="connsiteX3" fmla="*/ 0 w 1642285"/>
              <a:gd name="connsiteY3" fmla="*/ 821142 h 821142"/>
              <a:gd name="connsiteX4" fmla="*/ 0 w 1642285"/>
              <a:gd name="connsiteY4" fmla="*/ 0 h 8211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2285" h="821142">
                <a:moveTo>
                  <a:pt x="0" y="0"/>
                </a:moveTo>
                <a:lnTo>
                  <a:pt x="1642285" y="0"/>
                </a:lnTo>
                <a:lnTo>
                  <a:pt x="1642285" y="821142"/>
                </a:lnTo>
                <a:lnTo>
                  <a:pt x="0" y="821142"/>
                </a:lnTo>
                <a:lnTo>
                  <a:pt x="0" y="0"/>
                </a:lnTo>
                <a:close/>
              </a:path>
            </a:pathLst>
          </a:custGeom>
          <a:solidFill>
            <a:schemeClr val="bg1">
              <a:lumMod val="95000"/>
            </a:schemeClr>
          </a:solidFill>
          <a:ln>
            <a:solidFill>
              <a:schemeClr val="bg1">
                <a:lumMod val="95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Autofit/>
          </a:bodyPr>
          <a:lstStyle/>
          <a:p>
            <a:pPr marL="0" lvl="0" indent="0" algn="ctr" defTabSz="577850">
              <a:spcBef>
                <a:spcPct val="0"/>
              </a:spcBef>
              <a:spcAft>
                <a:spcPct val="35000"/>
              </a:spcAft>
              <a:buNone/>
            </a:pPr>
            <a:r>
              <a:rPr lang="en-US" sz="1600" kern="1200">
                <a:solidFill>
                  <a:schemeClr val="tx1"/>
                </a:solidFill>
              </a:rPr>
              <a:t>Validate changes before sending to production</a:t>
            </a:r>
            <a:endParaRPr lang="en-IN" sz="1600" kern="1200">
              <a:solidFill>
                <a:schemeClr val="tx1"/>
              </a:solidFill>
            </a:endParaRPr>
          </a:p>
        </p:txBody>
      </p:sp>
      <p:sp>
        <p:nvSpPr>
          <p:cNvPr id="11" name="Freeform: Shape 10">
            <a:extLst>
              <a:ext uri="{FF2B5EF4-FFF2-40B4-BE49-F238E27FC236}">
                <a16:creationId xmlns:a16="http://schemas.microsoft.com/office/drawing/2014/main" id="{ACFC1943-F0E0-417B-B6B1-78246A54224E}"/>
              </a:ext>
            </a:extLst>
          </p:cNvPr>
          <p:cNvSpPr/>
          <p:nvPr/>
        </p:nvSpPr>
        <p:spPr>
          <a:xfrm>
            <a:off x="4368450" y="4943663"/>
            <a:ext cx="1797212" cy="1264283"/>
          </a:xfrm>
          <a:custGeom>
            <a:avLst/>
            <a:gdLst>
              <a:gd name="connsiteX0" fmla="*/ 0 w 1642285"/>
              <a:gd name="connsiteY0" fmla="*/ 0 h 821142"/>
              <a:gd name="connsiteX1" fmla="*/ 1642285 w 1642285"/>
              <a:gd name="connsiteY1" fmla="*/ 0 h 821142"/>
              <a:gd name="connsiteX2" fmla="*/ 1642285 w 1642285"/>
              <a:gd name="connsiteY2" fmla="*/ 821142 h 821142"/>
              <a:gd name="connsiteX3" fmla="*/ 0 w 1642285"/>
              <a:gd name="connsiteY3" fmla="*/ 821142 h 821142"/>
              <a:gd name="connsiteX4" fmla="*/ 0 w 1642285"/>
              <a:gd name="connsiteY4" fmla="*/ 0 h 8211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2285" h="821142">
                <a:moveTo>
                  <a:pt x="0" y="0"/>
                </a:moveTo>
                <a:lnTo>
                  <a:pt x="1642285" y="0"/>
                </a:lnTo>
                <a:lnTo>
                  <a:pt x="1642285" y="821142"/>
                </a:lnTo>
                <a:lnTo>
                  <a:pt x="0" y="821142"/>
                </a:lnTo>
                <a:lnTo>
                  <a:pt x="0" y="0"/>
                </a:lnTo>
                <a:close/>
              </a:path>
            </a:pathLst>
          </a:custGeom>
          <a:solidFill>
            <a:schemeClr val="bg1">
              <a:lumMod val="95000"/>
            </a:schemeClr>
          </a:solidFill>
          <a:ln>
            <a:solidFill>
              <a:schemeClr val="bg1">
                <a:lumMod val="95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Autofit/>
          </a:bodyPr>
          <a:lstStyle/>
          <a:p>
            <a:pPr marL="0" lvl="0" indent="0" algn="ctr" defTabSz="577850">
              <a:spcBef>
                <a:spcPct val="0"/>
              </a:spcBef>
              <a:spcAft>
                <a:spcPct val="35000"/>
              </a:spcAft>
              <a:buNone/>
            </a:pPr>
            <a:r>
              <a:rPr lang="en-US" sz="1600" kern="1200">
                <a:solidFill>
                  <a:schemeClr val="tx1"/>
                </a:solidFill>
              </a:rPr>
              <a:t>Deployment slots are live apps with their own hostnames</a:t>
            </a:r>
            <a:endParaRPr lang="en-IN" sz="1600" kern="1200">
              <a:solidFill>
                <a:schemeClr val="tx1"/>
              </a:solidFill>
            </a:endParaRPr>
          </a:p>
        </p:txBody>
      </p:sp>
      <p:sp>
        <p:nvSpPr>
          <p:cNvPr id="12" name="Freeform: Shape 11">
            <a:extLst>
              <a:ext uri="{FF2B5EF4-FFF2-40B4-BE49-F238E27FC236}">
                <a16:creationId xmlns:a16="http://schemas.microsoft.com/office/drawing/2014/main" id="{514BA59F-2B63-4536-B0E6-69D1F5906669}"/>
              </a:ext>
            </a:extLst>
          </p:cNvPr>
          <p:cNvSpPr/>
          <p:nvPr/>
        </p:nvSpPr>
        <p:spPr>
          <a:xfrm>
            <a:off x="6325487" y="4943663"/>
            <a:ext cx="1797212" cy="1264283"/>
          </a:xfrm>
          <a:custGeom>
            <a:avLst/>
            <a:gdLst>
              <a:gd name="connsiteX0" fmla="*/ 0 w 1642285"/>
              <a:gd name="connsiteY0" fmla="*/ 0 h 821142"/>
              <a:gd name="connsiteX1" fmla="*/ 1642285 w 1642285"/>
              <a:gd name="connsiteY1" fmla="*/ 0 h 821142"/>
              <a:gd name="connsiteX2" fmla="*/ 1642285 w 1642285"/>
              <a:gd name="connsiteY2" fmla="*/ 821142 h 821142"/>
              <a:gd name="connsiteX3" fmla="*/ 0 w 1642285"/>
              <a:gd name="connsiteY3" fmla="*/ 821142 h 821142"/>
              <a:gd name="connsiteX4" fmla="*/ 0 w 1642285"/>
              <a:gd name="connsiteY4" fmla="*/ 0 h 8211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2285" h="821142">
                <a:moveTo>
                  <a:pt x="0" y="0"/>
                </a:moveTo>
                <a:lnTo>
                  <a:pt x="1642285" y="0"/>
                </a:lnTo>
                <a:lnTo>
                  <a:pt x="1642285" y="821142"/>
                </a:lnTo>
                <a:lnTo>
                  <a:pt x="0" y="821142"/>
                </a:lnTo>
                <a:lnTo>
                  <a:pt x="0" y="0"/>
                </a:lnTo>
                <a:close/>
              </a:path>
            </a:pathLst>
          </a:custGeom>
          <a:solidFill>
            <a:schemeClr val="bg1">
              <a:lumMod val="95000"/>
            </a:schemeClr>
          </a:solidFill>
          <a:ln>
            <a:solidFill>
              <a:schemeClr val="bg1">
                <a:lumMod val="95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Autofit/>
          </a:bodyPr>
          <a:lstStyle/>
          <a:p>
            <a:pPr marL="0" lvl="0" indent="0" algn="ctr" defTabSz="577850">
              <a:spcBef>
                <a:spcPct val="0"/>
              </a:spcBef>
              <a:spcAft>
                <a:spcPct val="35000"/>
              </a:spcAft>
              <a:buNone/>
            </a:pPr>
            <a:r>
              <a:rPr lang="en-US" sz="1600" kern="1200">
                <a:solidFill>
                  <a:schemeClr val="tx1"/>
                </a:solidFill>
              </a:rPr>
              <a:t>Avoids a cold start – eliminates downtime</a:t>
            </a:r>
            <a:endParaRPr lang="en-IN" sz="1600" kern="1200">
              <a:solidFill>
                <a:schemeClr val="tx1"/>
              </a:solidFill>
            </a:endParaRPr>
          </a:p>
        </p:txBody>
      </p:sp>
      <p:sp>
        <p:nvSpPr>
          <p:cNvPr id="13" name="Freeform: Shape 12">
            <a:extLst>
              <a:ext uri="{FF2B5EF4-FFF2-40B4-BE49-F238E27FC236}">
                <a16:creationId xmlns:a16="http://schemas.microsoft.com/office/drawing/2014/main" id="{B09D9AB6-F5BD-4DDA-AEBB-258166095292}"/>
              </a:ext>
            </a:extLst>
          </p:cNvPr>
          <p:cNvSpPr/>
          <p:nvPr/>
        </p:nvSpPr>
        <p:spPr>
          <a:xfrm>
            <a:off x="8282525" y="4943663"/>
            <a:ext cx="1797212" cy="1264283"/>
          </a:xfrm>
          <a:custGeom>
            <a:avLst/>
            <a:gdLst>
              <a:gd name="connsiteX0" fmla="*/ 0 w 1642285"/>
              <a:gd name="connsiteY0" fmla="*/ 0 h 821142"/>
              <a:gd name="connsiteX1" fmla="*/ 1642285 w 1642285"/>
              <a:gd name="connsiteY1" fmla="*/ 0 h 821142"/>
              <a:gd name="connsiteX2" fmla="*/ 1642285 w 1642285"/>
              <a:gd name="connsiteY2" fmla="*/ 821142 h 821142"/>
              <a:gd name="connsiteX3" fmla="*/ 0 w 1642285"/>
              <a:gd name="connsiteY3" fmla="*/ 821142 h 821142"/>
              <a:gd name="connsiteX4" fmla="*/ 0 w 1642285"/>
              <a:gd name="connsiteY4" fmla="*/ 0 h 8211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2285" h="821142">
                <a:moveTo>
                  <a:pt x="0" y="0"/>
                </a:moveTo>
                <a:lnTo>
                  <a:pt x="1642285" y="0"/>
                </a:lnTo>
                <a:lnTo>
                  <a:pt x="1642285" y="821142"/>
                </a:lnTo>
                <a:lnTo>
                  <a:pt x="0" y="821142"/>
                </a:lnTo>
                <a:lnTo>
                  <a:pt x="0" y="0"/>
                </a:lnTo>
                <a:close/>
              </a:path>
            </a:pathLst>
          </a:custGeom>
          <a:solidFill>
            <a:schemeClr val="bg1">
              <a:lumMod val="95000"/>
            </a:schemeClr>
          </a:solidFill>
          <a:ln>
            <a:solidFill>
              <a:schemeClr val="bg1">
                <a:lumMod val="95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Autofit/>
          </a:bodyPr>
          <a:lstStyle/>
          <a:p>
            <a:pPr marL="0" lvl="0" indent="0" algn="ctr" defTabSz="577850">
              <a:spcBef>
                <a:spcPct val="0"/>
              </a:spcBef>
              <a:spcAft>
                <a:spcPct val="35000"/>
              </a:spcAft>
              <a:buNone/>
            </a:pPr>
            <a:r>
              <a:rPr lang="en-US" sz="1600" kern="1200">
                <a:solidFill>
                  <a:schemeClr val="tx1"/>
                </a:solidFill>
              </a:rPr>
              <a:t>Fallback to a last known good site</a:t>
            </a:r>
            <a:endParaRPr lang="en-IN" sz="1600" kern="1200">
              <a:solidFill>
                <a:schemeClr val="tx1"/>
              </a:solidFill>
            </a:endParaRPr>
          </a:p>
        </p:txBody>
      </p:sp>
      <p:sp>
        <p:nvSpPr>
          <p:cNvPr id="14" name="Freeform: Shape 13">
            <a:extLst>
              <a:ext uri="{FF2B5EF4-FFF2-40B4-BE49-F238E27FC236}">
                <a16:creationId xmlns:a16="http://schemas.microsoft.com/office/drawing/2014/main" id="{ABF3FFA0-E889-4CDF-976C-A813B3CBBB94}"/>
              </a:ext>
            </a:extLst>
          </p:cNvPr>
          <p:cNvSpPr/>
          <p:nvPr/>
        </p:nvSpPr>
        <p:spPr>
          <a:xfrm>
            <a:off x="10239564" y="4943663"/>
            <a:ext cx="1797212" cy="1264283"/>
          </a:xfrm>
          <a:custGeom>
            <a:avLst/>
            <a:gdLst>
              <a:gd name="connsiteX0" fmla="*/ 0 w 1642285"/>
              <a:gd name="connsiteY0" fmla="*/ 0 h 821142"/>
              <a:gd name="connsiteX1" fmla="*/ 1642285 w 1642285"/>
              <a:gd name="connsiteY1" fmla="*/ 0 h 821142"/>
              <a:gd name="connsiteX2" fmla="*/ 1642285 w 1642285"/>
              <a:gd name="connsiteY2" fmla="*/ 821142 h 821142"/>
              <a:gd name="connsiteX3" fmla="*/ 0 w 1642285"/>
              <a:gd name="connsiteY3" fmla="*/ 821142 h 821142"/>
              <a:gd name="connsiteX4" fmla="*/ 0 w 1642285"/>
              <a:gd name="connsiteY4" fmla="*/ 0 h 8211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2285" h="821142">
                <a:moveTo>
                  <a:pt x="0" y="0"/>
                </a:moveTo>
                <a:lnTo>
                  <a:pt x="1642285" y="0"/>
                </a:lnTo>
                <a:lnTo>
                  <a:pt x="1642285" y="821142"/>
                </a:lnTo>
                <a:lnTo>
                  <a:pt x="0" y="821142"/>
                </a:lnTo>
                <a:lnTo>
                  <a:pt x="0" y="0"/>
                </a:lnTo>
                <a:close/>
              </a:path>
            </a:pathLst>
          </a:custGeom>
          <a:solidFill>
            <a:schemeClr val="bg1">
              <a:lumMod val="95000"/>
            </a:schemeClr>
          </a:solidFill>
          <a:ln>
            <a:solidFill>
              <a:schemeClr val="bg1">
                <a:lumMod val="95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Autofit/>
          </a:bodyPr>
          <a:lstStyle/>
          <a:p>
            <a:pPr marL="0" lvl="0" indent="0" algn="ctr" defTabSz="577850">
              <a:spcBef>
                <a:spcPct val="0"/>
              </a:spcBef>
              <a:spcAft>
                <a:spcPct val="35000"/>
              </a:spcAft>
              <a:buNone/>
            </a:pPr>
            <a:r>
              <a:rPr lang="en-US" sz="1600" kern="1200">
                <a:solidFill>
                  <a:schemeClr val="tx1"/>
                </a:solidFill>
              </a:rPr>
              <a:t>Auto Swap when pre-swap validation is not needed</a:t>
            </a:r>
            <a:endParaRPr lang="en-IN" sz="1600" kern="1200">
              <a:solidFill>
                <a:schemeClr val="tx1"/>
              </a:solidFill>
            </a:endParaRPr>
          </a:p>
        </p:txBody>
      </p:sp>
    </p:spTree>
    <p:extLst>
      <p:ext uri="{BB962C8B-B14F-4D97-AF65-F5344CB8AC3E}">
        <p14:creationId xmlns:p14="http://schemas.microsoft.com/office/powerpoint/2010/main" val="2984429173"/>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pPr>
              <a:lnSpc>
                <a:spcPct val="100000"/>
              </a:lnSpc>
            </a:pPr>
            <a:r>
              <a:rPr lang="en-US" spc="0"/>
              <a:t>Add Deployment Slots</a:t>
            </a:r>
          </a:p>
        </p:txBody>
      </p:sp>
      <p:sp>
        <p:nvSpPr>
          <p:cNvPr id="2" name="Rectangle 1">
            <a:extLst>
              <a:ext uri="{FF2B5EF4-FFF2-40B4-BE49-F238E27FC236}">
                <a16:creationId xmlns:a16="http://schemas.microsoft.com/office/drawing/2014/main" id="{6CF3D10C-9DBF-4B77-87F7-B831FE565582}"/>
              </a:ext>
            </a:extLst>
          </p:cNvPr>
          <p:cNvSpPr/>
          <p:nvPr/>
        </p:nvSpPr>
        <p:spPr bwMode="auto">
          <a:xfrm>
            <a:off x="420309" y="1406786"/>
            <a:ext cx="5542469" cy="662834"/>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ctr" anchorCtr="0" forceAA="0" compatLnSpc="1">
            <a:prstTxWarp prst="textNoShape">
              <a:avLst/>
            </a:prstTxWarp>
            <a:noAutofit/>
          </a:bodyPr>
          <a:lstStyle/>
          <a:p>
            <a:r>
              <a:rPr lang="en-US" sz="2000">
                <a:solidFill>
                  <a:schemeClr val="tx1"/>
                </a:solidFill>
                <a:cs typeface="Segoe UI Semilight"/>
              </a:rPr>
              <a:t>Select whether to clone an app configuration from another deployment slot</a:t>
            </a:r>
          </a:p>
        </p:txBody>
      </p:sp>
      <p:sp>
        <p:nvSpPr>
          <p:cNvPr id="13" name="Rectangle 12">
            <a:extLst>
              <a:ext uri="{FF2B5EF4-FFF2-40B4-BE49-F238E27FC236}">
                <a16:creationId xmlns:a16="http://schemas.microsoft.com/office/drawing/2014/main" id="{FA4C3630-4561-4828-9A0E-8A9DF1BCD0C9}"/>
              </a:ext>
            </a:extLst>
          </p:cNvPr>
          <p:cNvSpPr/>
          <p:nvPr/>
        </p:nvSpPr>
        <p:spPr bwMode="auto">
          <a:xfrm>
            <a:off x="420309" y="2263060"/>
            <a:ext cx="5542469" cy="157423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ctr" anchorCtr="0" forceAA="0" compatLnSpc="1">
            <a:prstTxWarp prst="textNoShape">
              <a:avLst/>
            </a:prstTxWarp>
            <a:noAutofit/>
          </a:bodyPr>
          <a:lstStyle/>
          <a:p>
            <a:pPr>
              <a:spcBef>
                <a:spcPts val="600"/>
              </a:spcBef>
            </a:pPr>
            <a:r>
              <a:rPr lang="en-US" sz="2000">
                <a:solidFill>
                  <a:schemeClr val="tx1"/>
                </a:solidFill>
                <a:cs typeface="Segoe UI Semilight"/>
              </a:rPr>
              <a:t>When you clone, pay attention to the settings:</a:t>
            </a:r>
          </a:p>
          <a:p>
            <a:pPr marL="168275" lvl="1" indent="-168275">
              <a:spcBef>
                <a:spcPts val="600"/>
              </a:spcBef>
              <a:buFont typeface="Arial" panose="020B0604020202020204" pitchFamily="34" charset="0"/>
              <a:buChar char="•"/>
            </a:pPr>
            <a:r>
              <a:rPr lang="en-US">
                <a:solidFill>
                  <a:schemeClr val="tx1"/>
                </a:solidFill>
                <a:cs typeface="Segoe UI Semilight"/>
              </a:rPr>
              <a:t>Slot-specific app settings and connection strings</a:t>
            </a:r>
          </a:p>
          <a:p>
            <a:pPr marL="168275" lvl="1" indent="-168275">
              <a:spcBef>
                <a:spcPts val="600"/>
              </a:spcBef>
              <a:buFont typeface="Arial" panose="020B0604020202020204" pitchFamily="34" charset="0"/>
              <a:buChar char="•"/>
            </a:pPr>
            <a:r>
              <a:rPr lang="en-US">
                <a:solidFill>
                  <a:schemeClr val="tx1"/>
                </a:solidFill>
                <a:cs typeface="Segoe UI Semilight"/>
              </a:rPr>
              <a:t>Continuous deployment settings</a:t>
            </a:r>
          </a:p>
          <a:p>
            <a:pPr marL="168275" lvl="1" indent="-168275">
              <a:spcBef>
                <a:spcPts val="600"/>
              </a:spcBef>
              <a:buFont typeface="Arial" panose="020B0604020202020204" pitchFamily="34" charset="0"/>
              <a:buChar char="•"/>
            </a:pPr>
            <a:r>
              <a:rPr lang="en-US">
                <a:solidFill>
                  <a:schemeClr val="tx1"/>
                </a:solidFill>
                <a:cs typeface="Segoe UI Semilight"/>
              </a:rPr>
              <a:t>App Service authentication settings</a:t>
            </a:r>
          </a:p>
        </p:txBody>
      </p:sp>
      <p:sp>
        <p:nvSpPr>
          <p:cNvPr id="14" name="Rectangle 13">
            <a:extLst>
              <a:ext uri="{FF2B5EF4-FFF2-40B4-BE49-F238E27FC236}">
                <a16:creationId xmlns:a16="http://schemas.microsoft.com/office/drawing/2014/main" id="{848128E5-4E30-4BE2-8F55-74C93137738B}"/>
              </a:ext>
            </a:extLst>
          </p:cNvPr>
          <p:cNvSpPr/>
          <p:nvPr/>
        </p:nvSpPr>
        <p:spPr bwMode="auto">
          <a:xfrm>
            <a:off x="420309" y="4030731"/>
            <a:ext cx="5542469" cy="994252"/>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ctr" anchorCtr="0" forceAA="0" compatLnSpc="1">
            <a:prstTxWarp prst="textNoShape">
              <a:avLst/>
            </a:prstTxWarp>
            <a:noAutofit/>
          </a:bodyPr>
          <a:lstStyle/>
          <a:p>
            <a:r>
              <a:rPr lang="en-US" sz="2000">
                <a:solidFill>
                  <a:schemeClr val="tx1"/>
                </a:solidFill>
                <a:cs typeface="Segoe UI Semilight"/>
              </a:rPr>
              <a:t>Not all settings are sticky (endpoints, custom domain names, SSL certificates, scaling)</a:t>
            </a:r>
          </a:p>
        </p:txBody>
      </p:sp>
      <p:sp>
        <p:nvSpPr>
          <p:cNvPr id="15" name="Rectangle 14">
            <a:extLst>
              <a:ext uri="{FF2B5EF4-FFF2-40B4-BE49-F238E27FC236}">
                <a16:creationId xmlns:a16="http://schemas.microsoft.com/office/drawing/2014/main" id="{CAEFB5B4-6E63-4FE9-A0EB-A0C40D116A9C}"/>
              </a:ext>
            </a:extLst>
          </p:cNvPr>
          <p:cNvSpPr/>
          <p:nvPr/>
        </p:nvSpPr>
        <p:spPr bwMode="auto">
          <a:xfrm>
            <a:off x="420309" y="5218421"/>
            <a:ext cx="5542469" cy="662834"/>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ctr" anchorCtr="0" forceAA="0" compatLnSpc="1">
            <a:prstTxWarp prst="textNoShape">
              <a:avLst/>
            </a:prstTxWarp>
            <a:noAutofit/>
          </a:bodyPr>
          <a:lstStyle/>
          <a:p>
            <a:r>
              <a:rPr lang="en-US" sz="2000">
                <a:solidFill>
                  <a:schemeClr val="tx1"/>
                </a:solidFill>
                <a:cs typeface="Segoe UI Semilight"/>
              </a:rPr>
              <a:t>Review and edit your settings before swapping</a:t>
            </a:r>
          </a:p>
        </p:txBody>
      </p:sp>
      <p:pic>
        <p:nvPicPr>
          <p:cNvPr id="5" name="Picture 6" descr="A screen shot of the Add a slot screen for an App Service.  The name of the slot is preproduction, and settings are cloned from appservice09">
            <a:extLst>
              <a:ext uri="{FF2B5EF4-FFF2-40B4-BE49-F238E27FC236}">
                <a16:creationId xmlns:a16="http://schemas.microsoft.com/office/drawing/2014/main" id="{B5F33B82-010A-4B5E-9B98-77A431CF13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39905" y="2413082"/>
            <a:ext cx="5550538" cy="2168360"/>
          </a:xfrm>
          <a:prstGeom prst="rect">
            <a:avLst/>
          </a:prstGeom>
          <a:ln>
            <a:noFill/>
          </a:ln>
        </p:spPr>
      </p:pic>
    </p:spTree>
    <p:extLst>
      <p:ext uri="{BB962C8B-B14F-4D97-AF65-F5344CB8AC3E}">
        <p14:creationId xmlns:p14="http://schemas.microsoft.com/office/powerpoint/2010/main" val="2796943426"/>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a:t>Secure an App Service</a:t>
            </a:r>
          </a:p>
        </p:txBody>
      </p:sp>
      <p:sp>
        <p:nvSpPr>
          <p:cNvPr id="3" name="Rectangle 2">
            <a:extLst>
              <a:ext uri="{FF2B5EF4-FFF2-40B4-BE49-F238E27FC236}">
                <a16:creationId xmlns:a16="http://schemas.microsoft.com/office/drawing/2014/main" id="{466CDB52-A6AB-489A-9B09-51DA0D3CDC80}"/>
              </a:ext>
            </a:extLst>
          </p:cNvPr>
          <p:cNvSpPr/>
          <p:nvPr/>
        </p:nvSpPr>
        <p:spPr bwMode="auto">
          <a:xfrm>
            <a:off x="438150" y="1296928"/>
            <a:ext cx="5541264" cy="1721789"/>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t" anchorCtr="0" forceAA="0" compatLnSpc="1">
            <a:prstTxWarp prst="textNoShape">
              <a:avLst/>
            </a:prstTxWarp>
            <a:noAutofit/>
          </a:bodyPr>
          <a:lstStyle/>
          <a:p>
            <a:pPr>
              <a:spcBef>
                <a:spcPts val="600"/>
              </a:spcBef>
            </a:pPr>
            <a:r>
              <a:rPr lang="en-US" sz="2400">
                <a:solidFill>
                  <a:schemeClr val="tx1"/>
                </a:solidFill>
                <a:latin typeface="+mj-lt"/>
              </a:rPr>
              <a:t>Authentication:</a:t>
            </a:r>
          </a:p>
          <a:p>
            <a:pPr marL="173038" lvl="1" indent="-173038">
              <a:spcBef>
                <a:spcPts val="600"/>
              </a:spcBef>
              <a:buFont typeface="Arial" panose="020B0604020202020204" pitchFamily="34" charset="0"/>
              <a:buChar char="•"/>
            </a:pPr>
            <a:r>
              <a:rPr lang="en-US" sz="2000">
                <a:solidFill>
                  <a:schemeClr val="tx1"/>
                </a:solidFill>
              </a:rPr>
              <a:t>Enable authentication – default anonymous</a:t>
            </a:r>
          </a:p>
          <a:p>
            <a:pPr marL="173038" lvl="1" indent="-173038">
              <a:spcBef>
                <a:spcPts val="600"/>
              </a:spcBef>
              <a:buFont typeface="Arial" panose="020B0604020202020204" pitchFamily="34" charset="0"/>
              <a:buChar char="•"/>
            </a:pPr>
            <a:r>
              <a:rPr lang="en-US" sz="2000">
                <a:solidFill>
                  <a:schemeClr val="tx1"/>
                </a:solidFill>
              </a:rPr>
              <a:t>Log in with a third-party identity provider</a:t>
            </a:r>
          </a:p>
        </p:txBody>
      </p:sp>
      <p:sp>
        <p:nvSpPr>
          <p:cNvPr id="7" name="Rectangle 6">
            <a:extLst>
              <a:ext uri="{FF2B5EF4-FFF2-40B4-BE49-F238E27FC236}">
                <a16:creationId xmlns:a16="http://schemas.microsoft.com/office/drawing/2014/main" id="{85E13CC6-5AAC-4F2A-B3BF-E218BCA8A842}"/>
              </a:ext>
            </a:extLst>
          </p:cNvPr>
          <p:cNvSpPr/>
          <p:nvPr/>
        </p:nvSpPr>
        <p:spPr bwMode="auto">
          <a:xfrm>
            <a:off x="427039" y="3195637"/>
            <a:ext cx="5541264" cy="2957737"/>
          </a:xfrm>
          <a:prstGeom prst="rect">
            <a:avLst/>
          </a:prstGeom>
          <a:solidFill>
            <a:schemeClr val="bg1">
              <a:lumMod val="95000"/>
            </a:schemeClr>
          </a:solid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t" anchorCtr="0" forceAA="0" compatLnSpc="1">
            <a:prstTxWarp prst="textNoShape">
              <a:avLst/>
            </a:prstTxWarp>
            <a:noAutofit/>
          </a:bodyPr>
          <a:lstStyle/>
          <a:p>
            <a:pPr>
              <a:spcBef>
                <a:spcPts val="600"/>
              </a:spcBef>
            </a:pPr>
            <a:r>
              <a:rPr lang="en-US" sz="2400">
                <a:solidFill>
                  <a:schemeClr val="tx1"/>
                </a:solidFill>
                <a:latin typeface="+mj-lt"/>
              </a:rPr>
              <a:t>Security:</a:t>
            </a:r>
          </a:p>
          <a:p>
            <a:pPr marL="173038" lvl="1" indent="-173038">
              <a:spcBef>
                <a:spcPts val="600"/>
              </a:spcBef>
              <a:buFont typeface="Arial" panose="020B0604020202020204" pitchFamily="34" charset="0"/>
              <a:buChar char="•"/>
            </a:pPr>
            <a:r>
              <a:rPr lang="en-US" sz="2000">
                <a:solidFill>
                  <a:schemeClr val="tx1"/>
                </a:solidFill>
              </a:rPr>
              <a:t>Troubleshoot with Diagnostic Logs – failed requests, app logging</a:t>
            </a:r>
          </a:p>
          <a:p>
            <a:pPr marL="173038" lvl="1" indent="-173038">
              <a:spcBef>
                <a:spcPts val="600"/>
              </a:spcBef>
              <a:buFont typeface="Arial" panose="020B0604020202020204" pitchFamily="34" charset="0"/>
              <a:buChar char="•"/>
            </a:pPr>
            <a:r>
              <a:rPr lang="en-US" sz="2000">
                <a:solidFill>
                  <a:schemeClr val="tx1"/>
                </a:solidFill>
              </a:rPr>
              <a:t>Add an SSL certificate – HTTPS</a:t>
            </a:r>
          </a:p>
          <a:p>
            <a:pPr marL="173038" lvl="1" indent="-173038">
              <a:spcBef>
                <a:spcPts val="600"/>
              </a:spcBef>
              <a:buFont typeface="Arial" panose="020B0604020202020204" pitchFamily="34" charset="0"/>
              <a:buChar char="•"/>
            </a:pPr>
            <a:r>
              <a:rPr lang="en-US" sz="2000">
                <a:solidFill>
                  <a:schemeClr val="tx1"/>
                </a:solidFill>
              </a:rPr>
              <a:t>Define a priority ordered allow/deny list to control network access to the app</a:t>
            </a:r>
          </a:p>
          <a:p>
            <a:pPr marL="173038" lvl="1" indent="-173038">
              <a:spcBef>
                <a:spcPts val="600"/>
              </a:spcBef>
              <a:buFont typeface="Arial" panose="020B0604020202020204" pitchFamily="34" charset="0"/>
              <a:buChar char="•"/>
            </a:pPr>
            <a:r>
              <a:rPr lang="en-US" sz="2000">
                <a:solidFill>
                  <a:schemeClr val="tx1"/>
                </a:solidFill>
              </a:rPr>
              <a:t>Store secrets in the Azure Key Vault</a:t>
            </a:r>
          </a:p>
        </p:txBody>
      </p:sp>
      <p:pic>
        <p:nvPicPr>
          <p:cNvPr id="4" name="Picture 3" descr="Screenshot of identity providers including Microsoft, Facebook, Google, and Twitter. ">
            <a:extLst>
              <a:ext uri="{FF2B5EF4-FFF2-40B4-BE49-F238E27FC236}">
                <a16:creationId xmlns:a16="http://schemas.microsoft.com/office/drawing/2014/main" id="{34496960-DC75-CA26-928F-8048D5EA8C81}"/>
              </a:ext>
            </a:extLst>
          </p:cNvPr>
          <p:cNvPicPr>
            <a:picLocks noChangeAspect="1"/>
          </p:cNvPicPr>
          <p:nvPr/>
        </p:nvPicPr>
        <p:blipFill>
          <a:blip r:embed="rId3"/>
          <a:stretch>
            <a:fillRect/>
          </a:stretch>
        </p:blipFill>
        <p:spPr>
          <a:xfrm>
            <a:off x="6586533" y="1296928"/>
            <a:ext cx="4779848" cy="4703857"/>
          </a:xfrm>
          <a:prstGeom prst="rect">
            <a:avLst/>
          </a:prstGeom>
        </p:spPr>
      </p:pic>
    </p:spTree>
    <p:extLst>
      <p:ext uri="{BB962C8B-B14F-4D97-AF65-F5344CB8AC3E}">
        <p14:creationId xmlns:p14="http://schemas.microsoft.com/office/powerpoint/2010/main" val="445121099"/>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6F1AA-5B25-48F9-B79E-EF9D69FDA458}"/>
              </a:ext>
            </a:extLst>
          </p:cNvPr>
          <p:cNvSpPr>
            <a:spLocks noGrp="1"/>
          </p:cNvSpPr>
          <p:nvPr>
            <p:ph type="title"/>
          </p:nvPr>
        </p:nvSpPr>
        <p:spPr/>
        <p:txBody>
          <a:bodyPr/>
          <a:lstStyle/>
          <a:p>
            <a:pPr>
              <a:lnSpc>
                <a:spcPct val="100000"/>
              </a:lnSpc>
            </a:pPr>
            <a:r>
              <a:rPr lang="en-US" spc="0">
                <a:solidFill>
                  <a:schemeClr val="tx1"/>
                </a:solidFill>
              </a:rPr>
              <a:t>Create Custom Domain Names</a:t>
            </a:r>
          </a:p>
        </p:txBody>
      </p:sp>
      <p:pic>
        <p:nvPicPr>
          <p:cNvPr id="5" name="Picture 5" descr="Screenshot showing settings pop up window highlighting Custom Domains blade selection">
            <a:extLst>
              <a:ext uri="{FF2B5EF4-FFF2-40B4-BE49-F238E27FC236}">
                <a16:creationId xmlns:a16="http://schemas.microsoft.com/office/drawing/2014/main" id="{2D6E278D-00AF-491A-BAF9-6E99921E6F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91331" y="1372350"/>
            <a:ext cx="2178438" cy="3303554"/>
          </a:xfrm>
          <a:prstGeom prst="rect">
            <a:avLst/>
          </a:prstGeom>
          <a:ln w="6350">
            <a:solidFill>
              <a:schemeClr val="bg1">
                <a:lumMod val="65000"/>
              </a:schemeClr>
            </a:solidFill>
          </a:ln>
        </p:spPr>
      </p:pic>
      <p:cxnSp>
        <p:nvCxnSpPr>
          <p:cNvPr id="6" name="Connector: Elbow 5" descr="Arrow pointing right">
            <a:extLst>
              <a:ext uri="{FF2B5EF4-FFF2-40B4-BE49-F238E27FC236}">
                <a16:creationId xmlns:a16="http://schemas.microsoft.com/office/drawing/2014/main" id="{EE7D7B54-4CBC-41CB-A9C7-59BDD23DE068}"/>
              </a:ext>
              <a:ext uri="{C183D7F6-B498-43B3-948B-1728B52AA6E4}">
                <adec:decorative xmlns:adec="http://schemas.microsoft.com/office/drawing/2017/decorative" val="1"/>
              </a:ext>
            </a:extLst>
          </p:cNvPr>
          <p:cNvCxnSpPr>
            <a:cxnSpLocks/>
          </p:cNvCxnSpPr>
          <p:nvPr/>
        </p:nvCxnSpPr>
        <p:spPr>
          <a:xfrm>
            <a:off x="3688795" y="3024126"/>
            <a:ext cx="1175307" cy="0"/>
          </a:xfrm>
          <a:prstGeom prst="straightConnector1">
            <a:avLst/>
          </a:prstGeom>
          <a:ln w="19050">
            <a:solidFill>
              <a:schemeClr val="bg1">
                <a:lumMod val="65000"/>
              </a:schemeClr>
            </a:solidFill>
            <a:headEnd type="none" w="lg" len="med"/>
            <a:tailEnd type="triangle" w="lg" len="med"/>
          </a:ln>
        </p:spPr>
        <p:style>
          <a:lnRef idx="1">
            <a:schemeClr val="accent1"/>
          </a:lnRef>
          <a:fillRef idx="0">
            <a:schemeClr val="accent1"/>
          </a:fillRef>
          <a:effectRef idx="0">
            <a:schemeClr val="accent1"/>
          </a:effectRef>
          <a:fontRef idx="minor">
            <a:schemeClr val="tx1"/>
          </a:fontRef>
        </p:style>
      </p:cxnSp>
      <p:pic>
        <p:nvPicPr>
          <p:cNvPr id="7" name="Picture 6" descr="Welcome to Contoso web page. The contoso.com URL is highlighted">
            <a:extLst>
              <a:ext uri="{FF2B5EF4-FFF2-40B4-BE49-F238E27FC236}">
                <a16:creationId xmlns:a16="http://schemas.microsoft.com/office/drawing/2014/main" id="{9D100C4A-E9EB-4D66-8763-1572DFBB04A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11259" y="1372343"/>
            <a:ext cx="6033888" cy="3303566"/>
          </a:xfrm>
          <a:prstGeom prst="rect">
            <a:avLst/>
          </a:prstGeom>
          <a:ln>
            <a:noFill/>
          </a:ln>
        </p:spPr>
      </p:pic>
      <p:sp>
        <p:nvSpPr>
          <p:cNvPr id="9" name="Rectangle 8">
            <a:extLst>
              <a:ext uri="{FF2B5EF4-FFF2-40B4-BE49-F238E27FC236}">
                <a16:creationId xmlns:a16="http://schemas.microsoft.com/office/drawing/2014/main" id="{C4EFD61E-756B-45C1-A335-04954A7148F8}"/>
              </a:ext>
            </a:extLst>
          </p:cNvPr>
          <p:cNvSpPr/>
          <p:nvPr/>
        </p:nvSpPr>
        <p:spPr>
          <a:xfrm>
            <a:off x="413320" y="4925683"/>
            <a:ext cx="2069200" cy="1110224"/>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73152" rIns="137160" bIns="73152" numCol="1" spcCol="1270" anchor="t" anchorCtr="0">
            <a:noAutofit/>
          </a:bodyPr>
          <a:lstStyle/>
          <a:p>
            <a:pPr>
              <a:spcAft>
                <a:spcPts val="600"/>
              </a:spcAft>
            </a:pPr>
            <a:r>
              <a:rPr lang="en-US" sz="2000">
                <a:solidFill>
                  <a:schemeClr val="tx1"/>
                </a:solidFill>
              </a:rPr>
              <a:t>Redirect the default web </a:t>
            </a:r>
            <a:br>
              <a:rPr lang="en-US" sz="2000">
                <a:solidFill>
                  <a:schemeClr val="tx1"/>
                </a:solidFill>
              </a:rPr>
            </a:br>
            <a:r>
              <a:rPr lang="en-US" sz="2000">
                <a:solidFill>
                  <a:schemeClr val="tx1"/>
                </a:solidFill>
              </a:rPr>
              <a:t>app URL</a:t>
            </a:r>
          </a:p>
        </p:txBody>
      </p:sp>
      <p:sp>
        <p:nvSpPr>
          <p:cNvPr id="11" name="Rectangle 10">
            <a:extLst>
              <a:ext uri="{FF2B5EF4-FFF2-40B4-BE49-F238E27FC236}">
                <a16:creationId xmlns:a16="http://schemas.microsoft.com/office/drawing/2014/main" id="{56EB7894-B084-42BA-B092-F4C2B2C84C48}"/>
              </a:ext>
            </a:extLst>
          </p:cNvPr>
          <p:cNvSpPr/>
          <p:nvPr/>
        </p:nvSpPr>
        <p:spPr>
          <a:xfrm>
            <a:off x="2636941" y="4925683"/>
            <a:ext cx="2069201" cy="1110224"/>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73152" rIns="137160" bIns="73152" numCol="1" spcCol="1270" anchor="t" anchorCtr="0">
            <a:noAutofit/>
          </a:bodyPr>
          <a:lstStyle/>
          <a:p>
            <a:pPr>
              <a:spcAft>
                <a:spcPts val="600"/>
              </a:spcAft>
            </a:pPr>
            <a:r>
              <a:rPr lang="en-US" sz="2000">
                <a:solidFill>
                  <a:schemeClr val="tx1"/>
                </a:solidFill>
              </a:rPr>
              <a:t>Validate the custom domain in Azure</a:t>
            </a:r>
          </a:p>
        </p:txBody>
      </p:sp>
      <p:sp>
        <p:nvSpPr>
          <p:cNvPr id="10" name="Rectangle 9">
            <a:extLst>
              <a:ext uri="{FF2B5EF4-FFF2-40B4-BE49-F238E27FC236}">
                <a16:creationId xmlns:a16="http://schemas.microsoft.com/office/drawing/2014/main" id="{F6D86CF7-D60B-4D01-9DDE-4B142AF6B7DC}"/>
              </a:ext>
            </a:extLst>
          </p:cNvPr>
          <p:cNvSpPr/>
          <p:nvPr/>
        </p:nvSpPr>
        <p:spPr>
          <a:xfrm>
            <a:off x="4860562" y="4925683"/>
            <a:ext cx="4331972" cy="1110224"/>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73152" rIns="137160" bIns="73152" numCol="1" spcCol="1270" anchor="t" anchorCtr="0">
            <a:noAutofit/>
          </a:bodyPr>
          <a:lstStyle/>
          <a:p>
            <a:pPr>
              <a:spcAft>
                <a:spcPts val="600"/>
              </a:spcAft>
            </a:pPr>
            <a:r>
              <a:rPr lang="en-US" sz="2000">
                <a:solidFill>
                  <a:schemeClr val="tx1"/>
                </a:solidFill>
              </a:rPr>
              <a:t>Use the DNS registry for your domain provider – create a CNAME or A record with the mapping</a:t>
            </a:r>
          </a:p>
        </p:txBody>
      </p:sp>
      <p:sp>
        <p:nvSpPr>
          <p:cNvPr id="13" name="Rectangle 12">
            <a:extLst>
              <a:ext uri="{FF2B5EF4-FFF2-40B4-BE49-F238E27FC236}">
                <a16:creationId xmlns:a16="http://schemas.microsoft.com/office/drawing/2014/main" id="{7D11F7C7-7C04-4D72-B5DF-075B7DC0E0C1}"/>
              </a:ext>
            </a:extLst>
          </p:cNvPr>
          <p:cNvSpPr/>
          <p:nvPr/>
        </p:nvSpPr>
        <p:spPr>
          <a:xfrm>
            <a:off x="9346955" y="4925683"/>
            <a:ext cx="2648767" cy="1110224"/>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73152" rIns="137160" bIns="73152" numCol="1" spcCol="1270" anchor="t" anchorCtr="0">
            <a:noAutofit/>
          </a:bodyPr>
          <a:lstStyle/>
          <a:p>
            <a:pPr>
              <a:spcAft>
                <a:spcPts val="600"/>
              </a:spcAft>
            </a:pPr>
            <a:r>
              <a:rPr lang="en-US" sz="2000">
                <a:solidFill>
                  <a:schemeClr val="tx1"/>
                </a:solidFill>
              </a:rPr>
              <a:t>Ensure App Service plan supports custom domains</a:t>
            </a:r>
          </a:p>
          <a:p>
            <a:endParaRPr lang="en-US" sz="2000">
              <a:solidFill>
                <a:schemeClr val="tx1"/>
              </a:solidFill>
            </a:endParaRPr>
          </a:p>
        </p:txBody>
      </p:sp>
    </p:spTree>
    <p:extLst>
      <p:ext uri="{BB962C8B-B14F-4D97-AF65-F5344CB8AC3E}">
        <p14:creationId xmlns:p14="http://schemas.microsoft.com/office/powerpoint/2010/main" val="1253416766"/>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pPr>
              <a:lnSpc>
                <a:spcPct val="100000"/>
              </a:lnSpc>
            </a:pPr>
            <a:r>
              <a:rPr lang="en-US" spc="0">
                <a:solidFill>
                  <a:schemeClr val="tx1"/>
                </a:solidFill>
              </a:rPr>
              <a:t>Backup an App Service</a:t>
            </a:r>
          </a:p>
        </p:txBody>
      </p:sp>
      <p:sp>
        <p:nvSpPr>
          <p:cNvPr id="6" name="Rectangle 5">
            <a:extLst>
              <a:ext uri="{FF2B5EF4-FFF2-40B4-BE49-F238E27FC236}">
                <a16:creationId xmlns:a16="http://schemas.microsoft.com/office/drawing/2014/main" id="{E472425A-B4AC-4379-A631-8D3388B1DCA2}"/>
              </a:ext>
            </a:extLst>
          </p:cNvPr>
          <p:cNvSpPr/>
          <p:nvPr/>
        </p:nvSpPr>
        <p:spPr bwMode="auto">
          <a:xfrm>
            <a:off x="465138" y="1334698"/>
            <a:ext cx="6097779" cy="521549"/>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ctr" anchorCtr="0" forceAA="0" compatLnSpc="1">
            <a:prstTxWarp prst="textNoShape">
              <a:avLst/>
            </a:prstTxWarp>
            <a:noAutofit/>
          </a:bodyPr>
          <a:lstStyle/>
          <a:p>
            <a:pPr lvl="0">
              <a:spcBef>
                <a:spcPts val="300"/>
              </a:spcBef>
              <a:spcAft>
                <a:spcPts val="600"/>
              </a:spcAft>
            </a:pPr>
            <a:r>
              <a:rPr lang="en-US" sz="2000">
                <a:solidFill>
                  <a:schemeClr val="tx1"/>
                </a:solidFill>
              </a:rPr>
              <a:t>Create app backups manually or on a schedule</a:t>
            </a:r>
          </a:p>
        </p:txBody>
      </p:sp>
      <p:sp>
        <p:nvSpPr>
          <p:cNvPr id="7" name="Rectangle 6">
            <a:extLst>
              <a:ext uri="{FF2B5EF4-FFF2-40B4-BE49-F238E27FC236}">
                <a16:creationId xmlns:a16="http://schemas.microsoft.com/office/drawing/2014/main" id="{DFEFB4A2-37F1-4205-B65D-C8CA57E156E0}"/>
              </a:ext>
            </a:extLst>
          </p:cNvPr>
          <p:cNvSpPr/>
          <p:nvPr/>
        </p:nvSpPr>
        <p:spPr bwMode="auto">
          <a:xfrm>
            <a:off x="465138" y="1984002"/>
            <a:ext cx="6097779" cy="778032"/>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ctr" anchorCtr="0" forceAA="0" compatLnSpc="1">
            <a:prstTxWarp prst="textNoShape">
              <a:avLst/>
            </a:prstTxWarp>
            <a:noAutofit/>
          </a:bodyPr>
          <a:lstStyle/>
          <a:p>
            <a:pPr>
              <a:spcBef>
                <a:spcPts val="300"/>
              </a:spcBef>
              <a:spcAft>
                <a:spcPts val="600"/>
              </a:spcAft>
            </a:pPr>
            <a:r>
              <a:rPr lang="en-US" sz="2000">
                <a:solidFill>
                  <a:schemeClr val="tx1"/>
                </a:solidFill>
              </a:rPr>
              <a:t>Backup the configuration, file content, and database connected to the app</a:t>
            </a:r>
          </a:p>
        </p:txBody>
      </p:sp>
      <p:sp>
        <p:nvSpPr>
          <p:cNvPr id="8" name="Rectangle 7">
            <a:extLst>
              <a:ext uri="{FF2B5EF4-FFF2-40B4-BE49-F238E27FC236}">
                <a16:creationId xmlns:a16="http://schemas.microsoft.com/office/drawing/2014/main" id="{EAB5440F-79C6-4A4C-A9DB-539CCEE4AFE9}"/>
              </a:ext>
            </a:extLst>
          </p:cNvPr>
          <p:cNvSpPr/>
          <p:nvPr/>
        </p:nvSpPr>
        <p:spPr bwMode="auto">
          <a:xfrm>
            <a:off x="465138" y="2889788"/>
            <a:ext cx="6097779" cy="521549"/>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ctr" anchorCtr="0" forceAA="0" compatLnSpc="1">
            <a:prstTxWarp prst="textNoShape">
              <a:avLst/>
            </a:prstTxWarp>
            <a:noAutofit/>
          </a:bodyPr>
          <a:lstStyle/>
          <a:p>
            <a:pPr lvl="0">
              <a:spcBef>
                <a:spcPts val="300"/>
              </a:spcBef>
              <a:spcAft>
                <a:spcPts val="600"/>
              </a:spcAft>
            </a:pPr>
            <a:r>
              <a:rPr lang="en-US" sz="2000">
                <a:solidFill>
                  <a:schemeClr val="tx1"/>
                </a:solidFill>
              </a:rPr>
              <a:t>Requires Standard or Premium plan</a:t>
            </a:r>
          </a:p>
        </p:txBody>
      </p:sp>
      <p:sp>
        <p:nvSpPr>
          <p:cNvPr id="9" name="Rectangle 8">
            <a:extLst>
              <a:ext uri="{FF2B5EF4-FFF2-40B4-BE49-F238E27FC236}">
                <a16:creationId xmlns:a16="http://schemas.microsoft.com/office/drawing/2014/main" id="{18833617-30D0-4B4B-BA70-0F9CAA28E454}"/>
              </a:ext>
            </a:extLst>
          </p:cNvPr>
          <p:cNvSpPr/>
          <p:nvPr/>
        </p:nvSpPr>
        <p:spPr bwMode="auto">
          <a:xfrm>
            <a:off x="465138" y="3539090"/>
            <a:ext cx="6097779" cy="778032"/>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ctr" anchorCtr="0" forceAA="0" compatLnSpc="1">
            <a:prstTxWarp prst="textNoShape">
              <a:avLst/>
            </a:prstTxWarp>
            <a:noAutofit/>
          </a:bodyPr>
          <a:lstStyle/>
          <a:p>
            <a:pPr lvl="0">
              <a:spcBef>
                <a:spcPts val="300"/>
              </a:spcBef>
              <a:spcAft>
                <a:spcPts val="600"/>
              </a:spcAft>
            </a:pPr>
            <a:r>
              <a:rPr lang="en-US" sz="2000">
                <a:solidFill>
                  <a:schemeClr val="tx1"/>
                </a:solidFill>
              </a:rPr>
              <a:t>Backups can be up to 10 GB of app and database content</a:t>
            </a:r>
          </a:p>
        </p:txBody>
      </p:sp>
      <p:sp>
        <p:nvSpPr>
          <p:cNvPr id="10" name="Rectangle 9">
            <a:extLst>
              <a:ext uri="{FF2B5EF4-FFF2-40B4-BE49-F238E27FC236}">
                <a16:creationId xmlns:a16="http://schemas.microsoft.com/office/drawing/2014/main" id="{BF264C37-EAFD-4B7F-A5EA-F1DC663575BE}"/>
              </a:ext>
            </a:extLst>
          </p:cNvPr>
          <p:cNvSpPr/>
          <p:nvPr/>
        </p:nvSpPr>
        <p:spPr bwMode="auto">
          <a:xfrm>
            <a:off x="465138" y="4444877"/>
            <a:ext cx="6097779" cy="70107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ctr" anchorCtr="0" forceAA="0" compatLnSpc="1">
            <a:prstTxWarp prst="textNoShape">
              <a:avLst/>
            </a:prstTxWarp>
            <a:noAutofit/>
          </a:bodyPr>
          <a:lstStyle/>
          <a:p>
            <a:pPr lvl="0">
              <a:spcBef>
                <a:spcPts val="300"/>
              </a:spcBef>
              <a:spcAft>
                <a:spcPts val="600"/>
              </a:spcAft>
            </a:pPr>
            <a:r>
              <a:rPr lang="en-US" sz="2000">
                <a:solidFill>
                  <a:schemeClr val="tx1"/>
                </a:solidFill>
              </a:rPr>
              <a:t>Configure partial backups and exclude items from the backup</a:t>
            </a:r>
          </a:p>
        </p:txBody>
      </p:sp>
      <p:sp>
        <p:nvSpPr>
          <p:cNvPr id="11" name="Rectangle 10">
            <a:extLst>
              <a:ext uri="{FF2B5EF4-FFF2-40B4-BE49-F238E27FC236}">
                <a16:creationId xmlns:a16="http://schemas.microsoft.com/office/drawing/2014/main" id="{5BAB7361-5FCB-47D4-BD80-0F0278181EB1}"/>
              </a:ext>
            </a:extLst>
          </p:cNvPr>
          <p:cNvSpPr/>
          <p:nvPr/>
        </p:nvSpPr>
        <p:spPr bwMode="auto">
          <a:xfrm>
            <a:off x="465138" y="5273704"/>
            <a:ext cx="6097779" cy="70107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ctr" anchorCtr="0" forceAA="0" compatLnSpc="1">
            <a:prstTxWarp prst="textNoShape">
              <a:avLst/>
            </a:prstTxWarp>
            <a:noAutofit/>
          </a:bodyPr>
          <a:lstStyle/>
          <a:p>
            <a:pPr lvl="0">
              <a:spcBef>
                <a:spcPts val="300"/>
              </a:spcBef>
              <a:spcAft>
                <a:spcPts val="600"/>
              </a:spcAft>
            </a:pPr>
            <a:r>
              <a:rPr lang="en-US" sz="2000">
                <a:solidFill>
                  <a:schemeClr val="tx1"/>
                </a:solidFill>
              </a:rPr>
              <a:t>Restore your app on-demand to a previous state,</a:t>
            </a:r>
            <a:br>
              <a:rPr lang="en-US" sz="2000">
                <a:solidFill>
                  <a:schemeClr val="tx1"/>
                </a:solidFill>
              </a:rPr>
            </a:br>
            <a:r>
              <a:rPr lang="en-US" sz="2000">
                <a:solidFill>
                  <a:schemeClr val="tx1"/>
                </a:solidFill>
              </a:rPr>
              <a:t>or create a new app</a:t>
            </a:r>
          </a:p>
        </p:txBody>
      </p:sp>
      <p:pic>
        <p:nvPicPr>
          <p:cNvPr id="5" name="Picture 3" descr="Screenshot showing settings pop up window highlighting backups">
            <a:extLst>
              <a:ext uri="{FF2B5EF4-FFF2-40B4-BE49-F238E27FC236}">
                <a16:creationId xmlns:a16="http://schemas.microsoft.com/office/drawing/2014/main" id="{540DA700-32D8-4563-AB68-D937D0F09F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90907" y="982467"/>
            <a:ext cx="3176825" cy="5015726"/>
          </a:xfrm>
          <a:prstGeom prst="rect">
            <a:avLst/>
          </a:prstGeom>
          <a:ln>
            <a:noFill/>
          </a:ln>
        </p:spPr>
      </p:pic>
    </p:spTree>
    <p:extLst>
      <p:ext uri="{BB962C8B-B14F-4D97-AF65-F5344CB8AC3E}">
        <p14:creationId xmlns:p14="http://schemas.microsoft.com/office/powerpoint/2010/main" val="116757353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B1B59-5A29-4ADD-9D90-235AA0014A02}"/>
              </a:ext>
            </a:extLst>
          </p:cNvPr>
          <p:cNvSpPr>
            <a:spLocks noGrp="1"/>
          </p:cNvSpPr>
          <p:nvPr>
            <p:ph type="title"/>
          </p:nvPr>
        </p:nvSpPr>
        <p:spPr/>
        <p:txBody>
          <a:bodyPr/>
          <a:lstStyle/>
          <a:p>
            <a:pPr>
              <a:lnSpc>
                <a:spcPct val="100000"/>
              </a:lnSpc>
            </a:pPr>
            <a:r>
              <a:rPr lang="en-US" spc="0">
                <a:solidFill>
                  <a:schemeClr val="tx1"/>
                </a:solidFill>
              </a:rPr>
              <a:t>Demonstration – Configure Azure App Services</a:t>
            </a:r>
          </a:p>
        </p:txBody>
      </p:sp>
      <p:sp>
        <p:nvSpPr>
          <p:cNvPr id="15" name="Rectangle 14">
            <a:extLst>
              <a:ext uri="{FF2B5EF4-FFF2-40B4-BE49-F238E27FC236}">
                <a16:creationId xmlns:a16="http://schemas.microsoft.com/office/drawing/2014/main" id="{CEF9FBC7-CD9C-43F7-937C-6976FB917B08}"/>
              </a:ext>
            </a:extLst>
          </p:cNvPr>
          <p:cNvSpPr/>
          <p:nvPr/>
        </p:nvSpPr>
        <p:spPr>
          <a:xfrm>
            <a:off x="968931" y="1761609"/>
            <a:ext cx="5415329" cy="1593193"/>
          </a:xfrm>
          <a:prstGeom prst="rect">
            <a:avLst/>
          </a:prstGeom>
        </p:spPr>
        <p:txBody>
          <a:bodyPr wrap="none" lIns="0" tIns="0" rIns="0" bIns="0">
            <a:spAutoFit/>
          </a:bodyPr>
          <a:lstStyle/>
          <a:p>
            <a:pPr marL="342900" indent="-342900">
              <a:lnSpc>
                <a:spcPct val="150000"/>
              </a:lnSpc>
              <a:buFont typeface="Arial" panose="020B0604020202020204" pitchFamily="34" charset="0"/>
              <a:buChar char="•"/>
            </a:pPr>
            <a:r>
              <a:rPr lang="en-US" sz="2400">
                <a:cs typeface="Segoe UI Semilight"/>
              </a:rPr>
              <a:t>Create a Web App in the Azure Portal</a:t>
            </a:r>
          </a:p>
          <a:p>
            <a:pPr marL="342900" indent="-342900">
              <a:lnSpc>
                <a:spcPct val="150000"/>
              </a:lnSpc>
              <a:buFont typeface="Arial" panose="020B0604020202020204" pitchFamily="34" charset="0"/>
              <a:buChar char="•"/>
            </a:pPr>
            <a:r>
              <a:rPr lang="en-US" sz="2400">
                <a:cs typeface="Segoe UI Semilight"/>
              </a:rPr>
              <a:t>Verify the web app is running</a:t>
            </a:r>
          </a:p>
          <a:p>
            <a:pPr marL="342900" indent="-342900">
              <a:lnSpc>
                <a:spcPct val="150000"/>
              </a:lnSpc>
              <a:buFont typeface="Arial" panose="020B0604020202020204" pitchFamily="34" charset="0"/>
              <a:buChar char="•"/>
            </a:pPr>
            <a:r>
              <a:rPr lang="en-US" sz="2400">
                <a:cs typeface="Segoe UI Semilight"/>
              </a:rPr>
              <a:t>Explore deployment slots</a:t>
            </a:r>
            <a:endParaRPr lang="en-US" sz="2400"/>
          </a:p>
        </p:txBody>
      </p:sp>
    </p:spTree>
    <p:extLst>
      <p:ext uri="{BB962C8B-B14F-4D97-AF65-F5344CB8AC3E}">
        <p14:creationId xmlns:p14="http://schemas.microsoft.com/office/powerpoint/2010/main" val="1861915591"/>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p:txBody>
          <a:bodyPr/>
          <a:lstStyle/>
          <a:p>
            <a:pPr>
              <a:lnSpc>
                <a:spcPct val="100000"/>
              </a:lnSpc>
            </a:pPr>
            <a:r>
              <a:rPr lang="en-US" spc="0">
                <a:solidFill>
                  <a:schemeClr val="tx1"/>
                </a:solidFill>
                <a:cs typeface="Segoe UI"/>
              </a:rPr>
              <a:t>Learning Recap – Configure Azure App Services</a:t>
            </a:r>
          </a:p>
        </p:txBody>
      </p:sp>
      <p:sp>
        <p:nvSpPr>
          <p:cNvPr id="5" name="Rectangle 4">
            <a:extLst>
              <a:ext uri="{FF2B5EF4-FFF2-40B4-BE49-F238E27FC236}">
                <a16:creationId xmlns:a16="http://schemas.microsoft.com/office/drawing/2014/main" id="{7B402F18-F086-4DCC-831B-F7591FCF6A68}"/>
              </a:ext>
            </a:extLst>
          </p:cNvPr>
          <p:cNvSpPr/>
          <p:nvPr/>
        </p:nvSpPr>
        <p:spPr>
          <a:xfrm>
            <a:off x="3921918" y="2375339"/>
            <a:ext cx="7742238" cy="3027525"/>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t" anchorCtr="0">
            <a:noAutofit/>
          </a:bodyPr>
          <a:lstStyle/>
          <a:p>
            <a:pPr marL="342900" indent="-342900">
              <a:spcAft>
                <a:spcPts val="600"/>
              </a:spcAft>
              <a:buClr>
                <a:schemeClr val="tx1"/>
              </a:buClr>
              <a:buFont typeface="Arial" panose="020B0604020202020204" pitchFamily="34" charset="0"/>
              <a:buChar char="•"/>
            </a:pPr>
            <a:r>
              <a:rPr lang="en-US">
                <a:hlinkClick r:id="rId3"/>
              </a:rPr>
              <a:t>Host a web application with Azure App Service </a:t>
            </a:r>
            <a:endParaRPr lang="en-US"/>
          </a:p>
          <a:p>
            <a:pPr marL="342900" indent="-342900">
              <a:spcAft>
                <a:spcPts val="600"/>
              </a:spcAft>
              <a:buClr>
                <a:schemeClr val="tx1"/>
              </a:buClr>
              <a:buFont typeface="Arial" panose="020B0604020202020204" pitchFamily="34" charset="0"/>
              <a:buChar char="•"/>
            </a:pPr>
            <a:r>
              <a:rPr lang="en-US">
                <a:hlinkClick r:id="rId4"/>
              </a:rPr>
              <a:t>Scale apps in Azure App Service</a:t>
            </a:r>
            <a:endParaRPr lang="en-US"/>
          </a:p>
          <a:p>
            <a:pPr marL="342900" indent="-342900">
              <a:spcAft>
                <a:spcPts val="600"/>
              </a:spcAft>
              <a:buClr>
                <a:schemeClr val="tx1"/>
              </a:buClr>
              <a:buFont typeface="Arial" panose="020B0604020202020204" pitchFamily="34" charset="0"/>
              <a:buChar char="•"/>
            </a:pPr>
            <a:r>
              <a:rPr lang="en-US">
                <a:hlinkClick r:id="rId5"/>
              </a:rPr>
              <a:t>Explore Azure App Service deployment slots </a:t>
            </a:r>
            <a:endParaRPr lang="en-US"/>
          </a:p>
          <a:p>
            <a:pPr marL="342900" indent="-342900">
              <a:spcAft>
                <a:spcPts val="600"/>
              </a:spcAft>
              <a:buClr>
                <a:schemeClr val="tx1"/>
              </a:buClr>
              <a:buFont typeface="Arial" panose="020B0604020202020204" pitchFamily="34" charset="0"/>
              <a:buChar char="•"/>
            </a:pPr>
            <a:r>
              <a:rPr lang="en-US">
                <a:hlinkClick r:id="rId6"/>
              </a:rPr>
              <a:t>Stage a web app deployment for testing and rollback by using App Service deployment slots</a:t>
            </a:r>
            <a:endParaRPr lang="en-US"/>
          </a:p>
          <a:p>
            <a:pPr marL="342900" lvl="1" indent="-342900">
              <a:buClr>
                <a:schemeClr val="tx1"/>
              </a:buClr>
              <a:buFont typeface="Arial" panose="020B0604020202020204" pitchFamily="34" charset="0"/>
              <a:buChar char="•"/>
            </a:pPr>
            <a:endParaRPr lang="en-US">
              <a:solidFill>
                <a:schemeClr val="tx1"/>
              </a:solidFill>
              <a:cs typeface="Segoe UI"/>
            </a:endParaRPr>
          </a:p>
          <a:p>
            <a:pPr marL="342900" lvl="1" indent="-342900">
              <a:buFont typeface="Courier New" panose="02070309020205020404" pitchFamily="49" charset="0"/>
              <a:buChar char="o"/>
            </a:pPr>
            <a:endParaRPr lang="en-US">
              <a:solidFill>
                <a:schemeClr val="tx1"/>
              </a:solidFill>
              <a:cs typeface="Segoe UI"/>
            </a:endParaRPr>
          </a:p>
        </p:txBody>
      </p:sp>
    </p:spTree>
    <p:extLst>
      <p:ext uri="{BB962C8B-B14F-4D97-AF65-F5344CB8AC3E}">
        <p14:creationId xmlns:p14="http://schemas.microsoft.com/office/powerpoint/2010/main" val="2032549010"/>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D8665D-5A50-4F07-9D33-48CCD3FD74C7}"/>
              </a:ext>
            </a:extLst>
          </p:cNvPr>
          <p:cNvSpPr>
            <a:spLocks noGrp="1"/>
          </p:cNvSpPr>
          <p:nvPr>
            <p:ph type="title"/>
          </p:nvPr>
        </p:nvSpPr>
        <p:spPr>
          <a:xfrm>
            <a:off x="581340" y="3354052"/>
            <a:ext cx="6472474" cy="886397"/>
          </a:xfrm>
        </p:spPr>
        <p:txBody>
          <a:bodyPr/>
          <a:lstStyle/>
          <a:p>
            <a:r>
              <a:rPr lang="en-US" sz="3200"/>
              <a:t>Configure Azure Container Instances Apps</a:t>
            </a:r>
          </a:p>
        </p:txBody>
      </p:sp>
    </p:spTree>
    <p:extLst>
      <p:ext uri="{BB962C8B-B14F-4D97-AF65-F5344CB8AC3E}">
        <p14:creationId xmlns:p14="http://schemas.microsoft.com/office/powerpoint/2010/main" val="15977549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465138" y="567457"/>
            <a:ext cx="11530584" cy="830020"/>
          </a:xfrm>
        </p:spPr>
        <p:txBody>
          <a:bodyPr/>
          <a:lstStyle/>
          <a:p>
            <a:r>
              <a:rPr lang="en-US"/>
              <a:t>Learning Objectives - Configure Azure Container Instances </a:t>
            </a:r>
          </a:p>
        </p:txBody>
      </p:sp>
      <p:sp>
        <p:nvSpPr>
          <p:cNvPr id="2" name="Rectangle 1">
            <a:extLst>
              <a:ext uri="{FF2B5EF4-FFF2-40B4-BE49-F238E27FC236}">
                <a16:creationId xmlns:a16="http://schemas.microsoft.com/office/drawing/2014/main" id="{BD215697-635D-49B2-ABC3-EA90F7A682EA}"/>
              </a:ext>
            </a:extLst>
          </p:cNvPr>
          <p:cNvSpPr/>
          <p:nvPr/>
        </p:nvSpPr>
        <p:spPr bwMode="auto">
          <a:xfrm>
            <a:off x="465138" y="1385364"/>
            <a:ext cx="5439314" cy="430887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342900" indent="-342900">
              <a:spcAft>
                <a:spcPts val="600"/>
              </a:spcAft>
              <a:buFont typeface="Arial" panose="020B0604020202020204" pitchFamily="34" charset="0"/>
              <a:buChar char="•"/>
            </a:pPr>
            <a:r>
              <a:rPr lang="en-US" sz="2000">
                <a:solidFill>
                  <a:schemeClr val="tx1"/>
                </a:solidFill>
                <a:cs typeface="Segoe UI Semilight"/>
              </a:rPr>
              <a:t>Compare Containers to Virtual Machines</a:t>
            </a:r>
          </a:p>
          <a:p>
            <a:pPr marL="342900" indent="-342900">
              <a:spcAft>
                <a:spcPts val="600"/>
              </a:spcAft>
              <a:buFont typeface="Arial" panose="020B0604020202020204" pitchFamily="34" charset="0"/>
              <a:buChar char="•"/>
            </a:pPr>
            <a:r>
              <a:rPr lang="en-US" sz="2000">
                <a:solidFill>
                  <a:schemeClr val="tx1"/>
                </a:solidFill>
                <a:cs typeface="Segoe UI Semilight"/>
              </a:rPr>
              <a:t>Understand Container Images </a:t>
            </a:r>
          </a:p>
          <a:p>
            <a:pPr marL="342900" indent="-342900">
              <a:spcAft>
                <a:spcPts val="600"/>
              </a:spcAft>
              <a:buFont typeface="Arial" panose="020B0604020202020204" pitchFamily="34" charset="0"/>
              <a:buChar char="•"/>
            </a:pPr>
            <a:r>
              <a:rPr lang="en-US" sz="2000">
                <a:solidFill>
                  <a:schemeClr val="tx1"/>
                </a:solidFill>
                <a:cs typeface="Segoe UI Semilight"/>
              </a:rPr>
              <a:t>Review Azure Container Instances</a:t>
            </a:r>
          </a:p>
          <a:p>
            <a:pPr marL="342900" indent="-342900">
              <a:spcAft>
                <a:spcPts val="600"/>
              </a:spcAft>
              <a:buFont typeface="Arial" panose="020B0604020202020204" pitchFamily="34" charset="0"/>
              <a:buChar char="•"/>
            </a:pPr>
            <a:r>
              <a:rPr lang="en-US" sz="2000">
                <a:solidFill>
                  <a:schemeClr val="tx1"/>
                </a:solidFill>
                <a:cs typeface="Segoe UI Semilight"/>
              </a:rPr>
              <a:t>Implement Container Groups</a:t>
            </a:r>
          </a:p>
          <a:p>
            <a:pPr marL="342900" indent="-342900">
              <a:spcAft>
                <a:spcPts val="600"/>
              </a:spcAft>
              <a:buFont typeface="Arial" panose="020B0604020202020204" pitchFamily="34" charset="0"/>
              <a:buChar char="•"/>
            </a:pPr>
            <a:r>
              <a:rPr lang="en-US" sz="2000">
                <a:solidFill>
                  <a:schemeClr val="tx1"/>
                </a:solidFill>
                <a:cs typeface="Segoe UI Semilight"/>
              </a:rPr>
              <a:t>Demonstration – Configure Azure Container Instances</a:t>
            </a:r>
          </a:p>
          <a:p>
            <a:pPr marL="342900" indent="-342900">
              <a:spcAft>
                <a:spcPts val="600"/>
              </a:spcAft>
              <a:buFont typeface="Arial" panose="020B0604020202020204" pitchFamily="34" charset="0"/>
              <a:buChar char="•"/>
            </a:pPr>
            <a:r>
              <a:rPr lang="en-US" sz="2000">
                <a:solidFill>
                  <a:schemeClr val="tx1"/>
                </a:solidFill>
                <a:cs typeface="Segoe UI Semilight"/>
              </a:rPr>
              <a:t>Manage Containers with Azure Container Apps </a:t>
            </a:r>
          </a:p>
          <a:p>
            <a:pPr marL="342900" indent="-342900">
              <a:spcAft>
                <a:spcPts val="600"/>
              </a:spcAft>
              <a:buFont typeface="Arial" panose="020B0604020202020204" pitchFamily="34" charset="0"/>
              <a:buChar char="•"/>
            </a:pPr>
            <a:r>
              <a:rPr lang="en-US" sz="2000">
                <a:solidFill>
                  <a:schemeClr val="tx1"/>
                </a:solidFill>
                <a:cs typeface="Segoe UI Semilight"/>
              </a:rPr>
              <a:t>Compare container management solutions </a:t>
            </a:r>
          </a:p>
          <a:p>
            <a:pPr marL="342900" indent="-342900">
              <a:spcAft>
                <a:spcPts val="600"/>
              </a:spcAft>
              <a:buFont typeface="Arial" panose="020B0604020202020204" pitchFamily="34" charset="0"/>
              <a:buChar char="•"/>
            </a:pPr>
            <a:r>
              <a:rPr lang="en-US" sz="2000">
                <a:solidFill>
                  <a:schemeClr val="tx1"/>
                </a:solidFill>
                <a:cs typeface="Segoe UI Semilight"/>
              </a:rPr>
              <a:t>Demonstration – Configure Azure Container Apps</a:t>
            </a:r>
          </a:p>
          <a:p>
            <a:pPr marL="342900" indent="-342900">
              <a:spcAft>
                <a:spcPts val="600"/>
              </a:spcAft>
              <a:buFont typeface="Arial" panose="020B0604020202020204" pitchFamily="34" charset="0"/>
              <a:buChar char="•"/>
            </a:pPr>
            <a:r>
              <a:rPr lang="en-US" sz="2000">
                <a:solidFill>
                  <a:schemeClr val="tx1"/>
                </a:solidFill>
                <a:cs typeface="Segoe UI Semilight"/>
              </a:rPr>
              <a:t>Learning Recap</a:t>
            </a:r>
          </a:p>
        </p:txBody>
      </p:sp>
      <p:sp>
        <p:nvSpPr>
          <p:cNvPr id="3" name="TextBox 2">
            <a:extLst>
              <a:ext uri="{FF2B5EF4-FFF2-40B4-BE49-F238E27FC236}">
                <a16:creationId xmlns:a16="http://schemas.microsoft.com/office/drawing/2014/main" id="{A1374290-69A0-6CE5-8FEC-A848EA703435}"/>
              </a:ext>
            </a:extLst>
          </p:cNvPr>
          <p:cNvSpPr txBox="1"/>
          <p:nvPr/>
        </p:nvSpPr>
        <p:spPr>
          <a:xfrm>
            <a:off x="6472355" y="1716224"/>
            <a:ext cx="4761702" cy="3447098"/>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600"/>
              </a:spcAft>
              <a:buClrTx/>
              <a:buSzTx/>
              <a:buFontTx/>
              <a:buNone/>
              <a:tabLst/>
              <a:defRPr/>
            </a:pPr>
            <a:r>
              <a:rPr kumimoji="0" lang="en-US" b="0" i="0" u="none" strike="noStrike" kern="0" cap="none" spc="0" normalizeH="0" baseline="0" noProof="0">
                <a:ln>
                  <a:noFill/>
                </a:ln>
                <a:solidFill>
                  <a:srgbClr val="243A5E"/>
                </a:solidFill>
                <a:effectLst/>
                <a:uLnTx/>
                <a:uFillTx/>
              </a:rPr>
              <a:t>Implement and manage Azure compute resources (20-25%): Provision and manage containers in Azure portal</a:t>
            </a:r>
          </a:p>
          <a:p>
            <a:pPr marL="173038" marR="0" lvl="0" indent="-173038" defTabSz="91440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b="0" i="0" u="none" strike="noStrike" kern="0" cap="none" spc="0" normalizeH="0" baseline="0" noProof="0">
                <a:ln>
                  <a:noFill/>
                </a:ln>
                <a:solidFill>
                  <a:srgbClr val="000000"/>
                </a:solidFill>
                <a:effectLst/>
                <a:uLnTx/>
                <a:uFillTx/>
              </a:rPr>
              <a:t>Create and manage an Azure container registry</a:t>
            </a:r>
          </a:p>
          <a:p>
            <a:pPr marL="173038" marR="0" lvl="0" indent="-173038" defTabSz="91440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b="0" i="0" u="none" strike="noStrike" kern="0" cap="none" spc="0" normalizeH="0" baseline="0" noProof="0">
                <a:ln>
                  <a:noFill/>
                </a:ln>
                <a:solidFill>
                  <a:srgbClr val="000000"/>
                </a:solidFill>
                <a:effectLst/>
                <a:uLnTx/>
                <a:uFillTx/>
              </a:rPr>
              <a:t>Provision a container by using Azure Container Instances (ACI)</a:t>
            </a:r>
          </a:p>
          <a:p>
            <a:pPr marL="173038" marR="0" lvl="0" indent="-173038" defTabSz="91440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b="0" i="0" u="none" strike="noStrike" kern="0" cap="none" spc="0" normalizeH="0" baseline="0" noProof="0">
                <a:ln>
                  <a:noFill/>
                </a:ln>
                <a:solidFill>
                  <a:srgbClr val="000000"/>
                </a:solidFill>
                <a:effectLst/>
                <a:uLnTx/>
                <a:uFillTx/>
              </a:rPr>
              <a:t>Provision a container by using Azure Container Apps (ACA)</a:t>
            </a:r>
          </a:p>
          <a:p>
            <a:pPr marL="173038" marR="0" lvl="0" indent="-173038" defTabSz="91440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b="0" i="0" u="none" strike="noStrike" kern="0" cap="none" spc="0" normalizeH="0" baseline="0" noProof="0">
                <a:ln>
                  <a:noFill/>
                </a:ln>
                <a:solidFill>
                  <a:srgbClr val="000000"/>
                </a:solidFill>
                <a:effectLst/>
                <a:uLnTx/>
                <a:uFillTx/>
              </a:rPr>
              <a:t>Manage sizing and scaling for containers, including ACI and ACA</a:t>
            </a:r>
          </a:p>
        </p:txBody>
      </p:sp>
    </p:spTree>
    <p:extLst>
      <p:ext uri="{BB962C8B-B14F-4D97-AF65-F5344CB8AC3E}">
        <p14:creationId xmlns:p14="http://schemas.microsoft.com/office/powerpoint/2010/main" val="2835027989"/>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08ADD-4C8A-4700-BB53-D1B5157535ED}"/>
              </a:ext>
            </a:extLst>
          </p:cNvPr>
          <p:cNvSpPr>
            <a:spLocks noGrp="1"/>
          </p:cNvSpPr>
          <p:nvPr>
            <p:ph type="title"/>
          </p:nvPr>
        </p:nvSpPr>
        <p:spPr/>
        <p:txBody>
          <a:bodyPr/>
          <a:lstStyle/>
          <a:p>
            <a:r>
              <a:rPr lang="en-US" spc="0">
                <a:solidFill>
                  <a:schemeClr val="tx1"/>
                </a:solidFill>
              </a:rPr>
              <a:t>Compare Containers to Virtual Machines</a:t>
            </a:r>
            <a:endParaRPr lang="en-US"/>
          </a:p>
        </p:txBody>
      </p:sp>
      <p:sp>
        <p:nvSpPr>
          <p:cNvPr id="47" name="TextBox 46">
            <a:extLst>
              <a:ext uri="{FF2B5EF4-FFF2-40B4-BE49-F238E27FC236}">
                <a16:creationId xmlns:a16="http://schemas.microsoft.com/office/drawing/2014/main" id="{5C595E68-EC96-4F95-B13A-FE37DDCAA705}"/>
              </a:ext>
            </a:extLst>
          </p:cNvPr>
          <p:cNvSpPr txBox="1"/>
          <p:nvPr/>
        </p:nvSpPr>
        <p:spPr>
          <a:xfrm>
            <a:off x="351235" y="1768946"/>
            <a:ext cx="3136243" cy="3304431"/>
          </a:xfrm>
          <a:prstGeom prst="rect">
            <a:avLst/>
          </a:prstGeom>
          <a:noFill/>
        </p:spPr>
        <p:txBody>
          <a:bodyPr wrap="none" lIns="182880" tIns="146304" rIns="182880" bIns="146304" rtlCol="0">
            <a:spAutoFit/>
          </a:bodyPr>
          <a:lstStyle/>
          <a:p>
            <a:pPr marL="342900" indent="-342900">
              <a:lnSpc>
                <a:spcPct val="150000"/>
              </a:lnSpc>
              <a:spcAft>
                <a:spcPts val="600"/>
              </a:spcAft>
              <a:buFont typeface="Arial" panose="020B0604020202020204" pitchFamily="34" charset="0"/>
              <a:buChar char="•"/>
            </a:pPr>
            <a:r>
              <a:rPr lang="en-US" sz="2400">
                <a:gradFill>
                  <a:gsLst>
                    <a:gs pos="2917">
                      <a:schemeClr val="tx1"/>
                    </a:gs>
                    <a:gs pos="30000">
                      <a:schemeClr val="tx1"/>
                    </a:gs>
                  </a:gsLst>
                  <a:lin ang="5400000" scaled="0"/>
                </a:gradFill>
              </a:rPr>
              <a:t>Isolation</a:t>
            </a:r>
          </a:p>
          <a:p>
            <a:pPr marL="342900" indent="-342900">
              <a:lnSpc>
                <a:spcPct val="150000"/>
              </a:lnSpc>
              <a:spcAft>
                <a:spcPts val="600"/>
              </a:spcAft>
              <a:buFont typeface="Arial" panose="020B0604020202020204" pitchFamily="34" charset="0"/>
              <a:buChar char="•"/>
            </a:pPr>
            <a:r>
              <a:rPr lang="en-US" sz="2400">
                <a:gradFill>
                  <a:gsLst>
                    <a:gs pos="2917">
                      <a:schemeClr val="tx1"/>
                    </a:gs>
                    <a:gs pos="30000">
                      <a:schemeClr val="tx1"/>
                    </a:gs>
                  </a:gsLst>
                  <a:lin ang="5400000" scaled="0"/>
                </a:gradFill>
              </a:rPr>
              <a:t>Operating System</a:t>
            </a:r>
          </a:p>
          <a:p>
            <a:pPr marL="342900" indent="-342900">
              <a:lnSpc>
                <a:spcPct val="150000"/>
              </a:lnSpc>
              <a:spcAft>
                <a:spcPts val="600"/>
              </a:spcAft>
              <a:buFont typeface="Arial" panose="020B0604020202020204" pitchFamily="34" charset="0"/>
              <a:buChar char="•"/>
            </a:pPr>
            <a:r>
              <a:rPr lang="en-US" sz="2400">
                <a:gradFill>
                  <a:gsLst>
                    <a:gs pos="2917">
                      <a:schemeClr val="tx1"/>
                    </a:gs>
                    <a:gs pos="30000">
                      <a:schemeClr val="tx1"/>
                    </a:gs>
                  </a:gsLst>
                  <a:lin ang="5400000" scaled="0"/>
                </a:gradFill>
              </a:rPr>
              <a:t>Deployment</a:t>
            </a:r>
          </a:p>
          <a:p>
            <a:pPr marL="342900" indent="-342900">
              <a:lnSpc>
                <a:spcPct val="150000"/>
              </a:lnSpc>
              <a:spcAft>
                <a:spcPts val="600"/>
              </a:spcAft>
              <a:buFont typeface="Arial" panose="020B0604020202020204" pitchFamily="34" charset="0"/>
              <a:buChar char="•"/>
            </a:pPr>
            <a:r>
              <a:rPr lang="en-US" sz="2400">
                <a:gradFill>
                  <a:gsLst>
                    <a:gs pos="2917">
                      <a:schemeClr val="tx1"/>
                    </a:gs>
                    <a:gs pos="30000">
                      <a:schemeClr val="tx1"/>
                    </a:gs>
                  </a:gsLst>
                  <a:lin ang="5400000" scaled="0"/>
                </a:gradFill>
              </a:rPr>
              <a:t>Persistent storage</a:t>
            </a:r>
          </a:p>
          <a:p>
            <a:pPr marL="342900" indent="-342900">
              <a:lnSpc>
                <a:spcPct val="150000"/>
              </a:lnSpc>
              <a:spcAft>
                <a:spcPts val="600"/>
              </a:spcAft>
              <a:buFont typeface="Arial" panose="020B0604020202020204" pitchFamily="34" charset="0"/>
              <a:buChar char="•"/>
            </a:pPr>
            <a:r>
              <a:rPr lang="en-US" sz="2400">
                <a:gradFill>
                  <a:gsLst>
                    <a:gs pos="2917">
                      <a:schemeClr val="tx1"/>
                    </a:gs>
                    <a:gs pos="30000">
                      <a:schemeClr val="tx1"/>
                    </a:gs>
                  </a:gsLst>
                  <a:lin ang="5400000" scaled="0"/>
                </a:gradFill>
              </a:rPr>
              <a:t>Fault tolerance</a:t>
            </a:r>
          </a:p>
        </p:txBody>
      </p:sp>
      <p:grpSp>
        <p:nvGrpSpPr>
          <p:cNvPr id="9" name="Group 8" descr="Diagram server, host OS, do">
            <a:extLst>
              <a:ext uri="{FF2B5EF4-FFF2-40B4-BE49-F238E27FC236}">
                <a16:creationId xmlns:a16="http://schemas.microsoft.com/office/drawing/2014/main" id="{E1084768-84AA-8800-1794-18EB57B87A1E}"/>
              </a:ext>
            </a:extLst>
          </p:cNvPr>
          <p:cNvGrpSpPr/>
          <p:nvPr/>
        </p:nvGrpSpPr>
        <p:grpSpPr>
          <a:xfrm>
            <a:off x="3749678" y="1241130"/>
            <a:ext cx="8335562" cy="4678561"/>
            <a:chOff x="3749678" y="1499313"/>
            <a:chExt cx="8335562" cy="4678561"/>
          </a:xfrm>
        </p:grpSpPr>
        <p:sp>
          <p:nvSpPr>
            <p:cNvPr id="3" name="Rectangle 2">
              <a:extLst>
                <a:ext uri="{FF2B5EF4-FFF2-40B4-BE49-F238E27FC236}">
                  <a16:creationId xmlns:a16="http://schemas.microsoft.com/office/drawing/2014/main" id="{51B3F1A5-5C94-4D1F-93E7-F46AD09E27FB}"/>
                </a:ext>
              </a:extLst>
            </p:cNvPr>
            <p:cNvSpPr/>
            <p:nvPr/>
          </p:nvSpPr>
          <p:spPr bwMode="auto">
            <a:xfrm>
              <a:off x="3769756" y="5671098"/>
              <a:ext cx="8315484" cy="506776"/>
            </a:xfrm>
            <a:prstGeom prst="rect">
              <a:avLst/>
            </a:prstGeom>
            <a:solidFill>
              <a:schemeClr val="accent3">
                <a:lumMod val="90000"/>
                <a:lumOff val="1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2400">
                  <a:solidFill>
                    <a:schemeClr val="bg1"/>
                  </a:solidFill>
                  <a:ea typeface="Segoe UI" pitchFamily="34" charset="0"/>
                  <a:cs typeface="Segoe UI" pitchFamily="34" charset="0"/>
                </a:rPr>
                <a:t>Infrastructure</a:t>
              </a:r>
            </a:p>
          </p:txBody>
        </p:sp>
        <p:sp>
          <p:nvSpPr>
            <p:cNvPr id="4" name="Rectangle 3">
              <a:extLst>
                <a:ext uri="{FF2B5EF4-FFF2-40B4-BE49-F238E27FC236}">
                  <a16:creationId xmlns:a16="http://schemas.microsoft.com/office/drawing/2014/main" id="{6A216DD5-FBC4-4324-B345-2D1F913E49F0}"/>
                </a:ext>
              </a:extLst>
            </p:cNvPr>
            <p:cNvSpPr/>
            <p:nvPr/>
          </p:nvSpPr>
          <p:spPr bwMode="auto">
            <a:xfrm>
              <a:off x="3769757" y="5063774"/>
              <a:ext cx="3976764" cy="506776"/>
            </a:xfrm>
            <a:prstGeom prst="rect">
              <a:avLst/>
            </a:prstGeom>
            <a:solidFill>
              <a:schemeClr val="tx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2400">
                  <a:solidFill>
                    <a:schemeClr val="bg1"/>
                  </a:solidFill>
                  <a:ea typeface="Segoe UI" pitchFamily="34" charset="0"/>
                  <a:cs typeface="Segoe UI" pitchFamily="34" charset="0"/>
                </a:rPr>
                <a:t>Operating System</a:t>
              </a:r>
            </a:p>
          </p:txBody>
        </p:sp>
        <p:sp>
          <p:nvSpPr>
            <p:cNvPr id="6" name="Rectangle 5">
              <a:extLst>
                <a:ext uri="{FF2B5EF4-FFF2-40B4-BE49-F238E27FC236}">
                  <a16:creationId xmlns:a16="http://schemas.microsoft.com/office/drawing/2014/main" id="{E7A59B95-232D-49E8-BBF9-88D16316CAC3}"/>
                </a:ext>
              </a:extLst>
            </p:cNvPr>
            <p:cNvSpPr/>
            <p:nvPr/>
          </p:nvSpPr>
          <p:spPr bwMode="auto">
            <a:xfrm>
              <a:off x="7871646" y="4473072"/>
              <a:ext cx="4083884" cy="1097478"/>
            </a:xfrm>
            <a:prstGeom prst="rect">
              <a:avLst/>
            </a:prstGeom>
            <a:solidFill>
              <a:schemeClr val="tx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2400">
                  <a:solidFill>
                    <a:schemeClr val="bg1"/>
                  </a:solidFill>
                  <a:ea typeface="Segoe UI" pitchFamily="34" charset="0"/>
                  <a:cs typeface="Segoe UI" pitchFamily="34" charset="0"/>
                </a:rPr>
                <a:t>Hypervisor</a:t>
              </a:r>
            </a:p>
          </p:txBody>
        </p:sp>
        <p:sp>
          <p:nvSpPr>
            <p:cNvPr id="34" name="Rectangle 33">
              <a:extLst>
                <a:ext uri="{FF2B5EF4-FFF2-40B4-BE49-F238E27FC236}">
                  <a16:creationId xmlns:a16="http://schemas.microsoft.com/office/drawing/2014/main" id="{DB40EC47-4D04-4889-8FA2-EC197C083F02}"/>
                </a:ext>
                <a:ext uri="{C183D7F6-B498-43B3-948B-1728B52AA6E4}">
                  <adec:decorative xmlns:adec="http://schemas.microsoft.com/office/drawing/2017/decorative" val="1"/>
                </a:ext>
              </a:extLst>
            </p:cNvPr>
            <p:cNvSpPr/>
            <p:nvPr/>
          </p:nvSpPr>
          <p:spPr bwMode="auto">
            <a:xfrm>
              <a:off x="9966812" y="1971615"/>
              <a:ext cx="1927952" cy="2417531"/>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grpSp>
          <p:nvGrpSpPr>
            <p:cNvPr id="21" name="Group 20">
              <a:extLst>
                <a:ext uri="{FF2B5EF4-FFF2-40B4-BE49-F238E27FC236}">
                  <a16:creationId xmlns:a16="http://schemas.microsoft.com/office/drawing/2014/main" id="{95A5BC0D-51AE-4C5A-935F-C51BAFDE4286}"/>
                </a:ext>
              </a:extLst>
            </p:cNvPr>
            <p:cNvGrpSpPr/>
            <p:nvPr/>
          </p:nvGrpSpPr>
          <p:grpSpPr>
            <a:xfrm>
              <a:off x="10070373" y="2204830"/>
              <a:ext cx="1743680" cy="2008565"/>
              <a:chOff x="680034" y="1276877"/>
              <a:chExt cx="1743680" cy="2008565"/>
            </a:xfrm>
            <a:solidFill>
              <a:schemeClr val="bg1">
                <a:lumMod val="85000"/>
              </a:schemeClr>
            </a:solidFill>
          </p:grpSpPr>
          <p:sp>
            <p:nvSpPr>
              <p:cNvPr id="14" name="Rectangle 13">
                <a:extLst>
                  <a:ext uri="{FF2B5EF4-FFF2-40B4-BE49-F238E27FC236}">
                    <a16:creationId xmlns:a16="http://schemas.microsoft.com/office/drawing/2014/main" id="{419325D8-42EB-4F21-972F-21564D5A8019}"/>
                  </a:ext>
                </a:extLst>
              </p:cNvPr>
              <p:cNvSpPr/>
              <p:nvPr/>
            </p:nvSpPr>
            <p:spPr bwMode="auto">
              <a:xfrm>
                <a:off x="680035" y="2000992"/>
                <a:ext cx="1743678" cy="506776"/>
              </a:xfrm>
              <a:prstGeom prst="rect">
                <a:avLst/>
              </a:prstGeom>
              <a:solidFill>
                <a:srgbClr val="FFFFC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2400">
                    <a:solidFill>
                      <a:schemeClr val="tx1"/>
                    </a:solidFill>
                    <a:ea typeface="Segoe UI" pitchFamily="34" charset="0"/>
                    <a:cs typeface="Segoe UI" pitchFamily="34" charset="0"/>
                  </a:rPr>
                  <a:t>Bins/Libs</a:t>
                </a:r>
              </a:p>
            </p:txBody>
          </p:sp>
          <p:sp>
            <p:nvSpPr>
              <p:cNvPr id="16" name="Rectangle 15">
                <a:extLst>
                  <a:ext uri="{FF2B5EF4-FFF2-40B4-BE49-F238E27FC236}">
                    <a16:creationId xmlns:a16="http://schemas.microsoft.com/office/drawing/2014/main" id="{6F7FF98A-8D81-42EE-8604-4A7C70F84314}"/>
                  </a:ext>
                </a:extLst>
              </p:cNvPr>
              <p:cNvSpPr/>
              <p:nvPr/>
            </p:nvSpPr>
            <p:spPr bwMode="auto">
              <a:xfrm>
                <a:off x="680036" y="2778666"/>
                <a:ext cx="1743678" cy="506776"/>
              </a:xfrm>
              <a:prstGeom prst="rect">
                <a:avLst/>
              </a:prstGeom>
              <a:solidFill>
                <a:schemeClr val="accent2">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2400">
                    <a:solidFill>
                      <a:schemeClr val="tx1"/>
                    </a:solidFill>
                    <a:ea typeface="Segoe UI" pitchFamily="34" charset="0"/>
                    <a:cs typeface="Segoe UI" pitchFamily="34" charset="0"/>
                  </a:rPr>
                  <a:t>Guest OS</a:t>
                </a:r>
              </a:p>
            </p:txBody>
          </p:sp>
          <p:sp>
            <p:nvSpPr>
              <p:cNvPr id="18" name="Rectangle 17">
                <a:extLst>
                  <a:ext uri="{FF2B5EF4-FFF2-40B4-BE49-F238E27FC236}">
                    <a16:creationId xmlns:a16="http://schemas.microsoft.com/office/drawing/2014/main" id="{74654402-9A23-4AC6-A82B-667A8EB7CEC8}"/>
                  </a:ext>
                </a:extLst>
              </p:cNvPr>
              <p:cNvSpPr/>
              <p:nvPr/>
            </p:nvSpPr>
            <p:spPr bwMode="auto">
              <a:xfrm>
                <a:off x="680034" y="1276877"/>
                <a:ext cx="1743678" cy="506776"/>
              </a:xfrm>
              <a:prstGeom prst="rect">
                <a:avLst/>
              </a:prstGeom>
              <a:solidFill>
                <a:schemeClr val="tx2">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2400">
                    <a:solidFill>
                      <a:schemeClr val="tx1"/>
                    </a:solidFill>
                    <a:ea typeface="Segoe UI" pitchFamily="34" charset="0"/>
                    <a:cs typeface="Segoe UI" pitchFamily="34" charset="0"/>
                  </a:rPr>
                  <a:t>App B</a:t>
                </a:r>
              </a:p>
            </p:txBody>
          </p:sp>
        </p:grpSp>
        <p:sp>
          <p:nvSpPr>
            <p:cNvPr id="23" name="Rectangle 22">
              <a:extLst>
                <a:ext uri="{FF2B5EF4-FFF2-40B4-BE49-F238E27FC236}">
                  <a16:creationId xmlns:a16="http://schemas.microsoft.com/office/drawing/2014/main" id="{458A3788-A328-48A4-8F20-B9E6442DC2E8}"/>
                </a:ext>
                <a:ext uri="{C183D7F6-B498-43B3-948B-1728B52AA6E4}">
                  <adec:decorative xmlns:adec="http://schemas.microsoft.com/office/drawing/2017/decorative" val="1"/>
                </a:ext>
              </a:extLst>
            </p:cNvPr>
            <p:cNvSpPr/>
            <p:nvPr/>
          </p:nvSpPr>
          <p:spPr bwMode="auto">
            <a:xfrm>
              <a:off x="7871646" y="1971615"/>
              <a:ext cx="1927952" cy="2410100"/>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grpSp>
          <p:nvGrpSpPr>
            <p:cNvPr id="29" name="Group 28">
              <a:extLst>
                <a:ext uri="{FF2B5EF4-FFF2-40B4-BE49-F238E27FC236}">
                  <a16:creationId xmlns:a16="http://schemas.microsoft.com/office/drawing/2014/main" id="{03F7D6E4-C43E-4537-BA26-E57AB050557A}"/>
                </a:ext>
              </a:extLst>
            </p:cNvPr>
            <p:cNvGrpSpPr/>
            <p:nvPr/>
          </p:nvGrpSpPr>
          <p:grpSpPr>
            <a:xfrm>
              <a:off x="7963783" y="2204830"/>
              <a:ext cx="1743679" cy="1230891"/>
              <a:chOff x="680034" y="1276877"/>
              <a:chExt cx="1743679" cy="1230891"/>
            </a:xfrm>
          </p:grpSpPr>
          <p:sp>
            <p:nvSpPr>
              <p:cNvPr id="30" name="Rectangle 29">
                <a:extLst>
                  <a:ext uri="{FF2B5EF4-FFF2-40B4-BE49-F238E27FC236}">
                    <a16:creationId xmlns:a16="http://schemas.microsoft.com/office/drawing/2014/main" id="{FE068BB1-C9D8-408B-AF7E-40A6A9A850F3}"/>
                  </a:ext>
                </a:extLst>
              </p:cNvPr>
              <p:cNvSpPr/>
              <p:nvPr/>
            </p:nvSpPr>
            <p:spPr bwMode="auto">
              <a:xfrm>
                <a:off x="680035" y="2000992"/>
                <a:ext cx="1743678" cy="506776"/>
              </a:xfrm>
              <a:prstGeom prst="rect">
                <a:avLst/>
              </a:prstGeom>
              <a:solidFill>
                <a:srgbClr val="FFFFC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2400">
                    <a:solidFill>
                      <a:schemeClr val="tx1"/>
                    </a:solidFill>
                    <a:ea typeface="Segoe UI" pitchFamily="34" charset="0"/>
                    <a:cs typeface="Segoe UI" pitchFamily="34" charset="0"/>
                  </a:rPr>
                  <a:t>Bins/Libs</a:t>
                </a:r>
              </a:p>
            </p:txBody>
          </p:sp>
          <p:sp>
            <p:nvSpPr>
              <p:cNvPr id="32" name="Rectangle 31">
                <a:extLst>
                  <a:ext uri="{FF2B5EF4-FFF2-40B4-BE49-F238E27FC236}">
                    <a16:creationId xmlns:a16="http://schemas.microsoft.com/office/drawing/2014/main" id="{36A911C5-6F08-47DB-8FB8-C54CB3AB71B4}"/>
                  </a:ext>
                </a:extLst>
              </p:cNvPr>
              <p:cNvSpPr/>
              <p:nvPr/>
            </p:nvSpPr>
            <p:spPr bwMode="auto">
              <a:xfrm>
                <a:off x="680034" y="1276877"/>
                <a:ext cx="1743678" cy="506776"/>
              </a:xfrm>
              <a:prstGeom prst="rect">
                <a:avLst/>
              </a:prstGeom>
              <a:solidFill>
                <a:schemeClr val="tx2">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2400">
                    <a:solidFill>
                      <a:schemeClr val="tx1"/>
                    </a:solidFill>
                    <a:ea typeface="Segoe UI" pitchFamily="34" charset="0"/>
                    <a:cs typeface="Segoe UI" pitchFamily="34" charset="0"/>
                  </a:rPr>
                  <a:t>App A</a:t>
                </a:r>
              </a:p>
            </p:txBody>
          </p:sp>
        </p:grpSp>
        <p:sp>
          <p:nvSpPr>
            <p:cNvPr id="38" name="TextBox 37">
              <a:extLst>
                <a:ext uri="{FF2B5EF4-FFF2-40B4-BE49-F238E27FC236}">
                  <a16:creationId xmlns:a16="http://schemas.microsoft.com/office/drawing/2014/main" id="{9511D82D-F274-4027-90F3-16DBD34005DD}"/>
                </a:ext>
              </a:extLst>
            </p:cNvPr>
            <p:cNvSpPr txBox="1"/>
            <p:nvPr/>
          </p:nvSpPr>
          <p:spPr>
            <a:xfrm>
              <a:off x="10531688" y="1513668"/>
              <a:ext cx="798199" cy="461665"/>
            </a:xfrm>
            <a:prstGeom prst="rect">
              <a:avLst/>
            </a:prstGeom>
            <a:solidFill>
              <a:schemeClr val="bg1"/>
            </a:solidFill>
          </p:spPr>
          <p:txBody>
            <a:bodyPr wrap="square">
              <a:spAutoFit/>
            </a:bodyPr>
            <a:lstStyle/>
            <a:p>
              <a:r>
                <a:rPr lang="en-US" sz="2400">
                  <a:cs typeface="Segoe UI" pitchFamily="34" charset="0"/>
                </a:rPr>
                <a:t>VM</a:t>
              </a:r>
              <a:endParaRPr lang="en-US" sz="2400"/>
            </a:p>
          </p:txBody>
        </p:sp>
        <p:sp>
          <p:nvSpPr>
            <p:cNvPr id="37" name="TextBox 36">
              <a:extLst>
                <a:ext uri="{FF2B5EF4-FFF2-40B4-BE49-F238E27FC236}">
                  <a16:creationId xmlns:a16="http://schemas.microsoft.com/office/drawing/2014/main" id="{B2ECB99B-7066-468D-928B-9AB4F8170EA5}"/>
                </a:ext>
              </a:extLst>
            </p:cNvPr>
            <p:cNvSpPr txBox="1"/>
            <p:nvPr/>
          </p:nvSpPr>
          <p:spPr>
            <a:xfrm>
              <a:off x="8436522" y="1499313"/>
              <a:ext cx="798199" cy="461665"/>
            </a:xfrm>
            <a:prstGeom prst="rect">
              <a:avLst/>
            </a:prstGeom>
            <a:solidFill>
              <a:schemeClr val="bg1"/>
            </a:solidFill>
          </p:spPr>
          <p:txBody>
            <a:bodyPr wrap="square">
              <a:spAutoFit/>
            </a:bodyPr>
            <a:lstStyle/>
            <a:p>
              <a:r>
                <a:rPr lang="en-US" sz="2400">
                  <a:cs typeface="Segoe UI" pitchFamily="34" charset="0"/>
                </a:rPr>
                <a:t>VM</a:t>
              </a:r>
              <a:endParaRPr lang="en-US" sz="2400"/>
            </a:p>
          </p:txBody>
        </p:sp>
        <p:grpSp>
          <p:nvGrpSpPr>
            <p:cNvPr id="22" name="Group 21">
              <a:extLst>
                <a:ext uri="{FF2B5EF4-FFF2-40B4-BE49-F238E27FC236}">
                  <a16:creationId xmlns:a16="http://schemas.microsoft.com/office/drawing/2014/main" id="{C386D16C-27AB-46C5-BFE0-2348FC83D5E7}"/>
                </a:ext>
              </a:extLst>
            </p:cNvPr>
            <p:cNvGrpSpPr/>
            <p:nvPr/>
          </p:nvGrpSpPr>
          <p:grpSpPr>
            <a:xfrm>
              <a:off x="3777167" y="1974587"/>
              <a:ext cx="1927952" cy="2410100"/>
              <a:chOff x="3852620" y="2000992"/>
              <a:chExt cx="1927952" cy="2229485"/>
            </a:xfrm>
          </p:grpSpPr>
          <p:sp>
            <p:nvSpPr>
              <p:cNvPr id="20" name="Rectangle 19">
                <a:extLst>
                  <a:ext uri="{FF2B5EF4-FFF2-40B4-BE49-F238E27FC236}">
                    <a16:creationId xmlns:a16="http://schemas.microsoft.com/office/drawing/2014/main" id="{325D4171-9DB7-4E61-88BE-B49B66AD30D3}"/>
                  </a:ext>
                </a:extLst>
              </p:cNvPr>
              <p:cNvSpPr/>
              <p:nvPr/>
            </p:nvSpPr>
            <p:spPr bwMode="auto">
              <a:xfrm>
                <a:off x="3852620" y="2000992"/>
                <a:ext cx="1927952" cy="2229485"/>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7">
                <a:extLst>
                  <a:ext uri="{FF2B5EF4-FFF2-40B4-BE49-F238E27FC236}">
                    <a16:creationId xmlns:a16="http://schemas.microsoft.com/office/drawing/2014/main" id="{B53E0E8A-0D97-4B96-AE50-44FC880B0FF6}"/>
                  </a:ext>
                </a:extLst>
              </p:cNvPr>
              <p:cNvSpPr/>
              <p:nvPr/>
            </p:nvSpPr>
            <p:spPr bwMode="auto">
              <a:xfrm>
                <a:off x="3966069" y="3571656"/>
                <a:ext cx="1701054" cy="506776"/>
              </a:xfrm>
              <a:prstGeom prst="rect">
                <a:avLst/>
              </a:prstGeom>
              <a:solidFill>
                <a:srgbClr val="FFFFC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2400">
                    <a:solidFill>
                      <a:schemeClr val="tx1"/>
                    </a:solidFill>
                    <a:ea typeface="Segoe UI" pitchFamily="34" charset="0"/>
                    <a:cs typeface="Segoe UI" pitchFamily="34" charset="0"/>
                  </a:rPr>
                  <a:t>Bins/Libs</a:t>
                </a:r>
              </a:p>
            </p:txBody>
          </p:sp>
          <p:sp>
            <p:nvSpPr>
              <p:cNvPr id="10" name="Rectangle 9">
                <a:extLst>
                  <a:ext uri="{FF2B5EF4-FFF2-40B4-BE49-F238E27FC236}">
                    <a16:creationId xmlns:a16="http://schemas.microsoft.com/office/drawing/2014/main" id="{4691A36C-F8B9-43F5-86A2-CC7A7FDDB05F}"/>
                  </a:ext>
                </a:extLst>
              </p:cNvPr>
              <p:cNvSpPr/>
              <p:nvPr/>
            </p:nvSpPr>
            <p:spPr bwMode="auto">
              <a:xfrm rot="5400000">
                <a:off x="3711505" y="2432258"/>
                <a:ext cx="1227328" cy="758058"/>
              </a:xfrm>
              <a:prstGeom prst="rect">
                <a:avLst/>
              </a:prstGeom>
              <a:solidFill>
                <a:schemeClr val="tx2">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2400">
                    <a:solidFill>
                      <a:schemeClr val="tx1"/>
                    </a:solidFill>
                    <a:ea typeface="Segoe UI" pitchFamily="34" charset="0"/>
                    <a:cs typeface="Segoe UI" pitchFamily="34" charset="0"/>
                  </a:rPr>
                  <a:t>App A</a:t>
                </a:r>
              </a:p>
            </p:txBody>
          </p:sp>
          <p:sp>
            <p:nvSpPr>
              <p:cNvPr id="12" name="Rectangle 11">
                <a:extLst>
                  <a:ext uri="{FF2B5EF4-FFF2-40B4-BE49-F238E27FC236}">
                    <a16:creationId xmlns:a16="http://schemas.microsoft.com/office/drawing/2014/main" id="{4C1B1388-547A-47FE-BBE2-3FCCFE859571}"/>
                  </a:ext>
                </a:extLst>
              </p:cNvPr>
              <p:cNvSpPr/>
              <p:nvPr/>
            </p:nvSpPr>
            <p:spPr bwMode="auto">
              <a:xfrm rot="5400000">
                <a:off x="4665521" y="2406848"/>
                <a:ext cx="1227328" cy="758058"/>
              </a:xfrm>
              <a:prstGeom prst="rect">
                <a:avLst/>
              </a:prstGeom>
              <a:solidFill>
                <a:schemeClr val="tx2">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2400">
                    <a:solidFill>
                      <a:schemeClr val="tx1"/>
                    </a:solidFill>
                    <a:ea typeface="Segoe UI" pitchFamily="34" charset="0"/>
                    <a:cs typeface="Segoe UI" pitchFamily="34" charset="0"/>
                  </a:rPr>
                  <a:t>App A</a:t>
                </a:r>
              </a:p>
            </p:txBody>
          </p:sp>
        </p:grpSp>
        <p:grpSp>
          <p:nvGrpSpPr>
            <p:cNvPr id="24" name="Group 23">
              <a:extLst>
                <a:ext uri="{FF2B5EF4-FFF2-40B4-BE49-F238E27FC236}">
                  <a16:creationId xmlns:a16="http://schemas.microsoft.com/office/drawing/2014/main" id="{72EE76CB-EBD8-4775-A708-BB039699F0AF}"/>
                </a:ext>
              </a:extLst>
            </p:cNvPr>
            <p:cNvGrpSpPr/>
            <p:nvPr/>
          </p:nvGrpSpPr>
          <p:grpSpPr>
            <a:xfrm>
              <a:off x="5818568" y="1979046"/>
              <a:ext cx="1927952" cy="2410100"/>
              <a:chOff x="3852620" y="2000992"/>
              <a:chExt cx="1927952" cy="2229485"/>
            </a:xfrm>
          </p:grpSpPr>
          <p:sp>
            <p:nvSpPr>
              <p:cNvPr id="25" name="Rectangle 24">
                <a:extLst>
                  <a:ext uri="{FF2B5EF4-FFF2-40B4-BE49-F238E27FC236}">
                    <a16:creationId xmlns:a16="http://schemas.microsoft.com/office/drawing/2014/main" id="{5CD23103-D8E0-46A7-A31E-8DD5B4A25672}"/>
                  </a:ext>
                </a:extLst>
              </p:cNvPr>
              <p:cNvSpPr/>
              <p:nvPr/>
            </p:nvSpPr>
            <p:spPr bwMode="auto">
              <a:xfrm>
                <a:off x="3852620" y="2000992"/>
                <a:ext cx="1927952" cy="2229485"/>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26" name="Rectangle 25">
                <a:extLst>
                  <a:ext uri="{FF2B5EF4-FFF2-40B4-BE49-F238E27FC236}">
                    <a16:creationId xmlns:a16="http://schemas.microsoft.com/office/drawing/2014/main" id="{BDB15350-672D-44ED-8DF6-C385CE826D60}"/>
                  </a:ext>
                </a:extLst>
              </p:cNvPr>
              <p:cNvSpPr/>
              <p:nvPr/>
            </p:nvSpPr>
            <p:spPr bwMode="auto">
              <a:xfrm>
                <a:off x="3966069" y="3571656"/>
                <a:ext cx="1701054" cy="506776"/>
              </a:xfrm>
              <a:prstGeom prst="rect">
                <a:avLst/>
              </a:prstGeom>
              <a:solidFill>
                <a:srgbClr val="FFFFC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2400">
                    <a:solidFill>
                      <a:schemeClr val="tx1"/>
                    </a:solidFill>
                    <a:ea typeface="Segoe UI" pitchFamily="34" charset="0"/>
                    <a:cs typeface="Segoe UI" pitchFamily="34" charset="0"/>
                  </a:rPr>
                  <a:t>Bins/Libs</a:t>
                </a:r>
              </a:p>
            </p:txBody>
          </p:sp>
          <p:sp>
            <p:nvSpPr>
              <p:cNvPr id="27" name="Rectangle 26">
                <a:extLst>
                  <a:ext uri="{FF2B5EF4-FFF2-40B4-BE49-F238E27FC236}">
                    <a16:creationId xmlns:a16="http://schemas.microsoft.com/office/drawing/2014/main" id="{D888EE68-9A2D-4703-8D53-D81A4540FF05}"/>
                  </a:ext>
                </a:extLst>
              </p:cNvPr>
              <p:cNvSpPr/>
              <p:nvPr/>
            </p:nvSpPr>
            <p:spPr bwMode="auto">
              <a:xfrm rot="5400000">
                <a:off x="3711505" y="2432258"/>
                <a:ext cx="1227328" cy="758058"/>
              </a:xfrm>
              <a:prstGeom prst="rect">
                <a:avLst/>
              </a:prstGeom>
              <a:solidFill>
                <a:schemeClr val="tx2">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2400">
                    <a:solidFill>
                      <a:schemeClr val="tx1"/>
                    </a:solidFill>
                    <a:ea typeface="Segoe UI" pitchFamily="34" charset="0"/>
                    <a:cs typeface="Segoe UI" pitchFamily="34" charset="0"/>
                  </a:rPr>
                  <a:t>App B</a:t>
                </a:r>
              </a:p>
            </p:txBody>
          </p:sp>
          <p:sp>
            <p:nvSpPr>
              <p:cNvPr id="28" name="Rectangle 27">
                <a:extLst>
                  <a:ext uri="{FF2B5EF4-FFF2-40B4-BE49-F238E27FC236}">
                    <a16:creationId xmlns:a16="http://schemas.microsoft.com/office/drawing/2014/main" id="{BFA0C94F-065A-4B00-AF17-82B27F5A3AD2}"/>
                  </a:ext>
                </a:extLst>
              </p:cNvPr>
              <p:cNvSpPr/>
              <p:nvPr/>
            </p:nvSpPr>
            <p:spPr bwMode="auto">
              <a:xfrm rot="5400000">
                <a:off x="4665521" y="2406848"/>
                <a:ext cx="1227328" cy="758058"/>
              </a:xfrm>
              <a:prstGeom prst="rect">
                <a:avLst/>
              </a:prstGeom>
              <a:solidFill>
                <a:schemeClr val="tx2">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2400">
                    <a:solidFill>
                      <a:schemeClr val="tx1"/>
                    </a:solidFill>
                    <a:ea typeface="Segoe UI" pitchFamily="34" charset="0"/>
                    <a:cs typeface="Segoe UI" pitchFamily="34" charset="0"/>
                  </a:rPr>
                  <a:t>App B</a:t>
                </a:r>
              </a:p>
            </p:txBody>
          </p:sp>
        </p:grpSp>
        <p:sp>
          <p:nvSpPr>
            <p:cNvPr id="40" name="TextBox 39">
              <a:extLst>
                <a:ext uri="{FF2B5EF4-FFF2-40B4-BE49-F238E27FC236}">
                  <a16:creationId xmlns:a16="http://schemas.microsoft.com/office/drawing/2014/main" id="{88C57A0E-DB37-435E-B5E4-A3327913DBD1}"/>
                </a:ext>
              </a:extLst>
            </p:cNvPr>
            <p:cNvSpPr txBox="1"/>
            <p:nvPr/>
          </p:nvSpPr>
          <p:spPr>
            <a:xfrm>
              <a:off x="6057303" y="1513668"/>
              <a:ext cx="1701054" cy="461665"/>
            </a:xfrm>
            <a:prstGeom prst="rect">
              <a:avLst/>
            </a:prstGeom>
            <a:solidFill>
              <a:schemeClr val="bg1"/>
            </a:solidFill>
          </p:spPr>
          <p:txBody>
            <a:bodyPr wrap="square">
              <a:spAutoFit/>
            </a:bodyPr>
            <a:lstStyle/>
            <a:p>
              <a:r>
                <a:rPr lang="en-US" sz="2400">
                  <a:cs typeface="Segoe UI" pitchFamily="34" charset="0"/>
                </a:rPr>
                <a:t>Container</a:t>
              </a:r>
              <a:endParaRPr lang="en-US" sz="2400"/>
            </a:p>
          </p:txBody>
        </p:sp>
        <p:sp>
          <p:nvSpPr>
            <p:cNvPr id="42" name="TextBox 41">
              <a:extLst>
                <a:ext uri="{FF2B5EF4-FFF2-40B4-BE49-F238E27FC236}">
                  <a16:creationId xmlns:a16="http://schemas.microsoft.com/office/drawing/2014/main" id="{3498E6D4-0B86-41FA-A0F5-3CEF5238B3DB}"/>
                </a:ext>
              </a:extLst>
            </p:cNvPr>
            <p:cNvSpPr txBox="1"/>
            <p:nvPr/>
          </p:nvSpPr>
          <p:spPr>
            <a:xfrm>
              <a:off x="4090566" y="1509209"/>
              <a:ext cx="1701054" cy="461665"/>
            </a:xfrm>
            <a:prstGeom prst="rect">
              <a:avLst/>
            </a:prstGeom>
            <a:solidFill>
              <a:schemeClr val="bg1"/>
            </a:solidFill>
          </p:spPr>
          <p:txBody>
            <a:bodyPr wrap="square">
              <a:spAutoFit/>
            </a:bodyPr>
            <a:lstStyle/>
            <a:p>
              <a:r>
                <a:rPr lang="en-US" sz="2400">
                  <a:cs typeface="Segoe UI" pitchFamily="34" charset="0"/>
                </a:rPr>
                <a:t>Container</a:t>
              </a:r>
              <a:endParaRPr lang="en-US" sz="2400"/>
            </a:p>
          </p:txBody>
        </p:sp>
        <p:sp>
          <p:nvSpPr>
            <p:cNvPr id="7" name="Rectangle 6">
              <a:extLst>
                <a:ext uri="{FF2B5EF4-FFF2-40B4-BE49-F238E27FC236}">
                  <a16:creationId xmlns:a16="http://schemas.microsoft.com/office/drawing/2014/main" id="{27ABBBFB-5766-2361-B19D-9067852B0F28}"/>
                </a:ext>
              </a:extLst>
            </p:cNvPr>
            <p:cNvSpPr/>
            <p:nvPr/>
          </p:nvSpPr>
          <p:spPr bwMode="auto">
            <a:xfrm>
              <a:off x="3749678" y="4490713"/>
              <a:ext cx="4008679" cy="506776"/>
            </a:xfrm>
            <a:prstGeom prst="rect">
              <a:avLst/>
            </a:prstGeom>
            <a:solidFill>
              <a:schemeClr val="tx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2400">
                  <a:solidFill>
                    <a:schemeClr val="bg1"/>
                  </a:solidFill>
                  <a:ea typeface="Segoe UI" pitchFamily="34" charset="0"/>
                  <a:cs typeface="Segoe UI" pitchFamily="34" charset="0"/>
                </a:rPr>
                <a:t>Container Engine</a:t>
              </a:r>
            </a:p>
          </p:txBody>
        </p:sp>
      </p:grpSp>
      <p:sp>
        <p:nvSpPr>
          <p:cNvPr id="13" name="Rectangle 12">
            <a:extLst>
              <a:ext uri="{FF2B5EF4-FFF2-40B4-BE49-F238E27FC236}">
                <a16:creationId xmlns:a16="http://schemas.microsoft.com/office/drawing/2014/main" id="{283C97BF-894C-2547-1465-B11654567AF4}"/>
              </a:ext>
            </a:extLst>
          </p:cNvPr>
          <p:cNvSpPr/>
          <p:nvPr/>
        </p:nvSpPr>
        <p:spPr bwMode="auto">
          <a:xfrm>
            <a:off x="7957685" y="3489418"/>
            <a:ext cx="1743678" cy="506776"/>
          </a:xfrm>
          <a:prstGeom prst="rect">
            <a:avLst/>
          </a:prstGeom>
          <a:solidFill>
            <a:schemeClr val="accent2">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2400">
                <a:solidFill>
                  <a:schemeClr val="tx1"/>
                </a:solidFill>
                <a:ea typeface="Segoe UI" pitchFamily="34" charset="0"/>
                <a:cs typeface="Segoe UI" pitchFamily="34" charset="0"/>
              </a:rPr>
              <a:t>Guest OS</a:t>
            </a:r>
          </a:p>
        </p:txBody>
      </p:sp>
    </p:spTree>
    <p:extLst>
      <p:ext uri="{BB962C8B-B14F-4D97-AF65-F5344CB8AC3E}">
        <p14:creationId xmlns:p14="http://schemas.microsoft.com/office/powerpoint/2010/main" val="1481691838"/>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6C251-BAFC-9698-34AC-6492E0769870}"/>
              </a:ext>
            </a:extLst>
          </p:cNvPr>
          <p:cNvSpPr>
            <a:spLocks noGrp="1"/>
          </p:cNvSpPr>
          <p:nvPr>
            <p:ph type="title"/>
          </p:nvPr>
        </p:nvSpPr>
        <p:spPr/>
        <p:txBody>
          <a:bodyPr/>
          <a:lstStyle/>
          <a:p>
            <a:r>
              <a:rPr lang="en-US" spc="0">
                <a:solidFill>
                  <a:schemeClr val="tx1"/>
                </a:solidFill>
                <a:cs typeface="Segoe UI" pitchFamily="34" charset="0"/>
              </a:rPr>
              <a:t>Understand</a:t>
            </a:r>
            <a:r>
              <a:rPr lang="es-ES" spc="0">
                <a:solidFill>
                  <a:schemeClr val="tx1"/>
                </a:solidFill>
                <a:cs typeface="Segoe UI" pitchFamily="34" charset="0"/>
              </a:rPr>
              <a:t> Container </a:t>
            </a:r>
            <a:r>
              <a:rPr lang="en-GB" spc="0">
                <a:solidFill>
                  <a:schemeClr val="tx1"/>
                </a:solidFill>
                <a:cs typeface="Segoe UI" pitchFamily="34" charset="0"/>
              </a:rPr>
              <a:t>Images</a:t>
            </a:r>
          </a:p>
        </p:txBody>
      </p:sp>
      <p:sp>
        <p:nvSpPr>
          <p:cNvPr id="5" name="Text Placeholder 4">
            <a:extLst>
              <a:ext uri="{FF2B5EF4-FFF2-40B4-BE49-F238E27FC236}">
                <a16:creationId xmlns:a16="http://schemas.microsoft.com/office/drawing/2014/main" id="{DB4EE767-350A-47E9-D192-800A6D32FC94}"/>
              </a:ext>
            </a:extLst>
          </p:cNvPr>
          <p:cNvSpPr txBox="1">
            <a:spLocks/>
          </p:cNvSpPr>
          <p:nvPr/>
        </p:nvSpPr>
        <p:spPr>
          <a:xfrm>
            <a:off x="465138" y="2459860"/>
            <a:ext cx="3438193" cy="2805630"/>
          </a:xfrm>
          <a:prstGeom prst="rect">
            <a:avLst/>
          </a:prstGeom>
        </p:spPr>
        <p:txBody>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24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20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8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448"/>
              <a:t>A container image is a lightweight, standalone, executable package of software that encapsulates everything needed to run an application. </a:t>
            </a:r>
          </a:p>
          <a:p>
            <a:pPr marL="0" indent="0">
              <a:buNone/>
            </a:pPr>
            <a:endParaRPr lang="en-US" sz="2448"/>
          </a:p>
          <a:p>
            <a:pPr marL="0" indent="0">
              <a:buNone/>
            </a:pPr>
            <a:endParaRPr lang="en-US" sz="2448"/>
          </a:p>
        </p:txBody>
      </p:sp>
      <p:pic>
        <p:nvPicPr>
          <p:cNvPr id="8" name="Picture 7" descr="Image of a container image hosted in Azure Container Registry and used by various container services. ">
            <a:extLst>
              <a:ext uri="{FF2B5EF4-FFF2-40B4-BE49-F238E27FC236}">
                <a16:creationId xmlns:a16="http://schemas.microsoft.com/office/drawing/2014/main" id="{CF05FE00-EEEA-1D78-9E8F-C125D63CE679}"/>
              </a:ext>
            </a:extLst>
          </p:cNvPr>
          <p:cNvPicPr>
            <a:picLocks noChangeAspect="1"/>
          </p:cNvPicPr>
          <p:nvPr/>
        </p:nvPicPr>
        <p:blipFill rotWithShape="1">
          <a:blip r:embed="rId3"/>
          <a:srcRect l="-181" t="-822" r="267" b="739"/>
          <a:stretch/>
        </p:blipFill>
        <p:spPr>
          <a:xfrm>
            <a:off x="4254657" y="1152351"/>
            <a:ext cx="7735421" cy="5163688"/>
          </a:xfrm>
          <a:prstGeom prst="rect">
            <a:avLst/>
          </a:prstGeom>
        </p:spPr>
      </p:pic>
    </p:spTree>
    <p:extLst>
      <p:ext uri="{BB962C8B-B14F-4D97-AF65-F5344CB8AC3E}">
        <p14:creationId xmlns:p14="http://schemas.microsoft.com/office/powerpoint/2010/main" val="2488829509"/>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B2681-88E2-4075-AA78-4FEACD3FFE20}"/>
              </a:ext>
            </a:extLst>
          </p:cNvPr>
          <p:cNvSpPr>
            <a:spLocks noGrp="1"/>
          </p:cNvSpPr>
          <p:nvPr>
            <p:ph type="title"/>
          </p:nvPr>
        </p:nvSpPr>
        <p:spPr/>
        <p:txBody>
          <a:bodyPr/>
          <a:lstStyle/>
          <a:p>
            <a:pPr>
              <a:lnSpc>
                <a:spcPct val="100000"/>
              </a:lnSpc>
            </a:pPr>
            <a:r>
              <a:rPr lang="en-US" spc="0"/>
              <a:t>Review Azure Container Instances</a:t>
            </a:r>
          </a:p>
        </p:txBody>
      </p:sp>
      <p:sp>
        <p:nvSpPr>
          <p:cNvPr id="3" name="Rectangle 2">
            <a:extLst>
              <a:ext uri="{FF2B5EF4-FFF2-40B4-BE49-F238E27FC236}">
                <a16:creationId xmlns:a16="http://schemas.microsoft.com/office/drawing/2014/main" id="{9F8EEF0C-686E-4C46-8543-8691A1EE74A0}"/>
              </a:ext>
            </a:extLst>
          </p:cNvPr>
          <p:cNvSpPr/>
          <p:nvPr/>
        </p:nvSpPr>
        <p:spPr>
          <a:xfrm>
            <a:off x="427039" y="1397477"/>
            <a:ext cx="5791198" cy="4695802"/>
          </a:xfrm>
          <a:prstGeom prst="rect">
            <a:avLst/>
          </a:prstGeom>
          <a:solidFill>
            <a:schemeClr val="bg1">
              <a:lumMod val="95000"/>
            </a:schemeClr>
          </a:solidFill>
          <a:ln w="63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t" anchorCtr="0">
            <a:noAutofit/>
          </a:bodyPr>
          <a:lstStyle/>
          <a:p>
            <a:pPr marL="342900" indent="-342900" fontAlgn="t">
              <a:spcBef>
                <a:spcPts val="500"/>
              </a:spcBef>
              <a:spcAft>
                <a:spcPts val="600"/>
              </a:spcAft>
              <a:buFont typeface="Arial" panose="020B0604020202020204" pitchFamily="34" charset="0"/>
              <a:buChar char="•"/>
            </a:pPr>
            <a:r>
              <a:rPr lang="en-US" sz="2400">
                <a:solidFill>
                  <a:schemeClr val="tx1"/>
                </a:solidFill>
              </a:rPr>
              <a:t>PaaS Service</a:t>
            </a:r>
          </a:p>
          <a:p>
            <a:pPr marL="342900" indent="-342900" fontAlgn="t">
              <a:spcBef>
                <a:spcPts val="500"/>
              </a:spcBef>
              <a:spcAft>
                <a:spcPts val="600"/>
              </a:spcAft>
              <a:buFont typeface="Arial" panose="020B0604020202020204" pitchFamily="34" charset="0"/>
              <a:buChar char="•"/>
            </a:pPr>
            <a:r>
              <a:rPr lang="en-US" sz="2400">
                <a:solidFill>
                  <a:schemeClr val="tx1"/>
                </a:solidFill>
              </a:rPr>
              <a:t>Fast startup times</a:t>
            </a:r>
          </a:p>
          <a:p>
            <a:pPr marL="342900" indent="-342900" fontAlgn="t">
              <a:spcBef>
                <a:spcPts val="500"/>
              </a:spcBef>
              <a:spcAft>
                <a:spcPts val="600"/>
              </a:spcAft>
              <a:buFont typeface="Arial" panose="020B0604020202020204" pitchFamily="34" charset="0"/>
              <a:buChar char="•"/>
            </a:pPr>
            <a:r>
              <a:rPr lang="en-US" sz="2400">
                <a:solidFill>
                  <a:schemeClr val="tx1"/>
                </a:solidFill>
              </a:rPr>
              <a:t>Public IP connectivity and DNS name</a:t>
            </a:r>
          </a:p>
          <a:p>
            <a:pPr marL="342900" indent="-342900" fontAlgn="t">
              <a:spcBef>
                <a:spcPts val="500"/>
              </a:spcBef>
              <a:spcAft>
                <a:spcPts val="600"/>
              </a:spcAft>
              <a:buFont typeface="Arial" panose="020B0604020202020204" pitchFamily="34" charset="0"/>
              <a:buChar char="•"/>
            </a:pPr>
            <a:r>
              <a:rPr lang="en-US" sz="2400">
                <a:solidFill>
                  <a:schemeClr val="tx1"/>
                </a:solidFill>
              </a:rPr>
              <a:t>Isolation features</a:t>
            </a:r>
          </a:p>
          <a:p>
            <a:pPr marL="342900" indent="-342900" fontAlgn="t">
              <a:spcBef>
                <a:spcPts val="500"/>
              </a:spcBef>
              <a:spcAft>
                <a:spcPts val="600"/>
              </a:spcAft>
              <a:buFont typeface="Arial" panose="020B0604020202020204" pitchFamily="34" charset="0"/>
              <a:buChar char="•"/>
            </a:pPr>
            <a:r>
              <a:rPr lang="en-US" sz="2400">
                <a:solidFill>
                  <a:schemeClr val="tx1"/>
                </a:solidFill>
              </a:rPr>
              <a:t>Custom sizes</a:t>
            </a:r>
          </a:p>
          <a:p>
            <a:pPr marL="342900" indent="-342900" fontAlgn="t">
              <a:spcBef>
                <a:spcPts val="500"/>
              </a:spcBef>
              <a:spcAft>
                <a:spcPts val="600"/>
              </a:spcAft>
              <a:buFont typeface="Arial" panose="020B0604020202020204" pitchFamily="34" charset="0"/>
              <a:buChar char="•"/>
            </a:pPr>
            <a:r>
              <a:rPr lang="en-US" sz="2400">
                <a:solidFill>
                  <a:schemeClr val="tx1"/>
                </a:solidFill>
              </a:rPr>
              <a:t>Persistent storage</a:t>
            </a:r>
          </a:p>
          <a:p>
            <a:pPr marL="342900" indent="-342900" fontAlgn="t">
              <a:spcBef>
                <a:spcPts val="500"/>
              </a:spcBef>
              <a:spcAft>
                <a:spcPts val="600"/>
              </a:spcAft>
              <a:buFont typeface="Arial" panose="020B0604020202020204" pitchFamily="34" charset="0"/>
              <a:buChar char="•"/>
            </a:pPr>
            <a:r>
              <a:rPr lang="en-US" sz="2400">
                <a:solidFill>
                  <a:schemeClr val="tx1"/>
                </a:solidFill>
              </a:rPr>
              <a:t>Linux and Windows Containers</a:t>
            </a:r>
          </a:p>
          <a:p>
            <a:pPr marL="342900" indent="-342900" fontAlgn="t">
              <a:spcBef>
                <a:spcPts val="500"/>
              </a:spcBef>
              <a:spcAft>
                <a:spcPts val="600"/>
              </a:spcAft>
              <a:buFont typeface="Arial" panose="020B0604020202020204" pitchFamily="34" charset="0"/>
              <a:buChar char="•"/>
            </a:pPr>
            <a:r>
              <a:rPr lang="en-US" sz="2400">
                <a:solidFill>
                  <a:schemeClr val="tx1"/>
                </a:solidFill>
              </a:rPr>
              <a:t>Co-scheduled Groups</a:t>
            </a:r>
          </a:p>
          <a:p>
            <a:pPr marL="342900" indent="-342900" fontAlgn="t">
              <a:spcBef>
                <a:spcPts val="500"/>
              </a:spcBef>
              <a:spcAft>
                <a:spcPts val="600"/>
              </a:spcAft>
              <a:buFont typeface="Arial" panose="020B0604020202020204" pitchFamily="34" charset="0"/>
              <a:buChar char="•"/>
            </a:pPr>
            <a:r>
              <a:rPr lang="en-US" sz="2400">
                <a:solidFill>
                  <a:schemeClr val="tx1"/>
                </a:solidFill>
              </a:rPr>
              <a:t>Virtual network Deployment</a:t>
            </a:r>
          </a:p>
        </p:txBody>
      </p:sp>
      <p:pic>
        <p:nvPicPr>
          <p:cNvPr id="5" name="Picture 4" descr="A container (web server) is on a virtual machine in a virtual network. ">
            <a:extLst>
              <a:ext uri="{FF2B5EF4-FFF2-40B4-BE49-F238E27FC236}">
                <a16:creationId xmlns:a16="http://schemas.microsoft.com/office/drawing/2014/main" id="{A906902A-584D-41B2-BBCF-3C7810E3BB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54204" y="1202345"/>
            <a:ext cx="3149285" cy="4421513"/>
          </a:xfrm>
          <a:prstGeom prst="rect">
            <a:avLst/>
          </a:prstGeom>
        </p:spPr>
      </p:pic>
      <p:sp>
        <p:nvSpPr>
          <p:cNvPr id="6" name="Rectangle 5">
            <a:extLst>
              <a:ext uri="{FF2B5EF4-FFF2-40B4-BE49-F238E27FC236}">
                <a16:creationId xmlns:a16="http://schemas.microsoft.com/office/drawing/2014/main" id="{E1EEDE17-BA9B-4EB8-A3F9-31B8D9D3BFC5}"/>
              </a:ext>
            </a:extLst>
          </p:cNvPr>
          <p:cNvSpPr/>
          <p:nvPr/>
        </p:nvSpPr>
        <p:spPr bwMode="auto">
          <a:xfrm>
            <a:off x="7039727" y="5557366"/>
            <a:ext cx="4552950" cy="81280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a:solidFill>
                  <a:schemeClr val="tx1"/>
                </a:solidFill>
                <a:cs typeface="Segoe UI Semilight"/>
              </a:rPr>
              <a:t>Fastest way to run a container in Azure without provisioning a VM</a:t>
            </a:r>
          </a:p>
        </p:txBody>
      </p:sp>
    </p:spTree>
    <p:extLst>
      <p:ext uri="{BB962C8B-B14F-4D97-AF65-F5344CB8AC3E}">
        <p14:creationId xmlns:p14="http://schemas.microsoft.com/office/powerpoint/2010/main" val="3986722122"/>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BFA3E-0F89-455C-B171-E3177C08C3F0}"/>
              </a:ext>
            </a:extLst>
          </p:cNvPr>
          <p:cNvSpPr>
            <a:spLocks noGrp="1"/>
          </p:cNvSpPr>
          <p:nvPr>
            <p:ph type="title"/>
          </p:nvPr>
        </p:nvSpPr>
        <p:spPr/>
        <p:txBody>
          <a:bodyPr/>
          <a:lstStyle/>
          <a:p>
            <a:pPr>
              <a:lnSpc>
                <a:spcPct val="100000"/>
              </a:lnSpc>
            </a:pPr>
            <a:r>
              <a:rPr lang="en-US" spc="0">
                <a:solidFill>
                  <a:schemeClr val="tx1"/>
                </a:solidFill>
              </a:rPr>
              <a:t>Implement Container Groups</a:t>
            </a:r>
          </a:p>
        </p:txBody>
      </p:sp>
      <p:sp>
        <p:nvSpPr>
          <p:cNvPr id="50" name="Rectangle 49">
            <a:extLst>
              <a:ext uri="{FF2B5EF4-FFF2-40B4-BE49-F238E27FC236}">
                <a16:creationId xmlns:a16="http://schemas.microsoft.com/office/drawing/2014/main" id="{33887101-D253-4EB6-9C09-52FACE0B229E}"/>
              </a:ext>
            </a:extLst>
          </p:cNvPr>
          <p:cNvSpPr/>
          <p:nvPr/>
        </p:nvSpPr>
        <p:spPr>
          <a:xfrm>
            <a:off x="465138" y="1712681"/>
            <a:ext cx="3649662" cy="4271559"/>
          </a:xfrm>
          <a:prstGeom prst="rect">
            <a:avLst/>
          </a:prstGeom>
          <a:noFill/>
          <a:ln w="190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t" anchorCtr="0">
            <a:noAutofit/>
          </a:bodyPr>
          <a:lstStyle/>
          <a:p>
            <a:pPr marL="342900" indent="-342900">
              <a:spcAft>
                <a:spcPts val="600"/>
              </a:spcAft>
              <a:buFont typeface="Arial" panose="020B0604020202020204" pitchFamily="34" charset="0"/>
              <a:buChar char="•"/>
            </a:pPr>
            <a:r>
              <a:rPr lang="en-US" sz="2000">
                <a:solidFill>
                  <a:schemeClr val="tx1"/>
                </a:solidFill>
                <a:cs typeface="Segoe UI"/>
              </a:rPr>
              <a:t>Top-level resource in Azure Container Instances</a:t>
            </a:r>
          </a:p>
          <a:p>
            <a:pPr marL="342900" indent="-342900">
              <a:spcAft>
                <a:spcPts val="600"/>
              </a:spcAft>
              <a:buFont typeface="Arial" panose="020B0604020202020204" pitchFamily="34" charset="0"/>
              <a:buChar char="•"/>
            </a:pPr>
            <a:r>
              <a:rPr lang="en-US" sz="2000">
                <a:solidFill>
                  <a:schemeClr val="tx1"/>
                </a:solidFill>
                <a:cs typeface="Segoe UI"/>
              </a:rPr>
              <a:t>A collection of containers</a:t>
            </a:r>
            <a:br>
              <a:rPr lang="en-US" sz="2000">
                <a:solidFill>
                  <a:schemeClr val="tx1"/>
                </a:solidFill>
                <a:cs typeface="Segoe UI"/>
              </a:rPr>
            </a:br>
            <a:r>
              <a:rPr lang="en-US" sz="2000">
                <a:solidFill>
                  <a:schemeClr val="tx1"/>
                </a:solidFill>
                <a:cs typeface="Segoe UI"/>
              </a:rPr>
              <a:t>that get scheduled on</a:t>
            </a:r>
            <a:br>
              <a:rPr lang="en-US" sz="2000">
                <a:solidFill>
                  <a:schemeClr val="tx1"/>
                </a:solidFill>
                <a:cs typeface="Segoe UI"/>
              </a:rPr>
            </a:br>
            <a:r>
              <a:rPr lang="en-US" sz="2000">
                <a:solidFill>
                  <a:schemeClr val="tx1"/>
                </a:solidFill>
                <a:cs typeface="Segoe UI"/>
              </a:rPr>
              <a:t>the same host</a:t>
            </a:r>
          </a:p>
          <a:p>
            <a:pPr marL="342900" indent="-342900">
              <a:spcAft>
                <a:spcPts val="600"/>
              </a:spcAft>
              <a:buFont typeface="Arial" panose="020B0604020202020204" pitchFamily="34" charset="0"/>
              <a:buChar char="•"/>
            </a:pPr>
            <a:r>
              <a:rPr lang="en-US" sz="2000">
                <a:solidFill>
                  <a:schemeClr val="tx1"/>
                </a:solidFill>
                <a:cs typeface="Segoe UI"/>
              </a:rPr>
              <a:t>The containers in the group share a lifecycle, resources, local network, and storage volumes</a:t>
            </a:r>
          </a:p>
          <a:p>
            <a:pPr marL="342900" indent="-342900">
              <a:spcAft>
                <a:spcPts val="600"/>
              </a:spcAft>
              <a:buFont typeface="Arial" panose="020B0604020202020204" pitchFamily="34" charset="0"/>
              <a:buChar char="•"/>
            </a:pPr>
            <a:endParaRPr lang="en-US" sz="2000">
              <a:solidFill>
                <a:schemeClr val="tx1"/>
              </a:solidFill>
              <a:cs typeface="Segoe UI"/>
            </a:endParaRPr>
          </a:p>
          <a:p>
            <a:pPr marL="342900" indent="-342900">
              <a:spcAft>
                <a:spcPts val="600"/>
              </a:spcAft>
              <a:buFont typeface="Arial" panose="020B0604020202020204" pitchFamily="34" charset="0"/>
              <a:buChar char="•"/>
            </a:pPr>
            <a:endParaRPr lang="en-US" sz="2000">
              <a:solidFill>
                <a:schemeClr val="tx1"/>
              </a:solidFill>
            </a:endParaRPr>
          </a:p>
        </p:txBody>
      </p:sp>
      <p:pic>
        <p:nvPicPr>
          <p:cNvPr id="26" name="Picture 25" descr="Container Group working with Azure files which is connected to DNS through port 80">
            <a:extLst>
              <a:ext uri="{FF2B5EF4-FFF2-40B4-BE49-F238E27FC236}">
                <a16:creationId xmlns:a16="http://schemas.microsoft.com/office/drawing/2014/main" id="{3FCF82BC-F905-468A-944C-3DFA754975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57958" y="1799379"/>
            <a:ext cx="7413379" cy="3395766"/>
          </a:xfrm>
          <a:prstGeom prst="rect">
            <a:avLst/>
          </a:prstGeom>
        </p:spPr>
      </p:pic>
    </p:spTree>
    <p:extLst>
      <p:ext uri="{BB962C8B-B14F-4D97-AF65-F5344CB8AC3E}">
        <p14:creationId xmlns:p14="http://schemas.microsoft.com/office/powerpoint/2010/main" val="3749059638"/>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B1B59-5A29-4ADD-9D90-235AA0014A02}"/>
              </a:ext>
            </a:extLst>
          </p:cNvPr>
          <p:cNvSpPr>
            <a:spLocks noGrp="1"/>
          </p:cNvSpPr>
          <p:nvPr>
            <p:ph type="title"/>
          </p:nvPr>
        </p:nvSpPr>
        <p:spPr/>
        <p:txBody>
          <a:bodyPr/>
          <a:lstStyle/>
          <a:p>
            <a:pPr>
              <a:lnSpc>
                <a:spcPct val="100000"/>
              </a:lnSpc>
            </a:pPr>
            <a:r>
              <a:rPr lang="en-US" spc="0">
                <a:solidFill>
                  <a:schemeClr val="tx1"/>
                </a:solidFill>
              </a:rPr>
              <a:t>Demonstration - Configure Azure Container Instances</a:t>
            </a:r>
          </a:p>
        </p:txBody>
      </p:sp>
      <p:sp>
        <p:nvSpPr>
          <p:cNvPr id="15" name="Rectangle 14">
            <a:extLst>
              <a:ext uri="{FF2B5EF4-FFF2-40B4-BE49-F238E27FC236}">
                <a16:creationId xmlns:a16="http://schemas.microsoft.com/office/drawing/2014/main" id="{CEF9FBC7-CD9C-43F7-937C-6976FB917B08}"/>
              </a:ext>
            </a:extLst>
          </p:cNvPr>
          <p:cNvSpPr/>
          <p:nvPr/>
        </p:nvSpPr>
        <p:spPr>
          <a:xfrm>
            <a:off x="846811" y="1643275"/>
            <a:ext cx="6274988" cy="1039195"/>
          </a:xfrm>
          <a:prstGeom prst="rect">
            <a:avLst/>
          </a:prstGeom>
        </p:spPr>
        <p:txBody>
          <a:bodyPr wrap="none" lIns="0" tIns="0" rIns="0" bIns="0">
            <a:spAutoFit/>
          </a:bodyPr>
          <a:lstStyle/>
          <a:p>
            <a:pPr marL="342900" indent="-342900">
              <a:lnSpc>
                <a:spcPct val="150000"/>
              </a:lnSpc>
              <a:buFont typeface="Arial" panose="020B0604020202020204" pitchFamily="34" charset="0"/>
              <a:buChar char="•"/>
            </a:pPr>
            <a:r>
              <a:rPr lang="en-US" sz="2400">
                <a:cs typeface="Segoe UI Semilight"/>
              </a:rPr>
              <a:t>Create and configure a container instance</a:t>
            </a:r>
          </a:p>
          <a:p>
            <a:pPr marL="342900" indent="-342900">
              <a:lnSpc>
                <a:spcPct val="150000"/>
              </a:lnSpc>
              <a:buFont typeface="Arial" panose="020B0604020202020204" pitchFamily="34" charset="0"/>
              <a:buChar char="•"/>
            </a:pPr>
            <a:r>
              <a:rPr lang="en-US" sz="2400">
                <a:cs typeface="Segoe UI Semilight"/>
              </a:rPr>
              <a:t>Verify deployment of the container instance</a:t>
            </a:r>
            <a:endParaRPr lang="en-US" sz="2400"/>
          </a:p>
        </p:txBody>
      </p:sp>
    </p:spTree>
    <p:extLst>
      <p:ext uri="{BB962C8B-B14F-4D97-AF65-F5344CB8AC3E}">
        <p14:creationId xmlns:p14="http://schemas.microsoft.com/office/powerpoint/2010/main" val="142491298"/>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6156E-22BB-0261-AA37-71E95DE8689D}"/>
              </a:ext>
            </a:extLst>
          </p:cNvPr>
          <p:cNvSpPr>
            <a:spLocks noGrp="1"/>
          </p:cNvSpPr>
          <p:nvPr>
            <p:ph type="title"/>
          </p:nvPr>
        </p:nvSpPr>
        <p:spPr/>
        <p:txBody>
          <a:bodyPr/>
          <a:lstStyle/>
          <a:p>
            <a:r>
              <a:rPr lang="en-US"/>
              <a:t>Manage Containers with Azure Container Apps </a:t>
            </a:r>
          </a:p>
        </p:txBody>
      </p:sp>
      <p:sp>
        <p:nvSpPr>
          <p:cNvPr id="3" name="Rectangle 2">
            <a:extLst>
              <a:ext uri="{FF2B5EF4-FFF2-40B4-BE49-F238E27FC236}">
                <a16:creationId xmlns:a16="http://schemas.microsoft.com/office/drawing/2014/main" id="{648F3FD3-1047-54DF-4555-4C29D2C1D0A6}"/>
              </a:ext>
            </a:extLst>
          </p:cNvPr>
          <p:cNvSpPr/>
          <p:nvPr/>
        </p:nvSpPr>
        <p:spPr>
          <a:xfrm>
            <a:off x="440753" y="1508125"/>
            <a:ext cx="4847939" cy="4690554"/>
          </a:xfrm>
          <a:prstGeom prst="rect">
            <a:avLst/>
          </a:prstGeom>
          <a:no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t" anchorCtr="0">
            <a:noAutofit/>
          </a:bodyPr>
          <a:lstStyle/>
          <a:p>
            <a:pPr marL="342900" indent="-342900" fontAlgn="t">
              <a:spcBef>
                <a:spcPts val="500"/>
              </a:spcBef>
              <a:spcAft>
                <a:spcPts val="600"/>
              </a:spcAft>
              <a:buFont typeface="Arial" panose="020B0604020202020204" pitchFamily="34" charset="0"/>
              <a:buChar char="•"/>
            </a:pPr>
            <a:r>
              <a:rPr lang="en-US" sz="2400">
                <a:solidFill>
                  <a:schemeClr val="tx1"/>
                </a:solidFill>
              </a:rPr>
              <a:t>Alternative to Azure Kubernetes Service – manages container orchestration</a:t>
            </a:r>
          </a:p>
          <a:p>
            <a:pPr marL="342900" indent="-342900" fontAlgn="t">
              <a:spcBef>
                <a:spcPts val="500"/>
              </a:spcBef>
              <a:spcAft>
                <a:spcPts val="600"/>
              </a:spcAft>
              <a:buFont typeface="Arial" panose="020B0604020202020204" pitchFamily="34" charset="0"/>
              <a:buChar char="•"/>
            </a:pPr>
            <a:r>
              <a:rPr lang="en-US" sz="2400">
                <a:solidFill>
                  <a:schemeClr val="tx1"/>
                </a:solidFill>
              </a:rPr>
              <a:t>The Container App environment creates a secure boundary around the apps and jobs</a:t>
            </a:r>
          </a:p>
          <a:p>
            <a:pPr marL="342900" indent="-342900" fontAlgn="t">
              <a:spcBef>
                <a:spcPts val="500"/>
              </a:spcBef>
              <a:spcAft>
                <a:spcPts val="600"/>
              </a:spcAft>
              <a:buFont typeface="Arial" panose="020B0604020202020204" pitchFamily="34" charset="0"/>
              <a:buChar char="•"/>
            </a:pPr>
            <a:r>
              <a:rPr lang="en-US" sz="2400">
                <a:solidFill>
                  <a:schemeClr val="tx1"/>
                </a:solidFill>
              </a:rPr>
              <a:t>The Container App runtime manages the environment (OS upgrades, scaling, versioning, and failover) </a:t>
            </a:r>
          </a:p>
          <a:p>
            <a:pPr marL="342900" indent="-342900" fontAlgn="t">
              <a:spcBef>
                <a:spcPts val="500"/>
              </a:spcBef>
              <a:spcAft>
                <a:spcPts val="600"/>
              </a:spcAft>
              <a:buFont typeface="Arial" panose="020B0604020202020204" pitchFamily="34" charset="0"/>
              <a:buChar char="•"/>
            </a:pPr>
            <a:endParaRPr lang="en-US" sz="2400">
              <a:solidFill>
                <a:schemeClr val="tx1"/>
              </a:solidFill>
            </a:endParaRPr>
          </a:p>
        </p:txBody>
      </p:sp>
      <p:pic>
        <p:nvPicPr>
          <p:cNvPr id="1026" name="Picture 2" descr="Diagram showing the deployment architecture for the Azure Container Apps solution.">
            <a:extLst>
              <a:ext uri="{FF2B5EF4-FFF2-40B4-BE49-F238E27FC236}">
                <a16:creationId xmlns:a16="http://schemas.microsoft.com/office/drawing/2014/main" id="{B57B758E-BF53-A389-9FF5-89641D22FFA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88692" y="1779373"/>
            <a:ext cx="6906266" cy="37070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5625941"/>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5135D-BC64-8D3A-E932-6B19391AEE6A}"/>
              </a:ext>
            </a:extLst>
          </p:cNvPr>
          <p:cNvSpPr>
            <a:spLocks noGrp="1"/>
          </p:cNvSpPr>
          <p:nvPr>
            <p:ph type="title"/>
          </p:nvPr>
        </p:nvSpPr>
        <p:spPr/>
        <p:txBody>
          <a:bodyPr/>
          <a:lstStyle/>
          <a:p>
            <a:r>
              <a:rPr lang="en-GB"/>
              <a:t>Compare container management solutions</a:t>
            </a:r>
          </a:p>
        </p:txBody>
      </p:sp>
      <p:graphicFrame>
        <p:nvGraphicFramePr>
          <p:cNvPr id="5" name="Table 4">
            <a:extLst>
              <a:ext uri="{FF2B5EF4-FFF2-40B4-BE49-F238E27FC236}">
                <a16:creationId xmlns:a16="http://schemas.microsoft.com/office/drawing/2014/main" id="{D62F39F4-96D9-792B-E2F5-D6C121CED9A8}"/>
              </a:ext>
            </a:extLst>
          </p:cNvPr>
          <p:cNvGraphicFramePr>
            <a:graphicFrameLocks noGrp="1"/>
          </p:cNvGraphicFramePr>
          <p:nvPr>
            <p:extLst>
              <p:ext uri="{D42A27DB-BD31-4B8C-83A1-F6EECF244321}">
                <p14:modId xmlns:p14="http://schemas.microsoft.com/office/powerpoint/2010/main" val="4062962575"/>
              </p:ext>
            </p:extLst>
          </p:nvPr>
        </p:nvGraphicFramePr>
        <p:xfrm>
          <a:off x="554636" y="1236509"/>
          <a:ext cx="11295089" cy="5131107"/>
        </p:xfrm>
        <a:graphic>
          <a:graphicData uri="http://schemas.openxmlformats.org/drawingml/2006/table">
            <a:tbl>
              <a:tblPr firstRow="1" bandRow="1">
                <a:tableStyleId>{17292A2E-F333-43FB-9621-5CBBE7FDCDCB}</a:tableStyleId>
              </a:tblPr>
              <a:tblGrid>
                <a:gridCol w="1892189">
                  <a:extLst>
                    <a:ext uri="{9D8B030D-6E8A-4147-A177-3AD203B41FA5}">
                      <a16:colId xmlns:a16="http://schemas.microsoft.com/office/drawing/2014/main" val="2542192030"/>
                    </a:ext>
                  </a:extLst>
                </a:gridCol>
                <a:gridCol w="4333972">
                  <a:extLst>
                    <a:ext uri="{9D8B030D-6E8A-4147-A177-3AD203B41FA5}">
                      <a16:colId xmlns:a16="http://schemas.microsoft.com/office/drawing/2014/main" val="2193664712"/>
                    </a:ext>
                  </a:extLst>
                </a:gridCol>
                <a:gridCol w="5068928">
                  <a:extLst>
                    <a:ext uri="{9D8B030D-6E8A-4147-A177-3AD203B41FA5}">
                      <a16:colId xmlns:a16="http://schemas.microsoft.com/office/drawing/2014/main" val="2428338523"/>
                    </a:ext>
                  </a:extLst>
                </a:gridCol>
              </a:tblGrid>
              <a:tr h="658167">
                <a:tc>
                  <a:txBody>
                    <a:bodyPr/>
                    <a:lstStyle/>
                    <a:p>
                      <a:pPr algn="ctr"/>
                      <a:endParaRPr lang="en-GB" sz="1800" noProof="0"/>
                    </a:p>
                  </a:txBody>
                  <a:tcPr marL="93260" marR="93260" marT="46630" marB="4663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243A5E"/>
                    </a:solidFill>
                  </a:tcPr>
                </a:tc>
                <a:tc>
                  <a:txBody>
                    <a:bodyPr/>
                    <a:lstStyle/>
                    <a:p>
                      <a:pPr algn="ctr"/>
                      <a:r>
                        <a:rPr lang="en-GB" sz="1800"/>
                        <a:t>Azure Container Apps</a:t>
                      </a:r>
                    </a:p>
                  </a:txBody>
                  <a:tcPr marL="93260" marR="93260" marT="46630" marB="4663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243A5E"/>
                    </a:solidFill>
                  </a:tcPr>
                </a:tc>
                <a:tc>
                  <a:txBody>
                    <a:bodyPr/>
                    <a:lstStyle/>
                    <a:p>
                      <a:pPr algn="ctr"/>
                      <a:r>
                        <a:rPr lang="en-GB" sz="1800" noProof="0"/>
                        <a:t>Azure Kubernetes Service</a:t>
                      </a:r>
                    </a:p>
                  </a:txBody>
                  <a:tcPr marL="93260" marR="93260" marT="46630" marB="4663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243A5E"/>
                    </a:solidFill>
                  </a:tcPr>
                </a:tc>
                <a:extLst>
                  <a:ext uri="{0D108BD9-81ED-4DB2-BD59-A6C34878D82A}">
                    <a16:rowId xmlns:a16="http://schemas.microsoft.com/office/drawing/2014/main" val="2586413613"/>
                  </a:ext>
                </a:extLst>
              </a:tr>
              <a:tr h="1163623">
                <a:tc>
                  <a:txBody>
                    <a:bodyPr/>
                    <a:lstStyle/>
                    <a:p>
                      <a:pPr algn="l"/>
                      <a:r>
                        <a:rPr lang="en-GB" sz="1800" b="1" noProof="0"/>
                        <a:t>Overview</a:t>
                      </a:r>
                    </a:p>
                  </a:txBody>
                  <a:tcPr marL="93260" marR="93260" marT="46630" marB="4663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l"/>
                      <a:r>
                        <a:rPr lang="en-US" sz="1800"/>
                        <a:t>Simplifies the deployment and management of microservices-based applications by abstracting away the underlying infrastructure.</a:t>
                      </a:r>
                      <a:endParaRPr lang="en-GB" sz="1800"/>
                    </a:p>
                  </a:txBody>
                  <a:tcPr marL="93260" marR="93260" marT="46630" marB="4663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l"/>
                      <a:r>
                        <a:rPr lang="en-US" sz="1800" noProof="0"/>
                        <a:t>Simplifies deploying a managed Kubernetes cluster in Azure by offloading the operational overhead to Azure. </a:t>
                      </a:r>
                      <a:endParaRPr lang="en-GB" sz="1800" noProof="0"/>
                    </a:p>
                  </a:txBody>
                  <a:tcPr marL="93260" marR="93260" marT="46630" marB="4663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899519002"/>
                  </a:ext>
                </a:extLst>
              </a:tr>
              <a:tr h="359269">
                <a:tc>
                  <a:txBody>
                    <a:bodyPr/>
                    <a:lstStyle/>
                    <a:p>
                      <a:pPr algn="l"/>
                      <a:r>
                        <a:rPr lang="en-GB" sz="1800" b="1" noProof="0"/>
                        <a:t>Deployment</a:t>
                      </a:r>
                    </a:p>
                  </a:txBody>
                  <a:tcPr marL="93260" marR="93260" marT="46630" marB="4663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l"/>
                      <a:r>
                        <a:rPr lang="en-US" sz="1800"/>
                        <a:t>PaaS experience.</a:t>
                      </a:r>
                      <a:endParaRPr lang="en-GB" sz="1800"/>
                    </a:p>
                  </a:txBody>
                  <a:tcPr marL="93260" marR="93260" marT="46630" marB="4663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l"/>
                      <a:r>
                        <a:rPr lang="en-US" sz="1800" noProof="0"/>
                        <a:t>Offers more control and customization.</a:t>
                      </a:r>
                      <a:endParaRPr lang="en-GB" sz="1800" noProof="0"/>
                    </a:p>
                  </a:txBody>
                  <a:tcPr marL="93260" marR="93260" marT="46630" marB="4663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05289520"/>
                  </a:ext>
                </a:extLst>
              </a:tr>
              <a:tr h="502887">
                <a:tc>
                  <a:txBody>
                    <a:bodyPr/>
                    <a:lstStyle/>
                    <a:p>
                      <a:pPr algn="l"/>
                      <a:r>
                        <a:rPr lang="en-GB" sz="1800" b="1" noProof="0"/>
                        <a:t>Management</a:t>
                      </a:r>
                    </a:p>
                  </a:txBody>
                  <a:tcPr marL="93260" marR="93260" marT="46630" marB="4663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l"/>
                      <a:r>
                        <a:rPr lang="en-GB" sz="1800" noProof="0"/>
                        <a:t>Fully managed by Azure.</a:t>
                      </a:r>
                    </a:p>
                  </a:txBody>
                  <a:tcPr marL="93260" marR="93260" marT="46630" marB="4663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l"/>
                      <a:r>
                        <a:rPr lang="en-GB" sz="1800" noProof="0"/>
                        <a:t>Partially managed by Azure (control plane).</a:t>
                      </a:r>
                    </a:p>
                  </a:txBody>
                  <a:tcPr marL="93260" marR="93260" marT="46630" marB="4663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961876091"/>
                  </a:ext>
                </a:extLst>
              </a:tr>
              <a:tr h="627387">
                <a:tc>
                  <a:txBody>
                    <a:bodyPr/>
                    <a:lstStyle/>
                    <a:p>
                      <a:pPr algn="l"/>
                      <a:r>
                        <a:rPr lang="en-GB" sz="1800" b="1" noProof="0"/>
                        <a:t>Scalability</a:t>
                      </a:r>
                    </a:p>
                  </a:txBody>
                  <a:tcPr marL="93260" marR="93260" marT="46630" marB="4663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indent="0" algn="l">
                        <a:buFontTx/>
                        <a:buNone/>
                      </a:pPr>
                      <a:r>
                        <a:rPr lang="en-US" sz="1800" noProof="0"/>
                        <a:t>HTTP-based autoscaling and event-driven scaling.</a:t>
                      </a:r>
                      <a:endParaRPr lang="en-GB" sz="1800" noProof="0"/>
                    </a:p>
                  </a:txBody>
                  <a:tcPr marL="93260" marR="93260" marT="46630" marB="4663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indent="0" algn="l">
                        <a:buFontTx/>
                        <a:buNone/>
                      </a:pPr>
                      <a:r>
                        <a:rPr lang="en-US" sz="1800" noProof="0"/>
                        <a:t>Horizontal pod autoscaling and cluster autoscaling.</a:t>
                      </a:r>
                      <a:endParaRPr lang="en-GB" sz="1800" noProof="0"/>
                    </a:p>
                  </a:txBody>
                  <a:tcPr marL="93260" marR="93260" marT="46630" marB="4663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586349919"/>
                  </a:ext>
                </a:extLst>
              </a:tr>
              <a:tr h="627387">
                <a:tc>
                  <a:txBody>
                    <a:bodyPr/>
                    <a:lstStyle/>
                    <a:p>
                      <a:pPr algn="l"/>
                      <a:r>
                        <a:rPr lang="en-GB" sz="1800" b="1" noProof="0"/>
                        <a:t>Use Cases</a:t>
                      </a:r>
                    </a:p>
                  </a:txBody>
                  <a:tcPr marL="93260" marR="93260" marT="46630" marB="4663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indent="0" algn="l">
                        <a:buFontTx/>
                        <a:buNone/>
                      </a:pPr>
                      <a:r>
                        <a:rPr lang="en-US" sz="1800" noProof="0"/>
                        <a:t>Rapid scaling and simplified management.</a:t>
                      </a:r>
                      <a:endParaRPr lang="en-GB" sz="1800" noProof="0"/>
                    </a:p>
                  </a:txBody>
                  <a:tcPr marL="93260" marR="93260" marT="46630" marB="4663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l"/>
                      <a:r>
                        <a:rPr lang="en-US" sz="1800" noProof="0"/>
                        <a:t>Complex, long-running applications that require full Kubernetes features. </a:t>
                      </a:r>
                      <a:endParaRPr lang="en-GB" sz="1800" noProof="0"/>
                    </a:p>
                  </a:txBody>
                  <a:tcPr marL="93260" marR="93260" marT="46630" marB="4663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523081706"/>
                  </a:ext>
                </a:extLst>
              </a:tr>
              <a:tr h="1128133">
                <a:tc>
                  <a:txBody>
                    <a:bodyPr/>
                    <a:lstStyle/>
                    <a:p>
                      <a:pPr algn="l"/>
                      <a:r>
                        <a:rPr lang="en-GB" sz="1800" b="1" noProof="0"/>
                        <a:t>Integration</a:t>
                      </a:r>
                    </a:p>
                  </a:txBody>
                  <a:tcPr marL="93260" marR="93260" marT="46630" marB="4663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l"/>
                      <a:r>
                        <a:rPr lang="en-US" sz="1800"/>
                        <a:t>Azure Logic Apps, Functions, and Event Grid for event-driven architecture.</a:t>
                      </a:r>
                      <a:endParaRPr lang="en-GB" sz="1800"/>
                    </a:p>
                  </a:txBody>
                  <a:tcPr marL="93260" marR="93260" marT="46630" marB="4663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l"/>
                      <a:r>
                        <a:rPr lang="en-US" sz="1800" noProof="0"/>
                        <a:t>Azure Policy for Kubernetes, Azure Monitor for containers, and Azure Defender for Kubernetes for comprehensive security and governance.</a:t>
                      </a:r>
                      <a:endParaRPr lang="en-GB" sz="1800" noProof="0"/>
                    </a:p>
                  </a:txBody>
                  <a:tcPr marL="93260" marR="93260" marT="46630" marB="4663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713942149"/>
                  </a:ext>
                </a:extLst>
              </a:tr>
            </a:tbl>
          </a:graphicData>
        </a:graphic>
      </p:graphicFrame>
    </p:spTree>
    <p:extLst>
      <p:ext uri="{BB962C8B-B14F-4D97-AF65-F5344CB8AC3E}">
        <p14:creationId xmlns:p14="http://schemas.microsoft.com/office/powerpoint/2010/main" val="2031327630"/>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B1B59-5A29-4ADD-9D90-235AA0014A02}"/>
              </a:ext>
            </a:extLst>
          </p:cNvPr>
          <p:cNvSpPr>
            <a:spLocks noGrp="1"/>
          </p:cNvSpPr>
          <p:nvPr>
            <p:ph type="title"/>
          </p:nvPr>
        </p:nvSpPr>
        <p:spPr/>
        <p:txBody>
          <a:bodyPr/>
          <a:lstStyle/>
          <a:p>
            <a:pPr>
              <a:lnSpc>
                <a:spcPct val="100000"/>
              </a:lnSpc>
            </a:pPr>
            <a:r>
              <a:rPr lang="en-US" spc="0">
                <a:solidFill>
                  <a:schemeClr val="tx1"/>
                </a:solidFill>
              </a:rPr>
              <a:t>Demonstration - Configure Azure Container Apps</a:t>
            </a:r>
          </a:p>
        </p:txBody>
      </p:sp>
      <p:sp>
        <p:nvSpPr>
          <p:cNvPr id="15" name="Rectangle 14">
            <a:extLst>
              <a:ext uri="{FF2B5EF4-FFF2-40B4-BE49-F238E27FC236}">
                <a16:creationId xmlns:a16="http://schemas.microsoft.com/office/drawing/2014/main" id="{CEF9FBC7-CD9C-43F7-937C-6976FB917B08}"/>
              </a:ext>
            </a:extLst>
          </p:cNvPr>
          <p:cNvSpPr/>
          <p:nvPr/>
        </p:nvSpPr>
        <p:spPr>
          <a:xfrm>
            <a:off x="857569" y="1654032"/>
            <a:ext cx="8096897" cy="1593193"/>
          </a:xfrm>
          <a:prstGeom prst="rect">
            <a:avLst/>
          </a:prstGeom>
        </p:spPr>
        <p:txBody>
          <a:bodyPr wrap="none" lIns="0" tIns="0" rIns="0" bIns="0">
            <a:spAutoFit/>
          </a:bodyPr>
          <a:lstStyle/>
          <a:p>
            <a:pPr marL="342900" indent="-342900">
              <a:lnSpc>
                <a:spcPct val="150000"/>
              </a:lnSpc>
              <a:buFont typeface="Arial" panose="020B0604020202020204" pitchFamily="34" charset="0"/>
              <a:buChar char="•"/>
            </a:pPr>
            <a:r>
              <a:rPr lang="en-US" sz="2400">
                <a:cs typeface="Segoe UI Semilight"/>
              </a:rPr>
              <a:t>Create and deploy a container app</a:t>
            </a:r>
          </a:p>
          <a:p>
            <a:pPr marL="342900" indent="-342900">
              <a:lnSpc>
                <a:spcPct val="150000"/>
              </a:lnSpc>
              <a:buFont typeface="Arial" panose="020B0604020202020204" pitchFamily="34" charset="0"/>
              <a:buChar char="•"/>
            </a:pPr>
            <a:r>
              <a:rPr lang="en-US" sz="2400">
                <a:cs typeface="Segoe UI Semilight"/>
              </a:rPr>
              <a:t>Verify the application URL displays the welcome message</a:t>
            </a:r>
            <a:endParaRPr lang="en-US" sz="2400"/>
          </a:p>
          <a:p>
            <a:pPr marL="342900" indent="-342900">
              <a:lnSpc>
                <a:spcPct val="150000"/>
              </a:lnSpc>
              <a:buFont typeface="Arial" panose="020B0604020202020204" pitchFamily="34" charset="0"/>
              <a:buChar char="•"/>
            </a:pPr>
            <a:endParaRPr lang="en-US" sz="2400"/>
          </a:p>
        </p:txBody>
      </p:sp>
    </p:spTree>
    <p:extLst>
      <p:ext uri="{BB962C8B-B14F-4D97-AF65-F5344CB8AC3E}">
        <p14:creationId xmlns:p14="http://schemas.microsoft.com/office/powerpoint/2010/main" val="1158790757"/>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p:txBody>
          <a:bodyPr/>
          <a:lstStyle/>
          <a:p>
            <a:pPr>
              <a:lnSpc>
                <a:spcPct val="100000"/>
              </a:lnSpc>
            </a:pPr>
            <a:r>
              <a:rPr lang="en-US" spc="0">
                <a:solidFill>
                  <a:schemeClr val="tx1"/>
                </a:solidFill>
                <a:cs typeface="Segoe UI"/>
              </a:rPr>
              <a:t>Learning Recap – Configure Azure Container Instances and Apps</a:t>
            </a:r>
          </a:p>
        </p:txBody>
      </p:sp>
      <p:sp>
        <p:nvSpPr>
          <p:cNvPr id="11" name="TextBox 10">
            <a:extLst>
              <a:ext uri="{FF2B5EF4-FFF2-40B4-BE49-F238E27FC236}">
                <a16:creationId xmlns:a16="http://schemas.microsoft.com/office/drawing/2014/main" id="{F948E400-C6EB-B82E-8A11-807FC59A68D1}"/>
              </a:ext>
            </a:extLst>
          </p:cNvPr>
          <p:cNvSpPr txBox="1"/>
          <p:nvPr/>
        </p:nvSpPr>
        <p:spPr>
          <a:xfrm>
            <a:off x="3880166" y="2259636"/>
            <a:ext cx="7631113" cy="3728328"/>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000">
                <a:hlinkClick r:id="rId3"/>
              </a:rPr>
              <a:t>Configure Azure Container Instances</a:t>
            </a:r>
            <a:endParaRPr lang="en-US" sz="2000">
              <a:hlinkClick r:id="rId4"/>
            </a:endParaRPr>
          </a:p>
          <a:p>
            <a:pPr marL="342900" indent="-342900">
              <a:lnSpc>
                <a:spcPct val="150000"/>
              </a:lnSpc>
              <a:buFont typeface="Arial" panose="020B0604020202020204" pitchFamily="34" charset="0"/>
              <a:buChar char="•"/>
            </a:pPr>
            <a:r>
              <a:rPr lang="en-US" sz="2000">
                <a:hlinkClick r:id="rId4"/>
              </a:rPr>
              <a:t>Introduction to Docker containers</a:t>
            </a:r>
            <a:endParaRPr lang="en-US" sz="2000"/>
          </a:p>
          <a:p>
            <a:pPr marL="342900" indent="-342900">
              <a:lnSpc>
                <a:spcPct val="150000"/>
              </a:lnSpc>
              <a:buFont typeface="Arial" panose="020B0604020202020204" pitchFamily="34" charset="0"/>
              <a:buChar char="•"/>
            </a:pPr>
            <a:r>
              <a:rPr lang="en-US" sz="2000">
                <a:hlinkClick r:id="rId4"/>
              </a:rPr>
              <a:t>Build a containerized web application with Docker</a:t>
            </a:r>
            <a:endParaRPr lang="en-US" sz="2000"/>
          </a:p>
          <a:p>
            <a:pPr marL="342900" indent="-342900">
              <a:lnSpc>
                <a:spcPct val="150000"/>
              </a:lnSpc>
              <a:buFont typeface="Arial" panose="020B0604020202020204" pitchFamily="34" charset="0"/>
              <a:buChar char="•"/>
            </a:pPr>
            <a:r>
              <a:rPr lang="en-US" sz="2000">
                <a:hlinkClick r:id="rId5"/>
              </a:rPr>
              <a:t>Run Docker containers with Azure Container Instances </a:t>
            </a:r>
            <a:endParaRPr lang="en-US" sz="2000"/>
          </a:p>
          <a:p>
            <a:pPr marL="342900" indent="-342900">
              <a:lnSpc>
                <a:spcPct val="150000"/>
              </a:lnSpc>
              <a:buFont typeface="Arial" panose="020B0604020202020204" pitchFamily="34" charset="0"/>
              <a:buChar char="•"/>
            </a:pPr>
            <a:r>
              <a:rPr lang="en-US" sz="2000">
                <a:hlinkClick r:id="rId6"/>
              </a:rPr>
              <a:t>Implement Azure Container Apps</a:t>
            </a:r>
            <a:endParaRPr lang="en-US" sz="2000"/>
          </a:p>
          <a:p>
            <a:pPr marL="342900" indent="-342900">
              <a:lnSpc>
                <a:spcPct val="150000"/>
              </a:lnSpc>
              <a:buFont typeface="Arial" panose="020B0604020202020204" pitchFamily="34" charset="0"/>
              <a:buChar char="•"/>
            </a:pPr>
            <a:endParaRPr lang="en-US" sz="2000">
              <a:solidFill>
                <a:schemeClr val="tx1"/>
              </a:solidFill>
            </a:endParaRPr>
          </a:p>
          <a:p>
            <a:pPr marL="342900" indent="-342900">
              <a:lnSpc>
                <a:spcPct val="150000"/>
              </a:lnSpc>
              <a:buFont typeface="Arial" panose="020B0604020202020204" pitchFamily="34" charset="0"/>
              <a:buChar char="•"/>
            </a:pPr>
            <a:endParaRPr lang="en-US" sz="2000">
              <a:solidFill>
                <a:schemeClr val="tx1"/>
              </a:solidFill>
            </a:endParaRPr>
          </a:p>
          <a:p>
            <a:pPr marL="342900" indent="-342900">
              <a:lnSpc>
                <a:spcPct val="150000"/>
              </a:lnSpc>
              <a:buFont typeface="Arial" panose="020B0604020202020204" pitchFamily="34" charset="0"/>
              <a:buChar char="•"/>
            </a:pPr>
            <a:endParaRPr lang="en-US" sz="2000"/>
          </a:p>
        </p:txBody>
      </p:sp>
    </p:spTree>
    <p:extLst>
      <p:ext uri="{BB962C8B-B14F-4D97-AF65-F5344CB8AC3E}">
        <p14:creationId xmlns:p14="http://schemas.microsoft.com/office/powerpoint/2010/main" val="373641153"/>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D8665D-5A50-4F07-9D33-48CCD3FD74C7}"/>
              </a:ext>
            </a:extLst>
          </p:cNvPr>
          <p:cNvSpPr>
            <a:spLocks noGrp="1"/>
          </p:cNvSpPr>
          <p:nvPr>
            <p:ph type="title"/>
          </p:nvPr>
        </p:nvSpPr>
        <p:spPr>
          <a:xfrm>
            <a:off x="580144" y="2648174"/>
            <a:ext cx="7963781" cy="3016210"/>
          </a:xfrm>
        </p:spPr>
        <p:txBody>
          <a:bodyPr anchor="t"/>
          <a:lstStyle/>
          <a:p>
            <a:pPr>
              <a:lnSpc>
                <a:spcPct val="100000"/>
              </a:lnSpc>
              <a:spcBef>
                <a:spcPts val="1200"/>
              </a:spcBef>
              <a:spcAft>
                <a:spcPts val="1200"/>
              </a:spcAft>
            </a:pPr>
            <a:r>
              <a:rPr lang="en-US" sz="2800"/>
              <a:t>Lab 09a – Implement Web Apps</a:t>
            </a:r>
            <a:br>
              <a:rPr lang="en-US" sz="2800"/>
            </a:br>
            <a:r>
              <a:rPr lang="en-US" sz="2800"/>
              <a:t>Lab 09b – Implement Azure Container Instances</a:t>
            </a:r>
            <a:br>
              <a:rPr lang="en-US" sz="2800"/>
            </a:br>
            <a:r>
              <a:rPr lang="en-US" sz="2800"/>
              <a:t>Lab 09c – Implement Azure Container Apps</a:t>
            </a:r>
            <a:br>
              <a:rPr lang="en-US" sz="2800"/>
            </a:br>
            <a:br>
              <a:rPr lang="en-US" sz="2800"/>
            </a:br>
            <a:r>
              <a:rPr lang="en-US" sz="2800"/>
              <a:t>11:30 CET, 12 + lunch 1pm</a:t>
            </a:r>
            <a:br>
              <a:rPr lang="en-US" sz="2800"/>
            </a:br>
            <a:br>
              <a:rPr lang="en-US" sz="2800"/>
            </a:br>
            <a:endParaRPr lang="en-US" sz="2800"/>
          </a:p>
        </p:txBody>
      </p:sp>
    </p:spTree>
    <p:extLst>
      <p:ext uri="{BB962C8B-B14F-4D97-AF65-F5344CB8AC3E}">
        <p14:creationId xmlns:p14="http://schemas.microsoft.com/office/powerpoint/2010/main" val="216602127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D2504-CD52-4530-95A0-64324BCD7B4B}"/>
              </a:ext>
            </a:extLst>
          </p:cNvPr>
          <p:cNvSpPr>
            <a:spLocks noGrp="1"/>
          </p:cNvSpPr>
          <p:nvPr>
            <p:ph type="title"/>
          </p:nvPr>
        </p:nvSpPr>
        <p:spPr>
          <a:xfrm>
            <a:off x="600855" y="525428"/>
            <a:ext cx="11701941" cy="502246"/>
          </a:xfrm>
        </p:spPr>
        <p:txBody>
          <a:bodyPr>
            <a:noAutofit/>
          </a:bodyPr>
          <a:lstStyle/>
          <a:p>
            <a:pPr>
              <a:lnSpc>
                <a:spcPct val="100000"/>
              </a:lnSpc>
            </a:pPr>
            <a:r>
              <a:rPr lang="en-US" spc="0"/>
              <a:t>Lab 09a – Implement web apps</a:t>
            </a:r>
          </a:p>
        </p:txBody>
      </p:sp>
      <p:sp>
        <p:nvSpPr>
          <p:cNvPr id="3" name="Text Placeholder 2">
            <a:extLst>
              <a:ext uri="{FF2B5EF4-FFF2-40B4-BE49-F238E27FC236}">
                <a16:creationId xmlns:a16="http://schemas.microsoft.com/office/drawing/2014/main" id="{04BC8621-FC09-45CE-9834-906039E08AEB}"/>
              </a:ext>
            </a:extLst>
          </p:cNvPr>
          <p:cNvSpPr txBox="1">
            <a:spLocks/>
          </p:cNvSpPr>
          <p:nvPr/>
        </p:nvSpPr>
        <p:spPr>
          <a:xfrm>
            <a:off x="340035" y="2322404"/>
            <a:ext cx="3787237" cy="2778047"/>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612"/>
              </a:spcAft>
            </a:pPr>
            <a:r>
              <a:rPr lang="en-US" sz="1800" spc="0">
                <a:solidFill>
                  <a:schemeClr val="tx1"/>
                </a:solidFill>
                <a:latin typeface="+mn-lt"/>
                <a:cs typeface="Segoe UI Semilight"/>
              </a:rPr>
              <a:t>In this lab, you learn about Azure web apps.</a:t>
            </a:r>
          </a:p>
          <a:p>
            <a:pPr>
              <a:spcAft>
                <a:spcPts val="612"/>
              </a:spcAft>
            </a:pPr>
            <a:r>
              <a:rPr lang="en-US" sz="1800" spc="0">
                <a:solidFill>
                  <a:schemeClr val="tx1"/>
                </a:solidFill>
                <a:latin typeface="+mn-lt"/>
                <a:cs typeface="Segoe UI Semilight"/>
              </a:rPr>
              <a:t>You learn to configure a web app to display a Hello World application in an external GitHub repository.</a:t>
            </a:r>
          </a:p>
          <a:p>
            <a:pPr>
              <a:spcAft>
                <a:spcPts val="612"/>
              </a:spcAft>
            </a:pPr>
            <a:r>
              <a:rPr lang="en-US" sz="1800" spc="0">
                <a:solidFill>
                  <a:schemeClr val="tx1"/>
                </a:solidFill>
                <a:latin typeface="+mn-lt"/>
                <a:cs typeface="Segoe UI Semilight"/>
              </a:rPr>
              <a:t>You learn to create a staging slot and swap with the production slot.</a:t>
            </a:r>
          </a:p>
          <a:p>
            <a:pPr>
              <a:spcAft>
                <a:spcPts val="612"/>
              </a:spcAft>
            </a:pPr>
            <a:r>
              <a:rPr lang="en-US" sz="1800" spc="0">
                <a:solidFill>
                  <a:schemeClr val="tx1"/>
                </a:solidFill>
                <a:latin typeface="+mn-lt"/>
                <a:cs typeface="Segoe UI Semilight"/>
              </a:rPr>
              <a:t>You also learn about autoscaling to accommodate demand surges.</a:t>
            </a:r>
            <a:endParaRPr lang="en-US" sz="1800" spc="0">
              <a:solidFill>
                <a:schemeClr val="tx1"/>
              </a:solidFill>
              <a:latin typeface="+mn-lt"/>
            </a:endParaRPr>
          </a:p>
        </p:txBody>
      </p:sp>
      <p:sp>
        <p:nvSpPr>
          <p:cNvPr id="5" name="Rectangle 4">
            <a:extLst>
              <a:ext uri="{FF2B5EF4-FFF2-40B4-BE49-F238E27FC236}">
                <a16:creationId xmlns:a16="http://schemas.microsoft.com/office/drawing/2014/main" id="{B894BD34-2A64-4ACC-BED2-9F7102FC04A2}"/>
              </a:ext>
              <a:ext uri="{C183D7F6-B498-43B3-948B-1728B52AA6E4}">
                <adec:decorative xmlns:adec="http://schemas.microsoft.com/office/drawing/2017/decorative" val="1"/>
              </a:ext>
            </a:extLst>
          </p:cNvPr>
          <p:cNvSpPr/>
          <p:nvPr/>
        </p:nvSpPr>
        <p:spPr bwMode="auto">
          <a:xfrm>
            <a:off x="5073540" y="2070192"/>
            <a:ext cx="6709687" cy="3432760"/>
          </a:xfrm>
          <a:prstGeom prst="rect">
            <a:avLst/>
          </a:prstGeom>
          <a:solidFill>
            <a:schemeClr val="bg1"/>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54" tIns="137141" rIns="182854" bIns="137141" numCol="1" spcCol="1270" anchor="t" anchorCtr="0">
            <a:noAutofit/>
          </a:bodyPr>
          <a:lstStyle/>
          <a:p>
            <a:pPr>
              <a:spcAft>
                <a:spcPts val="600"/>
              </a:spcAft>
              <a:buSzPct val="90000"/>
            </a:pPr>
            <a:r>
              <a:rPr lang="en-US" sz="2000">
                <a:solidFill>
                  <a:schemeClr val="tx1"/>
                </a:solidFill>
                <a:latin typeface="+mj-lt"/>
                <a:cs typeface="Segoe UI Semilight"/>
              </a:rPr>
              <a:t>Task 1: </a:t>
            </a:r>
            <a:r>
              <a:rPr lang="en-US" sz="2000">
                <a:solidFill>
                  <a:schemeClr val="tx1"/>
                </a:solidFill>
                <a:cs typeface="Segoe UI Semilight"/>
              </a:rPr>
              <a:t>Create and configure an Azure web app.</a:t>
            </a:r>
          </a:p>
          <a:p>
            <a:pPr>
              <a:spcAft>
                <a:spcPts val="600"/>
              </a:spcAft>
              <a:buSzPct val="90000"/>
            </a:pPr>
            <a:r>
              <a:rPr lang="en-US" sz="2000">
                <a:solidFill>
                  <a:schemeClr val="tx1"/>
                </a:solidFill>
                <a:latin typeface="+mj-lt"/>
                <a:cs typeface="Segoe UI Semilight"/>
              </a:rPr>
              <a:t>Task 2: </a:t>
            </a:r>
            <a:r>
              <a:rPr lang="en-US" sz="2000">
                <a:solidFill>
                  <a:schemeClr val="tx1"/>
                </a:solidFill>
                <a:cs typeface="Segoe UI Semilight"/>
              </a:rPr>
              <a:t>Create and configure a deployment slot.</a:t>
            </a:r>
          </a:p>
          <a:p>
            <a:pPr>
              <a:spcAft>
                <a:spcPts val="600"/>
              </a:spcAft>
              <a:buSzPct val="90000"/>
            </a:pPr>
            <a:r>
              <a:rPr lang="en-US" sz="2000">
                <a:solidFill>
                  <a:schemeClr val="tx1"/>
                </a:solidFill>
                <a:latin typeface="+mj-lt"/>
                <a:cs typeface="Segoe UI Semilight"/>
              </a:rPr>
              <a:t>Task 3: </a:t>
            </a:r>
            <a:r>
              <a:rPr lang="en-US" sz="2000">
                <a:solidFill>
                  <a:schemeClr val="tx1"/>
                </a:solidFill>
                <a:cs typeface="Segoe UI Semilight"/>
              </a:rPr>
              <a:t>Configure web app deployment settings.</a:t>
            </a:r>
          </a:p>
          <a:p>
            <a:pPr>
              <a:spcAft>
                <a:spcPts val="600"/>
              </a:spcAft>
              <a:buSzPct val="90000"/>
            </a:pPr>
            <a:r>
              <a:rPr lang="en-US" sz="2000">
                <a:solidFill>
                  <a:schemeClr val="tx1"/>
                </a:solidFill>
                <a:latin typeface="+mj-lt"/>
                <a:cs typeface="Segoe UI Semilight"/>
              </a:rPr>
              <a:t>Task 4: </a:t>
            </a:r>
            <a:r>
              <a:rPr lang="en-US" sz="2000">
                <a:solidFill>
                  <a:schemeClr val="tx1"/>
                </a:solidFill>
                <a:cs typeface="Segoe UI Semilight"/>
              </a:rPr>
              <a:t>Swap deployment slots.</a:t>
            </a:r>
          </a:p>
          <a:p>
            <a:pPr>
              <a:spcAft>
                <a:spcPts val="600"/>
              </a:spcAft>
              <a:buSzPct val="90000"/>
            </a:pPr>
            <a:r>
              <a:rPr lang="en-US" sz="2000">
                <a:solidFill>
                  <a:schemeClr val="tx1"/>
                </a:solidFill>
                <a:latin typeface="+mj-lt"/>
                <a:cs typeface="Segoe UI Semilight"/>
              </a:rPr>
              <a:t>Task 5: </a:t>
            </a:r>
            <a:r>
              <a:rPr lang="en-US" sz="2000">
                <a:solidFill>
                  <a:schemeClr val="tx1"/>
                </a:solidFill>
                <a:cs typeface="Segoe UI Semilight"/>
              </a:rPr>
              <a:t>Configure and test autoscaling of a web app.</a:t>
            </a:r>
          </a:p>
          <a:p>
            <a:pPr>
              <a:spcAft>
                <a:spcPts val="600"/>
              </a:spcAft>
              <a:buSzPct val="90000"/>
            </a:pPr>
            <a:endParaRPr lang="en-US" sz="2000">
              <a:solidFill>
                <a:schemeClr val="tx1"/>
              </a:solidFill>
              <a:cs typeface="Segoe UI Semilight"/>
            </a:endParaRPr>
          </a:p>
          <a:p>
            <a:pPr>
              <a:spcAft>
                <a:spcPts val="600"/>
              </a:spcAft>
              <a:buSzPct val="90000"/>
            </a:pPr>
            <a:endParaRPr lang="en-US" sz="2000">
              <a:solidFill>
                <a:schemeClr val="tx1"/>
              </a:solidFill>
              <a:cs typeface="Segoe UI Semilight"/>
            </a:endParaRPr>
          </a:p>
          <a:p>
            <a:pPr>
              <a:spcAft>
                <a:spcPts val="600"/>
              </a:spcAft>
              <a:buSzPct val="90000"/>
            </a:pPr>
            <a:endParaRPr lang="en-US" sz="2000">
              <a:solidFill>
                <a:schemeClr val="tx1"/>
              </a:solidFill>
              <a:cs typeface="Segoe UI Semilight"/>
            </a:endParaRPr>
          </a:p>
          <a:p>
            <a:pPr>
              <a:spcAft>
                <a:spcPts val="600"/>
              </a:spcAft>
              <a:buSzPct val="90000"/>
            </a:pPr>
            <a:endParaRPr lang="en-US" sz="2000">
              <a:solidFill>
                <a:schemeClr val="tx1"/>
              </a:solidFill>
              <a:cs typeface="Segoe UI Semilight"/>
            </a:endParaRPr>
          </a:p>
          <a:p>
            <a:pPr>
              <a:spcAft>
                <a:spcPts val="600"/>
              </a:spcAft>
              <a:buSzPct val="90000"/>
            </a:pPr>
            <a:endParaRPr lang="en-US" sz="2000">
              <a:solidFill>
                <a:schemeClr val="tx1"/>
              </a:solidFill>
              <a:cs typeface="Segoe UI Semilight"/>
            </a:endParaRPr>
          </a:p>
        </p:txBody>
      </p:sp>
      <p:sp>
        <p:nvSpPr>
          <p:cNvPr id="8" name="Text Placeholder 2">
            <a:extLst>
              <a:ext uri="{FF2B5EF4-FFF2-40B4-BE49-F238E27FC236}">
                <a16:creationId xmlns:a16="http://schemas.microsoft.com/office/drawing/2014/main" id="{6BC707B9-982D-4646-99BA-5BEA2E7A9C86}"/>
              </a:ext>
            </a:extLst>
          </p:cNvPr>
          <p:cNvSpPr txBox="1">
            <a:spLocks/>
          </p:cNvSpPr>
          <p:nvPr/>
        </p:nvSpPr>
        <p:spPr>
          <a:xfrm>
            <a:off x="8251643" y="6126432"/>
            <a:ext cx="3408749" cy="246093"/>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599" spc="0">
                <a:solidFill>
                  <a:schemeClr val="tx1"/>
                </a:solidFill>
                <a:latin typeface="+mn-lt"/>
                <a:cs typeface="Segoe UI Semilight"/>
              </a:rPr>
              <a:t>Next slide for an architecture diagram </a:t>
            </a:r>
          </a:p>
        </p:txBody>
      </p:sp>
      <p:sp>
        <p:nvSpPr>
          <p:cNvPr id="14" name="arrow_15">
            <a:extLst>
              <a:ext uri="{FF2B5EF4-FFF2-40B4-BE49-F238E27FC236}">
                <a16:creationId xmlns:a16="http://schemas.microsoft.com/office/drawing/2014/main" id="{8A6F9B9F-835B-4D98-BAB0-5444377D4850}"/>
              </a:ext>
              <a:ext uri="{C183D7F6-B498-43B3-948B-1728B52AA6E4}">
                <adec:decorative xmlns:adec="http://schemas.microsoft.com/office/drawing/2017/decorative" val="1"/>
              </a:ext>
            </a:extLst>
          </p:cNvPr>
          <p:cNvSpPr>
            <a:spLocks noChangeAspect="1" noEditPoints="1"/>
          </p:cNvSpPr>
          <p:nvPr/>
        </p:nvSpPr>
        <p:spPr bwMode="auto">
          <a:xfrm>
            <a:off x="11783228" y="6137089"/>
            <a:ext cx="225900" cy="224873"/>
          </a:xfrm>
          <a:custGeom>
            <a:avLst/>
            <a:gdLst>
              <a:gd name="T0" fmla="*/ 0 w 304"/>
              <a:gd name="T1" fmla="*/ 151 h 303"/>
              <a:gd name="T2" fmla="*/ 152 w 304"/>
              <a:gd name="T3" fmla="*/ 0 h 303"/>
              <a:gd name="T4" fmla="*/ 304 w 304"/>
              <a:gd name="T5" fmla="*/ 151 h 303"/>
              <a:gd name="T6" fmla="*/ 152 w 304"/>
              <a:gd name="T7" fmla="*/ 303 h 303"/>
              <a:gd name="T8" fmla="*/ 0 w 304"/>
              <a:gd name="T9" fmla="*/ 151 h 303"/>
              <a:gd name="T10" fmla="*/ 151 w 304"/>
              <a:gd name="T11" fmla="*/ 223 h 303"/>
              <a:gd name="T12" fmla="*/ 223 w 304"/>
              <a:gd name="T13" fmla="*/ 151 h 303"/>
              <a:gd name="T14" fmla="*/ 151 w 304"/>
              <a:gd name="T15" fmla="*/ 79 h 303"/>
              <a:gd name="T16" fmla="*/ 223 w 304"/>
              <a:gd name="T17" fmla="*/ 151 h 303"/>
              <a:gd name="T18" fmla="*/ 73 w 304"/>
              <a:gd name="T19" fmla="*/ 151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4" h="303">
                <a:moveTo>
                  <a:pt x="0" y="151"/>
                </a:moveTo>
                <a:cubicBezTo>
                  <a:pt x="0" y="68"/>
                  <a:pt x="68" y="0"/>
                  <a:pt x="152" y="0"/>
                </a:cubicBezTo>
                <a:cubicBezTo>
                  <a:pt x="236" y="0"/>
                  <a:pt x="304" y="68"/>
                  <a:pt x="304" y="151"/>
                </a:cubicBezTo>
                <a:cubicBezTo>
                  <a:pt x="304" y="235"/>
                  <a:pt x="236" y="303"/>
                  <a:pt x="152" y="303"/>
                </a:cubicBezTo>
                <a:cubicBezTo>
                  <a:pt x="68" y="303"/>
                  <a:pt x="0" y="235"/>
                  <a:pt x="0" y="151"/>
                </a:cubicBezTo>
                <a:close/>
                <a:moveTo>
                  <a:pt x="151" y="223"/>
                </a:moveTo>
                <a:cubicBezTo>
                  <a:pt x="223" y="151"/>
                  <a:pt x="223" y="151"/>
                  <a:pt x="223" y="151"/>
                </a:cubicBezTo>
                <a:cubicBezTo>
                  <a:pt x="151" y="79"/>
                  <a:pt x="151" y="79"/>
                  <a:pt x="151" y="79"/>
                </a:cubicBezTo>
                <a:moveTo>
                  <a:pt x="223" y="151"/>
                </a:moveTo>
                <a:cubicBezTo>
                  <a:pt x="73" y="151"/>
                  <a:pt x="73" y="151"/>
                  <a:pt x="73" y="151"/>
                </a:cubicBezTo>
              </a:path>
            </a:pathLst>
          </a:custGeom>
          <a:solidFill>
            <a:srgbClr val="FFF100"/>
          </a:solidFill>
          <a:ln w="15875" cap="sq">
            <a:solidFill>
              <a:schemeClr val="tx1"/>
            </a:solidFill>
            <a:prstDash val="solid"/>
            <a:miter lim="800000"/>
            <a:headEnd/>
            <a:tailEnd/>
          </a:ln>
        </p:spPr>
        <p:txBody>
          <a:bodyPr vert="horz" wrap="square" lIns="91427" tIns="45713" rIns="91427" bIns="45713" numCol="1" anchor="t" anchorCtr="0" compatLnSpc="1">
            <a:prstTxWarp prst="textNoShape">
              <a:avLst/>
            </a:prstTxWarp>
          </a:bodyPr>
          <a:lstStyle/>
          <a:p>
            <a:endParaRPr lang="en-US" sz="900">
              <a:gradFill>
                <a:gsLst>
                  <a:gs pos="0">
                    <a:srgbClr val="505050"/>
                  </a:gs>
                  <a:gs pos="100000">
                    <a:srgbClr val="505050"/>
                  </a:gs>
                </a:gsLst>
                <a:lin ang="5400000" scaled="1"/>
              </a:gradFill>
            </a:endParaRPr>
          </a:p>
        </p:txBody>
      </p:sp>
      <p:sp>
        <p:nvSpPr>
          <p:cNvPr id="4" name="TextBox 3">
            <a:extLst>
              <a:ext uri="{FF2B5EF4-FFF2-40B4-BE49-F238E27FC236}">
                <a16:creationId xmlns:a16="http://schemas.microsoft.com/office/drawing/2014/main" id="{1C719383-A8C8-C825-A0E7-E45FC0ED02C1}"/>
              </a:ext>
              <a:ext uri="{C183D7F6-B498-43B3-948B-1728B52AA6E4}">
                <adec:decorative xmlns:adec="http://schemas.microsoft.com/office/drawing/2017/decorative" val="1"/>
              </a:ext>
            </a:extLst>
          </p:cNvPr>
          <p:cNvSpPr txBox="1"/>
          <p:nvPr/>
        </p:nvSpPr>
        <p:spPr>
          <a:xfrm>
            <a:off x="5035246" y="1738886"/>
            <a:ext cx="6215646" cy="414353"/>
          </a:xfrm>
          <a:prstGeom prst="rect">
            <a:avLst/>
          </a:prstGeom>
          <a:noFill/>
        </p:spPr>
        <p:txBody>
          <a:bodyPr wrap="square">
            <a:spAutoFit/>
          </a:bodyPr>
          <a:lstStyle/>
          <a:p>
            <a:r>
              <a:rPr lang="en-US" sz="2040">
                <a:latin typeface="Segoe UI Semibold" panose="020B0702040204020203" pitchFamily="34" charset="0"/>
                <a:cs typeface="Segoe UI Semibold" panose="020B0702040204020203" pitchFamily="34" charset="0"/>
              </a:rPr>
              <a:t>Job Skills</a:t>
            </a:r>
            <a:endParaRPr lang="en-US" sz="2040"/>
          </a:p>
        </p:txBody>
      </p:sp>
    </p:spTree>
    <p:extLst>
      <p:ext uri="{BB962C8B-B14F-4D97-AF65-F5344CB8AC3E}">
        <p14:creationId xmlns:p14="http://schemas.microsoft.com/office/powerpoint/2010/main" val="2597760610"/>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E2FD1-4409-4A36-8762-91B1800FD6C9}"/>
              </a:ext>
            </a:extLst>
          </p:cNvPr>
          <p:cNvSpPr>
            <a:spLocks noGrp="1"/>
          </p:cNvSpPr>
          <p:nvPr>
            <p:ph type="title"/>
          </p:nvPr>
        </p:nvSpPr>
        <p:spPr/>
        <p:txBody>
          <a:bodyPr/>
          <a:lstStyle/>
          <a:p>
            <a:r>
              <a:rPr lang="en-US" sz="3264"/>
              <a:t>Lab 09a – Web App Architecture Diagram</a:t>
            </a:r>
          </a:p>
        </p:txBody>
      </p:sp>
      <p:grpSp>
        <p:nvGrpSpPr>
          <p:cNvPr id="66" name="Group 65" descr="Architecture diagram for the web app lab tasks. ">
            <a:extLst>
              <a:ext uri="{FF2B5EF4-FFF2-40B4-BE49-F238E27FC236}">
                <a16:creationId xmlns:a16="http://schemas.microsoft.com/office/drawing/2014/main" id="{50B0A846-6791-C3D2-3716-97A19AC8CA6D}"/>
              </a:ext>
            </a:extLst>
          </p:cNvPr>
          <p:cNvGrpSpPr/>
          <p:nvPr/>
        </p:nvGrpSpPr>
        <p:grpSpPr>
          <a:xfrm>
            <a:off x="2148695" y="1497814"/>
            <a:ext cx="7965004" cy="4361569"/>
            <a:chOff x="2105891" y="1468579"/>
            <a:chExt cx="7809536" cy="4276436"/>
          </a:xfrm>
        </p:grpSpPr>
        <p:grpSp>
          <p:nvGrpSpPr>
            <p:cNvPr id="60" name="Group 59">
              <a:extLst>
                <a:ext uri="{FF2B5EF4-FFF2-40B4-BE49-F238E27FC236}">
                  <a16:creationId xmlns:a16="http://schemas.microsoft.com/office/drawing/2014/main" id="{E6E22C82-FAAB-750C-4FCD-9341233EF807}"/>
                </a:ext>
              </a:extLst>
            </p:cNvPr>
            <p:cNvGrpSpPr/>
            <p:nvPr/>
          </p:nvGrpSpPr>
          <p:grpSpPr>
            <a:xfrm>
              <a:off x="7489044" y="3635913"/>
              <a:ext cx="2255707" cy="1885711"/>
              <a:chOff x="4427564" y="3751883"/>
              <a:chExt cx="2255707" cy="1885711"/>
            </a:xfrm>
          </p:grpSpPr>
          <p:sp>
            <p:nvSpPr>
              <p:cNvPr id="58" name="Rectangle 57">
                <a:extLst>
                  <a:ext uri="{FF2B5EF4-FFF2-40B4-BE49-F238E27FC236}">
                    <a16:creationId xmlns:a16="http://schemas.microsoft.com/office/drawing/2014/main" id="{39728179-2896-9852-FB42-ACCA16E8A43B}"/>
                  </a:ext>
                </a:extLst>
              </p:cNvPr>
              <p:cNvSpPr/>
              <p:nvPr/>
            </p:nvSpPr>
            <p:spPr bwMode="auto">
              <a:xfrm>
                <a:off x="4427564" y="3751883"/>
                <a:ext cx="2255707" cy="1885711"/>
              </a:xfrm>
              <a:prstGeom prst="rect">
                <a:avLst/>
              </a:prstGeom>
              <a:solidFill>
                <a:schemeClr val="bg1">
                  <a:lumMod val="9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60" tIns="143408" rIns="179260" bIns="143408" numCol="1" spcCol="0" rtlCol="0" fromWordArt="0" anchor="t" anchorCtr="0" forceAA="0" compatLnSpc="1">
                <a:prstTxWarp prst="textNoShape">
                  <a:avLst/>
                </a:prstTxWarp>
                <a:noAutofit/>
              </a:bodyPr>
              <a:lstStyle/>
              <a:p>
                <a:pPr algn="ctr" defTabSz="913926" fontAlgn="base">
                  <a:lnSpc>
                    <a:spcPct val="90000"/>
                  </a:lnSpc>
                  <a:spcBef>
                    <a:spcPct val="0"/>
                  </a:spcBef>
                  <a:spcAft>
                    <a:spcPct val="0"/>
                  </a:spcAft>
                </a:pPr>
                <a:endParaRPr lang="en-US" sz="1632">
                  <a:solidFill>
                    <a:schemeClr val="tx1"/>
                  </a:solidFill>
                  <a:cs typeface="Segoe UI" pitchFamily="34" charset="0"/>
                </a:endParaRPr>
              </a:p>
            </p:txBody>
          </p:sp>
          <p:pic>
            <p:nvPicPr>
              <p:cNvPr id="38" name="Graphic 37">
                <a:extLst>
                  <a:ext uri="{FF2B5EF4-FFF2-40B4-BE49-F238E27FC236}">
                    <a16:creationId xmlns:a16="http://schemas.microsoft.com/office/drawing/2014/main" id="{8776E298-2F7F-4996-B5A3-6F05BD97980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20804" y="4274838"/>
                <a:ext cx="476158" cy="432182"/>
              </a:xfrm>
              <a:prstGeom prst="rect">
                <a:avLst/>
              </a:prstGeom>
            </p:spPr>
          </p:pic>
          <p:sp>
            <p:nvSpPr>
              <p:cNvPr id="39" name="TextBox 38">
                <a:extLst>
                  <a:ext uri="{FF2B5EF4-FFF2-40B4-BE49-F238E27FC236}">
                    <a16:creationId xmlns:a16="http://schemas.microsoft.com/office/drawing/2014/main" id="{FFD3C7CA-25A8-4DBB-AFDA-F1DE92FEEDB0}"/>
                  </a:ext>
                </a:extLst>
              </p:cNvPr>
              <p:cNvSpPr txBox="1"/>
              <p:nvPr/>
            </p:nvSpPr>
            <p:spPr>
              <a:xfrm>
                <a:off x="5059016" y="4122245"/>
                <a:ext cx="1552849" cy="594650"/>
              </a:xfrm>
              <a:prstGeom prst="rect">
                <a:avLst/>
              </a:prstGeom>
              <a:noFill/>
            </p:spPr>
            <p:txBody>
              <a:bodyPr wrap="square">
                <a:spAutoFit/>
              </a:bodyPr>
              <a:lstStyle/>
              <a:p>
                <a:r>
                  <a:rPr lang="fr-FR" sz="1632"/>
                  <a:t>App Service Plan</a:t>
                </a:r>
              </a:p>
            </p:txBody>
          </p:sp>
          <p:sp>
            <p:nvSpPr>
              <p:cNvPr id="59" name="TextBox 58">
                <a:extLst>
                  <a:ext uri="{FF2B5EF4-FFF2-40B4-BE49-F238E27FC236}">
                    <a16:creationId xmlns:a16="http://schemas.microsoft.com/office/drawing/2014/main" id="{4B2C246F-6F27-B932-303B-9EB230E5FA99}"/>
                  </a:ext>
                </a:extLst>
              </p:cNvPr>
              <p:cNvSpPr txBox="1"/>
              <p:nvPr/>
            </p:nvSpPr>
            <p:spPr>
              <a:xfrm>
                <a:off x="4466277" y="3816370"/>
                <a:ext cx="785212" cy="343492"/>
              </a:xfrm>
              <a:prstGeom prst="rect">
                <a:avLst/>
              </a:prstGeom>
              <a:noFill/>
            </p:spPr>
            <p:txBody>
              <a:bodyPr wrap="square">
                <a:spAutoFit/>
              </a:bodyPr>
              <a:lstStyle/>
              <a:p>
                <a:r>
                  <a:rPr lang="en-GB" sz="1632" b="1">
                    <a:solidFill>
                      <a:srgbClr val="1A605E"/>
                    </a:solidFill>
                  </a:rPr>
                  <a:t>Task</a:t>
                </a:r>
                <a:r>
                  <a:rPr lang="fr-FR" sz="1632" b="1">
                    <a:solidFill>
                      <a:srgbClr val="1A605E"/>
                    </a:solidFill>
                  </a:rPr>
                  <a:t> 5</a:t>
                </a:r>
              </a:p>
            </p:txBody>
          </p:sp>
        </p:grpSp>
        <p:sp>
          <p:nvSpPr>
            <p:cNvPr id="57" name="Rectangle 56">
              <a:extLst>
                <a:ext uri="{FF2B5EF4-FFF2-40B4-BE49-F238E27FC236}">
                  <a16:creationId xmlns:a16="http://schemas.microsoft.com/office/drawing/2014/main" id="{705B242D-A22A-7D22-2019-590502ED5B9B}"/>
                </a:ext>
              </a:extLst>
            </p:cNvPr>
            <p:cNvSpPr/>
            <p:nvPr/>
          </p:nvSpPr>
          <p:spPr bwMode="auto">
            <a:xfrm>
              <a:off x="4620354" y="4416723"/>
              <a:ext cx="2255707" cy="1104901"/>
            </a:xfrm>
            <a:prstGeom prst="rect">
              <a:avLst/>
            </a:prstGeom>
            <a:solidFill>
              <a:schemeClr val="bg1">
                <a:lumMod val="9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60" tIns="143408" rIns="179260" bIns="143408" numCol="1" spcCol="0" rtlCol="0" fromWordArt="0" anchor="t" anchorCtr="0" forceAA="0" compatLnSpc="1">
              <a:prstTxWarp prst="textNoShape">
                <a:avLst/>
              </a:prstTxWarp>
              <a:noAutofit/>
            </a:bodyPr>
            <a:lstStyle/>
            <a:p>
              <a:pPr algn="ctr" defTabSz="913926" fontAlgn="base">
                <a:lnSpc>
                  <a:spcPct val="90000"/>
                </a:lnSpc>
                <a:spcBef>
                  <a:spcPct val="0"/>
                </a:spcBef>
                <a:spcAft>
                  <a:spcPct val="0"/>
                </a:spcAft>
              </a:pPr>
              <a:endParaRPr lang="en-US" sz="1632">
                <a:solidFill>
                  <a:schemeClr val="tx1"/>
                </a:solidFill>
                <a:cs typeface="Segoe UI" pitchFamily="34" charset="0"/>
              </a:endParaRPr>
            </a:p>
          </p:txBody>
        </p:sp>
        <p:sp>
          <p:nvSpPr>
            <p:cNvPr id="47" name="Rectangle 46">
              <a:extLst>
                <a:ext uri="{FF2B5EF4-FFF2-40B4-BE49-F238E27FC236}">
                  <a16:creationId xmlns:a16="http://schemas.microsoft.com/office/drawing/2014/main" id="{E1D0B0BB-AF2B-19AA-13B2-DF28F062F409}"/>
                </a:ext>
              </a:extLst>
            </p:cNvPr>
            <p:cNvSpPr/>
            <p:nvPr/>
          </p:nvSpPr>
          <p:spPr bwMode="auto">
            <a:xfrm>
              <a:off x="4612048" y="1915808"/>
              <a:ext cx="2258269" cy="1091479"/>
            </a:xfrm>
            <a:prstGeom prst="rect">
              <a:avLst/>
            </a:prstGeom>
            <a:solidFill>
              <a:schemeClr val="bg1">
                <a:lumMod val="9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60" tIns="143408" rIns="179260" bIns="143408" numCol="1" spcCol="0" rtlCol="0" fromWordArt="0" anchor="t" anchorCtr="0" forceAA="0" compatLnSpc="1">
              <a:prstTxWarp prst="textNoShape">
                <a:avLst/>
              </a:prstTxWarp>
              <a:noAutofit/>
            </a:bodyPr>
            <a:lstStyle/>
            <a:p>
              <a:pPr algn="ctr" defTabSz="913926" fontAlgn="base">
                <a:lnSpc>
                  <a:spcPct val="90000"/>
                </a:lnSpc>
                <a:spcBef>
                  <a:spcPct val="0"/>
                </a:spcBef>
                <a:spcAft>
                  <a:spcPct val="0"/>
                </a:spcAft>
              </a:pPr>
              <a:endParaRPr lang="en-US" sz="1632">
                <a:solidFill>
                  <a:schemeClr val="tx1"/>
                </a:solidFill>
                <a:cs typeface="Segoe UI" pitchFamily="34" charset="0"/>
              </a:endParaRPr>
            </a:p>
          </p:txBody>
        </p:sp>
        <p:sp>
          <p:nvSpPr>
            <p:cNvPr id="16" name="TextBox 15">
              <a:extLst>
                <a:ext uri="{FF2B5EF4-FFF2-40B4-BE49-F238E27FC236}">
                  <a16:creationId xmlns:a16="http://schemas.microsoft.com/office/drawing/2014/main" id="{FC928326-120B-4EE2-B11F-A95751CD5D80}"/>
                </a:ext>
              </a:extLst>
            </p:cNvPr>
            <p:cNvSpPr txBox="1"/>
            <p:nvPr/>
          </p:nvSpPr>
          <p:spPr>
            <a:xfrm>
              <a:off x="5140135" y="2281393"/>
              <a:ext cx="1644865" cy="343492"/>
            </a:xfrm>
            <a:prstGeom prst="rect">
              <a:avLst/>
            </a:prstGeom>
            <a:noFill/>
          </p:spPr>
          <p:txBody>
            <a:bodyPr wrap="square">
              <a:spAutoFit/>
            </a:bodyPr>
            <a:lstStyle/>
            <a:p>
              <a:r>
                <a:rPr lang="en-US" sz="1632"/>
                <a:t>Production slot</a:t>
              </a:r>
            </a:p>
          </p:txBody>
        </p:sp>
        <p:sp>
          <p:nvSpPr>
            <p:cNvPr id="25" name="TextBox 24">
              <a:extLst>
                <a:ext uri="{FF2B5EF4-FFF2-40B4-BE49-F238E27FC236}">
                  <a16:creationId xmlns:a16="http://schemas.microsoft.com/office/drawing/2014/main" id="{095951D2-C602-49B2-8ED2-A35F63FF4C00}"/>
                </a:ext>
              </a:extLst>
            </p:cNvPr>
            <p:cNvSpPr txBox="1"/>
            <p:nvPr/>
          </p:nvSpPr>
          <p:spPr>
            <a:xfrm>
              <a:off x="4682325" y="4434028"/>
              <a:ext cx="785212" cy="343492"/>
            </a:xfrm>
            <a:prstGeom prst="rect">
              <a:avLst/>
            </a:prstGeom>
            <a:noFill/>
          </p:spPr>
          <p:txBody>
            <a:bodyPr wrap="square">
              <a:spAutoFit/>
            </a:bodyPr>
            <a:lstStyle/>
            <a:p>
              <a:r>
                <a:rPr lang="fr-FR" sz="1632" b="1">
                  <a:solidFill>
                    <a:srgbClr val="1A605E"/>
                  </a:solidFill>
                </a:rPr>
                <a:t>Task 3</a:t>
              </a:r>
            </a:p>
          </p:txBody>
        </p:sp>
        <p:pic>
          <p:nvPicPr>
            <p:cNvPr id="26" name="Graphic 25">
              <a:extLst>
                <a:ext uri="{FF2B5EF4-FFF2-40B4-BE49-F238E27FC236}">
                  <a16:creationId xmlns:a16="http://schemas.microsoft.com/office/drawing/2014/main" id="{8692FDD0-655E-4B34-8157-77C337FE4FB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787994" y="4836993"/>
              <a:ext cx="588821" cy="534440"/>
            </a:xfrm>
            <a:prstGeom prst="rect">
              <a:avLst/>
            </a:prstGeom>
          </p:spPr>
        </p:pic>
        <p:sp>
          <p:nvSpPr>
            <p:cNvPr id="31" name="TextBox 30">
              <a:extLst>
                <a:ext uri="{FF2B5EF4-FFF2-40B4-BE49-F238E27FC236}">
                  <a16:creationId xmlns:a16="http://schemas.microsoft.com/office/drawing/2014/main" id="{1199704D-1EB4-4240-855D-D23F0D655975}"/>
                </a:ext>
              </a:extLst>
            </p:cNvPr>
            <p:cNvSpPr txBox="1"/>
            <p:nvPr/>
          </p:nvSpPr>
          <p:spPr>
            <a:xfrm>
              <a:off x="5180887" y="4836993"/>
              <a:ext cx="1800364" cy="594650"/>
            </a:xfrm>
            <a:prstGeom prst="rect">
              <a:avLst/>
            </a:prstGeom>
            <a:noFill/>
          </p:spPr>
          <p:txBody>
            <a:bodyPr wrap="square">
              <a:spAutoFit/>
            </a:bodyPr>
            <a:lstStyle/>
            <a:p>
              <a:pPr algn="ctr"/>
              <a:r>
                <a:rPr lang="en-US" sz="1632"/>
                <a:t>External</a:t>
              </a:r>
              <a:r>
                <a:rPr lang="fr-FR" sz="1632"/>
                <a:t> git</a:t>
              </a:r>
            </a:p>
            <a:p>
              <a:pPr algn="ctr"/>
              <a:r>
                <a:rPr lang="fr-FR" sz="1632"/>
                <a:t>Hello world!</a:t>
              </a:r>
            </a:p>
          </p:txBody>
        </p:sp>
        <p:pic>
          <p:nvPicPr>
            <p:cNvPr id="40" name="Picture 39">
              <a:extLst>
                <a:ext uri="{FF2B5EF4-FFF2-40B4-BE49-F238E27FC236}">
                  <a16:creationId xmlns:a16="http://schemas.microsoft.com/office/drawing/2014/main" id="{42F640E5-829A-4EE9-A0F1-61FF359341B6}"/>
                </a:ext>
              </a:extLst>
            </p:cNvPr>
            <p:cNvPicPr>
              <a:picLocks noChangeAspect="1"/>
            </p:cNvPicPr>
            <p:nvPr/>
          </p:nvPicPr>
          <p:blipFill>
            <a:blip r:embed="rId7"/>
            <a:stretch>
              <a:fillRect/>
            </a:stretch>
          </p:blipFill>
          <p:spPr>
            <a:xfrm>
              <a:off x="7648147" y="4790168"/>
              <a:ext cx="438565" cy="432181"/>
            </a:xfrm>
            <a:prstGeom prst="rect">
              <a:avLst/>
            </a:prstGeom>
          </p:spPr>
        </p:pic>
        <p:sp>
          <p:nvSpPr>
            <p:cNvPr id="41" name="TextBox 40">
              <a:extLst>
                <a:ext uri="{FF2B5EF4-FFF2-40B4-BE49-F238E27FC236}">
                  <a16:creationId xmlns:a16="http://schemas.microsoft.com/office/drawing/2014/main" id="{8B6E3248-0D0E-4925-AF98-AA15ACBD0587}"/>
                </a:ext>
              </a:extLst>
            </p:cNvPr>
            <p:cNvSpPr txBox="1"/>
            <p:nvPr/>
          </p:nvSpPr>
          <p:spPr>
            <a:xfrm>
              <a:off x="8118812" y="4676785"/>
              <a:ext cx="1391603" cy="594650"/>
            </a:xfrm>
            <a:prstGeom prst="rect">
              <a:avLst/>
            </a:prstGeom>
            <a:noFill/>
          </p:spPr>
          <p:txBody>
            <a:bodyPr wrap="square">
              <a:spAutoFit/>
            </a:bodyPr>
            <a:lstStyle/>
            <a:p>
              <a:r>
                <a:rPr lang="fr-FR" sz="1632"/>
                <a:t>Autoscale rule</a:t>
              </a:r>
            </a:p>
          </p:txBody>
        </p:sp>
        <p:grpSp>
          <p:nvGrpSpPr>
            <p:cNvPr id="46" name="Group 45">
              <a:extLst>
                <a:ext uri="{FF2B5EF4-FFF2-40B4-BE49-F238E27FC236}">
                  <a16:creationId xmlns:a16="http://schemas.microsoft.com/office/drawing/2014/main" id="{4CEDBCF3-EDA7-3ACC-12C3-B5DD975FF0D8}"/>
                </a:ext>
              </a:extLst>
            </p:cNvPr>
            <p:cNvGrpSpPr/>
            <p:nvPr/>
          </p:nvGrpSpPr>
          <p:grpSpPr>
            <a:xfrm>
              <a:off x="2247704" y="3101545"/>
              <a:ext cx="2255707" cy="2420079"/>
              <a:chOff x="955534" y="1946124"/>
              <a:chExt cx="2255707" cy="2239573"/>
            </a:xfrm>
          </p:grpSpPr>
          <p:sp>
            <p:nvSpPr>
              <p:cNvPr id="13" name="Rectangle 12">
                <a:extLst>
                  <a:ext uri="{FF2B5EF4-FFF2-40B4-BE49-F238E27FC236}">
                    <a16:creationId xmlns:a16="http://schemas.microsoft.com/office/drawing/2014/main" id="{FB87317F-0C93-45F6-BA74-16E9E22E664F}"/>
                  </a:ext>
                </a:extLst>
              </p:cNvPr>
              <p:cNvSpPr/>
              <p:nvPr/>
            </p:nvSpPr>
            <p:spPr bwMode="auto">
              <a:xfrm>
                <a:off x="955534" y="1963524"/>
                <a:ext cx="2255707" cy="2222173"/>
              </a:xfrm>
              <a:prstGeom prst="rect">
                <a:avLst/>
              </a:prstGeom>
              <a:solidFill>
                <a:schemeClr val="bg1">
                  <a:lumMod val="9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60" tIns="143408" rIns="179260" bIns="143408" numCol="1" spcCol="0" rtlCol="0" fromWordArt="0" anchor="t" anchorCtr="0" forceAA="0" compatLnSpc="1">
                <a:prstTxWarp prst="textNoShape">
                  <a:avLst/>
                </a:prstTxWarp>
                <a:noAutofit/>
              </a:bodyPr>
              <a:lstStyle/>
              <a:p>
                <a:pPr algn="ctr" defTabSz="913926" fontAlgn="base">
                  <a:lnSpc>
                    <a:spcPct val="90000"/>
                  </a:lnSpc>
                  <a:spcBef>
                    <a:spcPct val="0"/>
                  </a:spcBef>
                  <a:spcAft>
                    <a:spcPct val="0"/>
                  </a:spcAft>
                </a:pPr>
                <a:endParaRPr lang="en-US" sz="1632">
                  <a:solidFill>
                    <a:schemeClr val="tx1"/>
                  </a:solidFill>
                  <a:cs typeface="Segoe UI" pitchFamily="34" charset="0"/>
                </a:endParaRPr>
              </a:p>
            </p:txBody>
          </p:sp>
          <p:sp>
            <p:nvSpPr>
              <p:cNvPr id="10" name="TextBox 9">
                <a:extLst>
                  <a:ext uri="{FF2B5EF4-FFF2-40B4-BE49-F238E27FC236}">
                    <a16:creationId xmlns:a16="http://schemas.microsoft.com/office/drawing/2014/main" id="{D96FF274-E51B-4E1F-8507-54D2A51A4832}"/>
                  </a:ext>
                </a:extLst>
              </p:cNvPr>
              <p:cNvSpPr txBox="1"/>
              <p:nvPr/>
            </p:nvSpPr>
            <p:spPr>
              <a:xfrm>
                <a:off x="984403" y="1946124"/>
                <a:ext cx="839641" cy="317872"/>
              </a:xfrm>
              <a:prstGeom prst="rect">
                <a:avLst/>
              </a:prstGeom>
              <a:noFill/>
            </p:spPr>
            <p:txBody>
              <a:bodyPr wrap="square">
                <a:spAutoFit/>
              </a:bodyPr>
              <a:lstStyle/>
              <a:p>
                <a:r>
                  <a:rPr lang="en-US" sz="1632" b="1">
                    <a:solidFill>
                      <a:srgbClr val="1A605E"/>
                    </a:solidFill>
                  </a:rPr>
                  <a:t>Task 1</a:t>
                </a:r>
              </a:p>
            </p:txBody>
          </p:sp>
          <p:pic>
            <p:nvPicPr>
              <p:cNvPr id="12" name="Graphic 11">
                <a:extLst>
                  <a:ext uri="{FF2B5EF4-FFF2-40B4-BE49-F238E27FC236}">
                    <a16:creationId xmlns:a16="http://schemas.microsoft.com/office/drawing/2014/main" id="{58411945-0D70-4324-A3A9-CCE9DB1C918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737937" y="2224746"/>
                <a:ext cx="475714" cy="431779"/>
              </a:xfrm>
              <a:prstGeom prst="rect">
                <a:avLst/>
              </a:prstGeom>
            </p:spPr>
          </p:pic>
          <p:sp>
            <p:nvSpPr>
              <p:cNvPr id="14" name="TextBox 13">
                <a:extLst>
                  <a:ext uri="{FF2B5EF4-FFF2-40B4-BE49-F238E27FC236}">
                    <a16:creationId xmlns:a16="http://schemas.microsoft.com/office/drawing/2014/main" id="{63F04105-0E47-4E9F-B134-28F9E79C739E}"/>
                  </a:ext>
                </a:extLst>
              </p:cNvPr>
              <p:cNvSpPr txBox="1"/>
              <p:nvPr/>
            </p:nvSpPr>
            <p:spPr>
              <a:xfrm>
                <a:off x="1379597" y="2639067"/>
                <a:ext cx="1391603" cy="317872"/>
              </a:xfrm>
              <a:prstGeom prst="rect">
                <a:avLst/>
              </a:prstGeom>
              <a:noFill/>
            </p:spPr>
            <p:txBody>
              <a:bodyPr wrap="square">
                <a:spAutoFit/>
              </a:bodyPr>
              <a:lstStyle/>
              <a:p>
                <a:r>
                  <a:rPr lang="en-US" sz="1632"/>
                  <a:t>App Service</a:t>
                </a:r>
              </a:p>
            </p:txBody>
          </p:sp>
          <p:pic>
            <p:nvPicPr>
              <p:cNvPr id="4" name="Graphic 3">
                <a:extLst>
                  <a:ext uri="{FF2B5EF4-FFF2-40B4-BE49-F238E27FC236}">
                    <a16:creationId xmlns:a16="http://schemas.microsoft.com/office/drawing/2014/main" id="{B70655A5-B609-9411-74A1-716B1AAB452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713329" y="3084525"/>
                <a:ext cx="512981" cy="512982"/>
              </a:xfrm>
              <a:prstGeom prst="rect">
                <a:avLst/>
              </a:prstGeom>
            </p:spPr>
          </p:pic>
          <p:sp>
            <p:nvSpPr>
              <p:cNvPr id="45" name="TextBox 44">
                <a:extLst>
                  <a:ext uri="{FF2B5EF4-FFF2-40B4-BE49-F238E27FC236}">
                    <a16:creationId xmlns:a16="http://schemas.microsoft.com/office/drawing/2014/main" id="{57F3F170-F820-5792-C6EA-FBA3F05C0FBD}"/>
                  </a:ext>
                </a:extLst>
              </p:cNvPr>
              <p:cNvSpPr txBox="1"/>
              <p:nvPr/>
            </p:nvSpPr>
            <p:spPr>
              <a:xfrm>
                <a:off x="1379597" y="3595442"/>
                <a:ext cx="1138081" cy="317872"/>
              </a:xfrm>
              <a:prstGeom prst="rect">
                <a:avLst/>
              </a:prstGeom>
              <a:noFill/>
            </p:spPr>
            <p:txBody>
              <a:bodyPr wrap="square">
                <a:spAutoFit/>
              </a:bodyPr>
              <a:lstStyle/>
              <a:p>
                <a:r>
                  <a:rPr lang="en-US" sz="1632"/>
                  <a:t>Web App</a:t>
                </a:r>
              </a:p>
            </p:txBody>
          </p:sp>
        </p:grpSp>
        <p:sp>
          <p:nvSpPr>
            <p:cNvPr id="49" name="Rectangle 48">
              <a:extLst>
                <a:ext uri="{FF2B5EF4-FFF2-40B4-BE49-F238E27FC236}">
                  <a16:creationId xmlns:a16="http://schemas.microsoft.com/office/drawing/2014/main" id="{9920C6F1-F403-6134-C0EA-C431EF5F23D5}"/>
                </a:ext>
              </a:extLst>
            </p:cNvPr>
            <p:cNvSpPr/>
            <p:nvPr/>
          </p:nvSpPr>
          <p:spPr bwMode="auto">
            <a:xfrm>
              <a:off x="4618245" y="3138173"/>
              <a:ext cx="2255707" cy="1027344"/>
            </a:xfrm>
            <a:prstGeom prst="rect">
              <a:avLst/>
            </a:prstGeom>
            <a:solidFill>
              <a:schemeClr val="bg1">
                <a:lumMod val="9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60" tIns="143408" rIns="179260" bIns="143408" numCol="1" spcCol="0" rtlCol="0" fromWordArt="0" anchor="t" anchorCtr="0" forceAA="0" compatLnSpc="1">
              <a:prstTxWarp prst="textNoShape">
                <a:avLst/>
              </a:prstTxWarp>
              <a:noAutofit/>
            </a:bodyPr>
            <a:lstStyle/>
            <a:p>
              <a:pPr algn="ctr" defTabSz="913926" fontAlgn="base">
                <a:lnSpc>
                  <a:spcPct val="90000"/>
                </a:lnSpc>
                <a:spcBef>
                  <a:spcPct val="0"/>
                </a:spcBef>
                <a:spcAft>
                  <a:spcPct val="0"/>
                </a:spcAft>
              </a:pPr>
              <a:endParaRPr lang="en-US" sz="1632">
                <a:solidFill>
                  <a:schemeClr val="tx1"/>
                </a:solidFill>
                <a:cs typeface="Segoe UI" pitchFamily="34" charset="0"/>
              </a:endParaRPr>
            </a:p>
          </p:txBody>
        </p:sp>
        <p:sp>
          <p:nvSpPr>
            <p:cNvPr id="50" name="TextBox 49">
              <a:extLst>
                <a:ext uri="{FF2B5EF4-FFF2-40B4-BE49-F238E27FC236}">
                  <a16:creationId xmlns:a16="http://schemas.microsoft.com/office/drawing/2014/main" id="{2FB3C4C6-42B5-E7DA-C93A-FA3557BEF917}"/>
                </a:ext>
              </a:extLst>
            </p:cNvPr>
            <p:cNvSpPr txBox="1"/>
            <p:nvPr/>
          </p:nvSpPr>
          <p:spPr>
            <a:xfrm>
              <a:off x="5193422" y="3608171"/>
              <a:ext cx="1644865" cy="343492"/>
            </a:xfrm>
            <a:prstGeom prst="rect">
              <a:avLst/>
            </a:prstGeom>
            <a:noFill/>
          </p:spPr>
          <p:txBody>
            <a:bodyPr wrap="square">
              <a:spAutoFit/>
            </a:bodyPr>
            <a:lstStyle/>
            <a:p>
              <a:r>
                <a:rPr lang="en-US" sz="1632"/>
                <a:t>Staging slot</a:t>
              </a:r>
            </a:p>
          </p:txBody>
        </p:sp>
        <p:sp>
          <p:nvSpPr>
            <p:cNvPr id="51" name="TextBox 50">
              <a:extLst>
                <a:ext uri="{FF2B5EF4-FFF2-40B4-BE49-F238E27FC236}">
                  <a16:creationId xmlns:a16="http://schemas.microsoft.com/office/drawing/2014/main" id="{617FB6D0-7052-0A77-82D5-BC76C56B4566}"/>
                </a:ext>
              </a:extLst>
            </p:cNvPr>
            <p:cNvSpPr txBox="1"/>
            <p:nvPr/>
          </p:nvSpPr>
          <p:spPr>
            <a:xfrm>
              <a:off x="4659011" y="3148211"/>
              <a:ext cx="839641" cy="343492"/>
            </a:xfrm>
            <a:prstGeom prst="rect">
              <a:avLst/>
            </a:prstGeom>
            <a:noFill/>
          </p:spPr>
          <p:txBody>
            <a:bodyPr wrap="square">
              <a:spAutoFit/>
            </a:bodyPr>
            <a:lstStyle/>
            <a:p>
              <a:r>
                <a:rPr lang="en-US" sz="1632" b="1">
                  <a:solidFill>
                    <a:srgbClr val="1A605E"/>
                  </a:solidFill>
                </a:rPr>
                <a:t>Task 2</a:t>
              </a:r>
            </a:p>
          </p:txBody>
        </p:sp>
        <p:pic>
          <p:nvPicPr>
            <p:cNvPr id="52" name="Graphic 51">
              <a:extLst>
                <a:ext uri="{FF2B5EF4-FFF2-40B4-BE49-F238E27FC236}">
                  <a16:creationId xmlns:a16="http://schemas.microsoft.com/office/drawing/2014/main" id="{7C412B1A-0269-C0FC-389B-6607DB786E20}"/>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779301" y="3539281"/>
              <a:ext cx="453846" cy="411931"/>
            </a:xfrm>
            <a:prstGeom prst="rect">
              <a:avLst/>
            </a:prstGeom>
          </p:spPr>
        </p:pic>
        <p:sp>
          <p:nvSpPr>
            <p:cNvPr id="53" name="TextBox 52">
              <a:extLst>
                <a:ext uri="{FF2B5EF4-FFF2-40B4-BE49-F238E27FC236}">
                  <a16:creationId xmlns:a16="http://schemas.microsoft.com/office/drawing/2014/main" id="{493C7DEE-78DD-33B5-C275-B1059DA70C84}"/>
                </a:ext>
              </a:extLst>
            </p:cNvPr>
            <p:cNvSpPr txBox="1"/>
            <p:nvPr/>
          </p:nvSpPr>
          <p:spPr>
            <a:xfrm>
              <a:off x="7180448" y="2762991"/>
              <a:ext cx="839641" cy="343492"/>
            </a:xfrm>
            <a:prstGeom prst="rect">
              <a:avLst/>
            </a:prstGeom>
            <a:noFill/>
          </p:spPr>
          <p:txBody>
            <a:bodyPr wrap="square">
              <a:spAutoFit/>
            </a:bodyPr>
            <a:lstStyle/>
            <a:p>
              <a:r>
                <a:rPr lang="en-US" sz="1632" b="1">
                  <a:solidFill>
                    <a:srgbClr val="1A605E"/>
                  </a:solidFill>
                </a:rPr>
                <a:t>Task 4</a:t>
              </a:r>
            </a:p>
          </p:txBody>
        </p:sp>
        <p:sp>
          <p:nvSpPr>
            <p:cNvPr id="55" name="TextBox 54">
              <a:extLst>
                <a:ext uri="{FF2B5EF4-FFF2-40B4-BE49-F238E27FC236}">
                  <a16:creationId xmlns:a16="http://schemas.microsoft.com/office/drawing/2014/main" id="{BA838788-D8A2-B0C4-0EE7-A24810177418}"/>
                </a:ext>
              </a:extLst>
            </p:cNvPr>
            <p:cNvSpPr txBox="1"/>
            <p:nvPr/>
          </p:nvSpPr>
          <p:spPr>
            <a:xfrm>
              <a:off x="7206782" y="3042362"/>
              <a:ext cx="839641" cy="343492"/>
            </a:xfrm>
            <a:prstGeom prst="rect">
              <a:avLst/>
            </a:prstGeom>
            <a:noFill/>
          </p:spPr>
          <p:txBody>
            <a:bodyPr wrap="square">
              <a:spAutoFit/>
            </a:bodyPr>
            <a:lstStyle/>
            <a:p>
              <a:r>
                <a:rPr lang="en-US" sz="1632"/>
                <a:t>Swap</a:t>
              </a:r>
            </a:p>
          </p:txBody>
        </p:sp>
        <p:sp>
          <p:nvSpPr>
            <p:cNvPr id="56" name="Left Bracket 55">
              <a:extLst>
                <a:ext uri="{FF2B5EF4-FFF2-40B4-BE49-F238E27FC236}">
                  <a16:creationId xmlns:a16="http://schemas.microsoft.com/office/drawing/2014/main" id="{F365249E-5FCD-CABD-D405-4BE9E4117F9C}"/>
                </a:ext>
              </a:extLst>
            </p:cNvPr>
            <p:cNvSpPr/>
            <p:nvPr/>
          </p:nvSpPr>
          <p:spPr>
            <a:xfrm flipH="1">
              <a:off x="6847618" y="2464947"/>
              <a:ext cx="332830" cy="1280300"/>
            </a:xfrm>
            <a:prstGeom prst="leftBracket">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32"/>
            </a:p>
          </p:txBody>
        </p:sp>
        <p:cxnSp>
          <p:nvCxnSpPr>
            <p:cNvPr id="62" name="Straight Arrow Connector 61">
              <a:extLst>
                <a:ext uri="{FF2B5EF4-FFF2-40B4-BE49-F238E27FC236}">
                  <a16:creationId xmlns:a16="http://schemas.microsoft.com/office/drawing/2014/main" id="{3C33EC1F-B673-024A-A4F5-1CC45261528E}"/>
                </a:ext>
              </a:extLst>
            </p:cNvPr>
            <p:cNvCxnSpPr>
              <a:cxnSpLocks/>
              <a:stCxn id="57" idx="0"/>
              <a:endCxn id="49" idx="2"/>
            </p:cNvCxnSpPr>
            <p:nvPr/>
          </p:nvCxnSpPr>
          <p:spPr>
            <a:xfrm flipH="1" flipV="1">
              <a:off x="5746099" y="4165517"/>
              <a:ext cx="2109" cy="251206"/>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65" name="Rectangle 64">
              <a:extLst>
                <a:ext uri="{FF2B5EF4-FFF2-40B4-BE49-F238E27FC236}">
                  <a16:creationId xmlns:a16="http://schemas.microsoft.com/office/drawing/2014/main" id="{189E439A-28F7-954D-8DB6-5EB40DBA2978}"/>
                </a:ext>
              </a:extLst>
            </p:cNvPr>
            <p:cNvSpPr/>
            <p:nvPr/>
          </p:nvSpPr>
          <p:spPr bwMode="auto">
            <a:xfrm>
              <a:off x="2105891" y="1623310"/>
              <a:ext cx="7809536" cy="4121705"/>
            </a:xfrm>
            <a:prstGeom prst="rect">
              <a:avLst/>
            </a:prstGeom>
            <a:no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algn="ctr" defTabSz="951028" fontAlgn="base">
                <a:lnSpc>
                  <a:spcPct val="90000"/>
                </a:lnSpc>
                <a:spcBef>
                  <a:spcPct val="0"/>
                </a:spcBef>
                <a:spcAft>
                  <a:spcPct val="0"/>
                </a:spcAft>
              </a:pPr>
              <a:endParaRPr lang="en-US" sz="1632">
                <a:gradFill>
                  <a:gsLst>
                    <a:gs pos="0">
                      <a:srgbClr val="FFFFFF"/>
                    </a:gs>
                    <a:gs pos="100000">
                      <a:srgbClr val="FFFFFF"/>
                    </a:gs>
                  </a:gsLst>
                  <a:lin ang="5400000" scaled="0"/>
                </a:gradFill>
                <a:ea typeface="Segoe UI" pitchFamily="34" charset="0"/>
                <a:cs typeface="Segoe UI" pitchFamily="34" charset="0"/>
              </a:endParaRPr>
            </a:p>
          </p:txBody>
        </p:sp>
        <p:grpSp>
          <p:nvGrpSpPr>
            <p:cNvPr id="64" name="Group 63">
              <a:extLst>
                <a:ext uri="{FF2B5EF4-FFF2-40B4-BE49-F238E27FC236}">
                  <a16:creationId xmlns:a16="http://schemas.microsoft.com/office/drawing/2014/main" id="{F5AB1776-A427-970F-E49A-6F7F4DA5865F}"/>
                </a:ext>
              </a:extLst>
            </p:cNvPr>
            <p:cNvGrpSpPr/>
            <p:nvPr/>
          </p:nvGrpSpPr>
          <p:grpSpPr>
            <a:xfrm>
              <a:off x="2197901" y="1468579"/>
              <a:ext cx="1972883" cy="346015"/>
              <a:chOff x="955534" y="1581875"/>
              <a:chExt cx="1972883" cy="346015"/>
            </a:xfrm>
          </p:grpSpPr>
          <p:sp>
            <p:nvSpPr>
              <p:cNvPr id="11" name="TextBox 10">
                <a:extLst>
                  <a:ext uri="{FF2B5EF4-FFF2-40B4-BE49-F238E27FC236}">
                    <a16:creationId xmlns:a16="http://schemas.microsoft.com/office/drawing/2014/main" id="{98B7421D-D63E-4656-BDC8-0C3449580D1F}"/>
                  </a:ext>
                </a:extLst>
              </p:cNvPr>
              <p:cNvSpPr txBox="1"/>
              <p:nvPr/>
            </p:nvSpPr>
            <p:spPr>
              <a:xfrm>
                <a:off x="955534" y="1581875"/>
                <a:ext cx="1972883" cy="343492"/>
              </a:xfrm>
              <a:prstGeom prst="rect">
                <a:avLst/>
              </a:prstGeom>
              <a:solidFill>
                <a:schemeClr val="bg1"/>
              </a:solidFill>
            </p:spPr>
            <p:txBody>
              <a:bodyPr wrap="square">
                <a:spAutoFit/>
              </a:bodyPr>
              <a:lstStyle/>
              <a:p>
                <a:pPr algn="r"/>
                <a:r>
                  <a:rPr lang="fr-FR" sz="1632"/>
                  <a:t>az104-09a-rg9a</a:t>
                </a:r>
              </a:p>
            </p:txBody>
          </p:sp>
          <p:pic>
            <p:nvPicPr>
              <p:cNvPr id="9" name="Graphic 8">
                <a:extLst>
                  <a:ext uri="{FF2B5EF4-FFF2-40B4-BE49-F238E27FC236}">
                    <a16:creationId xmlns:a16="http://schemas.microsoft.com/office/drawing/2014/main" id="{CB1B966D-AF9A-4EF0-9835-0483AB7E511B}"/>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55534" y="1592996"/>
                <a:ext cx="368970" cy="334894"/>
              </a:xfrm>
              <a:prstGeom prst="rect">
                <a:avLst/>
              </a:prstGeom>
            </p:spPr>
          </p:pic>
        </p:grpSp>
        <p:pic>
          <p:nvPicPr>
            <p:cNvPr id="15" name="Graphic 14">
              <a:extLst>
                <a:ext uri="{FF2B5EF4-FFF2-40B4-BE49-F238E27FC236}">
                  <a16:creationId xmlns:a16="http://schemas.microsoft.com/office/drawing/2014/main" id="{B63EA9C9-375B-4A34-BF70-78A9DDCA9324}"/>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744687" y="2212503"/>
              <a:ext cx="453846" cy="411931"/>
            </a:xfrm>
            <a:prstGeom prst="rect">
              <a:avLst/>
            </a:prstGeom>
          </p:spPr>
        </p:pic>
      </p:grpSp>
    </p:spTree>
    <p:extLst>
      <p:ext uri="{BB962C8B-B14F-4D97-AF65-F5344CB8AC3E}">
        <p14:creationId xmlns:p14="http://schemas.microsoft.com/office/powerpoint/2010/main" val="2421558168"/>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FF64B-7715-4208-AD5E-FB08164F194B}"/>
              </a:ext>
            </a:extLst>
          </p:cNvPr>
          <p:cNvSpPr>
            <a:spLocks noGrp="1"/>
          </p:cNvSpPr>
          <p:nvPr>
            <p:ph type="title"/>
          </p:nvPr>
        </p:nvSpPr>
        <p:spPr>
          <a:xfrm>
            <a:off x="600855" y="525428"/>
            <a:ext cx="11701941" cy="502246"/>
          </a:xfrm>
        </p:spPr>
        <p:txBody>
          <a:bodyPr>
            <a:noAutofit/>
          </a:bodyPr>
          <a:lstStyle/>
          <a:p>
            <a:pPr>
              <a:lnSpc>
                <a:spcPct val="100000"/>
              </a:lnSpc>
            </a:pPr>
            <a:r>
              <a:rPr lang="en-US" spc="0"/>
              <a:t>Lab 09b – Implement Azure Container Instances</a:t>
            </a:r>
          </a:p>
        </p:txBody>
      </p:sp>
      <p:sp>
        <p:nvSpPr>
          <p:cNvPr id="3" name="Text Placeholder 2">
            <a:extLst>
              <a:ext uri="{FF2B5EF4-FFF2-40B4-BE49-F238E27FC236}">
                <a16:creationId xmlns:a16="http://schemas.microsoft.com/office/drawing/2014/main" id="{4943E2BF-E643-416A-879B-EBFC578CED04}"/>
              </a:ext>
            </a:extLst>
          </p:cNvPr>
          <p:cNvSpPr txBox="1">
            <a:spLocks/>
          </p:cNvSpPr>
          <p:nvPr/>
        </p:nvSpPr>
        <p:spPr>
          <a:xfrm>
            <a:off x="459724" y="2267157"/>
            <a:ext cx="3509294" cy="2260106"/>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800" spc="0">
                <a:solidFill>
                  <a:schemeClr val="tx1"/>
                </a:solidFill>
                <a:latin typeface="+mn-lt"/>
                <a:cs typeface="Segoe UI Semilight"/>
              </a:rPr>
              <a:t>In this lab, you learn how to implement Azure Container Instances.</a:t>
            </a:r>
          </a:p>
          <a:p>
            <a:endParaRPr lang="en-US" sz="1800" spc="0">
              <a:solidFill>
                <a:schemeClr val="tx1"/>
              </a:solidFill>
              <a:latin typeface="+mn-lt"/>
              <a:cs typeface="Segoe UI Semilight"/>
            </a:endParaRPr>
          </a:p>
          <a:p>
            <a:r>
              <a:rPr lang="en-US" sz="1800" spc="0">
                <a:solidFill>
                  <a:schemeClr val="tx1"/>
                </a:solidFill>
                <a:latin typeface="+mn-lt"/>
                <a:cs typeface="Segoe UI Semilight"/>
              </a:rPr>
              <a:t>You learn to deploy an Azure Container Instance to display a Hello World app.</a:t>
            </a:r>
          </a:p>
          <a:p>
            <a:endParaRPr lang="en-US" sz="1800" spc="0">
              <a:solidFill>
                <a:schemeClr val="tx1"/>
              </a:solidFill>
              <a:latin typeface="+mn-lt"/>
              <a:cs typeface="Segoe UI Semilight"/>
            </a:endParaRPr>
          </a:p>
        </p:txBody>
      </p:sp>
      <p:sp>
        <p:nvSpPr>
          <p:cNvPr id="12" name="Rectangle 11">
            <a:extLst>
              <a:ext uri="{FF2B5EF4-FFF2-40B4-BE49-F238E27FC236}">
                <a16:creationId xmlns:a16="http://schemas.microsoft.com/office/drawing/2014/main" id="{D7CB412E-13F0-4DAC-B2FD-C1B25454E0BD}"/>
              </a:ext>
              <a:ext uri="{C183D7F6-B498-43B3-948B-1728B52AA6E4}">
                <adec:decorative xmlns:adec="http://schemas.microsoft.com/office/drawing/2017/decorative" val="0"/>
              </a:ext>
            </a:extLst>
          </p:cNvPr>
          <p:cNvSpPr/>
          <p:nvPr/>
        </p:nvSpPr>
        <p:spPr bwMode="auto">
          <a:xfrm>
            <a:off x="5071840" y="2082131"/>
            <a:ext cx="6791236" cy="3664630"/>
          </a:xfrm>
          <a:prstGeom prst="rect">
            <a:avLst/>
          </a:prstGeom>
          <a:solidFill>
            <a:schemeClr val="bg1"/>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54" tIns="137141" rIns="182854" bIns="137141" numCol="1" spcCol="1270" anchor="t" anchorCtr="0">
            <a:noAutofit/>
          </a:bodyPr>
          <a:lstStyle/>
          <a:p>
            <a:pPr>
              <a:spcAft>
                <a:spcPts val="600"/>
              </a:spcAft>
              <a:buSzPct val="90000"/>
              <a:tabLst>
                <a:tab pos="231531" algn="l"/>
              </a:tabLst>
            </a:pPr>
            <a:r>
              <a:rPr lang="en-US" sz="2040">
                <a:solidFill>
                  <a:schemeClr val="tx1"/>
                </a:solidFill>
                <a:latin typeface="+mj-lt"/>
                <a:cs typeface="Segoe UI Semilight"/>
              </a:rPr>
              <a:t>Task 1: </a:t>
            </a:r>
            <a:r>
              <a:rPr lang="en-US" sz="2040">
                <a:solidFill>
                  <a:schemeClr val="tx1"/>
                </a:solidFill>
                <a:cs typeface="Segoe UI Semilight"/>
              </a:rPr>
              <a:t>Deploy an Azure Container Instance using a Docker image.</a:t>
            </a:r>
          </a:p>
          <a:p>
            <a:pPr>
              <a:spcAft>
                <a:spcPts val="600"/>
              </a:spcAft>
              <a:buSzPct val="90000"/>
              <a:tabLst>
                <a:tab pos="231531" algn="l"/>
              </a:tabLst>
            </a:pPr>
            <a:r>
              <a:rPr lang="en-US" sz="2040">
                <a:solidFill>
                  <a:schemeClr val="tx1"/>
                </a:solidFill>
                <a:latin typeface="+mj-lt"/>
                <a:cs typeface="Segoe UI Semilight"/>
              </a:rPr>
              <a:t>Task 2: </a:t>
            </a:r>
            <a:r>
              <a:rPr lang="en-US" sz="2040">
                <a:solidFill>
                  <a:schemeClr val="tx1"/>
                </a:solidFill>
                <a:cs typeface="Segoe UI Semilight"/>
              </a:rPr>
              <a:t>Test and verify deployment of an Azure Container Instance.</a:t>
            </a:r>
          </a:p>
          <a:p>
            <a:pPr>
              <a:spcAft>
                <a:spcPts val="600"/>
              </a:spcAft>
              <a:buSzPct val="90000"/>
            </a:pPr>
            <a:endParaRPr lang="en-US" sz="2040">
              <a:solidFill>
                <a:schemeClr val="tx1"/>
              </a:solidFill>
              <a:cs typeface="Segoe UI Semilight"/>
            </a:endParaRPr>
          </a:p>
        </p:txBody>
      </p:sp>
      <p:sp>
        <p:nvSpPr>
          <p:cNvPr id="5" name="Text Placeholder 2">
            <a:extLst>
              <a:ext uri="{FF2B5EF4-FFF2-40B4-BE49-F238E27FC236}">
                <a16:creationId xmlns:a16="http://schemas.microsoft.com/office/drawing/2014/main" id="{9793AA3D-2C36-4BAD-B7EE-86044295246B}"/>
              </a:ext>
              <a:ext uri="{C183D7F6-B498-43B3-948B-1728B52AA6E4}">
                <adec:decorative xmlns:adec="http://schemas.microsoft.com/office/drawing/2017/decorative" val="1"/>
              </a:ext>
            </a:extLst>
          </p:cNvPr>
          <p:cNvSpPr txBox="1">
            <a:spLocks/>
          </p:cNvSpPr>
          <p:nvPr/>
        </p:nvSpPr>
        <p:spPr>
          <a:xfrm>
            <a:off x="8251643" y="6126432"/>
            <a:ext cx="3408749" cy="246093"/>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599" spc="0">
                <a:solidFill>
                  <a:schemeClr val="tx1"/>
                </a:solidFill>
                <a:latin typeface="+mn-lt"/>
                <a:cs typeface="Segoe UI Semilight"/>
              </a:rPr>
              <a:t>Next slide for an architecture diagram </a:t>
            </a:r>
          </a:p>
        </p:txBody>
      </p:sp>
      <p:sp>
        <p:nvSpPr>
          <p:cNvPr id="6" name="arrow_15">
            <a:extLst>
              <a:ext uri="{FF2B5EF4-FFF2-40B4-BE49-F238E27FC236}">
                <a16:creationId xmlns:a16="http://schemas.microsoft.com/office/drawing/2014/main" id="{BC4D0DD0-166B-4347-82EA-C40693C2E6F5}"/>
              </a:ext>
              <a:ext uri="{C183D7F6-B498-43B3-948B-1728B52AA6E4}">
                <adec:decorative xmlns:adec="http://schemas.microsoft.com/office/drawing/2017/decorative" val="1"/>
              </a:ext>
            </a:extLst>
          </p:cNvPr>
          <p:cNvSpPr>
            <a:spLocks noChangeAspect="1" noEditPoints="1"/>
          </p:cNvSpPr>
          <p:nvPr/>
        </p:nvSpPr>
        <p:spPr bwMode="auto">
          <a:xfrm>
            <a:off x="11783228" y="6137089"/>
            <a:ext cx="225900" cy="224873"/>
          </a:xfrm>
          <a:custGeom>
            <a:avLst/>
            <a:gdLst>
              <a:gd name="T0" fmla="*/ 0 w 304"/>
              <a:gd name="T1" fmla="*/ 151 h 303"/>
              <a:gd name="T2" fmla="*/ 152 w 304"/>
              <a:gd name="T3" fmla="*/ 0 h 303"/>
              <a:gd name="T4" fmla="*/ 304 w 304"/>
              <a:gd name="T5" fmla="*/ 151 h 303"/>
              <a:gd name="T6" fmla="*/ 152 w 304"/>
              <a:gd name="T7" fmla="*/ 303 h 303"/>
              <a:gd name="T8" fmla="*/ 0 w 304"/>
              <a:gd name="T9" fmla="*/ 151 h 303"/>
              <a:gd name="T10" fmla="*/ 151 w 304"/>
              <a:gd name="T11" fmla="*/ 223 h 303"/>
              <a:gd name="T12" fmla="*/ 223 w 304"/>
              <a:gd name="T13" fmla="*/ 151 h 303"/>
              <a:gd name="T14" fmla="*/ 151 w 304"/>
              <a:gd name="T15" fmla="*/ 79 h 303"/>
              <a:gd name="T16" fmla="*/ 223 w 304"/>
              <a:gd name="T17" fmla="*/ 151 h 303"/>
              <a:gd name="T18" fmla="*/ 73 w 304"/>
              <a:gd name="T19" fmla="*/ 151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4" h="303">
                <a:moveTo>
                  <a:pt x="0" y="151"/>
                </a:moveTo>
                <a:cubicBezTo>
                  <a:pt x="0" y="68"/>
                  <a:pt x="68" y="0"/>
                  <a:pt x="152" y="0"/>
                </a:cubicBezTo>
                <a:cubicBezTo>
                  <a:pt x="236" y="0"/>
                  <a:pt x="304" y="68"/>
                  <a:pt x="304" y="151"/>
                </a:cubicBezTo>
                <a:cubicBezTo>
                  <a:pt x="304" y="235"/>
                  <a:pt x="236" y="303"/>
                  <a:pt x="152" y="303"/>
                </a:cubicBezTo>
                <a:cubicBezTo>
                  <a:pt x="68" y="303"/>
                  <a:pt x="0" y="235"/>
                  <a:pt x="0" y="151"/>
                </a:cubicBezTo>
                <a:close/>
                <a:moveTo>
                  <a:pt x="151" y="223"/>
                </a:moveTo>
                <a:cubicBezTo>
                  <a:pt x="223" y="151"/>
                  <a:pt x="223" y="151"/>
                  <a:pt x="223" y="151"/>
                </a:cubicBezTo>
                <a:cubicBezTo>
                  <a:pt x="151" y="79"/>
                  <a:pt x="151" y="79"/>
                  <a:pt x="151" y="79"/>
                </a:cubicBezTo>
                <a:moveTo>
                  <a:pt x="223" y="151"/>
                </a:moveTo>
                <a:cubicBezTo>
                  <a:pt x="73" y="151"/>
                  <a:pt x="73" y="151"/>
                  <a:pt x="73" y="151"/>
                </a:cubicBezTo>
              </a:path>
            </a:pathLst>
          </a:custGeom>
          <a:solidFill>
            <a:srgbClr val="FFFF00"/>
          </a:solidFill>
          <a:ln w="15875" cap="sq">
            <a:solidFill>
              <a:schemeClr val="tx1"/>
            </a:solidFill>
            <a:prstDash val="solid"/>
            <a:miter lim="800000"/>
            <a:headEnd/>
            <a:tailEnd/>
          </a:ln>
        </p:spPr>
        <p:txBody>
          <a:bodyPr vert="horz" wrap="square" lIns="91427" tIns="45713" rIns="91427" bIns="45713" numCol="1" anchor="t" anchorCtr="0" compatLnSpc="1">
            <a:prstTxWarp prst="textNoShape">
              <a:avLst/>
            </a:prstTxWarp>
          </a:bodyPr>
          <a:lstStyle/>
          <a:p>
            <a:endParaRPr lang="en-US" sz="900">
              <a:gradFill>
                <a:gsLst>
                  <a:gs pos="0">
                    <a:srgbClr val="505050"/>
                  </a:gs>
                  <a:gs pos="100000">
                    <a:srgbClr val="505050"/>
                  </a:gs>
                </a:gsLst>
                <a:lin ang="5400000" scaled="1"/>
              </a:gradFill>
            </a:endParaRPr>
          </a:p>
        </p:txBody>
      </p:sp>
      <p:sp>
        <p:nvSpPr>
          <p:cNvPr id="4" name="TextBox 3">
            <a:extLst>
              <a:ext uri="{FF2B5EF4-FFF2-40B4-BE49-F238E27FC236}">
                <a16:creationId xmlns:a16="http://schemas.microsoft.com/office/drawing/2014/main" id="{6B9B4D68-B4F2-B114-9F5E-DA790AF9D2A7}"/>
              </a:ext>
              <a:ext uri="{C183D7F6-B498-43B3-948B-1728B52AA6E4}">
                <adec:decorative xmlns:adec="http://schemas.microsoft.com/office/drawing/2017/decorative" val="1"/>
              </a:ext>
            </a:extLst>
          </p:cNvPr>
          <p:cNvSpPr txBox="1"/>
          <p:nvPr/>
        </p:nvSpPr>
        <p:spPr>
          <a:xfrm>
            <a:off x="5035246" y="1738886"/>
            <a:ext cx="6215646" cy="414353"/>
          </a:xfrm>
          <a:prstGeom prst="rect">
            <a:avLst/>
          </a:prstGeom>
          <a:noFill/>
        </p:spPr>
        <p:txBody>
          <a:bodyPr wrap="square">
            <a:spAutoFit/>
          </a:bodyPr>
          <a:lstStyle/>
          <a:p>
            <a:r>
              <a:rPr lang="en-US" sz="2040">
                <a:latin typeface="Segoe UI Semibold" panose="020B0702040204020203" pitchFamily="34" charset="0"/>
                <a:cs typeface="Segoe UI Semibold" panose="020B0702040204020203" pitchFamily="34" charset="0"/>
              </a:rPr>
              <a:t>Job Skills</a:t>
            </a:r>
            <a:endParaRPr lang="en-US" sz="2040"/>
          </a:p>
        </p:txBody>
      </p:sp>
    </p:spTree>
    <p:extLst>
      <p:ext uri="{BB962C8B-B14F-4D97-AF65-F5344CB8AC3E}">
        <p14:creationId xmlns:p14="http://schemas.microsoft.com/office/powerpoint/2010/main" val="1099413902"/>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15328-42D9-BB9C-8F25-A2579348AC0E}"/>
              </a:ext>
            </a:extLst>
          </p:cNvPr>
          <p:cNvSpPr>
            <a:spLocks noGrp="1"/>
          </p:cNvSpPr>
          <p:nvPr>
            <p:ph type="title"/>
          </p:nvPr>
        </p:nvSpPr>
        <p:spPr/>
        <p:txBody>
          <a:bodyPr/>
          <a:lstStyle/>
          <a:p>
            <a:r>
              <a:rPr lang="en-US" sz="3264"/>
              <a:t>Lab 09b – Azure Container Instances Diagram</a:t>
            </a:r>
          </a:p>
        </p:txBody>
      </p:sp>
      <p:grpSp>
        <p:nvGrpSpPr>
          <p:cNvPr id="45" name="Group 44" descr="Architecture diagram for the azure container instance lab tasks. ">
            <a:extLst>
              <a:ext uri="{FF2B5EF4-FFF2-40B4-BE49-F238E27FC236}">
                <a16:creationId xmlns:a16="http://schemas.microsoft.com/office/drawing/2014/main" id="{34B39FC7-B4D3-6D50-C3F4-1F94B504C6D9}"/>
              </a:ext>
            </a:extLst>
          </p:cNvPr>
          <p:cNvGrpSpPr/>
          <p:nvPr/>
        </p:nvGrpSpPr>
        <p:grpSpPr>
          <a:xfrm>
            <a:off x="3285270" y="2224056"/>
            <a:ext cx="5041077" cy="3120751"/>
            <a:chOff x="525208" y="2146197"/>
            <a:chExt cx="4615467" cy="2461857"/>
          </a:xfrm>
        </p:grpSpPr>
        <p:sp>
          <p:nvSpPr>
            <p:cNvPr id="32" name="Rectangle 31">
              <a:extLst>
                <a:ext uri="{FF2B5EF4-FFF2-40B4-BE49-F238E27FC236}">
                  <a16:creationId xmlns:a16="http://schemas.microsoft.com/office/drawing/2014/main" id="{006FADF8-C5F4-B0B5-CFCA-F16A8B25441A}"/>
                </a:ext>
              </a:extLst>
            </p:cNvPr>
            <p:cNvSpPr/>
            <p:nvPr/>
          </p:nvSpPr>
          <p:spPr bwMode="auto">
            <a:xfrm>
              <a:off x="525208" y="2146197"/>
              <a:ext cx="2458939" cy="2461857"/>
            </a:xfrm>
            <a:prstGeom prst="rect">
              <a:avLst/>
            </a:prstGeom>
            <a:no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60" tIns="143408" rIns="179260" bIns="143408" numCol="1" spcCol="0" rtlCol="0" fromWordArt="0" anchor="t" anchorCtr="0" forceAA="0" compatLnSpc="1">
              <a:prstTxWarp prst="textNoShape">
                <a:avLst/>
              </a:prstTxWarp>
              <a:noAutofit/>
            </a:bodyPr>
            <a:lstStyle/>
            <a:p>
              <a:pPr algn="ctr" defTabSz="913926" fontAlgn="base">
                <a:lnSpc>
                  <a:spcPct val="90000"/>
                </a:lnSpc>
                <a:spcBef>
                  <a:spcPct val="0"/>
                </a:spcBef>
                <a:spcAft>
                  <a:spcPct val="0"/>
                </a:spcAft>
              </a:pPr>
              <a:endParaRPr lang="fr-FR" sz="1632">
                <a:gradFill>
                  <a:gsLst>
                    <a:gs pos="0">
                      <a:srgbClr val="FFFFFF"/>
                    </a:gs>
                    <a:gs pos="100000">
                      <a:srgbClr val="FFFFFF"/>
                    </a:gs>
                  </a:gsLst>
                  <a:lin ang="5400000" scaled="0"/>
                </a:gradFill>
                <a:ea typeface="Segoe UI" pitchFamily="34" charset="0"/>
                <a:cs typeface="Segoe UI" pitchFamily="34" charset="0"/>
              </a:endParaRPr>
            </a:p>
          </p:txBody>
        </p:sp>
        <p:sp>
          <p:nvSpPr>
            <p:cNvPr id="34" name="TextBox 33">
              <a:extLst>
                <a:ext uri="{FF2B5EF4-FFF2-40B4-BE49-F238E27FC236}">
                  <a16:creationId xmlns:a16="http://schemas.microsoft.com/office/drawing/2014/main" id="{A6969523-D487-A257-79EB-7740023B6418}"/>
                </a:ext>
              </a:extLst>
            </p:cNvPr>
            <p:cNvSpPr txBox="1"/>
            <p:nvPr/>
          </p:nvSpPr>
          <p:spPr>
            <a:xfrm>
              <a:off x="525208" y="2187967"/>
              <a:ext cx="1110286" cy="276364"/>
            </a:xfrm>
            <a:prstGeom prst="rect">
              <a:avLst/>
            </a:prstGeom>
            <a:noFill/>
          </p:spPr>
          <p:txBody>
            <a:bodyPr wrap="square">
              <a:spAutoFit/>
            </a:bodyPr>
            <a:lstStyle/>
            <a:p>
              <a:r>
                <a:rPr lang="fr-FR" sz="1632" b="1">
                  <a:solidFill>
                    <a:schemeClr val="tx2">
                      <a:lumMod val="50000"/>
                    </a:schemeClr>
                  </a:solidFill>
                </a:rPr>
                <a:t>Task 1</a:t>
              </a:r>
            </a:p>
          </p:txBody>
        </p:sp>
        <p:sp>
          <p:nvSpPr>
            <p:cNvPr id="36" name="Rectangle 35">
              <a:extLst>
                <a:ext uri="{FF2B5EF4-FFF2-40B4-BE49-F238E27FC236}">
                  <a16:creationId xmlns:a16="http://schemas.microsoft.com/office/drawing/2014/main" id="{AFECEEC0-4D46-02D2-7069-7BE0284C8A3C}"/>
                </a:ext>
              </a:extLst>
            </p:cNvPr>
            <p:cNvSpPr/>
            <p:nvPr/>
          </p:nvSpPr>
          <p:spPr bwMode="auto">
            <a:xfrm>
              <a:off x="695508" y="2857804"/>
              <a:ext cx="2165738" cy="1458626"/>
            </a:xfrm>
            <a:prstGeom prst="rect">
              <a:avLst/>
            </a:prstGeom>
            <a:solidFill>
              <a:schemeClr val="bg1">
                <a:lumMod val="9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60" tIns="143408" rIns="179260" bIns="143408" numCol="1" spcCol="0" rtlCol="0" fromWordArt="0" anchor="t" anchorCtr="0" forceAA="0" compatLnSpc="1">
              <a:prstTxWarp prst="textNoShape">
                <a:avLst/>
              </a:prstTxWarp>
              <a:noAutofit/>
            </a:bodyPr>
            <a:lstStyle/>
            <a:p>
              <a:pPr algn="ctr" defTabSz="913926" fontAlgn="base">
                <a:lnSpc>
                  <a:spcPct val="90000"/>
                </a:lnSpc>
                <a:spcBef>
                  <a:spcPct val="0"/>
                </a:spcBef>
                <a:spcAft>
                  <a:spcPct val="0"/>
                </a:spcAft>
              </a:pPr>
              <a:endParaRPr lang="fr-FR" sz="1632">
                <a:gradFill>
                  <a:gsLst>
                    <a:gs pos="0">
                      <a:srgbClr val="FFFFFF"/>
                    </a:gs>
                    <a:gs pos="100000">
                      <a:srgbClr val="FFFFFF"/>
                    </a:gs>
                  </a:gsLst>
                  <a:lin ang="5400000" scaled="0"/>
                </a:gradFill>
                <a:cs typeface="Segoe UI" pitchFamily="34" charset="0"/>
              </a:endParaRPr>
            </a:p>
          </p:txBody>
        </p:sp>
        <p:pic>
          <p:nvPicPr>
            <p:cNvPr id="37" name="Graphic 36">
              <a:extLst>
                <a:ext uri="{FF2B5EF4-FFF2-40B4-BE49-F238E27FC236}">
                  <a16:creationId xmlns:a16="http://schemas.microsoft.com/office/drawing/2014/main" id="{7918B60A-DA9B-2F0A-B4ED-6F3FC03CDA0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492060" y="3008373"/>
              <a:ext cx="601743" cy="558154"/>
            </a:xfrm>
            <a:prstGeom prst="rect">
              <a:avLst/>
            </a:prstGeom>
          </p:spPr>
        </p:pic>
        <p:sp>
          <p:nvSpPr>
            <p:cNvPr id="38" name="Rectangle 37">
              <a:extLst>
                <a:ext uri="{FF2B5EF4-FFF2-40B4-BE49-F238E27FC236}">
                  <a16:creationId xmlns:a16="http://schemas.microsoft.com/office/drawing/2014/main" id="{0D766F8A-CFF9-979B-E49E-3E7560FF6E01}"/>
                </a:ext>
              </a:extLst>
            </p:cNvPr>
            <p:cNvSpPr/>
            <p:nvPr/>
          </p:nvSpPr>
          <p:spPr bwMode="auto">
            <a:xfrm>
              <a:off x="3232948" y="2163707"/>
              <a:ext cx="1907727" cy="2444347"/>
            </a:xfrm>
            <a:prstGeom prst="rect">
              <a:avLst/>
            </a:prstGeom>
            <a:no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60" tIns="143408" rIns="179260" bIns="143408" numCol="1" spcCol="0" rtlCol="0" fromWordArt="0" anchor="t" anchorCtr="0" forceAA="0" compatLnSpc="1">
              <a:prstTxWarp prst="textNoShape">
                <a:avLst/>
              </a:prstTxWarp>
              <a:noAutofit/>
            </a:bodyPr>
            <a:lstStyle/>
            <a:p>
              <a:pPr algn="ctr" defTabSz="913926" fontAlgn="base">
                <a:lnSpc>
                  <a:spcPct val="90000"/>
                </a:lnSpc>
                <a:spcBef>
                  <a:spcPct val="0"/>
                </a:spcBef>
                <a:spcAft>
                  <a:spcPct val="0"/>
                </a:spcAft>
              </a:pPr>
              <a:endParaRPr lang="fr-FR" sz="1632">
                <a:gradFill>
                  <a:gsLst>
                    <a:gs pos="0">
                      <a:srgbClr val="FFFFFF"/>
                    </a:gs>
                    <a:gs pos="100000">
                      <a:srgbClr val="FFFFFF"/>
                    </a:gs>
                  </a:gsLst>
                  <a:lin ang="5400000" scaled="0"/>
                </a:gradFill>
                <a:ea typeface="Segoe UI" pitchFamily="34" charset="0"/>
                <a:cs typeface="Segoe UI" pitchFamily="34" charset="0"/>
              </a:endParaRPr>
            </a:p>
          </p:txBody>
        </p:sp>
        <p:sp>
          <p:nvSpPr>
            <p:cNvPr id="39" name="TextBox 38">
              <a:extLst>
                <a:ext uri="{FF2B5EF4-FFF2-40B4-BE49-F238E27FC236}">
                  <a16:creationId xmlns:a16="http://schemas.microsoft.com/office/drawing/2014/main" id="{239F1BDA-6342-CDEA-42F4-23F5A351371E}"/>
                </a:ext>
              </a:extLst>
            </p:cNvPr>
            <p:cNvSpPr txBox="1"/>
            <p:nvPr/>
          </p:nvSpPr>
          <p:spPr>
            <a:xfrm>
              <a:off x="3259612" y="2187967"/>
              <a:ext cx="1110286" cy="276364"/>
            </a:xfrm>
            <a:prstGeom prst="rect">
              <a:avLst/>
            </a:prstGeom>
            <a:noFill/>
          </p:spPr>
          <p:txBody>
            <a:bodyPr wrap="square">
              <a:spAutoFit/>
            </a:bodyPr>
            <a:lstStyle/>
            <a:p>
              <a:r>
                <a:rPr lang="fr-FR" sz="1632" b="1">
                  <a:solidFill>
                    <a:schemeClr val="tx2">
                      <a:lumMod val="50000"/>
                    </a:schemeClr>
                  </a:solidFill>
                </a:rPr>
                <a:t>Task 2</a:t>
              </a:r>
            </a:p>
          </p:txBody>
        </p:sp>
        <p:cxnSp>
          <p:nvCxnSpPr>
            <p:cNvPr id="40" name="Straight Arrow Connector 39">
              <a:extLst>
                <a:ext uri="{FF2B5EF4-FFF2-40B4-BE49-F238E27FC236}">
                  <a16:creationId xmlns:a16="http://schemas.microsoft.com/office/drawing/2014/main" id="{44F604B5-8ECE-A242-2387-EADF79742F5E}"/>
                </a:ext>
              </a:extLst>
            </p:cNvPr>
            <p:cNvCxnSpPr>
              <a:cxnSpLocks/>
            </p:cNvCxnSpPr>
            <p:nvPr/>
          </p:nvCxnSpPr>
          <p:spPr>
            <a:xfrm flipH="1">
              <a:off x="2177127" y="3396197"/>
              <a:ext cx="1304890" cy="0"/>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6B9DBC20-E734-A8FC-9291-B54F85F8E8CA}"/>
                </a:ext>
              </a:extLst>
            </p:cNvPr>
            <p:cNvSpPr txBox="1"/>
            <p:nvPr/>
          </p:nvSpPr>
          <p:spPr>
            <a:xfrm>
              <a:off x="764541" y="3689558"/>
              <a:ext cx="2165738" cy="276364"/>
            </a:xfrm>
            <a:prstGeom prst="rect">
              <a:avLst/>
            </a:prstGeom>
            <a:noFill/>
          </p:spPr>
          <p:txBody>
            <a:bodyPr wrap="square">
              <a:spAutoFit/>
            </a:bodyPr>
            <a:lstStyle/>
            <a:p>
              <a:r>
                <a:rPr lang="fr-FR" sz="1632"/>
                <a:t>Container Instance</a:t>
              </a:r>
            </a:p>
          </p:txBody>
        </p:sp>
        <p:sp>
          <p:nvSpPr>
            <p:cNvPr id="42" name="TextBox 41">
              <a:extLst>
                <a:ext uri="{FF2B5EF4-FFF2-40B4-BE49-F238E27FC236}">
                  <a16:creationId xmlns:a16="http://schemas.microsoft.com/office/drawing/2014/main" id="{A027B076-1C1A-DDC2-DEBB-DF5FB7254489}"/>
                </a:ext>
              </a:extLst>
            </p:cNvPr>
            <p:cNvSpPr txBox="1"/>
            <p:nvPr/>
          </p:nvSpPr>
          <p:spPr>
            <a:xfrm>
              <a:off x="3392000" y="3884669"/>
              <a:ext cx="1748675" cy="276364"/>
            </a:xfrm>
            <a:prstGeom prst="rect">
              <a:avLst/>
            </a:prstGeom>
            <a:noFill/>
          </p:spPr>
          <p:txBody>
            <a:bodyPr wrap="square">
              <a:spAutoFit/>
            </a:bodyPr>
            <a:lstStyle/>
            <a:p>
              <a:r>
                <a:rPr lang="fr-FR" sz="1632"/>
                <a:t>Test and </a:t>
              </a:r>
              <a:r>
                <a:rPr lang="en-US" sz="1632"/>
                <a:t>verify</a:t>
              </a:r>
            </a:p>
          </p:txBody>
        </p:sp>
        <p:pic>
          <p:nvPicPr>
            <p:cNvPr id="43" name="Picture 42">
              <a:extLst>
                <a:ext uri="{FF2B5EF4-FFF2-40B4-BE49-F238E27FC236}">
                  <a16:creationId xmlns:a16="http://schemas.microsoft.com/office/drawing/2014/main" id="{DC3A8A55-9DF2-70A0-D5D3-4341549313EB}"/>
                </a:ext>
              </a:extLst>
            </p:cNvPr>
            <p:cNvPicPr>
              <a:picLocks noChangeAspect="1"/>
            </p:cNvPicPr>
            <p:nvPr/>
          </p:nvPicPr>
          <p:blipFill>
            <a:blip r:embed="rId5"/>
            <a:stretch>
              <a:fillRect/>
            </a:stretch>
          </p:blipFill>
          <p:spPr>
            <a:xfrm>
              <a:off x="3482017" y="2585379"/>
              <a:ext cx="1393223" cy="1223953"/>
            </a:xfrm>
            <a:prstGeom prst="rect">
              <a:avLst/>
            </a:prstGeom>
          </p:spPr>
        </p:pic>
      </p:grpSp>
      <p:sp>
        <p:nvSpPr>
          <p:cNvPr id="46" name="TextBox 45">
            <a:extLst>
              <a:ext uri="{FF2B5EF4-FFF2-40B4-BE49-F238E27FC236}">
                <a16:creationId xmlns:a16="http://schemas.microsoft.com/office/drawing/2014/main" id="{EC0AE247-1532-65EC-CF27-2B73B305CBA7}"/>
              </a:ext>
            </a:extLst>
          </p:cNvPr>
          <p:cNvSpPr txBox="1"/>
          <p:nvPr/>
        </p:nvSpPr>
        <p:spPr>
          <a:xfrm>
            <a:off x="4286330" y="1627046"/>
            <a:ext cx="3312075" cy="560645"/>
          </a:xfrm>
          <a:prstGeom prst="rect">
            <a:avLst/>
          </a:prstGeom>
          <a:noFill/>
        </p:spPr>
        <p:txBody>
          <a:bodyPr wrap="none" lIns="186521" tIns="149217" rIns="186521" bIns="149217" rtlCol="0">
            <a:spAutoFit/>
          </a:bodyPr>
          <a:lstStyle/>
          <a:p>
            <a:pPr>
              <a:lnSpc>
                <a:spcPct val="90000"/>
              </a:lnSpc>
              <a:spcAft>
                <a:spcPts val="612"/>
              </a:spcAft>
            </a:pPr>
            <a:r>
              <a:rPr lang="en-US" sz="1836" b="1">
                <a:gradFill>
                  <a:gsLst>
                    <a:gs pos="2917">
                      <a:schemeClr val="tx1"/>
                    </a:gs>
                    <a:gs pos="30000">
                      <a:schemeClr val="tx1"/>
                    </a:gs>
                  </a:gsLst>
                  <a:lin ang="5400000" scaled="0"/>
                </a:gradFill>
              </a:rPr>
              <a:t>Azure Container Instances</a:t>
            </a:r>
          </a:p>
        </p:txBody>
      </p:sp>
    </p:spTree>
    <p:extLst>
      <p:ext uri="{BB962C8B-B14F-4D97-AF65-F5344CB8AC3E}">
        <p14:creationId xmlns:p14="http://schemas.microsoft.com/office/powerpoint/2010/main" val="3731032624"/>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35C06-02C1-6101-7240-F7887DCCD5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8A12D9-5DAE-54EF-6411-83AEF748F660}"/>
              </a:ext>
            </a:extLst>
          </p:cNvPr>
          <p:cNvSpPr>
            <a:spLocks noGrp="1"/>
          </p:cNvSpPr>
          <p:nvPr>
            <p:ph type="title"/>
          </p:nvPr>
        </p:nvSpPr>
        <p:spPr>
          <a:xfrm>
            <a:off x="600855" y="525428"/>
            <a:ext cx="11701941" cy="502246"/>
          </a:xfrm>
        </p:spPr>
        <p:txBody>
          <a:bodyPr>
            <a:noAutofit/>
          </a:bodyPr>
          <a:lstStyle/>
          <a:p>
            <a:pPr>
              <a:lnSpc>
                <a:spcPct val="100000"/>
              </a:lnSpc>
            </a:pPr>
            <a:r>
              <a:rPr lang="en-US" spc="0"/>
              <a:t>Lab 09c – Implement Azure Container Apps</a:t>
            </a:r>
          </a:p>
        </p:txBody>
      </p:sp>
      <p:sp>
        <p:nvSpPr>
          <p:cNvPr id="3" name="Text Placeholder 2">
            <a:extLst>
              <a:ext uri="{FF2B5EF4-FFF2-40B4-BE49-F238E27FC236}">
                <a16:creationId xmlns:a16="http://schemas.microsoft.com/office/drawing/2014/main" id="{BF857C8C-F905-55B0-A6C2-D8FD98161BAC}"/>
              </a:ext>
            </a:extLst>
          </p:cNvPr>
          <p:cNvSpPr txBox="1">
            <a:spLocks/>
          </p:cNvSpPr>
          <p:nvPr/>
        </p:nvSpPr>
        <p:spPr>
          <a:xfrm>
            <a:off x="459724" y="2267157"/>
            <a:ext cx="3509294" cy="1384995"/>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800" spc="0">
                <a:solidFill>
                  <a:schemeClr val="tx1"/>
                </a:solidFill>
                <a:latin typeface="+mn-lt"/>
                <a:cs typeface="Segoe UI Semilight"/>
              </a:rPr>
              <a:t>In this lab, you learn how to implement Azure Container Apps.</a:t>
            </a:r>
          </a:p>
          <a:p>
            <a:endParaRPr lang="en-US" sz="1800" spc="0">
              <a:solidFill>
                <a:schemeClr val="tx1"/>
              </a:solidFill>
              <a:latin typeface="+mn-lt"/>
              <a:cs typeface="Segoe UI Semilight"/>
            </a:endParaRPr>
          </a:p>
          <a:p>
            <a:r>
              <a:rPr lang="en-US" sz="1800" spc="0">
                <a:solidFill>
                  <a:schemeClr val="tx1"/>
                </a:solidFill>
                <a:latin typeface="+mn-lt"/>
                <a:cs typeface="Segoe UI Semilight"/>
              </a:rPr>
              <a:t>You learn to deploy the default Azure Container App.</a:t>
            </a:r>
            <a:endParaRPr lang="en-US" sz="1800" spc="0">
              <a:solidFill>
                <a:schemeClr val="tx1"/>
              </a:solidFill>
              <a:latin typeface="+mn-lt"/>
            </a:endParaRPr>
          </a:p>
        </p:txBody>
      </p:sp>
      <p:sp>
        <p:nvSpPr>
          <p:cNvPr id="12" name="Rectangle 11">
            <a:extLst>
              <a:ext uri="{FF2B5EF4-FFF2-40B4-BE49-F238E27FC236}">
                <a16:creationId xmlns:a16="http://schemas.microsoft.com/office/drawing/2014/main" id="{CCFC41CE-7BFA-0B6C-8D07-D9F4C2569931}"/>
              </a:ext>
              <a:ext uri="{C183D7F6-B498-43B3-948B-1728B52AA6E4}">
                <adec:decorative xmlns:adec="http://schemas.microsoft.com/office/drawing/2017/decorative" val="0"/>
              </a:ext>
            </a:extLst>
          </p:cNvPr>
          <p:cNvSpPr/>
          <p:nvPr/>
        </p:nvSpPr>
        <p:spPr bwMode="auto">
          <a:xfrm>
            <a:off x="5071840" y="2092379"/>
            <a:ext cx="6791236" cy="3664630"/>
          </a:xfrm>
          <a:prstGeom prst="rect">
            <a:avLst/>
          </a:prstGeom>
          <a:solidFill>
            <a:schemeClr val="bg1"/>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54" tIns="137141" rIns="182854" bIns="137141" numCol="1" spcCol="1270" anchor="t" anchorCtr="0">
            <a:noAutofit/>
          </a:bodyPr>
          <a:lstStyle/>
          <a:p>
            <a:pPr>
              <a:spcAft>
                <a:spcPts val="600"/>
              </a:spcAft>
              <a:buSzPct val="90000"/>
            </a:pPr>
            <a:r>
              <a:rPr lang="en-US" sz="2040">
                <a:solidFill>
                  <a:schemeClr val="tx1"/>
                </a:solidFill>
                <a:latin typeface="+mj-lt"/>
                <a:cs typeface="Segoe UI Semilight"/>
              </a:rPr>
              <a:t>Task 1</a:t>
            </a:r>
            <a:r>
              <a:rPr lang="en-US" sz="2040">
                <a:solidFill>
                  <a:schemeClr val="tx1"/>
                </a:solidFill>
                <a:cs typeface="Segoe UI Semilight"/>
              </a:rPr>
              <a:t>: Create and configure an Azure Container App and environment.</a:t>
            </a:r>
          </a:p>
          <a:p>
            <a:pPr>
              <a:spcAft>
                <a:spcPts val="600"/>
              </a:spcAft>
              <a:buSzPct val="90000"/>
            </a:pPr>
            <a:r>
              <a:rPr lang="en-US" sz="2040">
                <a:solidFill>
                  <a:schemeClr val="tx1"/>
                </a:solidFill>
                <a:latin typeface="+mj-lt"/>
                <a:cs typeface="Segoe UI Semilight"/>
              </a:rPr>
              <a:t>Task 2: </a:t>
            </a:r>
            <a:r>
              <a:rPr lang="en-US" sz="2040">
                <a:solidFill>
                  <a:srgbClr val="1F2328"/>
                </a:solidFill>
                <a:latin typeface="Segoe UI" panose="020B0502040204020203" pitchFamily="34" charset="0"/>
                <a:cs typeface="Segoe UI" panose="020B0502040204020203" pitchFamily="34" charset="0"/>
              </a:rPr>
              <a:t>Test and verify deployment of the Azure Container App.</a:t>
            </a:r>
            <a:endParaRPr lang="en-US" sz="2040">
              <a:solidFill>
                <a:schemeClr val="tx1"/>
              </a:solidFill>
              <a:cs typeface="Segoe UI Semilight"/>
            </a:endParaRPr>
          </a:p>
        </p:txBody>
      </p:sp>
      <p:sp>
        <p:nvSpPr>
          <p:cNvPr id="5" name="Text Placeholder 2">
            <a:extLst>
              <a:ext uri="{FF2B5EF4-FFF2-40B4-BE49-F238E27FC236}">
                <a16:creationId xmlns:a16="http://schemas.microsoft.com/office/drawing/2014/main" id="{13B2FE26-B127-4D4D-DC21-2D6B5D2BFFB7}"/>
              </a:ext>
              <a:ext uri="{C183D7F6-B498-43B3-948B-1728B52AA6E4}">
                <adec:decorative xmlns:adec="http://schemas.microsoft.com/office/drawing/2017/decorative" val="1"/>
              </a:ext>
            </a:extLst>
          </p:cNvPr>
          <p:cNvSpPr txBox="1">
            <a:spLocks/>
          </p:cNvSpPr>
          <p:nvPr/>
        </p:nvSpPr>
        <p:spPr>
          <a:xfrm>
            <a:off x="8251643" y="6126432"/>
            <a:ext cx="3408749" cy="246093"/>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599" spc="0">
                <a:solidFill>
                  <a:schemeClr val="tx1"/>
                </a:solidFill>
                <a:latin typeface="+mn-lt"/>
                <a:cs typeface="Segoe UI Semilight"/>
              </a:rPr>
              <a:t>Next slide for an architecture diagram </a:t>
            </a:r>
          </a:p>
        </p:txBody>
      </p:sp>
      <p:sp>
        <p:nvSpPr>
          <p:cNvPr id="6" name="arrow_15">
            <a:extLst>
              <a:ext uri="{FF2B5EF4-FFF2-40B4-BE49-F238E27FC236}">
                <a16:creationId xmlns:a16="http://schemas.microsoft.com/office/drawing/2014/main" id="{FA9A1187-DA42-3AA9-8CB0-16820AFF4797}"/>
              </a:ext>
              <a:ext uri="{C183D7F6-B498-43B3-948B-1728B52AA6E4}">
                <adec:decorative xmlns:adec="http://schemas.microsoft.com/office/drawing/2017/decorative" val="1"/>
              </a:ext>
            </a:extLst>
          </p:cNvPr>
          <p:cNvSpPr>
            <a:spLocks noChangeAspect="1" noEditPoints="1"/>
          </p:cNvSpPr>
          <p:nvPr/>
        </p:nvSpPr>
        <p:spPr bwMode="auto">
          <a:xfrm>
            <a:off x="11783228" y="6137089"/>
            <a:ext cx="225900" cy="224873"/>
          </a:xfrm>
          <a:custGeom>
            <a:avLst/>
            <a:gdLst>
              <a:gd name="T0" fmla="*/ 0 w 304"/>
              <a:gd name="T1" fmla="*/ 151 h 303"/>
              <a:gd name="T2" fmla="*/ 152 w 304"/>
              <a:gd name="T3" fmla="*/ 0 h 303"/>
              <a:gd name="T4" fmla="*/ 304 w 304"/>
              <a:gd name="T5" fmla="*/ 151 h 303"/>
              <a:gd name="T6" fmla="*/ 152 w 304"/>
              <a:gd name="T7" fmla="*/ 303 h 303"/>
              <a:gd name="T8" fmla="*/ 0 w 304"/>
              <a:gd name="T9" fmla="*/ 151 h 303"/>
              <a:gd name="T10" fmla="*/ 151 w 304"/>
              <a:gd name="T11" fmla="*/ 223 h 303"/>
              <a:gd name="T12" fmla="*/ 223 w 304"/>
              <a:gd name="T13" fmla="*/ 151 h 303"/>
              <a:gd name="T14" fmla="*/ 151 w 304"/>
              <a:gd name="T15" fmla="*/ 79 h 303"/>
              <a:gd name="T16" fmla="*/ 223 w 304"/>
              <a:gd name="T17" fmla="*/ 151 h 303"/>
              <a:gd name="T18" fmla="*/ 73 w 304"/>
              <a:gd name="T19" fmla="*/ 151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4" h="303">
                <a:moveTo>
                  <a:pt x="0" y="151"/>
                </a:moveTo>
                <a:cubicBezTo>
                  <a:pt x="0" y="68"/>
                  <a:pt x="68" y="0"/>
                  <a:pt x="152" y="0"/>
                </a:cubicBezTo>
                <a:cubicBezTo>
                  <a:pt x="236" y="0"/>
                  <a:pt x="304" y="68"/>
                  <a:pt x="304" y="151"/>
                </a:cubicBezTo>
                <a:cubicBezTo>
                  <a:pt x="304" y="235"/>
                  <a:pt x="236" y="303"/>
                  <a:pt x="152" y="303"/>
                </a:cubicBezTo>
                <a:cubicBezTo>
                  <a:pt x="68" y="303"/>
                  <a:pt x="0" y="235"/>
                  <a:pt x="0" y="151"/>
                </a:cubicBezTo>
                <a:close/>
                <a:moveTo>
                  <a:pt x="151" y="223"/>
                </a:moveTo>
                <a:cubicBezTo>
                  <a:pt x="223" y="151"/>
                  <a:pt x="223" y="151"/>
                  <a:pt x="223" y="151"/>
                </a:cubicBezTo>
                <a:cubicBezTo>
                  <a:pt x="151" y="79"/>
                  <a:pt x="151" y="79"/>
                  <a:pt x="151" y="79"/>
                </a:cubicBezTo>
                <a:moveTo>
                  <a:pt x="223" y="151"/>
                </a:moveTo>
                <a:cubicBezTo>
                  <a:pt x="73" y="151"/>
                  <a:pt x="73" y="151"/>
                  <a:pt x="73" y="151"/>
                </a:cubicBezTo>
              </a:path>
            </a:pathLst>
          </a:custGeom>
          <a:solidFill>
            <a:srgbClr val="FFFF00"/>
          </a:solidFill>
          <a:ln w="15875" cap="sq">
            <a:solidFill>
              <a:schemeClr val="tx1"/>
            </a:solidFill>
            <a:prstDash val="solid"/>
            <a:miter lim="800000"/>
            <a:headEnd/>
            <a:tailEnd/>
          </a:ln>
        </p:spPr>
        <p:txBody>
          <a:bodyPr vert="horz" wrap="square" lIns="91427" tIns="45713" rIns="91427" bIns="45713" numCol="1" anchor="t" anchorCtr="0" compatLnSpc="1">
            <a:prstTxWarp prst="textNoShape">
              <a:avLst/>
            </a:prstTxWarp>
          </a:bodyPr>
          <a:lstStyle/>
          <a:p>
            <a:endParaRPr lang="en-US" sz="900">
              <a:gradFill>
                <a:gsLst>
                  <a:gs pos="0">
                    <a:srgbClr val="505050"/>
                  </a:gs>
                  <a:gs pos="100000">
                    <a:srgbClr val="505050"/>
                  </a:gs>
                </a:gsLst>
                <a:lin ang="5400000" scaled="1"/>
              </a:gradFill>
            </a:endParaRPr>
          </a:p>
        </p:txBody>
      </p:sp>
      <p:sp>
        <p:nvSpPr>
          <p:cNvPr id="4" name="TextBox 3">
            <a:extLst>
              <a:ext uri="{FF2B5EF4-FFF2-40B4-BE49-F238E27FC236}">
                <a16:creationId xmlns:a16="http://schemas.microsoft.com/office/drawing/2014/main" id="{ABF116E3-CA62-3C48-F6AC-75A9A37B42A7}"/>
              </a:ext>
              <a:ext uri="{C183D7F6-B498-43B3-948B-1728B52AA6E4}">
                <adec:decorative xmlns:adec="http://schemas.microsoft.com/office/drawing/2017/decorative" val="1"/>
              </a:ext>
            </a:extLst>
          </p:cNvPr>
          <p:cNvSpPr txBox="1"/>
          <p:nvPr/>
        </p:nvSpPr>
        <p:spPr>
          <a:xfrm>
            <a:off x="5035246" y="1738886"/>
            <a:ext cx="6215646" cy="414353"/>
          </a:xfrm>
          <a:prstGeom prst="rect">
            <a:avLst/>
          </a:prstGeom>
          <a:noFill/>
        </p:spPr>
        <p:txBody>
          <a:bodyPr wrap="square">
            <a:spAutoFit/>
          </a:bodyPr>
          <a:lstStyle/>
          <a:p>
            <a:r>
              <a:rPr lang="en-US" sz="2040">
                <a:latin typeface="Segoe UI Semibold" panose="020B0702040204020203" pitchFamily="34" charset="0"/>
                <a:cs typeface="Segoe UI Semibold" panose="020B0702040204020203" pitchFamily="34" charset="0"/>
              </a:rPr>
              <a:t>Job Skills</a:t>
            </a:r>
            <a:endParaRPr lang="en-US" sz="2040"/>
          </a:p>
        </p:txBody>
      </p:sp>
    </p:spTree>
    <p:extLst>
      <p:ext uri="{BB962C8B-B14F-4D97-AF65-F5344CB8AC3E}">
        <p14:creationId xmlns:p14="http://schemas.microsoft.com/office/powerpoint/2010/main" val="428683346"/>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028FA3-44D9-7E4B-CE5B-E1534A8E09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BAE1ED-E076-7F42-E04E-AAC7AC621339}"/>
              </a:ext>
            </a:extLst>
          </p:cNvPr>
          <p:cNvSpPr>
            <a:spLocks noGrp="1"/>
          </p:cNvSpPr>
          <p:nvPr>
            <p:ph type="title"/>
          </p:nvPr>
        </p:nvSpPr>
        <p:spPr/>
        <p:txBody>
          <a:bodyPr/>
          <a:lstStyle/>
          <a:p>
            <a:r>
              <a:rPr lang="en-US" sz="3264"/>
              <a:t>Lab 09c – Azure Container Architecture Diagram</a:t>
            </a:r>
          </a:p>
        </p:txBody>
      </p:sp>
      <p:grpSp>
        <p:nvGrpSpPr>
          <p:cNvPr id="49" name="Group 48" descr="Architecture diagram for the azure container apps lab tasks. ">
            <a:extLst>
              <a:ext uri="{FF2B5EF4-FFF2-40B4-BE49-F238E27FC236}">
                <a16:creationId xmlns:a16="http://schemas.microsoft.com/office/drawing/2014/main" id="{CA9428CC-7DEB-71C7-129B-B59A093D5C0A}"/>
              </a:ext>
            </a:extLst>
          </p:cNvPr>
          <p:cNvGrpSpPr/>
          <p:nvPr/>
        </p:nvGrpSpPr>
        <p:grpSpPr>
          <a:xfrm>
            <a:off x="3215460" y="2298567"/>
            <a:ext cx="5304921" cy="3076985"/>
            <a:chOff x="6096000" y="2486534"/>
            <a:chExt cx="4918571" cy="2841990"/>
          </a:xfrm>
        </p:grpSpPr>
        <p:sp>
          <p:nvSpPr>
            <p:cNvPr id="4" name="Rectangle 3">
              <a:extLst>
                <a:ext uri="{FF2B5EF4-FFF2-40B4-BE49-F238E27FC236}">
                  <a16:creationId xmlns:a16="http://schemas.microsoft.com/office/drawing/2014/main" id="{819BE761-59CE-3F88-1908-3ECC6113455F}"/>
                </a:ext>
              </a:extLst>
            </p:cNvPr>
            <p:cNvSpPr/>
            <p:nvPr/>
          </p:nvSpPr>
          <p:spPr bwMode="auto">
            <a:xfrm>
              <a:off x="6096000" y="2486534"/>
              <a:ext cx="2602988" cy="2822058"/>
            </a:xfrm>
            <a:prstGeom prst="rect">
              <a:avLst/>
            </a:prstGeom>
            <a:no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60" tIns="143408" rIns="179260" bIns="143408" numCol="1" spcCol="0" rtlCol="0" fromWordArt="0" anchor="t" anchorCtr="0" forceAA="0" compatLnSpc="1">
              <a:prstTxWarp prst="textNoShape">
                <a:avLst/>
              </a:prstTxWarp>
              <a:noAutofit/>
            </a:bodyPr>
            <a:lstStyle/>
            <a:p>
              <a:pPr algn="ctr" defTabSz="913926" fontAlgn="base">
                <a:lnSpc>
                  <a:spcPct val="90000"/>
                </a:lnSpc>
                <a:spcBef>
                  <a:spcPct val="0"/>
                </a:spcBef>
                <a:spcAft>
                  <a:spcPct val="0"/>
                </a:spcAft>
              </a:pPr>
              <a:endParaRPr lang="fr-FR" sz="1632">
                <a:gradFill>
                  <a:gsLst>
                    <a:gs pos="0">
                      <a:srgbClr val="FFFFFF"/>
                    </a:gs>
                    <a:gs pos="100000">
                      <a:srgbClr val="FFFFFF"/>
                    </a:gs>
                  </a:gsLst>
                  <a:lin ang="5400000" scaled="0"/>
                </a:gradFill>
                <a:ea typeface="Segoe UI" pitchFamily="34" charset="0"/>
                <a:cs typeface="Segoe UI" pitchFamily="34" charset="0"/>
              </a:endParaRPr>
            </a:p>
          </p:txBody>
        </p:sp>
        <p:sp>
          <p:nvSpPr>
            <p:cNvPr id="6" name="TextBox 5">
              <a:extLst>
                <a:ext uri="{FF2B5EF4-FFF2-40B4-BE49-F238E27FC236}">
                  <a16:creationId xmlns:a16="http://schemas.microsoft.com/office/drawing/2014/main" id="{6CA43CDA-FA71-6BE9-5644-17A84442E5C3}"/>
                </a:ext>
              </a:extLst>
            </p:cNvPr>
            <p:cNvSpPr txBox="1"/>
            <p:nvPr/>
          </p:nvSpPr>
          <p:spPr>
            <a:xfrm>
              <a:off x="6147653" y="2496256"/>
              <a:ext cx="1052891" cy="323575"/>
            </a:xfrm>
            <a:prstGeom prst="rect">
              <a:avLst/>
            </a:prstGeom>
            <a:noFill/>
          </p:spPr>
          <p:txBody>
            <a:bodyPr wrap="square">
              <a:spAutoFit/>
            </a:bodyPr>
            <a:lstStyle/>
            <a:p>
              <a:r>
                <a:rPr lang="en-US" sz="1632" b="1">
                  <a:solidFill>
                    <a:schemeClr val="tx2">
                      <a:lumMod val="50000"/>
                    </a:schemeClr>
                  </a:solidFill>
                </a:rPr>
                <a:t>Task 1</a:t>
              </a:r>
            </a:p>
          </p:txBody>
        </p:sp>
        <p:sp>
          <p:nvSpPr>
            <p:cNvPr id="8" name="Rectangle 7">
              <a:extLst>
                <a:ext uri="{FF2B5EF4-FFF2-40B4-BE49-F238E27FC236}">
                  <a16:creationId xmlns:a16="http://schemas.microsoft.com/office/drawing/2014/main" id="{E93F63EA-6E75-5DE8-8403-F7DD356A9124}"/>
                </a:ext>
              </a:extLst>
            </p:cNvPr>
            <p:cNvSpPr/>
            <p:nvPr/>
          </p:nvSpPr>
          <p:spPr bwMode="auto">
            <a:xfrm>
              <a:off x="6326018" y="2918778"/>
              <a:ext cx="2119248" cy="2247322"/>
            </a:xfrm>
            <a:prstGeom prst="rect">
              <a:avLst/>
            </a:prstGeom>
            <a:solidFill>
              <a:schemeClr val="bg1">
                <a:lumMod val="9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60" tIns="143408" rIns="179260" bIns="143408" numCol="1" spcCol="0" rtlCol="0" fromWordArt="0" anchor="t" anchorCtr="0" forceAA="0" compatLnSpc="1">
              <a:prstTxWarp prst="textNoShape">
                <a:avLst/>
              </a:prstTxWarp>
              <a:noAutofit/>
            </a:bodyPr>
            <a:lstStyle/>
            <a:p>
              <a:pPr algn="ctr" defTabSz="913926" fontAlgn="base">
                <a:lnSpc>
                  <a:spcPct val="90000"/>
                </a:lnSpc>
                <a:spcBef>
                  <a:spcPct val="0"/>
                </a:spcBef>
                <a:spcAft>
                  <a:spcPct val="0"/>
                </a:spcAft>
              </a:pPr>
              <a:endParaRPr lang="fr-FR" sz="1632">
                <a:gradFill>
                  <a:gsLst>
                    <a:gs pos="0">
                      <a:srgbClr val="FFFFFF"/>
                    </a:gs>
                    <a:gs pos="100000">
                      <a:srgbClr val="FFFFFF"/>
                    </a:gs>
                  </a:gsLst>
                  <a:lin ang="5400000" scaled="0"/>
                </a:gradFill>
                <a:cs typeface="Segoe UI" pitchFamily="34" charset="0"/>
              </a:endParaRPr>
            </a:p>
          </p:txBody>
        </p:sp>
        <p:sp>
          <p:nvSpPr>
            <p:cNvPr id="11" name="Rectangle 10">
              <a:extLst>
                <a:ext uri="{FF2B5EF4-FFF2-40B4-BE49-F238E27FC236}">
                  <a16:creationId xmlns:a16="http://schemas.microsoft.com/office/drawing/2014/main" id="{0A816BB9-8BC3-DA58-B222-092E191A212E}"/>
                </a:ext>
              </a:extLst>
            </p:cNvPr>
            <p:cNvSpPr/>
            <p:nvPr/>
          </p:nvSpPr>
          <p:spPr bwMode="auto">
            <a:xfrm>
              <a:off x="8988240" y="2506467"/>
              <a:ext cx="2026331" cy="2822057"/>
            </a:xfrm>
            <a:prstGeom prst="rect">
              <a:avLst/>
            </a:prstGeom>
            <a:no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60" tIns="143408" rIns="179260" bIns="143408" numCol="1" spcCol="0" rtlCol="0" fromWordArt="0" anchor="t" anchorCtr="0" forceAA="0" compatLnSpc="1">
              <a:prstTxWarp prst="textNoShape">
                <a:avLst/>
              </a:prstTxWarp>
              <a:noAutofit/>
            </a:bodyPr>
            <a:lstStyle/>
            <a:p>
              <a:pPr algn="ctr" defTabSz="913926" fontAlgn="base">
                <a:lnSpc>
                  <a:spcPct val="90000"/>
                </a:lnSpc>
                <a:spcBef>
                  <a:spcPct val="0"/>
                </a:spcBef>
                <a:spcAft>
                  <a:spcPct val="0"/>
                </a:spcAft>
              </a:pPr>
              <a:endParaRPr lang="fr-FR" sz="1632">
                <a:gradFill>
                  <a:gsLst>
                    <a:gs pos="0">
                      <a:srgbClr val="FFFFFF"/>
                    </a:gs>
                    <a:gs pos="100000">
                      <a:srgbClr val="FFFFFF"/>
                    </a:gs>
                  </a:gsLst>
                  <a:lin ang="5400000" scaled="0"/>
                </a:gradFill>
                <a:ea typeface="Segoe UI" pitchFamily="34" charset="0"/>
                <a:cs typeface="Segoe UI" pitchFamily="34" charset="0"/>
              </a:endParaRPr>
            </a:p>
          </p:txBody>
        </p:sp>
        <p:sp>
          <p:nvSpPr>
            <p:cNvPr id="12" name="TextBox 11">
              <a:extLst>
                <a:ext uri="{FF2B5EF4-FFF2-40B4-BE49-F238E27FC236}">
                  <a16:creationId xmlns:a16="http://schemas.microsoft.com/office/drawing/2014/main" id="{46DC99B9-B824-58D7-5960-398EFC3BF19F}"/>
                </a:ext>
              </a:extLst>
            </p:cNvPr>
            <p:cNvSpPr txBox="1"/>
            <p:nvPr/>
          </p:nvSpPr>
          <p:spPr>
            <a:xfrm>
              <a:off x="8988240" y="2497534"/>
              <a:ext cx="1052891" cy="323575"/>
            </a:xfrm>
            <a:prstGeom prst="rect">
              <a:avLst/>
            </a:prstGeom>
            <a:noFill/>
          </p:spPr>
          <p:txBody>
            <a:bodyPr wrap="square">
              <a:spAutoFit/>
            </a:bodyPr>
            <a:lstStyle/>
            <a:p>
              <a:r>
                <a:rPr lang="en-US" sz="1632" b="1">
                  <a:solidFill>
                    <a:schemeClr val="tx2">
                      <a:lumMod val="50000"/>
                    </a:schemeClr>
                  </a:solidFill>
                </a:rPr>
                <a:t>Task 2</a:t>
              </a:r>
            </a:p>
          </p:txBody>
        </p:sp>
        <p:sp>
          <p:nvSpPr>
            <p:cNvPr id="14" name="TextBox 13">
              <a:extLst>
                <a:ext uri="{FF2B5EF4-FFF2-40B4-BE49-F238E27FC236}">
                  <a16:creationId xmlns:a16="http://schemas.microsoft.com/office/drawing/2014/main" id="{938BA3B9-8FAE-BEF0-CE5F-4DAD1442C135}"/>
                </a:ext>
              </a:extLst>
            </p:cNvPr>
            <p:cNvSpPr txBox="1"/>
            <p:nvPr/>
          </p:nvSpPr>
          <p:spPr>
            <a:xfrm>
              <a:off x="6674099" y="4788096"/>
              <a:ext cx="1705702" cy="323575"/>
            </a:xfrm>
            <a:prstGeom prst="rect">
              <a:avLst/>
            </a:prstGeom>
            <a:noFill/>
          </p:spPr>
          <p:txBody>
            <a:bodyPr wrap="square">
              <a:spAutoFit/>
            </a:bodyPr>
            <a:lstStyle/>
            <a:p>
              <a:r>
                <a:rPr lang="fr-FR" sz="1632"/>
                <a:t>Container App</a:t>
              </a:r>
            </a:p>
          </p:txBody>
        </p:sp>
        <p:sp>
          <p:nvSpPr>
            <p:cNvPr id="23" name="Rectangle 22">
              <a:extLst>
                <a:ext uri="{FF2B5EF4-FFF2-40B4-BE49-F238E27FC236}">
                  <a16:creationId xmlns:a16="http://schemas.microsoft.com/office/drawing/2014/main" id="{ACFA0383-ABBE-2B0B-DF5F-F81F56D7CA1F}"/>
                </a:ext>
              </a:extLst>
            </p:cNvPr>
            <p:cNvSpPr/>
            <p:nvPr/>
          </p:nvSpPr>
          <p:spPr bwMode="auto">
            <a:xfrm>
              <a:off x="9186282" y="2940186"/>
              <a:ext cx="1708075" cy="1695251"/>
            </a:xfrm>
            <a:prstGeom prst="rect">
              <a:avLst/>
            </a:prstGeom>
            <a:solidFill>
              <a:schemeClr val="bg1">
                <a:lumMod val="9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60" tIns="143408" rIns="179260" bIns="143408" numCol="1" spcCol="0" rtlCol="0" fromWordArt="0" anchor="t" anchorCtr="0" forceAA="0" compatLnSpc="1">
              <a:prstTxWarp prst="textNoShape">
                <a:avLst/>
              </a:prstTxWarp>
              <a:noAutofit/>
            </a:bodyPr>
            <a:lstStyle/>
            <a:p>
              <a:pPr algn="ctr" defTabSz="913926" fontAlgn="base">
                <a:lnSpc>
                  <a:spcPct val="90000"/>
                </a:lnSpc>
                <a:spcBef>
                  <a:spcPct val="0"/>
                </a:spcBef>
                <a:spcAft>
                  <a:spcPct val="0"/>
                </a:spcAft>
              </a:pPr>
              <a:endParaRPr lang="fr-FR" sz="1632">
                <a:gradFill>
                  <a:gsLst>
                    <a:gs pos="0">
                      <a:srgbClr val="FFFFFF"/>
                    </a:gs>
                    <a:gs pos="100000">
                      <a:srgbClr val="FFFFFF"/>
                    </a:gs>
                  </a:gsLst>
                  <a:lin ang="5400000" scaled="0"/>
                </a:gradFill>
                <a:cs typeface="Segoe UI" pitchFamily="34" charset="0"/>
              </a:endParaRPr>
            </a:p>
          </p:txBody>
        </p:sp>
        <p:sp>
          <p:nvSpPr>
            <p:cNvPr id="15" name="TextBox 14">
              <a:extLst>
                <a:ext uri="{FF2B5EF4-FFF2-40B4-BE49-F238E27FC236}">
                  <a16:creationId xmlns:a16="http://schemas.microsoft.com/office/drawing/2014/main" id="{5AB3FD69-C633-9F8D-C16E-694758335D55}"/>
                </a:ext>
              </a:extLst>
            </p:cNvPr>
            <p:cNvSpPr txBox="1"/>
            <p:nvPr/>
          </p:nvSpPr>
          <p:spPr>
            <a:xfrm>
              <a:off x="9302224" y="4124156"/>
              <a:ext cx="1658280" cy="323575"/>
            </a:xfrm>
            <a:prstGeom prst="rect">
              <a:avLst/>
            </a:prstGeom>
            <a:noFill/>
          </p:spPr>
          <p:txBody>
            <a:bodyPr wrap="square">
              <a:spAutoFit/>
            </a:bodyPr>
            <a:lstStyle/>
            <a:p>
              <a:r>
                <a:rPr lang="fr-FR" sz="1632"/>
                <a:t>Test and </a:t>
              </a:r>
              <a:r>
                <a:rPr lang="en-US" sz="1632"/>
                <a:t>verify</a:t>
              </a:r>
            </a:p>
          </p:txBody>
        </p:sp>
        <p:pic>
          <p:nvPicPr>
            <p:cNvPr id="16" name="Picture 15">
              <a:extLst>
                <a:ext uri="{FF2B5EF4-FFF2-40B4-BE49-F238E27FC236}">
                  <a16:creationId xmlns:a16="http://schemas.microsoft.com/office/drawing/2014/main" id="{BBECCDD8-1B8F-ED0C-2E35-BEE0C2660382}"/>
                </a:ext>
              </a:extLst>
            </p:cNvPr>
            <p:cNvPicPr>
              <a:picLocks noChangeAspect="1"/>
            </p:cNvPicPr>
            <p:nvPr/>
          </p:nvPicPr>
          <p:blipFill>
            <a:blip r:embed="rId3"/>
            <a:stretch>
              <a:fillRect/>
            </a:stretch>
          </p:blipFill>
          <p:spPr>
            <a:xfrm>
              <a:off x="9360894" y="3093459"/>
              <a:ext cx="1321202" cy="968912"/>
            </a:xfrm>
            <a:prstGeom prst="rect">
              <a:avLst/>
            </a:prstGeom>
          </p:spPr>
        </p:pic>
        <p:pic>
          <p:nvPicPr>
            <p:cNvPr id="17" name="Graphic 16">
              <a:extLst>
                <a:ext uri="{FF2B5EF4-FFF2-40B4-BE49-F238E27FC236}">
                  <a16:creationId xmlns:a16="http://schemas.microsoft.com/office/drawing/2014/main" id="{0E2348FF-06F1-D347-0A09-7073C66F6A2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096048" y="4217224"/>
              <a:ext cx="635000" cy="595390"/>
            </a:xfrm>
            <a:prstGeom prst="rect">
              <a:avLst/>
            </a:prstGeom>
          </p:spPr>
        </p:pic>
        <p:pic>
          <p:nvPicPr>
            <p:cNvPr id="18" name="Graphic 17">
              <a:extLst>
                <a:ext uri="{FF2B5EF4-FFF2-40B4-BE49-F238E27FC236}">
                  <a16:creationId xmlns:a16="http://schemas.microsoft.com/office/drawing/2014/main" id="{356B5B3F-DD3F-84F3-4587-B34AACB0013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022696" y="2993202"/>
              <a:ext cx="745798" cy="699275"/>
            </a:xfrm>
            <a:prstGeom prst="rect">
              <a:avLst/>
            </a:prstGeom>
          </p:spPr>
        </p:pic>
        <p:sp>
          <p:nvSpPr>
            <p:cNvPr id="19" name="TextBox 18">
              <a:extLst>
                <a:ext uri="{FF2B5EF4-FFF2-40B4-BE49-F238E27FC236}">
                  <a16:creationId xmlns:a16="http://schemas.microsoft.com/office/drawing/2014/main" id="{C8E1AD32-1875-4E07-BA93-7C58679206CE}"/>
                </a:ext>
              </a:extLst>
            </p:cNvPr>
            <p:cNvSpPr txBox="1"/>
            <p:nvPr/>
          </p:nvSpPr>
          <p:spPr>
            <a:xfrm>
              <a:off x="6597739" y="3646586"/>
              <a:ext cx="1705702" cy="560169"/>
            </a:xfrm>
            <a:prstGeom prst="rect">
              <a:avLst/>
            </a:prstGeom>
            <a:noFill/>
          </p:spPr>
          <p:txBody>
            <a:bodyPr wrap="square">
              <a:spAutoFit/>
            </a:bodyPr>
            <a:lstStyle/>
            <a:p>
              <a:pPr algn="ctr"/>
              <a:r>
                <a:rPr lang="fr-FR" sz="1632"/>
                <a:t>Container Apps </a:t>
              </a:r>
              <a:r>
                <a:rPr lang="en-US" sz="1632"/>
                <a:t>Environment</a:t>
              </a:r>
            </a:p>
          </p:txBody>
        </p:sp>
        <p:cxnSp>
          <p:nvCxnSpPr>
            <p:cNvPr id="22" name="Connector: Elbow 21">
              <a:extLst>
                <a:ext uri="{FF2B5EF4-FFF2-40B4-BE49-F238E27FC236}">
                  <a16:creationId xmlns:a16="http://schemas.microsoft.com/office/drawing/2014/main" id="{FCB7B36D-133E-975B-D31E-0E294BE7DDF0}"/>
                </a:ext>
              </a:extLst>
            </p:cNvPr>
            <p:cNvCxnSpPr>
              <a:cxnSpLocks/>
              <a:stCxn id="16" idx="1"/>
              <a:endCxn id="17" idx="3"/>
            </p:cNvCxnSpPr>
            <p:nvPr/>
          </p:nvCxnSpPr>
          <p:spPr>
            <a:xfrm rot="10800000" flipV="1">
              <a:off x="7731048" y="3577915"/>
              <a:ext cx="1629846" cy="937004"/>
            </a:xfrm>
            <a:prstGeom prst="bentConnector3">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sp>
        <p:nvSpPr>
          <p:cNvPr id="47" name="TextBox 46">
            <a:extLst>
              <a:ext uri="{FF2B5EF4-FFF2-40B4-BE49-F238E27FC236}">
                <a16:creationId xmlns:a16="http://schemas.microsoft.com/office/drawing/2014/main" id="{AD467BD6-4F1D-5FC2-0526-DA6AC42E3871}"/>
              </a:ext>
            </a:extLst>
          </p:cNvPr>
          <p:cNvSpPr txBox="1"/>
          <p:nvPr/>
        </p:nvSpPr>
        <p:spPr>
          <a:xfrm>
            <a:off x="4617136" y="1621862"/>
            <a:ext cx="2837950" cy="560645"/>
          </a:xfrm>
          <a:prstGeom prst="rect">
            <a:avLst/>
          </a:prstGeom>
          <a:noFill/>
        </p:spPr>
        <p:txBody>
          <a:bodyPr wrap="none" lIns="186521" tIns="149217" rIns="186521" bIns="149217" rtlCol="0">
            <a:spAutoFit/>
          </a:bodyPr>
          <a:lstStyle/>
          <a:p>
            <a:pPr>
              <a:lnSpc>
                <a:spcPct val="90000"/>
              </a:lnSpc>
              <a:spcAft>
                <a:spcPts val="612"/>
              </a:spcAft>
            </a:pPr>
            <a:r>
              <a:rPr lang="en-US" sz="1836" b="1">
                <a:gradFill>
                  <a:gsLst>
                    <a:gs pos="2917">
                      <a:schemeClr val="tx1"/>
                    </a:gs>
                    <a:gs pos="30000">
                      <a:schemeClr val="tx1"/>
                    </a:gs>
                  </a:gsLst>
                  <a:lin ang="5400000" scaled="0"/>
                </a:gradFill>
              </a:rPr>
              <a:t>Azure Container Apps</a:t>
            </a:r>
          </a:p>
        </p:txBody>
      </p:sp>
    </p:spTree>
    <p:extLst>
      <p:ext uri="{BB962C8B-B14F-4D97-AF65-F5344CB8AC3E}">
        <p14:creationId xmlns:p14="http://schemas.microsoft.com/office/powerpoint/2010/main" val="2465073413"/>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A73C71-3635-4D7D-BA38-8A039AEDFA89}"/>
              </a:ext>
            </a:extLst>
          </p:cNvPr>
          <p:cNvSpPr>
            <a:spLocks noGrp="1"/>
          </p:cNvSpPr>
          <p:nvPr>
            <p:ph type="title"/>
          </p:nvPr>
        </p:nvSpPr>
        <p:spPr/>
        <p:txBody>
          <a:bodyPr/>
          <a:lstStyle/>
          <a:p>
            <a:r>
              <a:rPr lang="en-US"/>
              <a:t>End of presentation</a:t>
            </a:r>
          </a:p>
        </p:txBody>
      </p:sp>
    </p:spTree>
    <p:extLst>
      <p:ext uri="{BB962C8B-B14F-4D97-AF65-F5344CB8AC3E}">
        <p14:creationId xmlns:p14="http://schemas.microsoft.com/office/powerpoint/2010/main" val="258999448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6BF85-4ED3-4AFD-B587-E5F678455ACC}"/>
              </a:ext>
            </a:extLst>
          </p:cNvPr>
          <p:cNvSpPr>
            <a:spLocks noGrp="1"/>
          </p:cNvSpPr>
          <p:nvPr>
            <p:ph type="title"/>
          </p:nvPr>
        </p:nvSpPr>
        <p:spPr/>
        <p:txBody>
          <a:bodyPr/>
          <a:lstStyle/>
          <a:p>
            <a:pPr>
              <a:lnSpc>
                <a:spcPct val="100000"/>
              </a:lnSpc>
            </a:pPr>
            <a:r>
              <a:rPr lang="en-US" spc="0">
                <a:solidFill>
                  <a:schemeClr val="tx1"/>
                </a:solidFill>
              </a:rPr>
              <a:t>Azure Kubernetes Service</a:t>
            </a:r>
          </a:p>
        </p:txBody>
      </p:sp>
      <p:grpSp>
        <p:nvGrpSpPr>
          <p:cNvPr id="10" name="Group 9" descr="Source control is using DevSpaces. and pipelines to access and manage containers. An Azure production cluster is using containers and Azure monitor">
            <a:extLst>
              <a:ext uri="{FF2B5EF4-FFF2-40B4-BE49-F238E27FC236}">
                <a16:creationId xmlns:a16="http://schemas.microsoft.com/office/drawing/2014/main" id="{89A6C5C9-FE9A-41E0-91EF-7C146C8285B8}"/>
              </a:ext>
            </a:extLst>
          </p:cNvPr>
          <p:cNvGrpSpPr/>
          <p:nvPr/>
        </p:nvGrpSpPr>
        <p:grpSpPr>
          <a:xfrm>
            <a:off x="2112502" y="1285344"/>
            <a:ext cx="8211470" cy="3611812"/>
            <a:chOff x="2112502" y="1285344"/>
            <a:chExt cx="8211470" cy="3611812"/>
          </a:xfrm>
        </p:grpSpPr>
        <p:pic>
          <p:nvPicPr>
            <p:cNvPr id="13" name="Picture 12" descr="Source control is using DevSpaces. and pipelines to access and manage containers. An Azure production cluster is using containers and Azure monitor">
              <a:extLst>
                <a:ext uri="{FF2B5EF4-FFF2-40B4-BE49-F238E27FC236}">
                  <a16:creationId xmlns:a16="http://schemas.microsoft.com/office/drawing/2014/main" id="{E6040076-E433-41E9-BA59-3346394A5E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12502" y="1285344"/>
              <a:ext cx="8211470" cy="3611812"/>
            </a:xfrm>
            <a:prstGeom prst="rect">
              <a:avLst/>
            </a:prstGeom>
          </p:spPr>
        </p:pic>
        <p:pic>
          <p:nvPicPr>
            <p:cNvPr id="9" name="Picture 8">
              <a:extLst>
                <a:ext uri="{FF2B5EF4-FFF2-40B4-BE49-F238E27FC236}">
                  <a16:creationId xmlns:a16="http://schemas.microsoft.com/office/drawing/2014/main" id="{E3018FEC-2C23-4155-A411-C91945713039}"/>
                </a:ext>
              </a:extLst>
            </p:cNvPr>
            <p:cNvPicPr>
              <a:picLocks noChangeAspect="1"/>
            </p:cNvPicPr>
            <p:nvPr/>
          </p:nvPicPr>
          <p:blipFill>
            <a:blip r:embed="rId4"/>
            <a:stretch>
              <a:fillRect/>
            </a:stretch>
          </p:blipFill>
          <p:spPr>
            <a:xfrm>
              <a:off x="5203431" y="3389152"/>
              <a:ext cx="584972" cy="655885"/>
            </a:xfrm>
            <a:prstGeom prst="rect">
              <a:avLst/>
            </a:prstGeom>
          </p:spPr>
        </p:pic>
      </p:grpSp>
      <p:sp>
        <p:nvSpPr>
          <p:cNvPr id="5" name="Rectangle 4">
            <a:extLst>
              <a:ext uri="{FF2B5EF4-FFF2-40B4-BE49-F238E27FC236}">
                <a16:creationId xmlns:a16="http://schemas.microsoft.com/office/drawing/2014/main" id="{46D43921-9F4E-497E-BD26-F43CF1D64F53}"/>
              </a:ext>
            </a:extLst>
          </p:cNvPr>
          <p:cNvSpPr/>
          <p:nvPr/>
        </p:nvSpPr>
        <p:spPr>
          <a:xfrm>
            <a:off x="427035" y="5143500"/>
            <a:ext cx="2179978" cy="998660"/>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t" anchorCtr="0">
            <a:noAutofit/>
          </a:bodyPr>
          <a:lstStyle/>
          <a:p>
            <a:r>
              <a:rPr lang="en-US">
                <a:solidFill>
                  <a:schemeClr val="tx1"/>
                </a:solidFill>
              </a:rPr>
              <a:t>Manages health monitoring and maintenance</a:t>
            </a:r>
          </a:p>
        </p:txBody>
      </p:sp>
      <p:sp>
        <p:nvSpPr>
          <p:cNvPr id="6" name="Rectangle 5">
            <a:extLst>
              <a:ext uri="{FF2B5EF4-FFF2-40B4-BE49-F238E27FC236}">
                <a16:creationId xmlns:a16="http://schemas.microsoft.com/office/drawing/2014/main" id="{10F1E3F1-68F7-4710-AD56-BB00C92D2EE8}"/>
              </a:ext>
            </a:extLst>
          </p:cNvPr>
          <p:cNvSpPr/>
          <p:nvPr/>
        </p:nvSpPr>
        <p:spPr>
          <a:xfrm>
            <a:off x="2774863" y="5142933"/>
            <a:ext cx="2179978" cy="998660"/>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t" anchorCtr="0">
            <a:noAutofit/>
          </a:bodyPr>
          <a:lstStyle/>
          <a:p>
            <a:r>
              <a:rPr lang="en-US">
                <a:solidFill>
                  <a:schemeClr val="tx1"/>
                </a:solidFill>
              </a:rPr>
              <a:t>Performs simple cluster scaling</a:t>
            </a:r>
          </a:p>
        </p:txBody>
      </p:sp>
      <p:sp>
        <p:nvSpPr>
          <p:cNvPr id="8" name="Rectangle 7">
            <a:extLst>
              <a:ext uri="{FF2B5EF4-FFF2-40B4-BE49-F238E27FC236}">
                <a16:creationId xmlns:a16="http://schemas.microsoft.com/office/drawing/2014/main" id="{33B0A4B8-7BE4-44D3-96A6-E9FD9D7AEEE8}"/>
              </a:ext>
            </a:extLst>
          </p:cNvPr>
          <p:cNvSpPr/>
          <p:nvPr/>
        </p:nvSpPr>
        <p:spPr>
          <a:xfrm>
            <a:off x="5122691" y="5142650"/>
            <a:ext cx="2179978" cy="998660"/>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t" anchorCtr="0">
            <a:noAutofit/>
          </a:bodyPr>
          <a:lstStyle/>
          <a:p>
            <a:r>
              <a:rPr lang="en-US">
                <a:solidFill>
                  <a:schemeClr val="tx1"/>
                </a:solidFill>
              </a:rPr>
              <a:t>Enables nodes to be fully managed by Microsoft</a:t>
            </a:r>
          </a:p>
        </p:txBody>
      </p:sp>
      <p:sp>
        <p:nvSpPr>
          <p:cNvPr id="7" name="Rectangle 6">
            <a:extLst>
              <a:ext uri="{FF2B5EF4-FFF2-40B4-BE49-F238E27FC236}">
                <a16:creationId xmlns:a16="http://schemas.microsoft.com/office/drawing/2014/main" id="{DAAB3035-2780-4C42-B187-E12C2F307E51}"/>
              </a:ext>
            </a:extLst>
          </p:cNvPr>
          <p:cNvSpPr/>
          <p:nvPr/>
        </p:nvSpPr>
        <p:spPr>
          <a:xfrm>
            <a:off x="7470519" y="5143216"/>
            <a:ext cx="2179978" cy="998660"/>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t" anchorCtr="0">
            <a:noAutofit/>
          </a:bodyPr>
          <a:lstStyle/>
          <a:p>
            <a:r>
              <a:rPr lang="en-US">
                <a:solidFill>
                  <a:schemeClr val="tx1"/>
                </a:solidFill>
              </a:rPr>
              <a:t>You’re responsible only for managing the agent nodes</a:t>
            </a:r>
          </a:p>
        </p:txBody>
      </p:sp>
      <p:sp>
        <p:nvSpPr>
          <p:cNvPr id="11" name="Rectangle 10">
            <a:extLst>
              <a:ext uri="{FF2B5EF4-FFF2-40B4-BE49-F238E27FC236}">
                <a16:creationId xmlns:a16="http://schemas.microsoft.com/office/drawing/2014/main" id="{66BDDDF4-E64B-40D2-A2C7-25D513B1B11A}"/>
              </a:ext>
            </a:extLst>
          </p:cNvPr>
          <p:cNvSpPr/>
          <p:nvPr/>
        </p:nvSpPr>
        <p:spPr>
          <a:xfrm>
            <a:off x="9818347" y="5142367"/>
            <a:ext cx="2179978" cy="998660"/>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t" anchorCtr="0">
            <a:noAutofit/>
          </a:bodyPr>
          <a:lstStyle/>
          <a:p>
            <a:r>
              <a:rPr lang="en-US">
                <a:solidFill>
                  <a:schemeClr val="tx1"/>
                </a:solidFill>
              </a:rPr>
              <a:t>You pay only for the agent nodes</a:t>
            </a:r>
          </a:p>
        </p:txBody>
      </p:sp>
      <p:sp>
        <p:nvSpPr>
          <p:cNvPr id="4" name="Rectangle 3">
            <a:extLst>
              <a:ext uri="{FF2B5EF4-FFF2-40B4-BE49-F238E27FC236}">
                <a16:creationId xmlns:a16="http://schemas.microsoft.com/office/drawing/2014/main" id="{63057EE0-7266-4508-A0D8-30A8D0F7F1B0}"/>
              </a:ext>
              <a:ext uri="{C183D7F6-B498-43B3-948B-1728B52AA6E4}">
                <adec:decorative xmlns:adec="http://schemas.microsoft.com/office/drawing/2017/decorative" val="1"/>
              </a:ext>
            </a:extLst>
          </p:cNvPr>
          <p:cNvSpPr/>
          <p:nvPr/>
        </p:nvSpPr>
        <p:spPr bwMode="auto">
          <a:xfrm>
            <a:off x="427037" y="1192213"/>
            <a:ext cx="11582401" cy="3798075"/>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IN" sz="2400">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1976808470"/>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C4685-49CE-4948-93FC-C6962E7A20CF}"/>
              </a:ext>
            </a:extLst>
          </p:cNvPr>
          <p:cNvSpPr>
            <a:spLocks noGrp="1"/>
          </p:cNvSpPr>
          <p:nvPr>
            <p:ph type="title"/>
          </p:nvPr>
        </p:nvSpPr>
        <p:spPr/>
        <p:txBody>
          <a:bodyPr/>
          <a:lstStyle/>
          <a:p>
            <a:pPr>
              <a:lnSpc>
                <a:spcPct val="100000"/>
              </a:lnSpc>
            </a:pPr>
            <a:r>
              <a:rPr lang="en-US" spc="0">
                <a:solidFill>
                  <a:schemeClr val="tx1"/>
                </a:solidFill>
              </a:rPr>
              <a:t>Understand AKS Terminology</a:t>
            </a:r>
          </a:p>
        </p:txBody>
      </p:sp>
      <p:graphicFrame>
        <p:nvGraphicFramePr>
          <p:cNvPr id="56" name="Table 6">
            <a:extLst>
              <a:ext uri="{FF2B5EF4-FFF2-40B4-BE49-F238E27FC236}">
                <a16:creationId xmlns:a16="http://schemas.microsoft.com/office/drawing/2014/main" id="{C6A12215-A43F-4EEC-B2E2-4FC967C5C03E}"/>
              </a:ext>
            </a:extLst>
          </p:cNvPr>
          <p:cNvGraphicFramePr>
            <a:graphicFrameLocks noGrp="1"/>
          </p:cNvGraphicFramePr>
          <p:nvPr>
            <p:extLst>
              <p:ext uri="{D42A27DB-BD31-4B8C-83A1-F6EECF244321}">
                <p14:modId xmlns:p14="http://schemas.microsoft.com/office/powerpoint/2010/main" val="891693503"/>
              </p:ext>
            </p:extLst>
          </p:nvPr>
        </p:nvGraphicFramePr>
        <p:xfrm>
          <a:off x="427037" y="1192212"/>
          <a:ext cx="5012547" cy="5169535"/>
        </p:xfrm>
        <a:graphic>
          <a:graphicData uri="http://schemas.openxmlformats.org/drawingml/2006/table">
            <a:tbl>
              <a:tblPr firstRow="1" bandRow="1">
                <a:tableStyleId>{5C22544A-7EE6-4342-B048-85BDC9FD1C3A}</a:tableStyleId>
              </a:tblPr>
              <a:tblGrid>
                <a:gridCol w="1389063">
                  <a:extLst>
                    <a:ext uri="{9D8B030D-6E8A-4147-A177-3AD203B41FA5}">
                      <a16:colId xmlns:a16="http://schemas.microsoft.com/office/drawing/2014/main" val="1289156279"/>
                    </a:ext>
                  </a:extLst>
                </a:gridCol>
                <a:gridCol w="3623484">
                  <a:extLst>
                    <a:ext uri="{9D8B030D-6E8A-4147-A177-3AD203B41FA5}">
                      <a16:colId xmlns:a16="http://schemas.microsoft.com/office/drawing/2014/main" val="2759990731"/>
                    </a:ext>
                  </a:extLst>
                </a:gridCol>
              </a:tblGrid>
              <a:tr h="475531">
                <a:tc>
                  <a:txBody>
                    <a:bodyPr/>
                    <a:lstStyle/>
                    <a:p>
                      <a:pPr algn="l"/>
                      <a:r>
                        <a:rPr lang="en-US" sz="1800" b="0">
                          <a:solidFill>
                            <a:schemeClr val="bg1"/>
                          </a:solidFill>
                          <a:latin typeface="+mj-lt"/>
                        </a:rPr>
                        <a:t>Term</a:t>
                      </a:r>
                    </a:p>
                  </a:txBody>
                  <a:tcPr marL="93260" marR="93260" marT="46630" marB="46630" anchor="ctr">
                    <a:lnL w="6350" cap="flat" cmpd="sng" algn="ctr">
                      <a:solidFill>
                        <a:srgbClr val="243A5E"/>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243A5E"/>
                    </a:solidFill>
                  </a:tcPr>
                </a:tc>
                <a:tc>
                  <a:txBody>
                    <a:bodyPr/>
                    <a:lstStyle/>
                    <a:p>
                      <a:pPr algn="l"/>
                      <a:r>
                        <a:rPr lang="en-US" sz="1800" b="0">
                          <a:solidFill>
                            <a:schemeClr val="bg1"/>
                          </a:solidFill>
                          <a:latin typeface="+mj-lt"/>
                        </a:rPr>
                        <a:t>Description</a:t>
                      </a:r>
                    </a:p>
                  </a:txBody>
                  <a:tcPr marL="93260" marR="93260" marT="46630" marB="46630" anchor="ctr">
                    <a:lnL w="6350" cap="flat" cmpd="sng" algn="ctr">
                      <a:solidFill>
                        <a:schemeClr val="bg1"/>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243A5E"/>
                    </a:solidFill>
                  </a:tcPr>
                </a:tc>
                <a:extLst>
                  <a:ext uri="{0D108BD9-81ED-4DB2-BD59-A6C34878D82A}">
                    <a16:rowId xmlns:a16="http://schemas.microsoft.com/office/drawing/2014/main" val="2897835809"/>
                  </a:ext>
                </a:extLst>
              </a:tr>
              <a:tr h="985613">
                <a:tc>
                  <a:txBody>
                    <a:bodyPr/>
                    <a:lstStyle/>
                    <a:p>
                      <a:pPr algn="l"/>
                      <a:r>
                        <a:rPr lang="en-US" sz="1600">
                          <a:solidFill>
                            <a:schemeClr val="tx1"/>
                          </a:solidFill>
                          <a:latin typeface="+mj-lt"/>
                        </a:rPr>
                        <a:t>Pools</a:t>
                      </a:r>
                    </a:p>
                  </a:txBody>
                  <a:tcPr marL="93260" marR="93260" marT="46630" marB="4663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r>
                        <a:rPr lang="en-US" sz="1600" b="0" i="0" u="none" strike="noStrike">
                          <a:solidFill>
                            <a:schemeClr val="tx1"/>
                          </a:solidFill>
                          <a:effectLst/>
                          <a:latin typeface="+mn-lt"/>
                        </a:rPr>
                        <a:t>Groups of nodes with identical configurations</a:t>
                      </a:r>
                      <a:endParaRPr lang="en-US" sz="1600">
                        <a:solidFill>
                          <a:schemeClr val="tx1"/>
                        </a:solidFill>
                        <a:latin typeface="+mn-lt"/>
                      </a:endParaRPr>
                    </a:p>
                  </a:txBody>
                  <a:tcPr marL="93260" marR="93260" marT="46630" marB="4663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88139117"/>
                  </a:ext>
                </a:extLst>
              </a:tr>
              <a:tr h="985613">
                <a:tc>
                  <a:txBody>
                    <a:bodyPr/>
                    <a:lstStyle/>
                    <a:p>
                      <a:pPr algn="l"/>
                      <a:r>
                        <a:rPr lang="en-US" sz="1600">
                          <a:solidFill>
                            <a:schemeClr val="tx1"/>
                          </a:solidFill>
                          <a:latin typeface="+mj-lt"/>
                        </a:rPr>
                        <a:t>Nodes</a:t>
                      </a:r>
                    </a:p>
                  </a:txBody>
                  <a:tcPr marL="93260" marR="93260" marT="46630" marB="4663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r>
                        <a:rPr lang="en-US" sz="1600" b="0" i="0" u="none" strike="noStrike">
                          <a:solidFill>
                            <a:schemeClr val="tx1"/>
                          </a:solidFill>
                          <a:effectLst/>
                          <a:latin typeface="+mn-lt"/>
                        </a:rPr>
                        <a:t>Individual VMs running containerized applications</a:t>
                      </a:r>
                      <a:endParaRPr lang="en-US" sz="1600">
                        <a:solidFill>
                          <a:schemeClr val="tx1"/>
                        </a:solidFill>
                        <a:latin typeface="+mn-lt"/>
                      </a:endParaRPr>
                    </a:p>
                  </a:txBody>
                  <a:tcPr marL="93260" marR="93260" marT="46630" marB="4663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58439219"/>
                  </a:ext>
                </a:extLst>
              </a:tr>
              <a:tr h="985613">
                <a:tc>
                  <a:txBody>
                    <a:bodyPr/>
                    <a:lstStyle/>
                    <a:p>
                      <a:pPr algn="l"/>
                      <a:r>
                        <a:rPr lang="en-US" sz="1600">
                          <a:solidFill>
                            <a:schemeClr val="tx1"/>
                          </a:solidFill>
                          <a:latin typeface="+mj-lt"/>
                        </a:rPr>
                        <a:t>Pods</a:t>
                      </a:r>
                    </a:p>
                  </a:txBody>
                  <a:tcPr marL="93260" marR="93260" marT="46630" marB="4663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600" b="0" i="0" u="none" strike="noStrike">
                          <a:solidFill>
                            <a:schemeClr val="tx1"/>
                          </a:solidFill>
                          <a:effectLst/>
                          <a:latin typeface="+mn-lt"/>
                        </a:rPr>
                        <a:t>Single instance of an application.</a:t>
                      </a:r>
                      <a:br>
                        <a:rPr lang="en-US" sz="1600" b="0" i="0" u="none" strike="noStrike">
                          <a:solidFill>
                            <a:schemeClr val="tx1"/>
                          </a:solidFill>
                          <a:effectLst/>
                          <a:latin typeface="+mn-lt"/>
                        </a:rPr>
                      </a:br>
                      <a:r>
                        <a:rPr lang="en-US" sz="1600" b="0" i="0" u="none" strike="noStrike">
                          <a:solidFill>
                            <a:schemeClr val="tx1"/>
                          </a:solidFill>
                          <a:effectLst/>
                          <a:latin typeface="+mn-lt"/>
                        </a:rPr>
                        <a:t>A pod can contain multiple containers</a:t>
                      </a:r>
                      <a:endParaRPr lang="en-US" sz="1600">
                        <a:solidFill>
                          <a:schemeClr val="tx1"/>
                        </a:solidFill>
                        <a:latin typeface="+mn-lt"/>
                      </a:endParaRPr>
                    </a:p>
                  </a:txBody>
                  <a:tcPr marL="93260" marR="93260" marT="46630" marB="4663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8512727"/>
                  </a:ext>
                </a:extLst>
              </a:tr>
              <a:tr h="985613">
                <a:tc>
                  <a:txBody>
                    <a:bodyPr/>
                    <a:lstStyle/>
                    <a:p>
                      <a:pPr algn="l"/>
                      <a:r>
                        <a:rPr lang="en-US" sz="1600">
                          <a:solidFill>
                            <a:schemeClr val="tx1"/>
                          </a:solidFill>
                          <a:latin typeface="+mj-lt"/>
                        </a:rPr>
                        <a:t>Deployment</a:t>
                      </a:r>
                    </a:p>
                  </a:txBody>
                  <a:tcPr marL="93260" marR="93260" marT="46630" marB="4663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600" b="0" i="0" u="none" strike="noStrike">
                          <a:solidFill>
                            <a:schemeClr val="tx1"/>
                          </a:solidFill>
                          <a:effectLst/>
                          <a:latin typeface="+mn-lt"/>
                        </a:rPr>
                        <a:t>One or more identical pods managed by Kubernetes</a:t>
                      </a:r>
                      <a:r>
                        <a:rPr lang="en-US" sz="1600" b="0" i="0">
                          <a:solidFill>
                            <a:schemeClr val="tx1"/>
                          </a:solidFill>
                          <a:effectLst/>
                          <a:latin typeface="+mn-lt"/>
                        </a:rPr>
                        <a:t>​</a:t>
                      </a:r>
                    </a:p>
                  </a:txBody>
                  <a:tcPr marL="93260" marR="93260" marT="46630" marB="4663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2684497"/>
                  </a:ext>
                </a:extLst>
              </a:tr>
              <a:tr h="751552">
                <a:tc>
                  <a:txBody>
                    <a:bodyPr/>
                    <a:lstStyle/>
                    <a:p>
                      <a:pPr algn="l"/>
                      <a:r>
                        <a:rPr lang="en-US" sz="1600">
                          <a:solidFill>
                            <a:schemeClr val="tx1"/>
                          </a:solidFill>
                          <a:latin typeface="+mj-lt"/>
                        </a:rPr>
                        <a:t>Manifest</a:t>
                      </a:r>
                    </a:p>
                  </a:txBody>
                  <a:tcPr marL="93260" marR="93260" marT="46630" marB="46630" anchor="ctr">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r>
                        <a:rPr lang="en-US" sz="1600" b="0" i="0" u="none" strike="noStrike">
                          <a:solidFill>
                            <a:schemeClr val="tx1"/>
                          </a:solidFill>
                          <a:effectLst/>
                          <a:latin typeface="+mn-lt"/>
                        </a:rPr>
                        <a:t>YAML file describing a deployment</a:t>
                      </a:r>
                      <a:endParaRPr lang="en-US" sz="1600">
                        <a:solidFill>
                          <a:schemeClr val="tx1"/>
                        </a:solidFill>
                        <a:latin typeface="+mn-lt"/>
                      </a:endParaRPr>
                    </a:p>
                  </a:txBody>
                  <a:tcPr marL="93260" marR="93260" marT="46630" marB="4663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38446895"/>
                  </a:ext>
                </a:extLst>
              </a:tr>
            </a:tbl>
          </a:graphicData>
        </a:graphic>
      </p:graphicFrame>
      <p:sp>
        <p:nvSpPr>
          <p:cNvPr id="4" name="Rectangle 3">
            <a:extLst>
              <a:ext uri="{FF2B5EF4-FFF2-40B4-BE49-F238E27FC236}">
                <a16:creationId xmlns:a16="http://schemas.microsoft.com/office/drawing/2014/main" id="{CB978711-4EDF-43DC-B1D6-D6934495E363}"/>
              </a:ext>
              <a:ext uri="{C183D7F6-B498-43B3-948B-1728B52AA6E4}">
                <adec:decorative xmlns:adec="http://schemas.microsoft.com/office/drawing/2017/decorative" val="1"/>
              </a:ext>
            </a:extLst>
          </p:cNvPr>
          <p:cNvSpPr/>
          <p:nvPr/>
        </p:nvSpPr>
        <p:spPr bwMode="auto">
          <a:xfrm>
            <a:off x="5600700" y="1192212"/>
            <a:ext cx="6408737" cy="5169534"/>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IN" sz="2400">
              <a:gradFill>
                <a:gsLst>
                  <a:gs pos="0">
                    <a:srgbClr val="FFFFFF"/>
                  </a:gs>
                  <a:gs pos="100000">
                    <a:srgbClr val="FFFFFF"/>
                  </a:gs>
                </a:gsLst>
                <a:lin ang="5400000" scaled="0"/>
              </a:gradFill>
              <a:cs typeface="Segoe UI" pitchFamily="34" charset="0"/>
            </a:endParaRPr>
          </a:p>
        </p:txBody>
      </p:sp>
      <p:pic>
        <p:nvPicPr>
          <p:cNvPr id="49" name="Picture 48" descr="A Pool contains Nodes. Nodes are deployed with a YAML file and contain Pods. Pods have Containers">
            <a:extLst>
              <a:ext uri="{FF2B5EF4-FFF2-40B4-BE49-F238E27FC236}">
                <a16:creationId xmlns:a16="http://schemas.microsoft.com/office/drawing/2014/main" id="{8A31F694-08EF-4C73-A95F-C2C9259922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24536" y="1533569"/>
            <a:ext cx="5961064" cy="4486822"/>
          </a:xfrm>
          <a:prstGeom prst="rect">
            <a:avLst/>
          </a:prstGeom>
        </p:spPr>
      </p:pic>
    </p:spTree>
    <p:extLst>
      <p:ext uri="{BB962C8B-B14F-4D97-AF65-F5344CB8AC3E}">
        <p14:creationId xmlns:p14="http://schemas.microsoft.com/office/powerpoint/2010/main" val="1015645993"/>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3AE1D-860B-4A7C-804F-D565C801C79A}"/>
              </a:ext>
            </a:extLst>
          </p:cNvPr>
          <p:cNvSpPr>
            <a:spLocks noGrp="1"/>
          </p:cNvSpPr>
          <p:nvPr>
            <p:ph type="title"/>
          </p:nvPr>
        </p:nvSpPr>
        <p:spPr/>
        <p:txBody>
          <a:bodyPr/>
          <a:lstStyle/>
          <a:p>
            <a:pPr>
              <a:lnSpc>
                <a:spcPct val="100000"/>
              </a:lnSpc>
            </a:pPr>
            <a:r>
              <a:rPr lang="en-US" spc="0"/>
              <a:t>Understand the Docker Platform (optional)</a:t>
            </a:r>
          </a:p>
        </p:txBody>
      </p:sp>
      <p:pic>
        <p:nvPicPr>
          <p:cNvPr id="7" name="Picture 5" descr="A docker hub and docker host are working together. The docker hub has ubuntu Linux, windows, and nginx. The Docker host has a docker engine and containers">
            <a:extLst>
              <a:ext uri="{FF2B5EF4-FFF2-40B4-BE49-F238E27FC236}">
                <a16:creationId xmlns:a16="http://schemas.microsoft.com/office/drawing/2014/main" id="{34C7392E-306D-4048-BC80-DCDF2B1418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811" y="1354609"/>
            <a:ext cx="9386853" cy="3435997"/>
          </a:xfrm>
          <a:prstGeom prst="rect">
            <a:avLst/>
          </a:prstGeom>
        </p:spPr>
      </p:pic>
      <p:sp>
        <p:nvSpPr>
          <p:cNvPr id="8" name="Rectangle 7">
            <a:extLst>
              <a:ext uri="{FF2B5EF4-FFF2-40B4-BE49-F238E27FC236}">
                <a16:creationId xmlns:a16="http://schemas.microsoft.com/office/drawing/2014/main" id="{242D7FC1-114F-473C-B79B-84D47FD6EB41}"/>
              </a:ext>
            </a:extLst>
          </p:cNvPr>
          <p:cNvSpPr/>
          <p:nvPr/>
        </p:nvSpPr>
        <p:spPr>
          <a:xfrm>
            <a:off x="427035" y="5108447"/>
            <a:ext cx="3551993" cy="1253299"/>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t" anchorCtr="0">
            <a:noAutofit/>
          </a:bodyPr>
          <a:lstStyle/>
          <a:p>
            <a:r>
              <a:rPr lang="en-US" sz="2000">
                <a:solidFill>
                  <a:schemeClr val="tx1"/>
                </a:solidFill>
                <a:cs typeface="Segoe UI Semilight"/>
              </a:rPr>
              <a:t>Enables developers to</a:t>
            </a:r>
            <a:br>
              <a:rPr lang="en-US" sz="2000">
                <a:solidFill>
                  <a:schemeClr val="tx1"/>
                </a:solidFill>
                <a:cs typeface="Segoe UI Semilight"/>
              </a:rPr>
            </a:br>
            <a:r>
              <a:rPr lang="en-US" sz="2000">
                <a:solidFill>
                  <a:schemeClr val="tx1"/>
                </a:solidFill>
                <a:cs typeface="Segoe UI Semilight"/>
              </a:rPr>
              <a:t>host applications within</a:t>
            </a:r>
            <a:br>
              <a:rPr lang="en-US" sz="2000">
                <a:solidFill>
                  <a:schemeClr val="tx1"/>
                </a:solidFill>
                <a:cs typeface="Segoe UI Semilight"/>
              </a:rPr>
            </a:br>
            <a:r>
              <a:rPr lang="en-US" sz="2000">
                <a:solidFill>
                  <a:schemeClr val="tx1"/>
                </a:solidFill>
                <a:cs typeface="Segoe UI Semilight"/>
              </a:rPr>
              <a:t>a container</a:t>
            </a:r>
            <a:endParaRPr lang="en-US" sz="2000">
              <a:solidFill>
                <a:schemeClr val="tx1"/>
              </a:solidFill>
            </a:endParaRPr>
          </a:p>
        </p:txBody>
      </p:sp>
      <p:sp>
        <p:nvSpPr>
          <p:cNvPr id="9" name="Rectangle 8">
            <a:extLst>
              <a:ext uri="{FF2B5EF4-FFF2-40B4-BE49-F238E27FC236}">
                <a16:creationId xmlns:a16="http://schemas.microsoft.com/office/drawing/2014/main" id="{C13AEDEF-FF34-4C46-8403-4BE422AE607F}"/>
              </a:ext>
            </a:extLst>
          </p:cNvPr>
          <p:cNvSpPr/>
          <p:nvPr/>
        </p:nvSpPr>
        <p:spPr>
          <a:xfrm>
            <a:off x="4138178" y="5108447"/>
            <a:ext cx="4535922" cy="1253299"/>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t" anchorCtr="0">
            <a:noAutofit/>
          </a:bodyPr>
          <a:lstStyle/>
          <a:p>
            <a:r>
              <a:rPr lang="en-US" sz="2000">
                <a:solidFill>
                  <a:schemeClr val="tx1"/>
                </a:solidFill>
                <a:cs typeface="Segoe UI Semilight"/>
              </a:rPr>
              <a:t>A container is a standardized “unit of software“ that contains everything required for an application to run</a:t>
            </a:r>
          </a:p>
        </p:txBody>
      </p:sp>
      <p:sp>
        <p:nvSpPr>
          <p:cNvPr id="10" name="Rectangle 9">
            <a:extLst>
              <a:ext uri="{FF2B5EF4-FFF2-40B4-BE49-F238E27FC236}">
                <a16:creationId xmlns:a16="http://schemas.microsoft.com/office/drawing/2014/main" id="{73FA0030-192B-424C-B9BA-11FFFB118558}"/>
              </a:ext>
            </a:extLst>
          </p:cNvPr>
          <p:cNvSpPr/>
          <p:nvPr/>
        </p:nvSpPr>
        <p:spPr>
          <a:xfrm>
            <a:off x="8851900" y="5108447"/>
            <a:ext cx="3157536" cy="1253299"/>
          </a:xfrm>
          <a:prstGeom prst="rect">
            <a:avLst/>
          </a:prstGeom>
          <a:solidFill>
            <a:schemeClr val="bg1">
              <a:lumMod val="95000"/>
            </a:schemeClr>
          </a:solidFill>
          <a:ln w="19050">
            <a:solidFill>
              <a:schemeClr val="bg1">
                <a:lumMod val="95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t" anchorCtr="0">
            <a:noAutofit/>
          </a:bodyPr>
          <a:lstStyle/>
          <a:p>
            <a:r>
              <a:rPr lang="en-US" sz="2000">
                <a:solidFill>
                  <a:schemeClr val="tx1"/>
                </a:solidFill>
                <a:cs typeface="Segoe UI Semilight"/>
              </a:rPr>
              <a:t>Available on both Linux</a:t>
            </a:r>
            <a:br>
              <a:rPr lang="en-US" sz="2000">
                <a:solidFill>
                  <a:schemeClr val="tx1"/>
                </a:solidFill>
                <a:cs typeface="Segoe UI Semilight"/>
              </a:rPr>
            </a:br>
            <a:r>
              <a:rPr lang="en-US" sz="2000">
                <a:solidFill>
                  <a:schemeClr val="tx1"/>
                </a:solidFill>
                <a:cs typeface="Segoe UI Semilight"/>
              </a:rPr>
              <a:t>and Windows and can be</a:t>
            </a:r>
            <a:br>
              <a:rPr lang="en-US" sz="2000">
                <a:solidFill>
                  <a:schemeClr val="tx1"/>
                </a:solidFill>
                <a:cs typeface="Segoe UI Semilight"/>
              </a:rPr>
            </a:br>
            <a:r>
              <a:rPr lang="en-US" sz="2000">
                <a:solidFill>
                  <a:schemeClr val="tx1"/>
                </a:solidFill>
                <a:cs typeface="Segoe UI Semilight"/>
              </a:rPr>
              <a:t>hosted on Azure</a:t>
            </a:r>
            <a:endParaRPr lang="en-US" sz="2000">
              <a:solidFill>
                <a:schemeClr val="tx1"/>
              </a:solidFill>
              <a:cs typeface="Segoe UI Semilight" panose="020B0402040204020203" pitchFamily="34" charset="0"/>
            </a:endParaRPr>
          </a:p>
        </p:txBody>
      </p:sp>
    </p:spTree>
    <p:extLst>
      <p:ext uri="{BB962C8B-B14F-4D97-AF65-F5344CB8AC3E}">
        <p14:creationId xmlns:p14="http://schemas.microsoft.com/office/powerpoint/2010/main" val="2331565653"/>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44ACB11-F377-7378-662D-92432AABB43C}"/>
              </a:ext>
            </a:extLst>
          </p:cNvPr>
          <p:cNvSpPr>
            <a:spLocks noGrp="1"/>
          </p:cNvSpPr>
          <p:nvPr>
            <p:ph type="title"/>
          </p:nvPr>
        </p:nvSpPr>
        <p:spPr/>
        <p:txBody>
          <a:bodyPr/>
          <a:lstStyle/>
          <a:p>
            <a:r>
              <a:rPr lang="en-US"/>
              <a:t>Explore containers in Azure Container Apps</a:t>
            </a:r>
          </a:p>
        </p:txBody>
      </p:sp>
      <p:sp>
        <p:nvSpPr>
          <p:cNvPr id="9" name="TextBox 8">
            <a:extLst>
              <a:ext uri="{FF2B5EF4-FFF2-40B4-BE49-F238E27FC236}">
                <a16:creationId xmlns:a16="http://schemas.microsoft.com/office/drawing/2014/main" id="{1AA93057-09C5-493E-D747-7A4A2CCDAFD8}"/>
              </a:ext>
            </a:extLst>
          </p:cNvPr>
          <p:cNvSpPr txBox="1"/>
          <p:nvPr/>
        </p:nvSpPr>
        <p:spPr>
          <a:xfrm>
            <a:off x="343936" y="1298657"/>
            <a:ext cx="5527565" cy="3711256"/>
          </a:xfrm>
          <a:prstGeom prst="rect">
            <a:avLst/>
          </a:prstGeom>
          <a:noFill/>
        </p:spPr>
        <p:txBody>
          <a:bodyPr wrap="square" lIns="186521" tIns="149217" rIns="186521" bIns="149217" rtlCol="0">
            <a:spAutoFit/>
          </a:bodyPr>
          <a:lstStyle/>
          <a:p>
            <a:pPr marL="349724" indent="-349724">
              <a:lnSpc>
                <a:spcPct val="90000"/>
              </a:lnSpc>
              <a:spcAft>
                <a:spcPts val="1224"/>
              </a:spcAft>
              <a:buFont typeface="Arial" panose="020B0604020202020204" pitchFamily="34" charset="0"/>
              <a:buChar char="•"/>
            </a:pPr>
            <a:r>
              <a:rPr lang="en-US" sz="2040">
                <a:gradFill>
                  <a:gsLst>
                    <a:gs pos="2917">
                      <a:schemeClr val="tx1"/>
                    </a:gs>
                    <a:gs pos="30000">
                      <a:schemeClr val="tx1"/>
                    </a:gs>
                  </a:gsLst>
                  <a:lin ang="5400000" scaled="0"/>
                </a:gradFill>
              </a:rPr>
              <a:t>Containers for an Azure Container App are grouped together in pods inside revision snapshots.</a:t>
            </a:r>
          </a:p>
          <a:p>
            <a:pPr marL="349724" indent="-349724">
              <a:lnSpc>
                <a:spcPct val="90000"/>
              </a:lnSpc>
              <a:spcAft>
                <a:spcPts val="1224"/>
              </a:spcAft>
              <a:buFont typeface="Arial" panose="020B0604020202020204" pitchFamily="34" charset="0"/>
              <a:buChar char="•"/>
            </a:pPr>
            <a:r>
              <a:rPr lang="en-US" sz="2040">
                <a:gradFill>
                  <a:gsLst>
                    <a:gs pos="2917">
                      <a:schemeClr val="tx1"/>
                    </a:gs>
                    <a:gs pos="30000">
                      <a:schemeClr val="tx1"/>
                    </a:gs>
                  </a:gsLst>
                  <a:lin ang="5400000" scaled="0"/>
                </a:gradFill>
              </a:rPr>
              <a:t>Can define multiple containers in a single container app to implement the sidecar pattern.</a:t>
            </a:r>
          </a:p>
          <a:p>
            <a:pPr marL="349724" indent="-349724">
              <a:lnSpc>
                <a:spcPct val="90000"/>
              </a:lnSpc>
              <a:spcAft>
                <a:spcPts val="1224"/>
              </a:spcAft>
              <a:buFont typeface="Arial" panose="020B0604020202020204" pitchFamily="34" charset="0"/>
              <a:buChar char="•"/>
            </a:pPr>
            <a:r>
              <a:rPr lang="en-US" sz="2040">
                <a:gradFill>
                  <a:gsLst>
                    <a:gs pos="2917">
                      <a:schemeClr val="tx1"/>
                    </a:gs>
                    <a:gs pos="30000">
                      <a:schemeClr val="tx1"/>
                    </a:gs>
                  </a:gsLst>
                  <a:lin ang="5400000" scaled="0"/>
                </a:gradFill>
              </a:rPr>
              <a:t>Deploy images hosted on private registries by providing credentials in the Container Apps configuration.</a:t>
            </a:r>
          </a:p>
          <a:p>
            <a:pPr marL="349724" indent="-349724">
              <a:lnSpc>
                <a:spcPct val="90000"/>
              </a:lnSpc>
              <a:spcAft>
                <a:spcPts val="612"/>
              </a:spcAft>
              <a:buFont typeface="Arial" panose="020B0604020202020204" pitchFamily="34" charset="0"/>
              <a:buChar char="•"/>
            </a:pPr>
            <a:endParaRPr lang="en-US" sz="2448">
              <a:gradFill>
                <a:gsLst>
                  <a:gs pos="2917">
                    <a:schemeClr val="tx1"/>
                  </a:gs>
                  <a:gs pos="30000">
                    <a:schemeClr val="tx1"/>
                  </a:gs>
                </a:gsLst>
                <a:lin ang="5400000" scaled="0"/>
              </a:gradFill>
            </a:endParaRPr>
          </a:p>
        </p:txBody>
      </p:sp>
      <p:pic>
        <p:nvPicPr>
          <p:cNvPr id="1026" name="Picture 2" descr="Diagram showing how containers for an Azure Container App are grouped together in pods inside revision snapshots.">
            <a:extLst>
              <a:ext uri="{FF2B5EF4-FFF2-40B4-BE49-F238E27FC236}">
                <a16:creationId xmlns:a16="http://schemas.microsoft.com/office/drawing/2014/main" id="{19269747-B703-E82C-EAB6-FBA51F2DA98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p:blipFill>
        <p:spPr bwMode="auto">
          <a:xfrm>
            <a:off x="6457367" y="1253130"/>
            <a:ext cx="5054526" cy="4751307"/>
          </a:xfrm>
          <a:prstGeom prst="rect">
            <a:avLst/>
          </a:prstGeom>
          <a:noFill/>
          <a:ln w="9525">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1162885"/>
      </p:ext>
    </p:extLst>
  </p:cSld>
  <p:clrMapOvr>
    <a:masterClrMapping/>
  </p:clrMapOvr>
  <p:transition>
    <p:fade/>
  </p:transition>
</p:sld>
</file>

<file path=ppt/theme/theme1.xml><?xml version="1.0" encoding="utf-8"?>
<a:theme xmlns:a="http://schemas.openxmlformats.org/drawingml/2006/main" name="1_Azure 1">
  <a:themeElements>
    <a:clrScheme name="Custom 3">
      <a:dk1>
        <a:srgbClr val="000000"/>
      </a:dk1>
      <a:lt1>
        <a:srgbClr val="FFFFFF"/>
      </a:lt1>
      <a:dk2>
        <a:srgbClr val="0078D3"/>
      </a:dk2>
      <a:lt2>
        <a:srgbClr val="FFFFFF"/>
      </a:lt2>
      <a:accent1>
        <a:srgbClr val="EBEBEB"/>
      </a:accent1>
      <a:accent2>
        <a:srgbClr val="75757A"/>
      </a:accent2>
      <a:accent3>
        <a:srgbClr val="000041"/>
      </a:accent3>
      <a:accent4>
        <a:srgbClr val="0078D3"/>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1a19d03a-48bc-4359-8038-5b5f6d5847c3}"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45</Slides>
  <Notes>45</Notes>
  <HiddenSlides>5</HiddenSlides>
  <ScaleCrop>false</ScaleCrop>
  <HeadingPairs>
    <vt:vector size="4" baseType="variant">
      <vt:variant>
        <vt:lpstr>Theme</vt:lpstr>
      </vt:variant>
      <vt:variant>
        <vt:i4>1</vt:i4>
      </vt:variant>
      <vt:variant>
        <vt:lpstr>Slide Titles</vt:lpstr>
      </vt:variant>
      <vt:variant>
        <vt:i4>45</vt:i4>
      </vt:variant>
    </vt:vector>
  </HeadingPairs>
  <TitlesOfParts>
    <vt:vector size="46" baseType="lpstr">
      <vt:lpstr>1_Azure 1</vt:lpstr>
      <vt:lpstr>AZ-104T00A Administer PaaS Compute Options</vt:lpstr>
      <vt:lpstr>Administer PaaS Compute Options Introduction</vt:lpstr>
      <vt:lpstr>Administer PaaS Compute Options whiteboard</vt:lpstr>
      <vt:lpstr>Configure Azure App Service Plans</vt:lpstr>
      <vt:lpstr>Learning Objectives - Configure Azure App Service Plans </vt:lpstr>
      <vt:lpstr>Implement Azure App Service Plans</vt:lpstr>
      <vt:lpstr>Determine App Service Plan Pricing</vt:lpstr>
      <vt:lpstr>Scale Up and Scale Out the App Service Plan</vt:lpstr>
      <vt:lpstr>Configure App Service Plan Scaling</vt:lpstr>
      <vt:lpstr>Demonstration – Configure App Service plans</vt:lpstr>
      <vt:lpstr>Learning Recap – Configure Azure App Service Plans</vt:lpstr>
      <vt:lpstr>Configure Azure App Services</vt:lpstr>
      <vt:lpstr>Learning Objectives - Configure Azure App Services</vt:lpstr>
      <vt:lpstr>Implement Azure App Service</vt:lpstr>
      <vt:lpstr>Create an App Service</vt:lpstr>
      <vt:lpstr>Create Deployment Slots</vt:lpstr>
      <vt:lpstr>Add Deployment Slots</vt:lpstr>
      <vt:lpstr>Secure an App Service</vt:lpstr>
      <vt:lpstr>Create Custom Domain Names</vt:lpstr>
      <vt:lpstr>Backup an App Service</vt:lpstr>
      <vt:lpstr>Demonstration – Configure Azure App Services</vt:lpstr>
      <vt:lpstr>Learning Recap – Configure Azure App Services</vt:lpstr>
      <vt:lpstr>Configure Azure Container Instances Apps</vt:lpstr>
      <vt:lpstr>Learning Objectives - Configure Azure Container Instances </vt:lpstr>
      <vt:lpstr>Compare Containers to Virtual Machines</vt:lpstr>
      <vt:lpstr>Understand Container Images</vt:lpstr>
      <vt:lpstr>Review Azure Container Instances</vt:lpstr>
      <vt:lpstr>Implement Container Groups</vt:lpstr>
      <vt:lpstr>Demonstration - Configure Azure Container Instances</vt:lpstr>
      <vt:lpstr>Manage Containers with Azure Container Apps </vt:lpstr>
      <vt:lpstr>Compare container management solutions</vt:lpstr>
      <vt:lpstr>Demonstration - Configure Azure Container Apps</vt:lpstr>
      <vt:lpstr>Learning Recap – Configure Azure Container Instances and Apps</vt:lpstr>
      <vt:lpstr>Lab 09a – Implement Web Apps Lab 09b – Implement Azure Container Instances Lab 09c – Implement Azure Container Apps  11:30 CET, 12 + lunch 1pm  </vt:lpstr>
      <vt:lpstr>Lab 09a – Implement web apps</vt:lpstr>
      <vt:lpstr>Lab 09a – Web App Architecture Diagram</vt:lpstr>
      <vt:lpstr>Lab 09b – Implement Azure Container Instances</vt:lpstr>
      <vt:lpstr>Lab 09b – Azure Container Instances Diagram</vt:lpstr>
      <vt:lpstr>Lab 09c – Implement Azure Container Apps</vt:lpstr>
      <vt:lpstr>Lab 09c – Azure Container Architecture Diagram</vt:lpstr>
      <vt:lpstr>End of presentation</vt:lpstr>
      <vt:lpstr>Azure Kubernetes Service</vt:lpstr>
      <vt:lpstr>Understand AKS Terminology</vt:lpstr>
      <vt:lpstr>Understand the Docker Platform (optional)</vt:lpstr>
      <vt:lpstr>Explore containers in Azure Container Apps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cp:revision>
  <dcterms:created xsi:type="dcterms:W3CDTF">2025-01-20T00:49:53Z</dcterms:created>
  <dcterms:modified xsi:type="dcterms:W3CDTF">2026-03-05T10:31:56Z</dcterms:modified>
</cp:coreProperties>
</file>