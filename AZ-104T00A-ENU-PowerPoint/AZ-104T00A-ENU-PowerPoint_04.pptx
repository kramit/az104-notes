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removePersonalInfoOnSave="1" saveSubsetFonts="1">
  <p:sldMasterIdLst>
    <p:sldMasterId id="2147484637" r:id="rId1"/>
  </p:sldMasterIdLst>
  <p:notesMasterIdLst>
    <p:notesMasterId r:id="rId41"/>
  </p:notesMasterIdLst>
  <p:handoutMasterIdLst>
    <p:handoutMasterId r:id="rId42"/>
  </p:handoutMasterIdLst>
  <p:sldIdLst>
    <p:sldId id="1719" r:id="rId2"/>
    <p:sldId id="2409" r:id="rId3"/>
    <p:sldId id="9158" r:id="rId4"/>
    <p:sldId id="1865" r:id="rId5"/>
    <p:sldId id="2393" r:id="rId6"/>
    <p:sldId id="2336" r:id="rId7"/>
    <p:sldId id="2341" r:id="rId8"/>
    <p:sldId id="2337" r:id="rId9"/>
    <p:sldId id="2348" r:id="rId10"/>
    <p:sldId id="2542" r:id="rId11"/>
    <p:sldId id="2350" r:id="rId12"/>
    <p:sldId id="2352" r:id="rId13"/>
    <p:sldId id="2397" r:id="rId14"/>
    <p:sldId id="2546" r:id="rId15"/>
    <p:sldId id="2222" r:id="rId16"/>
    <p:sldId id="2396" r:id="rId17"/>
    <p:sldId id="2387" r:id="rId18"/>
    <p:sldId id="2388" r:id="rId19"/>
    <p:sldId id="2389" r:id="rId20"/>
    <p:sldId id="2392" r:id="rId21"/>
    <p:sldId id="2550" r:id="rId22"/>
    <p:sldId id="2408" r:id="rId23"/>
    <p:sldId id="2547" r:id="rId24"/>
    <p:sldId id="2004" r:id="rId25"/>
    <p:sldId id="2395" r:id="rId26"/>
    <p:sldId id="2535" r:id="rId27"/>
    <p:sldId id="2370" r:id="rId28"/>
    <p:sldId id="2375" r:id="rId29"/>
    <p:sldId id="2405" r:id="rId30"/>
    <p:sldId id="2406" r:id="rId31"/>
    <p:sldId id="2407" r:id="rId32"/>
    <p:sldId id="2549" r:id="rId33"/>
    <p:sldId id="2007" r:id="rId34"/>
    <p:sldId id="9159" r:id="rId35"/>
    <p:sldId id="9160" r:id="rId36"/>
    <p:sldId id="2545" r:id="rId37"/>
    <p:sldId id="2536" r:id="rId38"/>
    <p:sldId id="2378" r:id="rId39"/>
    <p:sldId id="9161" r:id="rId40"/>
  </p:sldIdLst>
  <p:sldSz cx="12436475" cy="6994525"/>
  <p:notesSz cx="6858000" cy="9144000"/>
  <p:defaultText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Virtual Networking" id="{51FAA111-F35F-49D8-8407-C31D1D28D254}">
          <p14:sldIdLst>
            <p14:sldId id="1719"/>
            <p14:sldId id="2409"/>
            <p14:sldId id="9158"/>
          </p14:sldIdLst>
        </p14:section>
        <p14:section name="Virtual Networks" id="{532A972C-33C7-4482-A486-0022903CDBB0}">
          <p14:sldIdLst>
            <p14:sldId id="1865"/>
            <p14:sldId id="2393"/>
            <p14:sldId id="2336"/>
            <p14:sldId id="2341"/>
            <p14:sldId id="2337"/>
            <p14:sldId id="2348"/>
            <p14:sldId id="2542"/>
            <p14:sldId id="2350"/>
            <p14:sldId id="2352"/>
            <p14:sldId id="2397"/>
            <p14:sldId id="2546"/>
          </p14:sldIdLst>
        </p14:section>
        <p14:section name="NSGs" id="{A9710181-5E60-430A-847B-6CFDECA6055C}">
          <p14:sldIdLst>
            <p14:sldId id="2222"/>
            <p14:sldId id="2396"/>
            <p14:sldId id="2387"/>
            <p14:sldId id="2388"/>
            <p14:sldId id="2389"/>
            <p14:sldId id="2392"/>
            <p14:sldId id="2550"/>
            <p14:sldId id="2408"/>
            <p14:sldId id="2547"/>
          </p14:sldIdLst>
        </p14:section>
        <p14:section name="DNS" id="{31AC2046-60D2-4BCB-A89C-F7421169900E}">
          <p14:sldIdLst>
            <p14:sldId id="2004"/>
            <p14:sldId id="2395"/>
            <p14:sldId id="2535"/>
            <p14:sldId id="2370"/>
            <p14:sldId id="2375"/>
            <p14:sldId id="2405"/>
            <p14:sldId id="2406"/>
            <p14:sldId id="2407"/>
            <p14:sldId id="2549"/>
          </p14:sldIdLst>
        </p14:section>
        <p14:section name="Labs" id="{276B6FFD-F917-4C7B-B4CE-9AD928BF478A}">
          <p14:sldIdLst>
            <p14:sldId id="2007"/>
            <p14:sldId id="9159"/>
            <p14:sldId id="9160"/>
            <p14:sldId id="2545"/>
          </p14:sldIdLst>
        </p14:section>
        <p14:section name="Extra Optional Slides" id="{87138945-F397-481A-8FB0-B3482812C8FA}">
          <p14:sldIdLst>
            <p14:sldId id="2536"/>
            <p14:sldId id="2378"/>
            <p14:sldId id="9161"/>
          </p14:sldIdLst>
        </p14:section>
      </p14:sectionLst>
    </p:ext>
    <p:ext uri="{EFAFB233-063F-42B5-8137-9DF3F51BA10A}">
      <p15:sldGuideLst xmlns:p15="http://schemas.microsoft.com/office/powerpoint/2012/main"/>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6" name="Author" initials="A" lastIdx="0" clrIdx="6"/>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BBE7"/>
    <a:srgbClr val="30E5D0"/>
    <a:srgbClr val="243A5E"/>
    <a:srgbClr val="EBEBEB"/>
    <a:srgbClr val="59B4D9"/>
    <a:srgbClr val="FFFFFF"/>
    <a:srgbClr val="FFF100"/>
    <a:srgbClr val="75757A"/>
    <a:srgbClr val="3C3C41"/>
    <a:srgbClr val="008272"/>
  </p:clrMru>
  <p:extLst>
    <p:ext uri="{E76CE94A-603C-4142-B9EB-6D1370010A27}">
      <p14:discardImageEditData xmlns:p14="http://schemas.microsoft.com/office/powerpoint/2010/main" val="1"/>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91EBBBCC-DAD2-459C-BE2E-F6DE35CF9A28}" styleName="Dark Style 2 - Accent 3/Accent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3406" autoAdjust="0"/>
    <p:restoredTop sz="87821" autoAdjust="0"/>
  </p:normalViewPr>
  <p:slideViewPr>
    <p:cSldViewPr snapToGrid="0">
      <p:cViewPr varScale="1">
        <p:scale>
          <a:sx n="92" d="100"/>
          <a:sy n="92" d="100"/>
        </p:scale>
        <p:origin x="678" y="306"/>
      </p:cViewPr>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p:scale>
          <a:sx n="90" d="100"/>
          <a:sy n="90" d="100"/>
        </p:scale>
        <p:origin x="2868" y="132"/>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handoutMaster" Target="handoutMasters/handoutMaster1.xml"/><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commentAuthors" Target="commentAuthors.xml"/><Relationship Id="rId48" Type="http://schemas.microsoft.com/office/2018/10/relationships/authors" Target="author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Header Placeholder 5"/>
          <p:cNvSpPr>
            <a:spLocks noGrp="1"/>
          </p:cNvSpPr>
          <p:nvPr>
            <p:ph type="hdr" sz="quarter"/>
          </p:nvPr>
        </p:nvSpPr>
        <p:spPr>
          <a:xfrm>
            <a:off x="0" y="-11574"/>
            <a:ext cx="2971800" cy="457200"/>
          </a:xfrm>
          <a:prstGeom prst="rect">
            <a:avLst/>
          </a:prstGeom>
        </p:spPr>
        <p:txBody>
          <a:bodyPr vert="horz" lIns="91440" tIns="45720" rIns="91440" bIns="45720" rtlCol="0"/>
          <a:lstStyle>
            <a:lvl1pPr algn="l">
              <a:defRPr sz="1200"/>
            </a:lvl1pPr>
          </a:lstStyle>
          <a:p>
            <a:endParaRPr lang="en-US" dirty="0">
              <a:latin typeface="Segoe UI" pitchFamily="34" charset="0"/>
            </a:endParaRPr>
          </a:p>
        </p:txBody>
      </p:sp>
      <p:sp>
        <p:nvSpPr>
          <p:cNvPr id="7" name="Date Placeholder 6"/>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4A5FDB7B-8DB8-4A3A-95C8-7102BBC9A9E1}" type="datetime8">
              <a:rPr lang="en-US" smtClean="0">
                <a:latin typeface="Segoe UI" pitchFamily="34" charset="0"/>
              </a:rPr>
              <a:t>11/10/2025 11:33 AM</a:t>
            </a:fld>
            <a:endParaRPr lang="en-US" dirty="0">
              <a:latin typeface="Segoe UI" pitchFamily="34" charset="0"/>
            </a:endParaRPr>
          </a:p>
        </p:txBody>
      </p:sp>
      <p:sp>
        <p:nvSpPr>
          <p:cNvPr id="8" name="Footer Placeholder 7"/>
          <p:cNvSpPr>
            <a:spLocks noGrp="1"/>
          </p:cNvSpPr>
          <p:nvPr>
            <p:ph type="ftr" sz="quarter" idx="2"/>
          </p:nvPr>
        </p:nvSpPr>
        <p:spPr>
          <a:xfrm>
            <a:off x="0" y="8685213"/>
            <a:ext cx="5795010" cy="332434"/>
          </a:xfrm>
          <a:prstGeom prst="rect">
            <a:avLst/>
          </a:prstGeom>
        </p:spPr>
        <p:txBody>
          <a:bodyPr vert="horz" lIns="91440" tIns="45720" rIns="91440" bIns="45720" rtlCol="0" anchor="b"/>
          <a:lstStyle>
            <a:lvl1pPr algn="l">
              <a:defRPr sz="1200"/>
            </a:lvl1pPr>
          </a:lstStyle>
          <a:p>
            <a:pPr marL="398463" defTabSz="914099" eaLnBrk="0" hangingPunct="0"/>
            <a:r>
              <a:rPr lang="en-US" sz="400" dirty="0">
                <a:gradFill>
                  <a:gsLst>
                    <a:gs pos="0">
                      <a:schemeClr val="tx1"/>
                    </a:gs>
                    <a:gs pos="100000">
                      <a:schemeClr val="tx1"/>
                    </a:gs>
                  </a:gsLst>
                  <a:lin ang="5400000" scaled="0"/>
                </a:gradFill>
                <a:latin typeface="Segoe UI" pitchFamily="34" charset="0"/>
                <a:ea typeface="Segoe UI" pitchFamily="34" charset="0"/>
                <a:cs typeface="Segoe UI" pitchFamily="34" charset="0"/>
              </a:rPr>
              <a:t>© Microsoft Corporation</a:t>
            </a:r>
          </a:p>
        </p:txBody>
      </p:sp>
      <p:sp>
        <p:nvSpPr>
          <p:cNvPr id="9" name="Slide Number Placeholder 8"/>
          <p:cNvSpPr>
            <a:spLocks noGrp="1"/>
          </p:cNvSpPr>
          <p:nvPr>
            <p:ph type="sldNum" sz="quarter" idx="3"/>
          </p:nvPr>
        </p:nvSpPr>
        <p:spPr>
          <a:xfrm>
            <a:off x="5783579" y="8685213"/>
            <a:ext cx="1072833" cy="457200"/>
          </a:xfrm>
          <a:prstGeom prst="rect">
            <a:avLst/>
          </a:prstGeom>
        </p:spPr>
        <p:txBody>
          <a:bodyPr vert="horz" lIns="91440" tIns="45720" rIns="91440" bIns="45720" rtlCol="0" anchor="b"/>
          <a:lstStyle>
            <a:lvl1pPr algn="r">
              <a:defRPr sz="1200"/>
            </a:lvl1pPr>
          </a:lstStyle>
          <a:p>
            <a:fld id="{0EC9E9D6-92A0-482B-A603-C9BA7FFB8190}" type="slidenum">
              <a:rPr lang="en-US" smtClean="0">
                <a:latin typeface="Segoe UI" pitchFamily="34" charset="0"/>
              </a:rPr>
              <a:t>‹#›</a:t>
            </a:fld>
            <a:endParaRPr lang="en-US" dirty="0">
              <a:latin typeface="Segoe UI" pitchFamily="34" charset="0"/>
            </a:endParaRPr>
          </a:p>
        </p:txBody>
      </p:sp>
    </p:spTree>
    <p:extLst>
      <p:ext uri="{BB962C8B-B14F-4D97-AF65-F5344CB8AC3E}">
        <p14:creationId xmlns:p14="http://schemas.microsoft.com/office/powerpoint/2010/main" val="3904595630"/>
      </p:ext>
    </p:extLst>
  </p:cSld>
  <p:clrMap bg1="lt1" tx1="dk1" bg2="lt2" tx2="dk2" accent1="accent1" accent2="accent2" accent3="accent3" accent4="accent4" accent5="accent5" accent6="accent6" hlink="hlink" folHlink="folHlink"/>
  <p:hf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Slide Image Placeholder 8"/>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12" name="Notes Placeholder 11"/>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Slide Number Placeholder 12"/>
          <p:cNvSpPr>
            <a:spLocks noGrp="1"/>
          </p:cNvSpPr>
          <p:nvPr>
            <p:ph type="sldNum" sz="quarter" idx="5"/>
          </p:nvPr>
        </p:nvSpPr>
        <p:spPr>
          <a:xfrm>
            <a:off x="5909309" y="8685213"/>
            <a:ext cx="947103" cy="457200"/>
          </a:xfrm>
          <a:prstGeom prst="rect">
            <a:avLst/>
          </a:prstGeom>
        </p:spPr>
        <p:txBody>
          <a:bodyPr vert="horz" lIns="91440" tIns="45720" rIns="91440" bIns="45720" rtlCol="0" anchor="b"/>
          <a:lstStyle>
            <a:lvl1pPr algn="r">
              <a:defRPr sz="1000">
                <a:latin typeface="+mj-lt"/>
              </a:defRPr>
            </a:lvl1pPr>
          </a:lstStyle>
          <a:p>
            <a:fld id="{B4008EB6-D09E-4580-8CD6-DDB14511944F}" type="slidenum">
              <a:rPr lang="en-US" smtClean="0"/>
              <a:pPr/>
              <a:t>‹#›</a:t>
            </a:fld>
            <a:endParaRPr lang="en-US" dirty="0"/>
          </a:p>
        </p:txBody>
      </p:sp>
    </p:spTree>
    <p:extLst>
      <p:ext uri="{BB962C8B-B14F-4D97-AF65-F5344CB8AC3E}">
        <p14:creationId xmlns:p14="http://schemas.microsoft.com/office/powerpoint/2010/main" val="2624648265"/>
      </p:ext>
    </p:extLst>
  </p:cSld>
  <p:clrMap bg1="lt1" tx1="dk1" bg2="lt2" tx2="dk2" accent1="accent1" accent2="accent2" accent3="accent3" accent4="accent4" accent5="accent5" accent6="accent6" hlink="hlink" folHlink="folHlink"/>
  <p:hf dt="0"/>
  <p:notesStyle>
    <a:lvl1pPr marL="0" algn="l" defTabSz="932742" rtl="0" eaLnBrk="1" latinLnBrk="0" hangingPunct="1">
      <a:lnSpc>
        <a:spcPct val="90000"/>
      </a:lnSpc>
      <a:spcAft>
        <a:spcPts val="340"/>
      </a:spcAft>
      <a:defRPr sz="1100" kern="1200">
        <a:solidFill>
          <a:schemeClr val="tx1"/>
        </a:solidFill>
        <a:latin typeface="+mn-lt"/>
        <a:ea typeface="+mn-ea"/>
        <a:cs typeface="+mn-cs"/>
      </a:defRPr>
    </a:lvl1pPr>
    <a:lvl2pPr marL="217262" indent="-107956" algn="l" defTabSz="932742" rtl="0" eaLnBrk="1" latinLnBrk="0" hangingPunct="1">
      <a:lnSpc>
        <a:spcPct val="90000"/>
      </a:lnSpc>
      <a:spcAft>
        <a:spcPts val="340"/>
      </a:spcAft>
      <a:buFont typeface="Arial" pitchFamily="34" charset="0"/>
      <a:buChar char="•"/>
      <a:defRPr sz="1100" kern="1200">
        <a:solidFill>
          <a:schemeClr val="tx1"/>
        </a:solidFill>
        <a:latin typeface="+mn-lt"/>
        <a:ea typeface="+mn-ea"/>
        <a:cs typeface="+mn-cs"/>
      </a:defRPr>
    </a:lvl2pPr>
    <a:lvl3pPr marL="334664" indent="-117403" algn="l" defTabSz="932742" rtl="0" eaLnBrk="1" latinLnBrk="0" hangingPunct="1">
      <a:lnSpc>
        <a:spcPct val="90000"/>
      </a:lnSpc>
      <a:spcAft>
        <a:spcPts val="340"/>
      </a:spcAft>
      <a:buFont typeface="Arial" pitchFamily="34" charset="0"/>
      <a:buChar char="•"/>
      <a:defRPr sz="1100" kern="1200">
        <a:solidFill>
          <a:schemeClr val="tx1"/>
        </a:solidFill>
        <a:latin typeface="+mn-lt"/>
        <a:ea typeface="+mn-ea"/>
        <a:cs typeface="+mn-cs"/>
      </a:defRPr>
    </a:lvl3pPr>
    <a:lvl4pPr marL="492551" indent="-149789" algn="l" defTabSz="932742" rtl="0" eaLnBrk="1" latinLnBrk="0" hangingPunct="1">
      <a:lnSpc>
        <a:spcPct val="90000"/>
      </a:lnSpc>
      <a:spcAft>
        <a:spcPts val="340"/>
      </a:spcAft>
      <a:buFont typeface="Arial" pitchFamily="34" charset="0"/>
      <a:buChar char="•"/>
      <a:defRPr sz="1100" kern="1200">
        <a:solidFill>
          <a:schemeClr val="tx1"/>
        </a:solidFill>
        <a:latin typeface="+mn-lt"/>
        <a:ea typeface="+mn-ea"/>
        <a:cs typeface="+mn-cs"/>
      </a:defRPr>
    </a:lvl4pPr>
    <a:lvl5pPr marL="627496" indent="-117403" algn="l" defTabSz="932742" rtl="0" eaLnBrk="1" latinLnBrk="0" hangingPunct="1">
      <a:lnSpc>
        <a:spcPct val="90000"/>
      </a:lnSpc>
      <a:spcAft>
        <a:spcPts val="340"/>
      </a:spcAft>
      <a:buFont typeface="Arial" pitchFamily="34" charset="0"/>
      <a:buChar char="•"/>
      <a:defRPr sz="1100" kern="1200">
        <a:solidFill>
          <a:schemeClr val="tx1"/>
        </a:solidFill>
        <a:latin typeface="+mn-lt"/>
        <a:ea typeface="+mn-ea"/>
        <a:cs typeface="+mn-cs"/>
      </a:defRPr>
    </a:lvl5pPr>
    <a:lvl6pPr marL="2331856" algn="l" defTabSz="932742" rtl="0" eaLnBrk="1" latinLnBrk="0" hangingPunct="1">
      <a:defRPr sz="1200" kern="1200">
        <a:solidFill>
          <a:schemeClr val="tx1"/>
        </a:solidFill>
        <a:latin typeface="+mn-lt"/>
        <a:ea typeface="+mn-ea"/>
        <a:cs typeface="+mn-cs"/>
      </a:defRPr>
    </a:lvl6pPr>
    <a:lvl7pPr marL="2798226" algn="l" defTabSz="932742" rtl="0" eaLnBrk="1" latinLnBrk="0" hangingPunct="1">
      <a:defRPr sz="1200" kern="1200">
        <a:solidFill>
          <a:schemeClr val="tx1"/>
        </a:solidFill>
        <a:latin typeface="+mn-lt"/>
        <a:ea typeface="+mn-ea"/>
        <a:cs typeface="+mn-cs"/>
      </a:defRPr>
    </a:lvl7pPr>
    <a:lvl8pPr marL="3264597" algn="l" defTabSz="932742" rtl="0" eaLnBrk="1" latinLnBrk="0" hangingPunct="1">
      <a:defRPr sz="1200" kern="1200">
        <a:solidFill>
          <a:schemeClr val="tx1"/>
        </a:solidFill>
        <a:latin typeface="+mn-lt"/>
        <a:ea typeface="+mn-ea"/>
        <a:cs typeface="+mn-cs"/>
      </a:defRPr>
    </a:lvl8pPr>
    <a:lvl9pPr marL="3730969" algn="l" defTabSz="932742"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lvl="0"/>
            <a:r>
              <a:rPr lang="en-US" dirty="0"/>
              <a:t>These Learn modules are part of the AZ-104: Configure and manage virtual networks for Azure administrators (https://learn.microsoft.com/learn/paths/az-104-manage-virtual-networks/) learning path. </a:t>
            </a:r>
          </a:p>
        </p:txBody>
      </p:sp>
      <p:sp>
        <p:nvSpPr>
          <p:cNvPr id="7" name="Slide Number Placeholder 6"/>
          <p:cNvSpPr>
            <a:spLocks noGrp="1"/>
          </p:cNvSpPr>
          <p:nvPr>
            <p:ph type="sldNum" sz="quarter" idx="13"/>
          </p:nvPr>
        </p:nvSpPr>
        <p:spPr/>
        <p:txBody>
          <a:bodyPr/>
          <a:lstStyle/>
          <a:p>
            <a:pPr lvl="0"/>
            <a:fld id="{B4008EB6-D09E-4580-8CD6-DDB14511944F}" type="slidenum">
              <a:rPr lang="en-US" noProof="0" smtClean="0"/>
              <a:pPr lvl="0"/>
              <a:t>1</a:t>
            </a:fld>
            <a:endParaRPr lang="en-US" noProof="0" dirty="0"/>
          </a:p>
        </p:txBody>
      </p:sp>
      <p:sp>
        <p:nvSpPr>
          <p:cNvPr id="6" name="Slide Image Placeholder 5">
            <a:extLst>
              <a:ext uri="{FF2B5EF4-FFF2-40B4-BE49-F238E27FC236}">
                <a16:creationId xmlns:a16="http://schemas.microsoft.com/office/drawing/2014/main" id="{6A8FB523-E465-2306-95F0-8A661A38F077}"/>
              </a:ext>
            </a:extLst>
          </p:cNvPr>
          <p:cNvSpPr>
            <a:spLocks noGrp="1" noRot="1" noChangeAspect="1"/>
          </p:cNvSpPr>
          <p:nvPr>
            <p:ph type="sldImg"/>
          </p:nvPr>
        </p:nvSpPr>
        <p:spPr/>
      </p:sp>
    </p:spTree>
    <p:extLst>
      <p:ext uri="{BB962C8B-B14F-4D97-AF65-F5344CB8AC3E}">
        <p14:creationId xmlns:p14="http://schemas.microsoft.com/office/powerpoint/2010/main" val="20803959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07DC7E-BC41-4478-BA30-CBCC3A644F0A}" type="slidenum">
              <a:rPr lang="en-US" smtClean="0"/>
              <a:t>2</a:t>
            </a:fld>
            <a:endParaRPr lang="en-US" dirty="0"/>
          </a:p>
        </p:txBody>
      </p:sp>
    </p:spTree>
    <p:extLst>
      <p:ext uri="{BB962C8B-B14F-4D97-AF65-F5344CB8AC3E}">
        <p14:creationId xmlns:p14="http://schemas.microsoft.com/office/powerpoint/2010/main" val="13041045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lvl="0"/>
            <a:r>
              <a:rPr lang="en-US" dirty="0"/>
              <a:t>Optional whiteboard slide to introduce the module or review the content. Use the whiteboard diagram directly or recreate the image during the class. </a:t>
            </a:r>
          </a:p>
          <a:p>
            <a:endParaRPr lang="en-US" dirty="0"/>
          </a:p>
        </p:txBody>
      </p:sp>
      <p:sp>
        <p:nvSpPr>
          <p:cNvPr id="6" name="Slide Number Placeholder 5"/>
          <p:cNvSpPr>
            <a:spLocks noGrp="1"/>
          </p:cNvSpPr>
          <p:nvPr>
            <p:ph type="sldNum" sz="quarter" idx="5"/>
          </p:nvPr>
        </p:nvSpPr>
        <p:spPr/>
        <p:txBody>
          <a:bodyPr/>
          <a:lstStyle/>
          <a:p>
            <a:pPr lvl="0"/>
            <a:fld id="{B4008EB6-D09E-4580-8CD6-DDB14511944F}" type="slidenum">
              <a:rPr lang="en-US" noProof="0" smtClean="0"/>
              <a:pPr lvl="0"/>
              <a:t>3</a:t>
            </a:fld>
            <a:endParaRPr lang="en-US" noProof="0" dirty="0"/>
          </a:p>
        </p:txBody>
      </p:sp>
      <p:sp>
        <p:nvSpPr>
          <p:cNvPr id="5" name="Slide Image Placeholder 4">
            <a:extLst>
              <a:ext uri="{FF2B5EF4-FFF2-40B4-BE49-F238E27FC236}">
                <a16:creationId xmlns:a16="http://schemas.microsoft.com/office/drawing/2014/main" id="{C3BB8F3C-74A0-4A19-A99D-9E126060FD89}"/>
              </a:ext>
            </a:extLst>
          </p:cNvPr>
          <p:cNvSpPr>
            <a:spLocks noGrp="1" noRot="1" noChangeAspect="1"/>
          </p:cNvSpPr>
          <p:nvPr>
            <p:ph type="sldImg"/>
          </p:nvPr>
        </p:nvSpPr>
        <p:spPr/>
      </p:sp>
    </p:spTree>
    <p:extLst>
      <p:ext uri="{BB962C8B-B14F-4D97-AF65-F5344CB8AC3E}">
        <p14:creationId xmlns:p14="http://schemas.microsoft.com/office/powerpoint/2010/main" val="186921315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4008EB6-D09E-4580-8CD6-DDB14511944F}" type="slidenum">
              <a:rPr lang="en-US" smtClean="0"/>
              <a:pPr/>
              <a:t>4</a:t>
            </a:fld>
            <a:endParaRPr lang="en-US" dirty="0"/>
          </a:p>
        </p:txBody>
      </p:sp>
    </p:spTree>
    <p:extLst>
      <p:ext uri="{BB962C8B-B14F-4D97-AF65-F5344CB8AC3E}">
        <p14:creationId xmlns:p14="http://schemas.microsoft.com/office/powerpoint/2010/main" val="122437194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endParaRPr lang="en-US" dirty="0"/>
          </a:p>
        </p:txBody>
      </p:sp>
      <p:sp>
        <p:nvSpPr>
          <p:cNvPr id="4" name="Slide Number Placeholder 3"/>
          <p:cNvSpPr>
            <a:spLocks noGrp="1"/>
          </p:cNvSpPr>
          <p:nvPr>
            <p:ph type="sldNum" sz="quarter" idx="5"/>
          </p:nvPr>
        </p:nvSpPr>
        <p:spPr/>
        <p:txBody>
          <a:bodyPr/>
          <a:lstStyle/>
          <a:p>
            <a:fld id="{8507DC7E-BC41-4478-BA30-CBCC3A644F0A}" type="slidenum">
              <a:rPr lang="en-US" smtClean="0"/>
              <a:t>5</a:t>
            </a:fld>
            <a:endParaRPr lang="en-US" dirty="0"/>
          </a:p>
        </p:txBody>
      </p:sp>
    </p:spTree>
    <p:extLst>
      <p:ext uri="{BB962C8B-B14F-4D97-AF65-F5344CB8AC3E}">
        <p14:creationId xmlns:p14="http://schemas.microsoft.com/office/powerpoint/2010/main" val="15392409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What is Azure Virtual Network?</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https://learn.microsoft.com/azure/virtual-network/virtual-networks-overview</a:t>
            </a:r>
          </a:p>
          <a:p>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6</a:t>
            </a:fld>
            <a:endParaRPr lang="en-US" dirty="0"/>
          </a:p>
        </p:txBody>
      </p:sp>
    </p:spTree>
    <p:extLst>
      <p:ext uri="{BB962C8B-B14F-4D97-AF65-F5344CB8AC3E}">
        <p14:creationId xmlns:p14="http://schemas.microsoft.com/office/powerpoint/2010/main" val="149099413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QuickStart: Create a virtual network using the Azure portal</a:t>
            </a:r>
          </a:p>
          <a:p>
            <a:r>
              <a:rPr lang="en-US" dirty="0"/>
              <a:t>https://learn.microsoft.com/azure/virtual-network/quick-create-portal</a:t>
            </a:r>
          </a:p>
          <a:p>
            <a:endParaRPr lang="en-US" dirty="0"/>
          </a:p>
          <a:p>
            <a:r>
              <a:rPr lang="en-US" dirty="0"/>
              <a:t>✔️ Always plan to use an address space that is not already in use in your organization, either on-premises or in other VNets. Even if you plan for a VNet to be cloud-only, you may want to make a VPN connection to it later. If there is any overlap in address spaces at that point, you will have to reconfigure or recreate the VNet. The next lesson will focus on IP addressing.</a:t>
            </a:r>
          </a:p>
          <a:p>
            <a:endParaRPr lang="en-US" dirty="0"/>
          </a:p>
          <a:p>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7</a:t>
            </a:fld>
            <a:endParaRPr lang="en-US" dirty="0"/>
          </a:p>
        </p:txBody>
      </p:sp>
    </p:spTree>
    <p:extLst>
      <p:ext uri="{BB962C8B-B14F-4D97-AF65-F5344CB8AC3E}">
        <p14:creationId xmlns:p14="http://schemas.microsoft.com/office/powerpoint/2010/main" val="147018183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dirty="0"/>
              <a:t>✔️ </a:t>
            </a:r>
            <a:r>
              <a:rPr lang="en-US" b="1" i="0" dirty="0">
                <a:solidFill>
                  <a:srgbClr val="000000"/>
                </a:solidFill>
                <a:effectLst/>
                <a:latin typeface="Segoe UI VSS (Regular)"/>
              </a:rPr>
              <a:t> </a:t>
            </a:r>
            <a:r>
              <a:rPr lang="en-US" b="0" i="0" dirty="0">
                <a:solidFill>
                  <a:srgbClr val="000000"/>
                </a:solidFill>
                <a:effectLst/>
                <a:latin typeface="Segoe UI VSS (Regular)"/>
              </a:rPr>
              <a:t>Azure reserves 5 IP addresses within each subnet.</a:t>
            </a:r>
          </a:p>
          <a:p>
            <a:pPr algn="l"/>
            <a:endParaRPr lang="en-US" b="0" i="0" dirty="0">
              <a:solidFill>
                <a:srgbClr val="000000"/>
              </a:solidFill>
              <a:effectLst/>
              <a:latin typeface="Segoe UI VSS (Regular)"/>
            </a:endParaRPr>
          </a:p>
          <a:p>
            <a:pPr algn="l">
              <a:buFont typeface="Arial" panose="020B0604020202020204" pitchFamily="34" charset="0"/>
              <a:buChar char="•"/>
            </a:pPr>
            <a:r>
              <a:rPr lang="en-US" b="0" i="0" dirty="0">
                <a:solidFill>
                  <a:srgbClr val="000000"/>
                </a:solidFill>
                <a:effectLst/>
                <a:latin typeface="Segoe UI VSS (Regular)"/>
              </a:rPr>
              <a:t> x.x.x.0: Network address</a:t>
            </a:r>
          </a:p>
          <a:p>
            <a:pPr marL="0" marR="0" lvl="0" indent="0" algn="l" defTabSz="932742" rtl="0" eaLnBrk="1" fontAlgn="auto" latinLnBrk="0" hangingPunct="1">
              <a:lnSpc>
                <a:spcPct val="90000"/>
              </a:lnSpc>
              <a:spcBef>
                <a:spcPts val="0"/>
              </a:spcBef>
              <a:spcAft>
                <a:spcPts val="340"/>
              </a:spcAft>
              <a:buClrTx/>
              <a:buSzTx/>
              <a:buFont typeface="Arial" panose="020B0604020202020204" pitchFamily="34" charset="0"/>
              <a:buChar char="•"/>
              <a:tabLst/>
              <a:defRPr/>
            </a:pPr>
            <a:r>
              <a:rPr lang="en-US" b="0" i="0" dirty="0">
                <a:solidFill>
                  <a:srgbClr val="000000"/>
                </a:solidFill>
                <a:effectLst/>
                <a:latin typeface="Segoe UI VSS (Regular)"/>
              </a:rPr>
              <a:t> x.x.x.1: Reserved by Azure for the default gateway</a:t>
            </a:r>
          </a:p>
          <a:p>
            <a:pPr marL="0" marR="0" lvl="0" indent="0" algn="l" defTabSz="932742" rtl="0" eaLnBrk="1" fontAlgn="auto" latinLnBrk="0" hangingPunct="1">
              <a:lnSpc>
                <a:spcPct val="90000"/>
              </a:lnSpc>
              <a:spcBef>
                <a:spcPts val="0"/>
              </a:spcBef>
              <a:spcAft>
                <a:spcPts val="340"/>
              </a:spcAft>
              <a:buClrTx/>
              <a:buSzTx/>
              <a:buFont typeface="Arial" panose="020B0604020202020204" pitchFamily="34" charset="0"/>
              <a:buChar char="•"/>
              <a:tabLst/>
              <a:defRPr/>
            </a:pPr>
            <a:r>
              <a:rPr lang="en-US" b="0" i="0" dirty="0">
                <a:solidFill>
                  <a:srgbClr val="000000"/>
                </a:solidFill>
                <a:effectLst/>
                <a:latin typeface="Segoe UI VSS (Regular)"/>
              </a:rPr>
              <a:t> x.x.x.2, x.x.x.3: Reserved by Azure to map the Azure DNS IPs to the VNet space</a:t>
            </a:r>
          </a:p>
          <a:p>
            <a:pPr algn="l">
              <a:buFont typeface="Arial" panose="020B0604020202020204" pitchFamily="34" charset="0"/>
              <a:buChar char="•"/>
            </a:pPr>
            <a:r>
              <a:rPr lang="en-US" b="0" i="0" dirty="0">
                <a:solidFill>
                  <a:srgbClr val="000000"/>
                </a:solidFill>
                <a:effectLst/>
                <a:latin typeface="Segoe UI VSS (Regular)"/>
              </a:rPr>
              <a:t> x.x.x.255: Network broadcast address</a:t>
            </a:r>
          </a:p>
          <a:p>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8</a:t>
            </a:fld>
            <a:endParaRPr lang="en-US" dirty="0"/>
          </a:p>
        </p:txBody>
      </p:sp>
    </p:spTree>
    <p:extLst>
      <p:ext uri="{BB962C8B-B14F-4D97-AF65-F5344CB8AC3E}">
        <p14:creationId xmlns:p14="http://schemas.microsoft.com/office/powerpoint/2010/main" val="68035023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lvl="0"/>
            <a:r>
              <a:rPr lang="en-US" dirty="0"/>
              <a:t>Design an IP addressing schema for your Azure deployment (Learn) https://learn.microsoft.com/learn/modules/design-ip-addressing-for-azure</a:t>
            </a:r>
          </a:p>
          <a:p>
            <a:pPr lvl="0"/>
            <a:endParaRPr lang="en-US" dirty="0"/>
          </a:p>
          <a:p>
            <a:pPr lvl="0"/>
            <a:r>
              <a:rPr lang="en-US" dirty="0"/>
              <a:t>✔️ As a best practice you may decide to separate dynamically and statically assigned IP resources into different subnets. And IP Addresses are never managed from within a virtual machine. </a:t>
            </a:r>
          </a:p>
          <a:p>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9</a:t>
            </a:fld>
            <a:endParaRPr lang="en-US" dirty="0"/>
          </a:p>
        </p:txBody>
      </p:sp>
      <p:sp>
        <p:nvSpPr>
          <p:cNvPr id="6" name="Slide Image Placeholder 5">
            <a:extLst>
              <a:ext uri="{FF2B5EF4-FFF2-40B4-BE49-F238E27FC236}">
                <a16:creationId xmlns:a16="http://schemas.microsoft.com/office/drawing/2014/main" id="{6B2BC511-BD5D-5FFD-801A-E1FBBA1381F4}"/>
              </a:ext>
            </a:extLst>
          </p:cNvPr>
          <p:cNvSpPr>
            <a:spLocks noGrp="1" noRot="1" noChangeAspect="1"/>
          </p:cNvSpPr>
          <p:nvPr>
            <p:ph type="sldImg"/>
          </p:nvPr>
        </p:nvSpPr>
        <p:spPr/>
      </p:sp>
    </p:spTree>
    <p:extLst>
      <p:ext uri="{BB962C8B-B14F-4D97-AF65-F5344CB8AC3E}">
        <p14:creationId xmlns:p14="http://schemas.microsoft.com/office/powerpoint/2010/main" val="177847537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dirty="0"/>
              <a:t>Create, change, or delete IP addresses</a:t>
            </a:r>
          </a:p>
          <a:p>
            <a:r>
              <a:rPr lang="en-US" dirty="0"/>
              <a:t>https://learn.microsoft.com/azure/virtual-network/virtual-network-public-ip-address</a:t>
            </a:r>
          </a:p>
          <a:p>
            <a:endParaRPr lang="en-US" dirty="0"/>
          </a:p>
          <a:p>
            <a:r>
              <a:rPr lang="en-US" dirty="0"/>
              <a:t>Upgrading a basic public IP address to Standard SKU – Guidance</a:t>
            </a:r>
          </a:p>
          <a:p>
            <a:r>
              <a:rPr lang="en-US" dirty="0"/>
              <a:t>https://learn.microsoft.com/azure/virtual-network/ip-services/public-ip-basic-upgrade-guidance</a:t>
            </a:r>
          </a:p>
          <a:p>
            <a:endParaRPr lang="en-US" dirty="0"/>
          </a:p>
          <a:p>
            <a:endParaRPr lang="en-US" dirty="0"/>
          </a:p>
        </p:txBody>
      </p:sp>
      <p:sp>
        <p:nvSpPr>
          <p:cNvPr id="4" name="Slide Number Placeholder 3"/>
          <p:cNvSpPr>
            <a:spLocks noGrp="1"/>
          </p:cNvSpPr>
          <p:nvPr>
            <p:ph type="sldNum" sz="quarter" idx="5"/>
          </p:nvPr>
        </p:nvSpPr>
        <p:spPr/>
        <p:txBody>
          <a:bodyPr/>
          <a:lstStyle/>
          <a:p>
            <a:fld id="{8507DC7E-BC41-4478-BA30-CBCC3A644F0A}" type="slidenum">
              <a:rPr lang="en-US" smtClean="0"/>
              <a:pPr/>
              <a:t>10</a:t>
            </a:fld>
            <a:endParaRPr lang="en-US" dirty="0"/>
          </a:p>
        </p:txBody>
      </p:sp>
      <p:sp>
        <p:nvSpPr>
          <p:cNvPr id="7" name="Slide Image Placeholder 6">
            <a:extLst>
              <a:ext uri="{FF2B5EF4-FFF2-40B4-BE49-F238E27FC236}">
                <a16:creationId xmlns:a16="http://schemas.microsoft.com/office/drawing/2014/main" id="{1B62D05D-579F-D121-A11F-83DC48CD6D7E}"/>
              </a:ext>
            </a:extLst>
          </p:cNvPr>
          <p:cNvSpPr>
            <a:spLocks noGrp="1" noRot="1" noChangeAspect="1"/>
          </p:cNvSpPr>
          <p:nvPr>
            <p:ph type="sldImg"/>
          </p:nvPr>
        </p:nvSpPr>
        <p:spPr/>
      </p:sp>
    </p:spTree>
    <p:extLst>
      <p:ext uri="{BB962C8B-B14F-4D97-AF65-F5344CB8AC3E}">
        <p14:creationId xmlns:p14="http://schemas.microsoft.com/office/powerpoint/2010/main" val="185617015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32742" rtl="0" eaLnBrk="1" fontAlgn="auto" latinLnBrk="0" hangingPunct="1">
              <a:lnSpc>
                <a:spcPct val="90000"/>
              </a:lnSpc>
              <a:spcBef>
                <a:spcPts val="0"/>
              </a:spcBef>
              <a:spcAft>
                <a:spcPts val="340"/>
              </a:spcAft>
              <a:buClrTx/>
              <a:buSzTx/>
              <a:buFontTx/>
              <a:buNone/>
              <a:tabLst/>
              <a:defRPr/>
            </a:pPr>
            <a:r>
              <a:rPr lang="en-US" dirty="0">
                <a:cs typeface="Calibri" panose="020F0502020204030204"/>
              </a:rPr>
              <a:t>Public IP addresses</a:t>
            </a:r>
          </a:p>
          <a:p>
            <a:pPr marL="0" marR="0" lvl="0" indent="0" algn="l" defTabSz="932742" rtl="0" eaLnBrk="1" fontAlgn="auto" latinLnBrk="0" hangingPunct="1">
              <a:lnSpc>
                <a:spcPct val="90000"/>
              </a:lnSpc>
              <a:spcBef>
                <a:spcPts val="0"/>
              </a:spcBef>
              <a:spcAft>
                <a:spcPts val="340"/>
              </a:spcAft>
              <a:buClrTx/>
              <a:buSzTx/>
              <a:buFontTx/>
              <a:buNone/>
              <a:tabLst/>
              <a:defRPr/>
            </a:pPr>
            <a:r>
              <a:rPr lang="en-US" dirty="0">
                <a:cs typeface="Calibri" panose="020F0502020204030204"/>
              </a:rPr>
              <a:t>https://learn.microsoft.com/azure/virtual-network/public-ip-addresses</a:t>
            </a:r>
          </a:p>
          <a:p>
            <a:pPr marL="0" marR="0" lvl="0" indent="0" algn="l" defTabSz="932742" rtl="0" eaLnBrk="1" fontAlgn="auto" latinLnBrk="0" hangingPunct="1">
              <a:lnSpc>
                <a:spcPct val="90000"/>
              </a:lnSpc>
              <a:spcBef>
                <a:spcPts val="0"/>
              </a:spcBef>
              <a:spcAft>
                <a:spcPts val="340"/>
              </a:spcAft>
              <a:buClrTx/>
              <a:buSzTx/>
              <a:buFontTx/>
              <a:buNone/>
              <a:tabLst/>
              <a:defRPr/>
            </a:pPr>
            <a:endParaRPr lang="en-US" dirty="0">
              <a:cs typeface="Calibri" panose="020F0502020204030204"/>
            </a:endParaRPr>
          </a:p>
          <a:p>
            <a:pPr marL="0" marR="0" lvl="0" indent="0" algn="l" defTabSz="932742" rtl="0" eaLnBrk="1" fontAlgn="auto" latinLnBrk="0" hangingPunct="1">
              <a:lnSpc>
                <a:spcPct val="90000"/>
              </a:lnSpc>
              <a:spcBef>
                <a:spcPts val="0"/>
              </a:spcBef>
              <a:spcAft>
                <a:spcPts val="340"/>
              </a:spcAft>
              <a:buClrTx/>
              <a:buSzTx/>
              <a:buFontTx/>
              <a:buNone/>
              <a:tabLst/>
              <a:defRPr/>
            </a:pPr>
            <a:r>
              <a:rPr lang="en-US" dirty="0">
                <a:cs typeface="Calibri" panose="020F0502020204030204"/>
              </a:rPr>
              <a:t>Public IP Basic SKU retirement</a:t>
            </a:r>
          </a:p>
          <a:p>
            <a:pPr marL="0" marR="0" lvl="0" indent="0" algn="l" defTabSz="932742" rtl="0" eaLnBrk="1" fontAlgn="auto" latinLnBrk="0" hangingPunct="1">
              <a:lnSpc>
                <a:spcPct val="90000"/>
              </a:lnSpc>
              <a:spcBef>
                <a:spcPts val="0"/>
              </a:spcBef>
              <a:spcAft>
                <a:spcPts val="340"/>
              </a:spcAft>
              <a:buClrTx/>
              <a:buSzTx/>
              <a:buFontTx/>
              <a:buNone/>
              <a:tabLst/>
              <a:defRPr/>
            </a:pPr>
            <a:r>
              <a:rPr lang="en-US" dirty="0">
                <a:cs typeface="Calibri" panose="020F0502020204030204"/>
              </a:rPr>
              <a:t>https://azure.microsoft.com/updates?id=upgrade-to-standard-sku-public-ip-addresses-in-azure-by-30-september-2025-basic-sku-will-be-retired</a:t>
            </a:r>
          </a:p>
          <a:p>
            <a:pPr marL="0" marR="0" lvl="0" indent="0" algn="l" defTabSz="932742" rtl="0" eaLnBrk="1" fontAlgn="auto" latinLnBrk="0" hangingPunct="1">
              <a:lnSpc>
                <a:spcPct val="90000"/>
              </a:lnSpc>
              <a:spcBef>
                <a:spcPts val="0"/>
              </a:spcBef>
              <a:spcAft>
                <a:spcPts val="340"/>
              </a:spcAft>
              <a:buClrTx/>
              <a:buSzTx/>
              <a:buFontTx/>
              <a:buNone/>
              <a:tabLst/>
              <a:defRPr/>
            </a:pPr>
            <a:endParaRPr lang="en-US" dirty="0">
              <a:cs typeface="Calibri" panose="020F0502020204030204"/>
            </a:endParaRPr>
          </a:p>
          <a:p>
            <a:pPr marL="0" marR="0" lvl="0" indent="0" algn="l" defTabSz="932742" rtl="0" eaLnBrk="1" fontAlgn="auto" latinLnBrk="0" hangingPunct="1">
              <a:lnSpc>
                <a:spcPct val="90000"/>
              </a:lnSpc>
              <a:spcBef>
                <a:spcPts val="0"/>
              </a:spcBef>
              <a:spcAft>
                <a:spcPts val="340"/>
              </a:spcAft>
              <a:buClrTx/>
              <a:buSzTx/>
              <a:buFontTx/>
              <a:buNone/>
              <a:tabLst/>
              <a:defRPr/>
            </a:pPr>
            <a:r>
              <a:rPr lang="en-US" dirty="0">
                <a:cs typeface="Calibri" panose="020F0502020204030204"/>
              </a:rPr>
              <a:t>Upgrade Basic Public IP Address to Standard SKU in Azure</a:t>
            </a:r>
          </a:p>
          <a:p>
            <a:pPr marL="0" marR="0" lvl="0" indent="0" algn="l" defTabSz="932742" rtl="0" eaLnBrk="1" fontAlgn="auto" latinLnBrk="0" hangingPunct="1">
              <a:lnSpc>
                <a:spcPct val="90000"/>
              </a:lnSpc>
              <a:spcBef>
                <a:spcPts val="0"/>
              </a:spcBef>
              <a:spcAft>
                <a:spcPts val="340"/>
              </a:spcAft>
              <a:buClrTx/>
              <a:buSzTx/>
              <a:buFontTx/>
              <a:buNone/>
              <a:tabLst/>
              <a:defRPr/>
            </a:pPr>
            <a:r>
              <a:rPr lang="en-US" dirty="0">
                <a:cs typeface="Calibri" panose="020F0502020204030204"/>
              </a:rPr>
              <a:t>https://learn.microsoft.com/azure/virtual-network/ip-services/public-ip-basic-upgrade-guidance</a:t>
            </a:r>
          </a:p>
          <a:p>
            <a:endParaRPr lang="en-US" dirty="0">
              <a:cs typeface="Calibri" panose="020F0502020204030204"/>
            </a:endParaRPr>
          </a:p>
        </p:txBody>
      </p:sp>
      <p:sp>
        <p:nvSpPr>
          <p:cNvPr id="7" name="Slide Number Placeholder 6"/>
          <p:cNvSpPr>
            <a:spLocks noGrp="1"/>
          </p:cNvSpPr>
          <p:nvPr>
            <p:ph type="sldNum" sz="quarter" idx="13"/>
          </p:nvPr>
        </p:nvSpPr>
        <p:spPr/>
        <p:txBody>
          <a:bodyPr/>
          <a:lstStyle/>
          <a:p>
            <a:fld id="{B4008EB6-D09E-4580-8CD6-DDB14511944F}" type="slidenum">
              <a:rPr lang="en-US" smtClean="0"/>
              <a:pPr/>
              <a:t>11</a:t>
            </a:fld>
            <a:endParaRPr lang="en-US" dirty="0"/>
          </a:p>
        </p:txBody>
      </p:sp>
    </p:spTree>
    <p:extLst>
      <p:ext uri="{BB962C8B-B14F-4D97-AF65-F5344CB8AC3E}">
        <p14:creationId xmlns:p14="http://schemas.microsoft.com/office/powerpoint/2010/main" val="150201008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lvl="0"/>
            <a:r>
              <a:rPr lang="en-US" dirty="0"/>
              <a:t>Private IP addresses </a:t>
            </a:r>
          </a:p>
          <a:p>
            <a:pPr lvl="0"/>
            <a:r>
              <a:rPr lang="en-US" dirty="0"/>
              <a:t>https://learn.microsoft.com/azure/virtual-network/private-ip-addresses</a:t>
            </a:r>
          </a:p>
          <a:p>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12</a:t>
            </a:fld>
            <a:endParaRPr lang="en-US" dirty="0"/>
          </a:p>
        </p:txBody>
      </p:sp>
      <p:sp>
        <p:nvSpPr>
          <p:cNvPr id="10" name="Slide Image Placeholder 9">
            <a:extLst>
              <a:ext uri="{FF2B5EF4-FFF2-40B4-BE49-F238E27FC236}">
                <a16:creationId xmlns:a16="http://schemas.microsoft.com/office/drawing/2014/main" id="{D8874F78-7CE1-3437-938F-97A1062BE81E}"/>
              </a:ext>
            </a:extLst>
          </p:cNvPr>
          <p:cNvSpPr>
            <a:spLocks noGrp="1" noRot="1" noChangeAspect="1"/>
          </p:cNvSpPr>
          <p:nvPr>
            <p:ph type="sldImg"/>
          </p:nvPr>
        </p:nvSpPr>
        <p:spPr/>
      </p:sp>
    </p:spTree>
    <p:extLst>
      <p:ext uri="{BB962C8B-B14F-4D97-AF65-F5344CB8AC3E}">
        <p14:creationId xmlns:p14="http://schemas.microsoft.com/office/powerpoint/2010/main" val="374078299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Demonstration Virtual Networks</a:t>
            </a:r>
          </a:p>
          <a:p>
            <a:r>
              <a:rPr lang="en-US" dirty="0"/>
              <a:t>https://microsoftlearning.github.io/AZ-104-MicrosoftAzureAdministrator/Instructions/Demos/04%20-%20Administer%20VIrtual%20Networking.html</a:t>
            </a:r>
          </a:p>
          <a:p>
            <a:endParaRPr lang="en-US" dirty="0"/>
          </a:p>
        </p:txBody>
      </p:sp>
      <p:sp>
        <p:nvSpPr>
          <p:cNvPr id="4" name="Slide Number Placeholder 3"/>
          <p:cNvSpPr>
            <a:spLocks noGrp="1"/>
          </p:cNvSpPr>
          <p:nvPr>
            <p:ph type="sldNum" sz="quarter" idx="5"/>
          </p:nvPr>
        </p:nvSpPr>
        <p:spPr/>
        <p:txBody>
          <a:bodyPr/>
          <a:lstStyle/>
          <a:p>
            <a:fld id="{8507DC7E-BC41-4478-BA30-CBCC3A644F0A}" type="slidenum">
              <a:rPr lang="en-US" smtClean="0"/>
              <a:t>13</a:t>
            </a:fld>
            <a:endParaRPr lang="en-US" dirty="0"/>
          </a:p>
        </p:txBody>
      </p:sp>
    </p:spTree>
    <p:extLst>
      <p:ext uri="{BB962C8B-B14F-4D97-AF65-F5344CB8AC3E}">
        <p14:creationId xmlns:p14="http://schemas.microsoft.com/office/powerpoint/2010/main" val="403283469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lvl="0"/>
            <a:r>
              <a:rPr lang="en-US" dirty="0"/>
              <a:t>Additional questions are available in Office Forms - https://forms.office.com/Pages/ShareFormPage.aspx?id=v4j5cvGGr0GRqy180BHbR5NEFZBpuAZBgxPOGXi_gX5UNlJHTFhPTEswM1RCSk0zOTRYWEVOWlcxTi4u&amp;sharetoken=tIfSV6qAYdMmJ5eTFryp&amp;wdLOR=cF01027C5-913F-43C5-8E2D-8747B0612678</a:t>
            </a:r>
          </a:p>
          <a:p>
            <a:endParaRPr lang="en-US" dirty="0"/>
          </a:p>
          <a:p>
            <a:r>
              <a:rPr lang="en-US" dirty="0"/>
              <a:t>What is a virtual network and what things should you consider when creating a virtual network?</a:t>
            </a:r>
          </a:p>
          <a:p>
            <a:r>
              <a:rPr lang="en-US" b="1" dirty="0"/>
              <a:t>Answer</a:t>
            </a:r>
            <a:r>
              <a:rPr lang="en-US" dirty="0"/>
              <a:t>: A virtual network is a logical representation of your own network. Virtual networks can be used in cloud and hybrid cloud scenarios. When creating a virtual network, you will need to define the address space and create at least one subnet. Subnets in the virtual network subnet must have a unique address range that does not overlap with other subnets. Also consider traffic control, resource isolation, and topology. </a:t>
            </a:r>
          </a:p>
          <a:p>
            <a:endParaRPr lang="en-US" dirty="0"/>
          </a:p>
          <a:p>
            <a:pPr lvl="0"/>
            <a:r>
              <a:rPr lang="en-US" dirty="0"/>
              <a:t>What are the two types of virtual networking addresses and how are the addresses used?</a:t>
            </a:r>
          </a:p>
          <a:p>
            <a:pPr lvl="0"/>
            <a:r>
              <a:rPr lang="en-US" b="1" dirty="0"/>
              <a:t>Answer</a:t>
            </a:r>
            <a:r>
              <a:rPr lang="en-US" dirty="0"/>
              <a:t>: Private IP addresses used within an Azure virtual network, and your on-premises network. When you use a VPN gateway or ExpressRoute circuit to extend your network to Azure, you are using private IP addresses. Public IP addresses are used for communication with the internet, including Azure public-facing services. For example, a customer retail website. </a:t>
            </a:r>
          </a:p>
          <a:p>
            <a:endParaRPr lang="en-US" dirty="0"/>
          </a:p>
          <a:p>
            <a:endParaRPr lang="en-US" dirty="0"/>
          </a:p>
        </p:txBody>
      </p:sp>
      <p:sp>
        <p:nvSpPr>
          <p:cNvPr id="4" name="Slide Number Placeholder 3"/>
          <p:cNvSpPr>
            <a:spLocks noGrp="1"/>
          </p:cNvSpPr>
          <p:nvPr>
            <p:ph type="sldNum" sz="quarter" idx="5"/>
          </p:nvPr>
        </p:nvSpPr>
        <p:spPr/>
        <p:txBody>
          <a:bodyPr/>
          <a:lstStyle/>
          <a:p>
            <a:fld id="{8507DC7E-BC41-4478-BA30-CBCC3A644F0A}" type="slidenum">
              <a:rPr lang="en-US" smtClean="0"/>
              <a:pPr/>
              <a:t>14</a:t>
            </a:fld>
            <a:endParaRPr lang="en-US" dirty="0"/>
          </a:p>
        </p:txBody>
      </p:sp>
      <p:sp>
        <p:nvSpPr>
          <p:cNvPr id="7" name="Slide Image Placeholder 6">
            <a:extLst>
              <a:ext uri="{FF2B5EF4-FFF2-40B4-BE49-F238E27FC236}">
                <a16:creationId xmlns:a16="http://schemas.microsoft.com/office/drawing/2014/main" id="{235BC749-81C5-6998-27C8-5D81EC7EE08F}"/>
              </a:ext>
            </a:extLst>
          </p:cNvPr>
          <p:cNvSpPr>
            <a:spLocks noGrp="1" noRot="1" noChangeAspect="1"/>
          </p:cNvSpPr>
          <p:nvPr>
            <p:ph type="sldImg"/>
          </p:nvPr>
        </p:nvSpPr>
        <p:spPr/>
      </p:sp>
    </p:spTree>
    <p:extLst>
      <p:ext uri="{BB962C8B-B14F-4D97-AF65-F5344CB8AC3E}">
        <p14:creationId xmlns:p14="http://schemas.microsoft.com/office/powerpoint/2010/main" val="295262319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4008EB6-D09E-4580-8CD6-DDB14511944F}" type="slidenum">
              <a:rPr lang="en-US" smtClean="0"/>
              <a:pPr/>
              <a:t>15</a:t>
            </a:fld>
            <a:endParaRPr lang="en-US" dirty="0"/>
          </a:p>
        </p:txBody>
      </p:sp>
    </p:spTree>
    <p:extLst>
      <p:ext uri="{BB962C8B-B14F-4D97-AF65-F5344CB8AC3E}">
        <p14:creationId xmlns:p14="http://schemas.microsoft.com/office/powerpoint/2010/main" val="273741108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Arial" panose="020B0604020202020204" pitchFamily="34" charset="0"/>
              <a:buNone/>
            </a:pPr>
            <a:endParaRPr lang="en-US" dirty="0"/>
          </a:p>
        </p:txBody>
      </p:sp>
      <p:sp>
        <p:nvSpPr>
          <p:cNvPr id="4" name="Slide Number Placeholder 3"/>
          <p:cNvSpPr>
            <a:spLocks noGrp="1"/>
          </p:cNvSpPr>
          <p:nvPr>
            <p:ph type="sldNum" sz="quarter" idx="5"/>
          </p:nvPr>
        </p:nvSpPr>
        <p:spPr/>
        <p:txBody>
          <a:bodyPr/>
          <a:lstStyle/>
          <a:p>
            <a:fld id="{8507DC7E-BC41-4478-BA30-CBCC3A644F0A}" type="slidenum">
              <a:rPr lang="en-US" smtClean="0"/>
              <a:t>16</a:t>
            </a:fld>
            <a:endParaRPr lang="en-US" dirty="0"/>
          </a:p>
        </p:txBody>
      </p:sp>
    </p:spTree>
    <p:extLst>
      <p:ext uri="{BB962C8B-B14F-4D97-AF65-F5344CB8AC3E}">
        <p14:creationId xmlns:p14="http://schemas.microsoft.com/office/powerpoint/2010/main" val="139623854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32742" rtl="0" eaLnBrk="1" fontAlgn="auto" latinLnBrk="0" hangingPunct="1">
              <a:lnSpc>
                <a:spcPct val="90000"/>
              </a:lnSpc>
              <a:spcBef>
                <a:spcPts val="0"/>
              </a:spcBef>
              <a:spcAft>
                <a:spcPts val="340"/>
              </a:spcAft>
              <a:buClrTx/>
              <a:buSzTx/>
              <a:buFontTx/>
              <a:buNone/>
              <a:tabLst/>
              <a:defRPr/>
            </a:pPr>
            <a:r>
              <a:rPr lang="en-US" dirty="0"/>
              <a:t>Network Security Groups</a:t>
            </a:r>
          </a:p>
          <a:p>
            <a:pPr marL="0" marR="0" lvl="0" indent="0" algn="l" defTabSz="932742" rtl="0" eaLnBrk="1" fontAlgn="auto" latinLnBrk="0" hangingPunct="1">
              <a:lnSpc>
                <a:spcPct val="90000"/>
              </a:lnSpc>
              <a:spcBef>
                <a:spcPts val="0"/>
              </a:spcBef>
              <a:spcAft>
                <a:spcPts val="340"/>
              </a:spcAft>
              <a:buClrTx/>
              <a:buSzTx/>
              <a:buFontTx/>
              <a:buNone/>
              <a:tabLst/>
              <a:defRPr/>
            </a:pPr>
            <a:r>
              <a:rPr lang="en-US" dirty="0"/>
              <a:t>https://learn.microsoft.com/azure/virtual-network/security-overview#network-security-groups </a:t>
            </a:r>
          </a:p>
          <a:p>
            <a:endParaRPr lang="en-US" dirty="0"/>
          </a:p>
          <a:p>
            <a:r>
              <a:rPr lang="en-US" dirty="0"/>
              <a:t>✔️ To simplify management of security rules, it's recommended that you associate a network security group to individual subnets, rather than individual network interfaces within the subnet.</a:t>
            </a:r>
          </a:p>
          <a:p>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17</a:t>
            </a:fld>
            <a:endParaRPr lang="en-US" dirty="0"/>
          </a:p>
        </p:txBody>
      </p:sp>
    </p:spTree>
    <p:extLst>
      <p:ext uri="{BB962C8B-B14F-4D97-AF65-F5344CB8AC3E}">
        <p14:creationId xmlns:p14="http://schemas.microsoft.com/office/powerpoint/2010/main" val="9612137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32742" rtl="0" eaLnBrk="1" fontAlgn="auto" latinLnBrk="0" hangingPunct="1">
              <a:lnSpc>
                <a:spcPct val="90000"/>
              </a:lnSpc>
              <a:spcBef>
                <a:spcPts val="0"/>
              </a:spcBef>
              <a:spcAft>
                <a:spcPts val="340"/>
              </a:spcAft>
              <a:buClrTx/>
              <a:buSzTx/>
              <a:buFontTx/>
              <a:buNone/>
              <a:tabLst/>
              <a:defRPr/>
            </a:pPr>
            <a:r>
              <a:rPr lang="en-US" dirty="0"/>
              <a:t>Create, change, or delete a network security group</a:t>
            </a:r>
          </a:p>
          <a:p>
            <a:pPr marL="0" marR="0" lvl="0" indent="0" algn="l" defTabSz="932742" rtl="0" eaLnBrk="1" fontAlgn="auto" latinLnBrk="0" hangingPunct="1">
              <a:lnSpc>
                <a:spcPct val="90000"/>
              </a:lnSpc>
              <a:spcBef>
                <a:spcPts val="0"/>
              </a:spcBef>
              <a:spcAft>
                <a:spcPts val="340"/>
              </a:spcAft>
              <a:buClrTx/>
              <a:buSzTx/>
              <a:buFontTx/>
              <a:buNone/>
              <a:tabLst/>
              <a:defRPr/>
            </a:pPr>
            <a:r>
              <a:rPr lang="en-US" dirty="0"/>
              <a:t>https://learn.microsoft.com/azure/virtual-network/manage-network-security-group </a:t>
            </a:r>
          </a:p>
          <a:p>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18</a:t>
            </a:fld>
            <a:endParaRPr lang="en-US" dirty="0"/>
          </a:p>
        </p:txBody>
      </p:sp>
    </p:spTree>
    <p:extLst>
      <p:ext uri="{BB962C8B-B14F-4D97-AF65-F5344CB8AC3E}">
        <p14:creationId xmlns:p14="http://schemas.microsoft.com/office/powerpoint/2010/main" val="131768385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19</a:t>
            </a:fld>
            <a:endParaRPr lang="en-US" dirty="0"/>
          </a:p>
        </p:txBody>
      </p:sp>
    </p:spTree>
    <p:extLst>
      <p:ext uri="{BB962C8B-B14F-4D97-AF65-F5344CB8AC3E}">
        <p14:creationId xmlns:p14="http://schemas.microsoft.com/office/powerpoint/2010/main" val="287339148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Tutorial: Filter network traffic with a network security group using the Azure portal  https://learn.microsoft.com/azure/virtual-network/tutorial-filter-network-traffic</a:t>
            </a:r>
          </a:p>
          <a:p>
            <a:endParaRPr lang="en-US" dirty="0"/>
          </a:p>
          <a:p>
            <a:r>
              <a:rPr lang="en-US" dirty="0"/>
              <a:t>Secure and isolate access to Azure resources by using network security groups and service endpoints (Learn)</a:t>
            </a:r>
          </a:p>
          <a:p>
            <a:r>
              <a:rPr lang="en-US" dirty="0"/>
              <a:t>https://learn.microsoft.com/learn/modules/secure-and-isolate-with-nsg-and-service-endpoints/</a:t>
            </a:r>
          </a:p>
          <a:p>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20</a:t>
            </a:fld>
            <a:endParaRPr lang="en-US" dirty="0"/>
          </a:p>
        </p:txBody>
      </p:sp>
    </p:spTree>
    <p:extLst>
      <p:ext uri="{BB962C8B-B14F-4D97-AF65-F5344CB8AC3E}">
        <p14:creationId xmlns:p14="http://schemas.microsoft.com/office/powerpoint/2010/main" val="257567552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Application Security Groups </a:t>
            </a:r>
          </a:p>
          <a:p>
            <a:r>
              <a:rPr lang="en-US" dirty="0"/>
              <a:t>https://learn.microsoft.com/azure/virtual-network/application-security-groups</a:t>
            </a:r>
          </a:p>
        </p:txBody>
      </p:sp>
      <p:sp>
        <p:nvSpPr>
          <p:cNvPr id="6" name="Slide Number Placeholder 5"/>
          <p:cNvSpPr>
            <a:spLocks noGrp="1"/>
          </p:cNvSpPr>
          <p:nvPr>
            <p:ph type="sldNum" sz="quarter" idx="5"/>
          </p:nvPr>
        </p:nvSpPr>
        <p:spPr/>
        <p:txBody>
          <a:bodyPr/>
          <a:lstStyle/>
          <a:p>
            <a:fld id="{B4008EB6-D09E-4580-8CD6-DDB14511944F}" type="slidenum">
              <a:rPr lang="en-US" smtClean="0"/>
              <a:pPr/>
              <a:t>21</a:t>
            </a:fld>
            <a:endParaRPr lang="en-US" dirty="0"/>
          </a:p>
        </p:txBody>
      </p:sp>
    </p:spTree>
    <p:extLst>
      <p:ext uri="{BB962C8B-B14F-4D97-AF65-F5344CB8AC3E}">
        <p14:creationId xmlns:p14="http://schemas.microsoft.com/office/powerpoint/2010/main" val="285261023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Demonstration Network Security Groups - https://microsoftlearning.github.io/AZ-104-MicrosoftAzureAdministrator/Instructions/Demos/04%20-%20Administer%20VIrtual%20Networking.html#configure-network-security-groups</a:t>
            </a:r>
          </a:p>
        </p:txBody>
      </p:sp>
      <p:sp>
        <p:nvSpPr>
          <p:cNvPr id="4" name="Slide Number Placeholder 3"/>
          <p:cNvSpPr>
            <a:spLocks noGrp="1"/>
          </p:cNvSpPr>
          <p:nvPr>
            <p:ph type="sldNum" sz="quarter" idx="5"/>
          </p:nvPr>
        </p:nvSpPr>
        <p:spPr/>
        <p:txBody>
          <a:bodyPr/>
          <a:lstStyle/>
          <a:p>
            <a:fld id="{8507DC7E-BC41-4478-BA30-CBCC3A644F0A}" type="slidenum">
              <a:rPr lang="en-US" smtClean="0"/>
              <a:t>22</a:t>
            </a:fld>
            <a:endParaRPr lang="en-US" dirty="0"/>
          </a:p>
        </p:txBody>
      </p:sp>
    </p:spTree>
    <p:extLst>
      <p:ext uri="{BB962C8B-B14F-4D97-AF65-F5344CB8AC3E}">
        <p14:creationId xmlns:p14="http://schemas.microsoft.com/office/powerpoint/2010/main" val="43319296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lvl="0"/>
            <a:r>
              <a:rPr lang="en-US" dirty="0"/>
              <a:t>Additional questions are available in Office Forms - https://forms.office.com/Pages/ShareFormPage.aspx?id=v4j5cvGGr0GRqy180BHbR5NEFZBpuAZBgxPOGXi_gX5UNlJHTFhPTEswM1RCSk0zOTRYWEVOWlcxTi4u&amp;sharetoken=tIfSV6qAYdMmJ5eTFryp&amp;wdLOR=cF01027C5-913F-43C5-8E2D-8747B0612678</a:t>
            </a:r>
          </a:p>
          <a:p>
            <a:pPr lvl="0"/>
            <a:endParaRPr lang="en-US" dirty="0"/>
          </a:p>
          <a:p>
            <a:pPr lvl="0"/>
            <a:r>
              <a:rPr lang="en-US" dirty="0"/>
              <a:t>What is a Network Security Group (NSG) and when would you use it?</a:t>
            </a:r>
          </a:p>
          <a:p>
            <a:pPr lvl="0"/>
            <a:r>
              <a:rPr lang="en-US" b="1" dirty="0"/>
              <a:t>Answer</a:t>
            </a:r>
            <a:r>
              <a:rPr lang="en-US" dirty="0"/>
              <a:t>: A NSG filters network traffic to and from Azure resources in an Azure virtual network. An NSG lists the security rules that allow or deny inbound or outbound network traffic. For example, limiting inbound traffic to only frontend web servers. Another example, limiting outbound traffic from protect internal virtual machines. </a:t>
            </a:r>
          </a:p>
          <a:p>
            <a:pPr lvl="0"/>
            <a:endParaRPr lang="en-US" dirty="0"/>
          </a:p>
          <a:p>
            <a:pPr lvl="0"/>
            <a:r>
              <a:rPr lang="en-US" dirty="0"/>
              <a:t>What is an Application Security Group (ASG) and when would you use it?</a:t>
            </a:r>
          </a:p>
          <a:p>
            <a:pPr lvl="0"/>
            <a:r>
              <a:rPr lang="en-US" b="1" dirty="0"/>
              <a:t>Answer</a:t>
            </a:r>
            <a:r>
              <a:rPr lang="en-US" dirty="0"/>
              <a:t>: An ASG is a logical grouping of virtual machines. For example, you could group web servers and SQL database application servers. To control the traffic flow security rules can then be assigned to each ASG. By placing a NSG around the ASGs you can further control inbound and outbound access. </a:t>
            </a:r>
          </a:p>
          <a:p>
            <a:pPr lvl="0"/>
            <a:endParaRPr lang="en-US" dirty="0"/>
          </a:p>
          <a:p>
            <a:pPr lvl="0"/>
            <a:endParaRPr lang="en-US" dirty="0"/>
          </a:p>
          <a:p>
            <a:pPr lvl="0"/>
            <a:endParaRPr lang="en-US" dirty="0"/>
          </a:p>
          <a:p>
            <a:endParaRPr lang="en-US" dirty="0"/>
          </a:p>
        </p:txBody>
      </p:sp>
      <p:sp>
        <p:nvSpPr>
          <p:cNvPr id="4" name="Slide Number Placeholder 3"/>
          <p:cNvSpPr>
            <a:spLocks noGrp="1"/>
          </p:cNvSpPr>
          <p:nvPr>
            <p:ph type="sldNum" sz="quarter" idx="5"/>
          </p:nvPr>
        </p:nvSpPr>
        <p:spPr/>
        <p:txBody>
          <a:bodyPr/>
          <a:lstStyle/>
          <a:p>
            <a:fld id="{8507DC7E-BC41-4478-BA30-CBCC3A644F0A}" type="slidenum">
              <a:rPr lang="en-US" smtClean="0"/>
              <a:pPr/>
              <a:t>23</a:t>
            </a:fld>
            <a:endParaRPr lang="en-US" dirty="0"/>
          </a:p>
        </p:txBody>
      </p:sp>
      <p:sp>
        <p:nvSpPr>
          <p:cNvPr id="7" name="Slide Image Placeholder 6">
            <a:extLst>
              <a:ext uri="{FF2B5EF4-FFF2-40B4-BE49-F238E27FC236}">
                <a16:creationId xmlns:a16="http://schemas.microsoft.com/office/drawing/2014/main" id="{2C9594CE-595C-7B1D-AC19-142288DA5AAD}"/>
              </a:ext>
            </a:extLst>
          </p:cNvPr>
          <p:cNvSpPr>
            <a:spLocks noGrp="1" noRot="1" noChangeAspect="1"/>
          </p:cNvSpPr>
          <p:nvPr>
            <p:ph type="sldImg"/>
          </p:nvPr>
        </p:nvSpPr>
        <p:spPr/>
      </p:sp>
    </p:spTree>
    <p:extLst>
      <p:ext uri="{BB962C8B-B14F-4D97-AF65-F5344CB8AC3E}">
        <p14:creationId xmlns:p14="http://schemas.microsoft.com/office/powerpoint/2010/main" val="295262319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4008EB6-D09E-4580-8CD6-DDB14511944F}" type="slidenum">
              <a:rPr lang="en-US" smtClean="0"/>
              <a:pPr/>
              <a:t>24</a:t>
            </a:fld>
            <a:endParaRPr lang="en-US" dirty="0"/>
          </a:p>
        </p:txBody>
      </p:sp>
    </p:spTree>
    <p:extLst>
      <p:ext uri="{BB962C8B-B14F-4D97-AF65-F5344CB8AC3E}">
        <p14:creationId xmlns:p14="http://schemas.microsoft.com/office/powerpoint/2010/main" val="155735906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br>
              <a:rPr lang="en-US" b="0" i="0" dirty="0">
                <a:solidFill>
                  <a:srgbClr val="161616"/>
                </a:solidFill>
                <a:effectLst/>
                <a:latin typeface="Segoe UI" panose="020B0502040204020203" pitchFamily="34" charset="0"/>
              </a:rPr>
            </a:b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br>
              <a:rPr lang="en-US" dirty="0"/>
            </a:br>
            <a:endParaRPr lang="en-US" dirty="0"/>
          </a:p>
        </p:txBody>
      </p:sp>
      <p:sp>
        <p:nvSpPr>
          <p:cNvPr id="4" name="Slide Number Placeholder 3"/>
          <p:cNvSpPr>
            <a:spLocks noGrp="1"/>
          </p:cNvSpPr>
          <p:nvPr>
            <p:ph type="sldNum" sz="quarter" idx="5"/>
          </p:nvPr>
        </p:nvSpPr>
        <p:spPr/>
        <p:txBody>
          <a:bodyPr/>
          <a:lstStyle/>
          <a:p>
            <a:fld id="{8507DC7E-BC41-4478-BA30-CBCC3A644F0A}" type="slidenum">
              <a:rPr lang="en-US" smtClean="0"/>
              <a:t>25</a:t>
            </a:fld>
            <a:endParaRPr lang="en-US" dirty="0"/>
          </a:p>
        </p:txBody>
      </p:sp>
    </p:spTree>
    <p:extLst>
      <p:ext uri="{BB962C8B-B14F-4D97-AF65-F5344CB8AC3E}">
        <p14:creationId xmlns:p14="http://schemas.microsoft.com/office/powerpoint/2010/main" val="184157984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32742" rtl="0" eaLnBrk="1" fontAlgn="auto" latinLnBrk="0" hangingPunct="1">
              <a:lnSpc>
                <a:spcPct val="90000"/>
              </a:lnSpc>
              <a:spcBef>
                <a:spcPts val="0"/>
              </a:spcBef>
              <a:spcAft>
                <a:spcPts val="340"/>
              </a:spcAft>
              <a:buClrTx/>
              <a:buSzTx/>
              <a:buFontTx/>
              <a:buNone/>
              <a:tabLst/>
              <a:defRPr/>
            </a:pPr>
            <a:r>
              <a:rPr lang="en-IN" dirty="0"/>
              <a:t>What is Azure DNS?</a:t>
            </a:r>
          </a:p>
          <a:p>
            <a:pPr marL="0" marR="0" lvl="0" indent="0" algn="l" defTabSz="932742" rtl="0" eaLnBrk="1" fontAlgn="auto" latinLnBrk="0" hangingPunct="1">
              <a:lnSpc>
                <a:spcPct val="90000"/>
              </a:lnSpc>
              <a:spcBef>
                <a:spcPts val="0"/>
              </a:spcBef>
              <a:spcAft>
                <a:spcPts val="340"/>
              </a:spcAft>
              <a:buClrTx/>
              <a:buSzTx/>
              <a:buFontTx/>
              <a:buNone/>
              <a:tabLst/>
              <a:defRPr/>
            </a:pPr>
            <a:r>
              <a:rPr lang="en-IN" dirty="0"/>
              <a:t>https://learn.microsoft.com/azure/dns/dns-overview</a:t>
            </a:r>
          </a:p>
          <a:p>
            <a:endParaRPr lang="en-IN" dirty="0"/>
          </a:p>
        </p:txBody>
      </p:sp>
      <p:sp>
        <p:nvSpPr>
          <p:cNvPr id="6" name="Slide Number Placeholder 5"/>
          <p:cNvSpPr>
            <a:spLocks noGrp="1"/>
          </p:cNvSpPr>
          <p:nvPr>
            <p:ph type="sldNum" sz="quarter" idx="5"/>
          </p:nvPr>
        </p:nvSpPr>
        <p:spPr/>
        <p:txBody>
          <a:bodyPr/>
          <a:lstStyle/>
          <a:p>
            <a:fld id="{B4008EB6-D09E-4580-8CD6-DDB14511944F}" type="slidenum">
              <a:rPr lang="en-US" smtClean="0"/>
              <a:pPr/>
              <a:t>26</a:t>
            </a:fld>
            <a:endParaRPr lang="en-US" dirty="0"/>
          </a:p>
        </p:txBody>
      </p:sp>
    </p:spTree>
    <p:extLst>
      <p:ext uri="{BB962C8B-B14F-4D97-AF65-F5344CB8AC3E}">
        <p14:creationId xmlns:p14="http://schemas.microsoft.com/office/powerpoint/2010/main" val="58667843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32742" rtl="0" eaLnBrk="1" fontAlgn="auto" latinLnBrk="0" hangingPunct="1">
              <a:lnSpc>
                <a:spcPct val="90000"/>
              </a:lnSpc>
              <a:spcBef>
                <a:spcPts val="0"/>
              </a:spcBef>
              <a:spcAft>
                <a:spcPts val="340"/>
              </a:spcAft>
              <a:buClrTx/>
              <a:buSzTx/>
              <a:buFontTx/>
              <a:buNone/>
              <a:tabLst/>
              <a:defRPr/>
            </a:pPr>
            <a:r>
              <a:rPr lang="en-US" dirty="0"/>
              <a:t>DNS Zones</a:t>
            </a:r>
          </a:p>
          <a:p>
            <a:pPr marL="0" marR="0" lvl="0" indent="0" algn="l" defTabSz="932742" rtl="0" eaLnBrk="1" fontAlgn="auto" latinLnBrk="0" hangingPunct="1">
              <a:lnSpc>
                <a:spcPct val="90000"/>
              </a:lnSpc>
              <a:spcBef>
                <a:spcPts val="0"/>
              </a:spcBef>
              <a:spcAft>
                <a:spcPts val="340"/>
              </a:spcAft>
              <a:buClrTx/>
              <a:buSzTx/>
              <a:buFontTx/>
              <a:buNone/>
              <a:tabLst/>
              <a:defRPr/>
            </a:pPr>
            <a:r>
              <a:rPr lang="en-US" dirty="0"/>
              <a:t>https://learn.microsoft.com/azure/dns/dns-zones-records#dns-zones </a:t>
            </a:r>
          </a:p>
          <a:p>
            <a:endParaRPr lang="en-US" dirty="0"/>
          </a:p>
          <a:p>
            <a:r>
              <a:rPr lang="en-US" dirty="0"/>
              <a:t>✔️ You do not have to own a domain name to create a DNS zone with that domain name in Azure DNS. However, you do need to own the domain to configure the domain.</a:t>
            </a:r>
          </a:p>
          <a:p>
            <a:endParaRPr lang="en-US" dirty="0"/>
          </a:p>
          <a:p>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27</a:t>
            </a:fld>
            <a:endParaRPr lang="en-US" dirty="0"/>
          </a:p>
        </p:txBody>
      </p:sp>
    </p:spTree>
    <p:extLst>
      <p:ext uri="{BB962C8B-B14F-4D97-AF65-F5344CB8AC3E}">
        <p14:creationId xmlns:p14="http://schemas.microsoft.com/office/powerpoint/2010/main" val="131768385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32742" rtl="0" eaLnBrk="1" fontAlgn="auto" latinLnBrk="0" hangingPunct="1">
              <a:lnSpc>
                <a:spcPct val="90000"/>
              </a:lnSpc>
              <a:spcBef>
                <a:spcPts val="0"/>
              </a:spcBef>
              <a:spcAft>
                <a:spcPts val="340"/>
              </a:spcAft>
              <a:buClrTx/>
              <a:buSzTx/>
              <a:buFontTx/>
              <a:buNone/>
              <a:tabLst/>
              <a:defRPr/>
            </a:pPr>
            <a:r>
              <a:rPr lang="en-US" dirty="0"/>
              <a:t>Host your domain on Azure DNS (Learn)</a:t>
            </a:r>
          </a:p>
          <a:p>
            <a:pPr marL="0" marR="0" lvl="0" indent="0" algn="l" defTabSz="932742" rtl="0" eaLnBrk="1" fontAlgn="auto" latinLnBrk="0" hangingPunct="1">
              <a:lnSpc>
                <a:spcPct val="90000"/>
              </a:lnSpc>
              <a:spcBef>
                <a:spcPts val="0"/>
              </a:spcBef>
              <a:spcAft>
                <a:spcPts val="340"/>
              </a:spcAft>
              <a:buClrTx/>
              <a:buSzTx/>
              <a:buFontTx/>
              <a:buNone/>
              <a:tabLst/>
              <a:defRPr/>
            </a:pPr>
            <a:r>
              <a:rPr lang="en-US" dirty="0"/>
              <a:t>https://learn.microsoft.com/learn/modules/host-domain-azure-dns/</a:t>
            </a:r>
          </a:p>
          <a:p>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28</a:t>
            </a:fld>
            <a:endParaRPr lang="en-US" dirty="0"/>
          </a:p>
        </p:txBody>
      </p:sp>
    </p:spTree>
    <p:extLst>
      <p:ext uri="{BB962C8B-B14F-4D97-AF65-F5344CB8AC3E}">
        <p14:creationId xmlns:p14="http://schemas.microsoft.com/office/powerpoint/2010/main" val="147018183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6" name="Slide Number Placeholder 5"/>
          <p:cNvSpPr>
            <a:spLocks noGrp="1"/>
          </p:cNvSpPr>
          <p:nvPr>
            <p:ph type="sldNum" sz="quarter" idx="5"/>
          </p:nvPr>
        </p:nvSpPr>
        <p:spPr/>
        <p:txBody>
          <a:bodyPr/>
          <a:lstStyle/>
          <a:p>
            <a:fld id="{B4008EB6-D09E-4580-8CD6-DDB14511944F}" type="slidenum">
              <a:rPr lang="en-US" smtClean="0"/>
              <a:pPr/>
              <a:t>29</a:t>
            </a:fld>
            <a:endParaRPr lang="en-US" dirty="0"/>
          </a:p>
        </p:txBody>
      </p:sp>
    </p:spTree>
    <p:extLst>
      <p:ext uri="{BB962C8B-B14F-4D97-AF65-F5344CB8AC3E}">
        <p14:creationId xmlns:p14="http://schemas.microsoft.com/office/powerpoint/2010/main" val="103797346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32742" rtl="0" eaLnBrk="1" fontAlgn="auto" latinLnBrk="0" hangingPunct="1">
              <a:lnSpc>
                <a:spcPct val="90000"/>
              </a:lnSpc>
              <a:spcBef>
                <a:spcPts val="0"/>
              </a:spcBef>
              <a:spcAft>
                <a:spcPts val="340"/>
              </a:spcAft>
              <a:buClrTx/>
              <a:buSzTx/>
              <a:buFontTx/>
              <a:buNone/>
              <a:tabLst/>
              <a:defRPr/>
            </a:pPr>
            <a:r>
              <a:rPr lang="en-US" dirty="0"/>
              <a:t>QuickStart: Create an Azure private DNS zone using the Azure portal  https://learn.microsoft.com/azure/dns/private-dns-getstarted-portal</a:t>
            </a:r>
          </a:p>
          <a:p>
            <a:endParaRPr lang="en-US" dirty="0"/>
          </a:p>
        </p:txBody>
      </p:sp>
      <p:sp>
        <p:nvSpPr>
          <p:cNvPr id="6" name="Slide Number Placeholder 5"/>
          <p:cNvSpPr>
            <a:spLocks noGrp="1"/>
          </p:cNvSpPr>
          <p:nvPr>
            <p:ph type="sldNum" sz="quarter" idx="5"/>
          </p:nvPr>
        </p:nvSpPr>
        <p:spPr/>
        <p:txBody>
          <a:bodyPr/>
          <a:lstStyle/>
          <a:p>
            <a:fld id="{B4008EB6-D09E-4580-8CD6-DDB14511944F}" type="slidenum">
              <a:rPr lang="en-US" smtClean="0"/>
              <a:pPr/>
              <a:t>30</a:t>
            </a:fld>
            <a:endParaRPr lang="en-US" dirty="0"/>
          </a:p>
        </p:txBody>
      </p:sp>
    </p:spTree>
    <p:extLst>
      <p:ext uri="{BB962C8B-B14F-4D97-AF65-F5344CB8AC3E}">
        <p14:creationId xmlns:p14="http://schemas.microsoft.com/office/powerpoint/2010/main" val="226700081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Demonstration Azure DNS</a:t>
            </a:r>
          </a:p>
          <a:p>
            <a:r>
              <a:rPr lang="en-US" dirty="0"/>
              <a:t>https://microsoftlearning.github.io/AZ-104-MicrosoftAzureAdministrator/Instructions/Demos/04%20-%20Administer%20VIrtual%20Networking.html#configure-azure-dns</a:t>
            </a:r>
          </a:p>
        </p:txBody>
      </p:sp>
      <p:sp>
        <p:nvSpPr>
          <p:cNvPr id="4" name="Slide Number Placeholder 3"/>
          <p:cNvSpPr>
            <a:spLocks noGrp="1"/>
          </p:cNvSpPr>
          <p:nvPr>
            <p:ph type="sldNum" sz="quarter" idx="5"/>
          </p:nvPr>
        </p:nvSpPr>
        <p:spPr/>
        <p:txBody>
          <a:bodyPr/>
          <a:lstStyle/>
          <a:p>
            <a:fld id="{8507DC7E-BC41-4478-BA30-CBCC3A644F0A}" type="slidenum">
              <a:rPr lang="en-US" smtClean="0"/>
              <a:t>31</a:t>
            </a:fld>
            <a:endParaRPr lang="en-US" dirty="0"/>
          </a:p>
        </p:txBody>
      </p:sp>
    </p:spTree>
    <p:extLst>
      <p:ext uri="{BB962C8B-B14F-4D97-AF65-F5344CB8AC3E}">
        <p14:creationId xmlns:p14="http://schemas.microsoft.com/office/powerpoint/2010/main" val="136954643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lvl="0"/>
            <a:r>
              <a:rPr lang="en-US" dirty="0"/>
              <a:t>Additional questions are available in Office Forms - https://forms.office.com/Pages/ShareFormPage.aspx?id=v4j5cvGGr0GRqy180BHbR5NEFZBpuAZBgxPOGXi_gX5UNlJHTFhPTEswM1RCSk0zOTRYWEVOWlcxTi4u&amp;sharetoken=tIfSV6qAYdMmJ5eTFryp&amp;wdLOR=cF01027C5-913F-43C5-8E2D-8747B0612678</a:t>
            </a:r>
          </a:p>
          <a:p>
            <a:pPr lvl="0"/>
            <a:endParaRPr lang="en-US" dirty="0"/>
          </a:p>
          <a:p>
            <a:pPr lvl="0"/>
            <a:r>
              <a:rPr lang="en-US" dirty="0"/>
              <a:t>What is an Azure DNS domain, and can you change the name assigned to you?</a:t>
            </a:r>
          </a:p>
          <a:p>
            <a:pPr lvl="0"/>
            <a:r>
              <a:rPr lang="en-US" b="1" dirty="0"/>
              <a:t>Answer</a:t>
            </a:r>
            <a:r>
              <a:rPr lang="en-US" dirty="0"/>
              <a:t>:. The domain name system (DNS) is a naming database in which internet domain names are located and translated into Internet Protocol (IP) addresses. The domain name system maps the name people use to locate a website to the IP address that a computer uses to locate that website. Azure DNS is a hosting service for DNS domains that provides name resolution. When you create an Azure subscription an Azure AD domain is created for you. This initial domain takes the form domainname.onmicrosoft.com. You can change or customize the domain name. However, you will need to verify ownership of the domain name. </a:t>
            </a:r>
          </a:p>
          <a:p>
            <a:endParaRPr lang="en-US" dirty="0"/>
          </a:p>
          <a:p>
            <a:endParaRPr lang="en-US" dirty="0"/>
          </a:p>
        </p:txBody>
      </p:sp>
      <p:sp>
        <p:nvSpPr>
          <p:cNvPr id="4" name="Slide Number Placeholder 3"/>
          <p:cNvSpPr>
            <a:spLocks noGrp="1"/>
          </p:cNvSpPr>
          <p:nvPr>
            <p:ph type="sldNum" sz="quarter" idx="5"/>
          </p:nvPr>
        </p:nvSpPr>
        <p:spPr/>
        <p:txBody>
          <a:bodyPr/>
          <a:lstStyle/>
          <a:p>
            <a:fld id="{8507DC7E-BC41-4478-BA30-CBCC3A644F0A}" type="slidenum">
              <a:rPr lang="en-US" smtClean="0"/>
              <a:pPr/>
              <a:t>32</a:t>
            </a:fld>
            <a:endParaRPr lang="en-US" dirty="0"/>
          </a:p>
        </p:txBody>
      </p:sp>
      <p:sp>
        <p:nvSpPr>
          <p:cNvPr id="7" name="Slide Image Placeholder 6">
            <a:extLst>
              <a:ext uri="{FF2B5EF4-FFF2-40B4-BE49-F238E27FC236}">
                <a16:creationId xmlns:a16="http://schemas.microsoft.com/office/drawing/2014/main" id="{88C4F67F-EEB7-702F-56A5-7419BF452177}"/>
              </a:ext>
            </a:extLst>
          </p:cNvPr>
          <p:cNvSpPr>
            <a:spLocks noGrp="1" noRot="1" noChangeAspect="1"/>
          </p:cNvSpPr>
          <p:nvPr>
            <p:ph type="sldImg"/>
          </p:nvPr>
        </p:nvSpPr>
        <p:spPr/>
      </p:sp>
    </p:spTree>
    <p:extLst>
      <p:ext uri="{BB962C8B-B14F-4D97-AF65-F5344CB8AC3E}">
        <p14:creationId xmlns:p14="http://schemas.microsoft.com/office/powerpoint/2010/main" val="295262319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07DC7E-BC41-4478-BA30-CBCC3A644F0A}" type="slidenum">
              <a:rPr lang="en-US" smtClean="0"/>
              <a:t>33</a:t>
            </a:fld>
            <a:endParaRPr lang="en-US" dirty="0"/>
          </a:p>
        </p:txBody>
      </p:sp>
    </p:spTree>
    <p:extLst>
      <p:ext uri="{BB962C8B-B14F-4D97-AF65-F5344CB8AC3E}">
        <p14:creationId xmlns:p14="http://schemas.microsoft.com/office/powerpoint/2010/main" val="33727287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32742" rtl="0" eaLnBrk="1" fontAlgn="auto" latinLnBrk="0" hangingPunct="1">
              <a:lnSpc>
                <a:spcPct val="90000"/>
              </a:lnSpc>
              <a:spcBef>
                <a:spcPts val="0"/>
              </a:spcBef>
              <a:spcAft>
                <a:spcPts val="340"/>
              </a:spcAft>
              <a:buClrTx/>
              <a:buSzTx/>
              <a:buFontTx/>
              <a:buNone/>
              <a:tabLst/>
              <a:defRPr/>
            </a:pPr>
            <a:r>
              <a:rPr lang="en-US" dirty="0"/>
              <a:t>This is the first of three networking labs. In this lab you are covering basic network infrastructure.  </a:t>
            </a:r>
          </a:p>
          <a:p>
            <a:pPr marL="0" marR="0" lvl="0" indent="0" algn="l" defTabSz="932742" rtl="0" eaLnBrk="1" fontAlgn="auto" latinLnBrk="0" hangingPunct="1">
              <a:lnSpc>
                <a:spcPct val="90000"/>
              </a:lnSpc>
              <a:spcBef>
                <a:spcPts val="0"/>
              </a:spcBef>
              <a:spcAft>
                <a:spcPts val="340"/>
              </a:spcAft>
              <a:buClrTx/>
              <a:buSzTx/>
              <a:buFontTx/>
              <a:buNone/>
              <a:tabLst/>
              <a:defRPr/>
            </a:pPr>
            <a:endParaRPr lang="en-US" dirty="0"/>
          </a:p>
          <a:p>
            <a:pPr marL="0" marR="0" lvl="0" indent="0" algn="l" defTabSz="932742" rtl="0" eaLnBrk="1" fontAlgn="auto" latinLnBrk="0" hangingPunct="1">
              <a:lnSpc>
                <a:spcPct val="90000"/>
              </a:lnSpc>
              <a:spcBef>
                <a:spcPts val="0"/>
              </a:spcBef>
              <a:spcAft>
                <a:spcPts val="340"/>
              </a:spcAft>
              <a:buClrTx/>
              <a:buSzTx/>
              <a:buFontTx/>
              <a:buNone/>
              <a:tabLst/>
              <a:defRPr/>
            </a:pPr>
            <a:r>
              <a:rPr lang="en-US" dirty="0"/>
              <a:t>Lab 04 - https://microsoftlearning.github.io/AZ-104-MicrosoftAzureAdministrator/Instructions/Labs/LAB_04-Implement_Virtual_Networking.html</a:t>
            </a:r>
          </a:p>
          <a:p>
            <a:endParaRPr lang="en-US" dirty="0"/>
          </a:p>
        </p:txBody>
      </p:sp>
      <p:sp>
        <p:nvSpPr>
          <p:cNvPr id="7" name="Slide Number Placeholder 6"/>
          <p:cNvSpPr>
            <a:spLocks noGrp="1"/>
          </p:cNvSpPr>
          <p:nvPr>
            <p:ph type="sldNum" sz="quarter" idx="5"/>
          </p:nvPr>
        </p:nvSpPr>
        <p:spPr/>
        <p:txBody>
          <a:bodyPr/>
          <a:lstStyle/>
          <a:p>
            <a:fld id="{B4008EB6-D09E-4580-8CD6-DDB14511944F}" type="slidenum">
              <a:rPr lang="en-US" smtClean="0"/>
              <a:pPr/>
              <a:t>34</a:t>
            </a:fld>
            <a:endParaRPr lang="en-US" dirty="0"/>
          </a:p>
        </p:txBody>
      </p:sp>
    </p:spTree>
    <p:extLst>
      <p:ext uri="{BB962C8B-B14F-4D97-AF65-F5344CB8AC3E}">
        <p14:creationId xmlns:p14="http://schemas.microsoft.com/office/powerpoint/2010/main" val="36106519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6" name="Slide Number Placeholder 5"/>
          <p:cNvSpPr>
            <a:spLocks noGrp="1"/>
          </p:cNvSpPr>
          <p:nvPr>
            <p:ph type="sldNum" sz="quarter" idx="5"/>
          </p:nvPr>
        </p:nvSpPr>
        <p:spPr/>
        <p:txBody>
          <a:bodyPr/>
          <a:lstStyle/>
          <a:p>
            <a:fld id="{B4008EB6-D09E-4580-8CD6-DDB14511944F}" type="slidenum">
              <a:rPr lang="en-US" smtClean="0"/>
              <a:pPr/>
              <a:t>35</a:t>
            </a:fld>
            <a:endParaRPr lang="en-US" dirty="0"/>
          </a:p>
        </p:txBody>
      </p:sp>
    </p:spTree>
    <p:extLst>
      <p:ext uri="{BB962C8B-B14F-4D97-AF65-F5344CB8AC3E}">
        <p14:creationId xmlns:p14="http://schemas.microsoft.com/office/powerpoint/2010/main" val="154629225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4008EB6-D09E-4580-8CD6-DDB14511944F}" type="slidenum">
              <a:rPr lang="en-US" smtClean="0"/>
              <a:pPr/>
              <a:t>36</a:t>
            </a:fld>
            <a:endParaRPr lang="en-US" dirty="0"/>
          </a:p>
        </p:txBody>
      </p:sp>
    </p:spTree>
    <p:extLst>
      <p:ext uri="{BB962C8B-B14F-4D97-AF65-F5344CB8AC3E}">
        <p14:creationId xmlns:p14="http://schemas.microsoft.com/office/powerpoint/2010/main" val="150760825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32742" rtl="0" eaLnBrk="1" fontAlgn="auto" latinLnBrk="0" hangingPunct="1">
              <a:lnSpc>
                <a:spcPct val="90000"/>
              </a:lnSpc>
              <a:spcBef>
                <a:spcPts val="0"/>
              </a:spcBef>
              <a:spcAft>
                <a:spcPts val="340"/>
              </a:spcAft>
              <a:buClrTx/>
              <a:buSzTx/>
              <a:buFontTx/>
              <a:buNone/>
              <a:tabLst/>
              <a:defRPr/>
            </a:pPr>
            <a:r>
              <a:rPr lang="en-US" dirty="0"/>
              <a:t>QuickStart: Create an Azure DNS zone and record using the Azure portal - https://learn.microsoft.com/azure/dns/dns-getstarted-portal</a:t>
            </a:r>
          </a:p>
          <a:p>
            <a:endParaRPr lang="en-US" dirty="0"/>
          </a:p>
        </p:txBody>
      </p:sp>
      <p:sp>
        <p:nvSpPr>
          <p:cNvPr id="6" name="Slide Number Placeholder 5"/>
          <p:cNvSpPr>
            <a:spLocks noGrp="1"/>
          </p:cNvSpPr>
          <p:nvPr>
            <p:ph type="sldNum" sz="quarter" idx="5"/>
          </p:nvPr>
        </p:nvSpPr>
        <p:spPr/>
        <p:txBody>
          <a:bodyPr/>
          <a:lstStyle/>
          <a:p>
            <a:fld id="{B4008EB6-D09E-4580-8CD6-DDB14511944F}" type="slidenum">
              <a:rPr lang="en-US" smtClean="0"/>
              <a:pPr/>
              <a:t>37</a:t>
            </a:fld>
            <a:endParaRPr lang="en-US" dirty="0"/>
          </a:p>
        </p:txBody>
      </p:sp>
    </p:spTree>
    <p:extLst>
      <p:ext uri="{BB962C8B-B14F-4D97-AF65-F5344CB8AC3E}">
        <p14:creationId xmlns:p14="http://schemas.microsoft.com/office/powerpoint/2010/main" val="213611898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38</a:t>
            </a:fld>
            <a:endParaRPr lang="en-US" dirty="0"/>
          </a:p>
        </p:txBody>
      </p:sp>
    </p:spTree>
    <p:extLst>
      <p:ext uri="{BB962C8B-B14F-4D97-AF65-F5344CB8AC3E}">
        <p14:creationId xmlns:p14="http://schemas.microsoft.com/office/powerpoint/2010/main" val="212315978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82AE9A-6EE7-9029-5093-EF5602E91B3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42CE1F5-BA21-9951-834D-D45315CBDEF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BA8626A-46A5-4CCB-F787-A35901DBD924}"/>
              </a:ext>
            </a:extLst>
          </p:cNvPr>
          <p:cNvSpPr>
            <a:spLocks noGrp="1"/>
          </p:cNvSpPr>
          <p:nvPr>
            <p:ph type="body" idx="1"/>
          </p:nvPr>
        </p:nvSpPr>
        <p:spPr/>
        <p:txBody>
          <a:bodyPr/>
          <a:lstStyle/>
          <a:p>
            <a:pPr marL="0" marR="0" lvl="0" indent="0" algn="l" defTabSz="932742" rtl="0" eaLnBrk="1" fontAlgn="auto" latinLnBrk="0" hangingPunct="1">
              <a:lnSpc>
                <a:spcPct val="90000"/>
              </a:lnSpc>
              <a:spcBef>
                <a:spcPts val="0"/>
              </a:spcBef>
              <a:spcAft>
                <a:spcPts val="340"/>
              </a:spcAft>
              <a:buClrTx/>
              <a:buSzTx/>
              <a:buFontTx/>
              <a:buNone/>
              <a:tabLst/>
              <a:defRPr/>
            </a:pPr>
            <a:r>
              <a:rPr lang="en-US" dirty="0">
                <a:cs typeface="Calibri" panose="020F0502020204030204"/>
              </a:rPr>
              <a:t>Public IP addresses</a:t>
            </a:r>
          </a:p>
          <a:p>
            <a:pPr marL="0" marR="0" lvl="0" indent="0" algn="l" defTabSz="932742" rtl="0" eaLnBrk="1" fontAlgn="auto" latinLnBrk="0" hangingPunct="1">
              <a:lnSpc>
                <a:spcPct val="90000"/>
              </a:lnSpc>
              <a:spcBef>
                <a:spcPts val="0"/>
              </a:spcBef>
              <a:spcAft>
                <a:spcPts val="340"/>
              </a:spcAft>
              <a:buClrTx/>
              <a:buSzTx/>
              <a:buFontTx/>
              <a:buNone/>
              <a:tabLst/>
              <a:defRPr/>
            </a:pPr>
            <a:r>
              <a:rPr lang="en-US" dirty="0">
                <a:cs typeface="Calibri" panose="020F0502020204030204"/>
              </a:rPr>
              <a:t>https://learn.microsoft.com/azure/virtual-network/public-ip-addresses</a:t>
            </a:r>
          </a:p>
          <a:p>
            <a:endParaRPr lang="en-US" dirty="0">
              <a:cs typeface="Calibri" panose="020F0502020204030204"/>
            </a:endParaRPr>
          </a:p>
        </p:txBody>
      </p:sp>
      <p:sp>
        <p:nvSpPr>
          <p:cNvPr id="7" name="Slide Number Placeholder 6">
            <a:extLst>
              <a:ext uri="{FF2B5EF4-FFF2-40B4-BE49-F238E27FC236}">
                <a16:creationId xmlns:a16="http://schemas.microsoft.com/office/drawing/2014/main" id="{541173D1-907A-0E25-8479-62DD1CD9E260}"/>
              </a:ext>
            </a:extLst>
          </p:cNvPr>
          <p:cNvSpPr>
            <a:spLocks noGrp="1"/>
          </p:cNvSpPr>
          <p:nvPr>
            <p:ph type="sldNum" sz="quarter" idx="13"/>
          </p:nvPr>
        </p:nvSpPr>
        <p:spPr/>
        <p:txBody>
          <a:bodyPr/>
          <a:lstStyle/>
          <a:p>
            <a:fld id="{B4008EB6-D09E-4580-8CD6-DDB14511944F}" type="slidenum">
              <a:rPr lang="en-US" smtClean="0"/>
              <a:pPr/>
              <a:t>39</a:t>
            </a:fld>
            <a:endParaRPr lang="en-US" dirty="0"/>
          </a:p>
        </p:txBody>
      </p:sp>
    </p:spTree>
    <p:extLst>
      <p:ext uri="{BB962C8B-B14F-4D97-AF65-F5344CB8AC3E}">
        <p14:creationId xmlns:p14="http://schemas.microsoft.com/office/powerpoint/2010/main" val="141526098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8.svg"/><Relationship Id="rId4" Type="http://schemas.openxmlformats.org/officeDocument/2006/relationships/image" Target="../media/image7.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32E9348E-FA16-FE20-38FB-EDD806C9464D}"/>
              </a:ext>
            </a:extLst>
          </p:cNvPr>
          <p:cNvPicPr>
            <a:picLocks noChangeAspect="1"/>
          </p:cNvPicPr>
          <p:nvPr userDrawn="1"/>
        </p:nvPicPr>
        <p:blipFill>
          <a:blip r:embed="rId2"/>
          <a:stretch>
            <a:fillRect/>
          </a:stretch>
        </p:blipFill>
        <p:spPr>
          <a:xfrm>
            <a:off x="-1" y="11112"/>
            <a:ext cx="12436475" cy="6972300"/>
          </a:xfrm>
          <a:prstGeom prst="rect">
            <a:avLst/>
          </a:prstGeom>
        </p:spPr>
      </p:pic>
      <p:pic>
        <p:nvPicPr>
          <p:cNvPr id="7" name="MS logo gray - EMF" descr="Microsoft logo, gray text version">
            <a:extLst>
              <a:ext uri="{FF2B5EF4-FFF2-40B4-BE49-F238E27FC236}">
                <a16:creationId xmlns:a16="http://schemas.microsoft.com/office/drawing/2014/main" id="{7B930E7F-5B91-31B0-B67D-DB8C41E881CF}"/>
              </a:ext>
            </a:extLst>
          </p:cNvPr>
          <p:cNvPicPr>
            <a:picLocks noChangeAspect="1"/>
          </p:cNvPicPr>
          <p:nvPr userDrawn="1"/>
        </p:nvPicPr>
        <p:blipFill>
          <a:blip r:embed="rId3"/>
          <a:stretch>
            <a:fillRect/>
          </a:stretch>
        </p:blipFill>
        <p:spPr bwMode="black">
          <a:xfrm>
            <a:off x="595914" y="597450"/>
            <a:ext cx="1393840" cy="298433"/>
          </a:xfrm>
          <a:prstGeom prst="rect">
            <a:avLst/>
          </a:prstGeom>
        </p:spPr>
      </p:pic>
      <p:sp>
        <p:nvSpPr>
          <p:cNvPr id="3" name="Title 1">
            <a:extLst>
              <a:ext uri="{FF2B5EF4-FFF2-40B4-BE49-F238E27FC236}">
                <a16:creationId xmlns:a16="http://schemas.microsoft.com/office/drawing/2014/main" id="{3E21C31D-925C-53B5-2E40-C54FF245B41E}"/>
              </a:ext>
            </a:extLst>
          </p:cNvPr>
          <p:cNvSpPr>
            <a:spLocks noGrp="1"/>
          </p:cNvSpPr>
          <p:nvPr>
            <p:ph type="title" hasCustomPrompt="1"/>
          </p:nvPr>
        </p:nvSpPr>
        <p:spPr>
          <a:xfrm>
            <a:off x="581341" y="3622696"/>
            <a:ext cx="5800990" cy="1130181"/>
          </a:xfrm>
          <a:noFill/>
        </p:spPr>
        <p:txBody>
          <a:bodyPr wrap="square" lIns="0" tIns="0" rIns="0" bIns="0" anchor="b" anchorCtr="0">
            <a:spAutoFit/>
          </a:bodyPr>
          <a:lstStyle>
            <a:lvl1pPr>
              <a:defRPr sz="4080" b="0" i="0" spc="-51" baseline="0">
                <a:solidFill>
                  <a:schemeClr val="tx1"/>
                </a:solidFill>
                <a:latin typeface="+mn-lt"/>
                <a:cs typeface="Segoe UI" panose="020B0502040204020203" pitchFamily="34" charset="0"/>
              </a:defRPr>
            </a:lvl1pPr>
          </a:lstStyle>
          <a:p>
            <a:r>
              <a:rPr lang="en-US" dirty="0"/>
              <a:t>Event name or </a:t>
            </a:r>
            <a:br>
              <a:rPr lang="en-US" dirty="0"/>
            </a:br>
            <a:r>
              <a:rPr lang="en-US" dirty="0"/>
              <a:t>presentation title </a:t>
            </a:r>
          </a:p>
        </p:txBody>
      </p:sp>
      <p:sp>
        <p:nvSpPr>
          <p:cNvPr id="5" name="Footer Placeholder 10">
            <a:extLst>
              <a:ext uri="{FF2B5EF4-FFF2-40B4-BE49-F238E27FC236}">
                <a16:creationId xmlns:a16="http://schemas.microsoft.com/office/drawing/2014/main" id="{44253EDB-56F0-1036-A65B-02ABC067A9E8}"/>
              </a:ext>
            </a:extLst>
          </p:cNvPr>
          <p:cNvSpPr>
            <a:spLocks noGrp="1"/>
          </p:cNvSpPr>
          <p:nvPr>
            <p:ph type="ftr" sz="quarter" idx="3"/>
          </p:nvPr>
        </p:nvSpPr>
        <p:spPr>
          <a:xfrm>
            <a:off x="591057" y="6548910"/>
            <a:ext cx="4234554" cy="201917"/>
          </a:xfrm>
          <a:prstGeom prst="rect">
            <a:avLst/>
          </a:prstGeom>
        </p:spPr>
        <p:txBody>
          <a:bodyPr vert="horz" lIns="0" tIns="0" rIns="0" bIns="0" rtlCol="0" anchor="ctr"/>
          <a:lstStyle>
            <a:lvl1pPr marL="0" algn="l" defTabSz="932597" rtl="0" eaLnBrk="1" latinLnBrk="0" hangingPunct="1">
              <a:defRPr lang="en-US" sz="1020" kern="1200" dirty="0">
                <a:solidFill>
                  <a:schemeClr val="tx1"/>
                </a:solidFill>
                <a:latin typeface="+mn-lt"/>
                <a:ea typeface="+mn-ea"/>
                <a:cs typeface="+mn-cs"/>
              </a:defRPr>
            </a:lvl1pPr>
            <a:lvl5pPr>
              <a:defRPr lang="en-US" sz="765" kern="100" cap="all" spc="0" baseline="0" dirty="0">
                <a:solidFill>
                  <a:schemeClr val="tx1"/>
                </a:solidFill>
                <a:latin typeface="Arial" panose="020B0604020202020204" pitchFamily="34" charset="0"/>
                <a:ea typeface="+mn-ea"/>
                <a:cs typeface="Arial" panose="020B0604020202020204" pitchFamily="34" charset="0"/>
              </a:defRPr>
            </a:lvl5pPr>
          </a:lstStyle>
          <a:p>
            <a:pPr defTabSz="932563">
              <a:defRPr/>
            </a:pPr>
            <a:r>
              <a:rPr lang="en-US">
                <a:solidFill>
                  <a:srgbClr val="000000"/>
                </a:solidFill>
              </a:rPr>
              <a:t>© Copyright Microsoft Corporation. All rights reserved.</a:t>
            </a:r>
          </a:p>
        </p:txBody>
      </p:sp>
      <p:sp>
        <p:nvSpPr>
          <p:cNvPr id="2" name="Footer Placeholder 10">
            <a:extLst>
              <a:ext uri="{FF2B5EF4-FFF2-40B4-BE49-F238E27FC236}">
                <a16:creationId xmlns:a16="http://schemas.microsoft.com/office/drawing/2014/main" id="{A2E85BCA-8C5F-EFAA-DEF3-E5518406532B}"/>
              </a:ext>
            </a:extLst>
          </p:cNvPr>
          <p:cNvSpPr txBox="1">
            <a:spLocks/>
          </p:cNvSpPr>
          <p:nvPr userDrawn="1"/>
        </p:nvSpPr>
        <p:spPr>
          <a:xfrm>
            <a:off x="591057" y="6548910"/>
            <a:ext cx="4234554" cy="201917"/>
          </a:xfrm>
          <a:prstGeom prst="rect">
            <a:avLst/>
          </a:prstGeom>
        </p:spPr>
        <p:txBody>
          <a:bodyPr vert="horz" lIns="0" tIns="0" rIns="0" bIns="0" rtlCol="0" anchor="ctr"/>
          <a:lstStyle>
            <a:defPPr>
              <a:defRPr lang="en-US"/>
            </a:defPPr>
            <a:lvl1pPr marL="0" algn="l" defTabSz="914400" rtl="0" eaLnBrk="1" latinLnBrk="0" hangingPunct="1">
              <a:defRPr lang="en-US" sz="1000" kern="1200" dirty="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lang="en-US" sz="750" kern="100" cap="all" spc="0" baseline="0" dirty="0">
                <a:solidFill>
                  <a:schemeClr val="tx1"/>
                </a:solidFill>
                <a:latin typeface="Arial" panose="020B0604020202020204" pitchFamily="34" charset="0"/>
                <a:ea typeface="+mn-ea"/>
                <a:cs typeface="Arial" panose="020B0604020202020204" pitchFamily="34" charset="0"/>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defTabSz="932563">
              <a:defRPr/>
            </a:pPr>
            <a:r>
              <a:rPr lang="en-US" sz="1020" dirty="0">
                <a:solidFill>
                  <a:srgbClr val="000000"/>
                </a:solidFill>
              </a:rPr>
              <a:t>© Copyright Microsoft Corporation. All rights reserved.</a:t>
            </a:r>
          </a:p>
        </p:txBody>
      </p:sp>
    </p:spTree>
    <p:extLst>
      <p:ext uri="{BB962C8B-B14F-4D97-AF65-F5344CB8AC3E}">
        <p14:creationId xmlns:p14="http://schemas.microsoft.com/office/powerpoint/2010/main" val="26711665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60">
          <p15:clr>
            <a:srgbClr val="5ACBF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slide">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64707CDC-9BD2-0073-85EB-939160E4C7CC}"/>
              </a:ext>
            </a:extLst>
          </p:cNvPr>
          <p:cNvPicPr>
            <a:picLocks noChangeAspect="1"/>
          </p:cNvPicPr>
          <p:nvPr userDrawn="1"/>
        </p:nvPicPr>
        <p:blipFill>
          <a:blip r:embed="rId2"/>
          <a:stretch>
            <a:fillRect/>
          </a:stretch>
        </p:blipFill>
        <p:spPr>
          <a:xfrm>
            <a:off x="1231900" y="1587"/>
            <a:ext cx="11204575" cy="6991350"/>
          </a:xfrm>
          <a:prstGeom prst="rect">
            <a:avLst/>
          </a:prstGeom>
        </p:spPr>
      </p:pic>
      <p:sp>
        <p:nvSpPr>
          <p:cNvPr id="3" name="Title 1">
            <a:extLst>
              <a:ext uri="{FF2B5EF4-FFF2-40B4-BE49-F238E27FC236}">
                <a16:creationId xmlns:a16="http://schemas.microsoft.com/office/drawing/2014/main" id="{12D19AFB-6939-2FBA-48C9-66A2961406A7}"/>
              </a:ext>
            </a:extLst>
          </p:cNvPr>
          <p:cNvSpPr>
            <a:spLocks noGrp="1"/>
          </p:cNvSpPr>
          <p:nvPr>
            <p:ph type="title" hasCustomPrompt="1"/>
          </p:nvPr>
        </p:nvSpPr>
        <p:spPr>
          <a:xfrm>
            <a:off x="581340" y="3514705"/>
            <a:ext cx="6472474" cy="565091"/>
          </a:xfrm>
          <a:noFill/>
        </p:spPr>
        <p:txBody>
          <a:bodyPr wrap="square" lIns="0" tIns="0" rIns="0" bIns="0" anchor="b" anchorCtr="0">
            <a:spAutoFit/>
          </a:bodyPr>
          <a:lstStyle>
            <a:lvl1pPr>
              <a:defRPr sz="4080" b="0" i="0" spc="-51" baseline="0">
                <a:solidFill>
                  <a:schemeClr val="tx1"/>
                </a:solidFill>
                <a:latin typeface="+mn-lt"/>
                <a:cs typeface="Segoe UI" panose="020B0502040204020203" pitchFamily="34" charset="0"/>
              </a:defRPr>
            </a:lvl1pPr>
          </a:lstStyle>
          <a:p>
            <a:r>
              <a:rPr lang="en-US" dirty="0"/>
              <a:t>Section divider title</a:t>
            </a:r>
          </a:p>
        </p:txBody>
      </p:sp>
      <p:sp>
        <p:nvSpPr>
          <p:cNvPr id="7" name="TextBox 6">
            <a:extLst>
              <a:ext uri="{FF2B5EF4-FFF2-40B4-BE49-F238E27FC236}">
                <a16:creationId xmlns:a16="http://schemas.microsoft.com/office/drawing/2014/main" id="{49AE7960-A7FE-D692-112F-471C560CCA67}"/>
              </a:ext>
            </a:extLst>
          </p:cNvPr>
          <p:cNvSpPr txBox="1"/>
          <p:nvPr userDrawn="1"/>
        </p:nvSpPr>
        <p:spPr>
          <a:xfrm>
            <a:off x="427038" y="6411853"/>
            <a:ext cx="6216728" cy="270285"/>
          </a:xfrm>
          <a:prstGeom prst="rect">
            <a:avLst/>
          </a:prstGeom>
          <a:noFill/>
        </p:spPr>
        <p:txBody>
          <a:bodyPr wrap="square">
            <a:spAutoFit/>
          </a:bodyPr>
          <a:lstStyle/>
          <a:p>
            <a:pPr defTabSz="932563">
              <a:defRPr/>
            </a:pPr>
            <a:r>
              <a:rPr lang="en-US" sz="1122" dirty="0">
                <a:solidFill>
                  <a:srgbClr val="000000"/>
                </a:solidFill>
              </a:rPr>
              <a:t>© Copyright Microsoft Corporation. All rights reserved.</a:t>
            </a:r>
          </a:p>
        </p:txBody>
      </p:sp>
    </p:spTree>
    <p:extLst>
      <p:ext uri="{BB962C8B-B14F-4D97-AF65-F5344CB8AC3E}">
        <p14:creationId xmlns:p14="http://schemas.microsoft.com/office/powerpoint/2010/main" val="17515689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450">
          <p15:clr>
            <a:srgbClr val="FBAE40"/>
          </p15:clr>
        </p15:guide>
        <p15:guide id="2" orient="horz" pos="2647">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29445A-A014-4223-90E2-3D3353E0CE83}"/>
              </a:ext>
            </a:extLst>
          </p:cNvPr>
          <p:cNvSpPr>
            <a:spLocks noGrp="1"/>
          </p:cNvSpPr>
          <p:nvPr>
            <p:ph type="title" hasCustomPrompt="1"/>
          </p:nvPr>
        </p:nvSpPr>
        <p:spPr/>
        <p:txBody>
          <a:bodyPr/>
          <a:lstStyle>
            <a:lvl1pPr>
              <a:defRPr/>
            </a:lvl1pPr>
          </a:lstStyle>
          <a:p>
            <a:r>
              <a:rPr lang="en-US"/>
              <a:t>Heading Segoe UI </a:t>
            </a:r>
            <a:r>
              <a:rPr lang="en-US" err="1"/>
              <a:t>Semibold</a:t>
            </a:r>
            <a:r>
              <a:rPr lang="en-US"/>
              <a:t> 32</a:t>
            </a:r>
          </a:p>
        </p:txBody>
      </p:sp>
    </p:spTree>
    <p:extLst>
      <p:ext uri="{BB962C8B-B14F-4D97-AF65-F5344CB8AC3E}">
        <p14:creationId xmlns:p14="http://schemas.microsoft.com/office/powerpoint/2010/main" val="1973876835"/>
      </p:ext>
    </p:extLst>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subheadin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74CBFC5-126D-4E5D-BA79-A65662FA3631}"/>
              </a:ext>
            </a:extLst>
          </p:cNvPr>
          <p:cNvSpPr>
            <a:spLocks noGrp="1"/>
          </p:cNvSpPr>
          <p:nvPr>
            <p:ph type="title"/>
          </p:nvPr>
        </p:nvSpPr>
        <p:spPr>
          <a:xfrm>
            <a:off x="427038" y="449263"/>
            <a:ext cx="11568684" cy="655637"/>
          </a:xfrm>
        </p:spPr>
        <p:txBody>
          <a:bodyPr/>
          <a:lstStyle/>
          <a:p>
            <a:r>
              <a:rPr lang="en-US" dirty="0"/>
              <a:t>Click to edit Master title style</a:t>
            </a:r>
          </a:p>
        </p:txBody>
      </p:sp>
      <p:sp>
        <p:nvSpPr>
          <p:cNvPr id="4" name="Text Placeholder 3">
            <a:extLst>
              <a:ext uri="{FF2B5EF4-FFF2-40B4-BE49-F238E27FC236}">
                <a16:creationId xmlns:a16="http://schemas.microsoft.com/office/drawing/2014/main" id="{DB521330-4B4A-4C5F-85CF-D5CBC2772D39}"/>
              </a:ext>
            </a:extLst>
          </p:cNvPr>
          <p:cNvSpPr>
            <a:spLocks noGrp="1"/>
          </p:cNvSpPr>
          <p:nvPr>
            <p:ph type="body" sz="quarter" idx="10" hasCustomPrompt="1"/>
          </p:nvPr>
        </p:nvSpPr>
        <p:spPr>
          <a:xfrm>
            <a:off x="440753" y="998040"/>
            <a:ext cx="11568684" cy="439465"/>
          </a:xfrm>
        </p:spPr>
        <p:txBody>
          <a:bodyPr tIns="45720" rIns="0" bIns="45720"/>
          <a:lstStyle>
            <a:lvl1pPr>
              <a:defRPr sz="2244">
                <a:solidFill>
                  <a:schemeClr val="tx2">
                    <a:lumMod val="50000"/>
                  </a:schemeClr>
                </a:solidFill>
              </a:defRPr>
            </a:lvl1pPr>
          </a:lstStyle>
          <a:p>
            <a:r>
              <a:rPr lang="en-US" dirty="0"/>
              <a:t>Subheading Segoe UI </a:t>
            </a:r>
            <a:r>
              <a:rPr lang="en-US" dirty="0" err="1"/>
              <a:t>Semibold</a:t>
            </a:r>
            <a:r>
              <a:rPr lang="en-US" dirty="0"/>
              <a:t> 22 </a:t>
            </a:r>
            <a:r>
              <a:rPr lang="en-US" dirty="0" err="1"/>
              <a:t>pt</a:t>
            </a:r>
            <a:endParaRPr lang="en-US" dirty="0"/>
          </a:p>
        </p:txBody>
      </p:sp>
    </p:spTree>
    <p:extLst>
      <p:ext uri="{BB962C8B-B14F-4D97-AF65-F5344CB8AC3E}">
        <p14:creationId xmlns:p14="http://schemas.microsoft.com/office/powerpoint/2010/main" val="3759177351"/>
      </p:ext>
    </p:extLst>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Learning Objs - no OD">
    <p:bg>
      <p:bgPr>
        <a:solidFill>
          <a:srgbClr val="F4F3F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0DA845-DD15-1C56-8B25-22EAA1B45A8A}"/>
              </a:ext>
            </a:extLst>
          </p:cNvPr>
          <p:cNvSpPr>
            <a:spLocks noGrp="1"/>
          </p:cNvSpPr>
          <p:nvPr>
            <p:ph type="title"/>
          </p:nvPr>
        </p:nvSpPr>
        <p:spPr/>
        <p:txBody>
          <a:bodyPr/>
          <a:lstStyle/>
          <a:p>
            <a:r>
              <a:rPr lang="en-US" dirty="0"/>
              <a:t>Click to edit Master title style</a:t>
            </a:r>
          </a:p>
        </p:txBody>
      </p:sp>
      <p:pic>
        <p:nvPicPr>
          <p:cNvPr id="15" name="Graphic 14">
            <a:extLst>
              <a:ext uri="{FF2B5EF4-FFF2-40B4-BE49-F238E27FC236}">
                <a16:creationId xmlns:a16="http://schemas.microsoft.com/office/drawing/2014/main" id="{B2A34330-BC4D-94AB-2A95-93170E542890}"/>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 y="3207262"/>
            <a:ext cx="12436476" cy="3095623"/>
          </a:xfrm>
          <a:prstGeom prst="rect">
            <a:avLst/>
          </a:prstGeom>
        </p:spPr>
      </p:pic>
    </p:spTree>
    <p:extLst>
      <p:ext uri="{BB962C8B-B14F-4D97-AF65-F5344CB8AC3E}">
        <p14:creationId xmlns:p14="http://schemas.microsoft.com/office/powerpoint/2010/main" val="474306594"/>
      </p:ext>
    </p:extLst>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arning Objs">
    <p:bg>
      <p:bgPr>
        <a:solidFill>
          <a:srgbClr val="F4F3F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0DA845-DD15-1C56-8B25-22EAA1B45A8A}"/>
              </a:ext>
            </a:extLst>
          </p:cNvPr>
          <p:cNvSpPr>
            <a:spLocks noGrp="1"/>
          </p:cNvSpPr>
          <p:nvPr>
            <p:ph type="title"/>
          </p:nvPr>
        </p:nvSpPr>
        <p:spPr/>
        <p:txBody>
          <a:bodyPr/>
          <a:lstStyle/>
          <a:p>
            <a:r>
              <a:rPr lang="en-US" dirty="0"/>
              <a:t>Click to edit Master title style</a:t>
            </a:r>
          </a:p>
        </p:txBody>
      </p:sp>
      <p:pic>
        <p:nvPicPr>
          <p:cNvPr id="15" name="Graphic 14">
            <a:extLst>
              <a:ext uri="{FF2B5EF4-FFF2-40B4-BE49-F238E27FC236}">
                <a16:creationId xmlns:a16="http://schemas.microsoft.com/office/drawing/2014/main" id="{B2A34330-BC4D-94AB-2A95-93170E542890}"/>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 y="3207262"/>
            <a:ext cx="12436476" cy="3095623"/>
          </a:xfrm>
          <a:prstGeom prst="rect">
            <a:avLst/>
          </a:prstGeom>
        </p:spPr>
      </p:pic>
      <p:sp>
        <p:nvSpPr>
          <p:cNvPr id="7" name="Rectangle: Rounded Corners 6">
            <a:extLst>
              <a:ext uri="{FF2B5EF4-FFF2-40B4-BE49-F238E27FC236}">
                <a16:creationId xmlns:a16="http://schemas.microsoft.com/office/drawing/2014/main" id="{E8885716-8A7B-42A7-93E2-E8749AF5C6BC}"/>
              </a:ext>
            </a:extLst>
          </p:cNvPr>
          <p:cNvSpPr/>
          <p:nvPr userDrawn="1"/>
        </p:nvSpPr>
        <p:spPr bwMode="auto">
          <a:xfrm>
            <a:off x="6116130" y="1476375"/>
            <a:ext cx="5313870" cy="4333875"/>
          </a:xfrm>
          <a:prstGeom prst="roundRect">
            <a:avLst/>
          </a:prstGeom>
          <a:solidFill>
            <a:schemeClr val="bg1"/>
          </a:solidFill>
          <a:ln>
            <a:solidFill>
              <a:schemeClr val="bg1">
                <a:lumMod val="9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Tree>
    <p:extLst>
      <p:ext uri="{BB962C8B-B14F-4D97-AF65-F5344CB8AC3E}">
        <p14:creationId xmlns:p14="http://schemas.microsoft.com/office/powerpoint/2010/main" val="3247541845"/>
      </p:ext>
    </p:extLst>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earning Recap">
    <p:spTree>
      <p:nvGrpSpPr>
        <p:cNvPr id="1" name=""/>
        <p:cNvGrpSpPr/>
        <p:nvPr/>
      </p:nvGrpSpPr>
      <p:grpSpPr>
        <a:xfrm>
          <a:off x="0" y="0"/>
          <a:ext cx="0" cy="0"/>
          <a:chOff x="0" y="0"/>
          <a:chExt cx="0" cy="0"/>
        </a:xfrm>
      </p:grpSpPr>
      <p:sp>
        <p:nvSpPr>
          <p:cNvPr id="6" name="Rectangle: Single Corner Rounded 5">
            <a:extLst>
              <a:ext uri="{FF2B5EF4-FFF2-40B4-BE49-F238E27FC236}">
                <a16:creationId xmlns:a16="http://schemas.microsoft.com/office/drawing/2014/main" id="{A02CAEB8-26C8-4DCC-A205-1958858BB2CA}"/>
              </a:ext>
              <a:ext uri="{C183D7F6-B498-43B3-948B-1728B52AA6E4}">
                <adec:decorative xmlns:adec="http://schemas.microsoft.com/office/drawing/2017/decorative" val="1"/>
              </a:ext>
            </a:extLst>
          </p:cNvPr>
          <p:cNvSpPr/>
          <p:nvPr userDrawn="1"/>
        </p:nvSpPr>
        <p:spPr bwMode="auto">
          <a:xfrm>
            <a:off x="-1" y="1951559"/>
            <a:ext cx="3183609" cy="4015292"/>
          </a:xfrm>
          <a:prstGeom prst="round1Rect">
            <a:avLst>
              <a:gd name="adj" fmla="val 6737"/>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6521" tIns="149217" rIns="186521" bIns="149217" numCol="1" spcCol="0" rtlCol="0" fromWordArt="0" anchor="ctr" anchorCtr="0" forceAA="0" compatLnSpc="1">
            <a:prstTxWarp prst="textNoShape">
              <a:avLst/>
            </a:prstTxWarp>
            <a:noAutofit/>
          </a:bodyPr>
          <a:lstStyle/>
          <a:p>
            <a:pPr algn="ctr" defTabSz="951028" fontAlgn="base">
              <a:spcBef>
                <a:spcPct val="0"/>
              </a:spcBef>
              <a:spcAft>
                <a:spcPct val="0"/>
              </a:spcAft>
            </a:pPr>
            <a:endParaRPr lang="en-US" sz="2448" dirty="0">
              <a:solidFill>
                <a:schemeClr val="tx1"/>
              </a:solidFill>
              <a:ea typeface="Segoe UI" pitchFamily="34" charset="0"/>
              <a:cs typeface="Segoe UI" pitchFamily="34" charset="0"/>
            </a:endParaRPr>
          </a:p>
        </p:txBody>
      </p:sp>
      <p:grpSp>
        <p:nvGrpSpPr>
          <p:cNvPr id="3" name="Group 2">
            <a:extLst>
              <a:ext uri="{FF2B5EF4-FFF2-40B4-BE49-F238E27FC236}">
                <a16:creationId xmlns:a16="http://schemas.microsoft.com/office/drawing/2014/main" id="{C54C7EE8-4313-2803-B06C-A5BA61EA412A}"/>
              </a:ext>
              <a:ext uri="{C183D7F6-B498-43B3-948B-1728B52AA6E4}">
                <adec:decorative xmlns:adec="http://schemas.microsoft.com/office/drawing/2017/decorative" val="1"/>
              </a:ext>
            </a:extLst>
          </p:cNvPr>
          <p:cNvGrpSpPr/>
          <p:nvPr userDrawn="1"/>
        </p:nvGrpSpPr>
        <p:grpSpPr>
          <a:xfrm>
            <a:off x="2614984" y="1617484"/>
            <a:ext cx="1132870" cy="1132709"/>
            <a:chOff x="5540700" y="2116300"/>
            <a:chExt cx="1110600" cy="1110600"/>
          </a:xfrm>
        </p:grpSpPr>
        <p:sp>
          <p:nvSpPr>
            <p:cNvPr id="4" name="Oval 3">
              <a:extLst>
                <a:ext uri="{FF2B5EF4-FFF2-40B4-BE49-F238E27FC236}">
                  <a16:creationId xmlns:a16="http://schemas.microsoft.com/office/drawing/2014/main" id="{3F97E22B-DD1F-99A5-25F7-1E4F4F58DA7D}"/>
                </a:ext>
              </a:extLst>
            </p:cNvPr>
            <p:cNvSpPr/>
            <p:nvPr/>
          </p:nvSpPr>
          <p:spPr>
            <a:xfrm>
              <a:off x="5540700" y="2116300"/>
              <a:ext cx="1110600" cy="1110600"/>
            </a:xfrm>
            <a:prstGeom prst="ellipse">
              <a:avLst/>
            </a:prstGeom>
            <a:solidFill>
              <a:srgbClr val="FFA3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32597" rtl="0" eaLnBrk="1" fontAlgn="auto" latinLnBrk="0" hangingPunct="1">
                <a:lnSpc>
                  <a:spcPct val="100000"/>
                </a:lnSpc>
                <a:spcBef>
                  <a:spcPts val="0"/>
                </a:spcBef>
                <a:spcAft>
                  <a:spcPts val="0"/>
                </a:spcAft>
                <a:buClrTx/>
                <a:buSzTx/>
                <a:buFontTx/>
                <a:buNone/>
                <a:tabLst/>
                <a:defRPr/>
              </a:pPr>
              <a:endParaRPr kumimoji="0" lang="en-US" sz="1836" b="0" i="0" u="none" strike="noStrike" kern="1200" cap="none" spc="0" normalizeH="0" baseline="0" noProof="0" dirty="0">
                <a:ln>
                  <a:noFill/>
                </a:ln>
                <a:solidFill>
                  <a:srgbClr val="FFFFFF"/>
                </a:solidFill>
                <a:effectLst/>
                <a:uLnTx/>
                <a:uFillTx/>
                <a:latin typeface="Segoe UI"/>
                <a:ea typeface="+mn-ea"/>
                <a:cs typeface="+mn-cs"/>
              </a:endParaRPr>
            </a:p>
          </p:txBody>
        </p:sp>
        <p:pic>
          <p:nvPicPr>
            <p:cNvPr id="9" name="Picture 8">
              <a:extLst>
                <a:ext uri="{FF2B5EF4-FFF2-40B4-BE49-F238E27FC236}">
                  <a16:creationId xmlns:a16="http://schemas.microsoft.com/office/drawing/2014/main" id="{B1C046DA-F3B0-17BF-4867-63F317F8ACA9}"/>
                </a:ext>
              </a:extLst>
            </p:cNvPr>
            <p:cNvPicPr/>
            <p:nvPr/>
          </p:nvPicPr>
          <p:blipFill>
            <a:blip r:embed="rId2"/>
            <a:srcRect/>
            <a:stretch/>
          </p:blipFill>
          <p:spPr>
            <a:xfrm>
              <a:off x="5749602" y="2325202"/>
              <a:ext cx="692796" cy="692796"/>
            </a:xfrm>
            <a:prstGeom prst="rect">
              <a:avLst/>
            </a:prstGeom>
            <a:noFill/>
          </p:spPr>
        </p:pic>
      </p:grpSp>
      <p:sp>
        <p:nvSpPr>
          <p:cNvPr id="7" name="TextBox 6">
            <a:extLst>
              <a:ext uri="{FF2B5EF4-FFF2-40B4-BE49-F238E27FC236}">
                <a16:creationId xmlns:a16="http://schemas.microsoft.com/office/drawing/2014/main" id="{05350FFB-1FC5-59FA-F297-3FE6E8364735}"/>
              </a:ext>
            </a:extLst>
          </p:cNvPr>
          <p:cNvSpPr txBox="1"/>
          <p:nvPr userDrawn="1"/>
        </p:nvSpPr>
        <p:spPr>
          <a:xfrm>
            <a:off x="600058" y="2927690"/>
            <a:ext cx="2228017" cy="2366802"/>
          </a:xfrm>
          <a:prstGeom prst="rect">
            <a:avLst/>
          </a:prstGeom>
          <a:noFill/>
        </p:spPr>
        <p:txBody>
          <a:bodyPr wrap="square" lIns="182880" tIns="146304" rIns="182880" bIns="146304" rtlCol="0">
            <a:spAutoFit/>
          </a:bodyPr>
          <a:lstStyle/>
          <a:p>
            <a:pPr marL="0" marR="0" lvl="0" indent="0" algn="l" defTabSz="932742" rtl="0" eaLnBrk="1" fontAlgn="auto" latinLnBrk="0" hangingPunct="1">
              <a:lnSpc>
                <a:spcPct val="90000"/>
              </a:lnSpc>
              <a:spcBef>
                <a:spcPts val="0"/>
              </a:spcBef>
              <a:spcAft>
                <a:spcPts val="600"/>
              </a:spcAft>
              <a:buClrTx/>
              <a:buSzTx/>
              <a:buFontTx/>
              <a:buNone/>
              <a:tabLst/>
              <a:defRPr/>
            </a:pPr>
            <a:r>
              <a:rPr lang="en-US" sz="2400" kern="1200" spc="-50" baseline="0" dirty="0">
                <a:solidFill>
                  <a:srgbClr val="000000"/>
                </a:solidFill>
                <a:latin typeface="+mj-lt"/>
                <a:ea typeface="+mn-ea"/>
                <a:cs typeface="+mn-cs"/>
              </a:rPr>
              <a:t>Check your knowledge questions and additional study</a:t>
            </a:r>
          </a:p>
          <a:p>
            <a:pPr>
              <a:lnSpc>
                <a:spcPct val="90000"/>
              </a:lnSpc>
              <a:spcAft>
                <a:spcPts val="600"/>
              </a:spcAft>
            </a:pPr>
            <a:endParaRPr lang="en-US" sz="2400" dirty="0" err="1">
              <a:gradFill>
                <a:gsLst>
                  <a:gs pos="2917">
                    <a:schemeClr val="tx1"/>
                  </a:gs>
                  <a:gs pos="30000">
                    <a:schemeClr val="tx1"/>
                  </a:gs>
                </a:gsLst>
                <a:lin ang="5400000" scaled="0"/>
              </a:gradFill>
            </a:endParaRPr>
          </a:p>
        </p:txBody>
      </p:sp>
      <p:sp>
        <p:nvSpPr>
          <p:cNvPr id="5" name="Title 1">
            <a:extLst>
              <a:ext uri="{FF2B5EF4-FFF2-40B4-BE49-F238E27FC236}">
                <a16:creationId xmlns:a16="http://schemas.microsoft.com/office/drawing/2014/main" id="{DA9EEDEA-6687-D76A-D227-7C52A001F415}"/>
              </a:ext>
            </a:extLst>
          </p:cNvPr>
          <p:cNvSpPr>
            <a:spLocks noGrp="1"/>
          </p:cNvSpPr>
          <p:nvPr>
            <p:ph type="title"/>
          </p:nvPr>
        </p:nvSpPr>
        <p:spPr>
          <a:xfrm>
            <a:off x="427038" y="449263"/>
            <a:ext cx="11568684" cy="693737"/>
          </a:xfrm>
        </p:spPr>
        <p:txBody>
          <a:bodyPr/>
          <a:lstStyle/>
          <a:p>
            <a:r>
              <a:rPr lang="en-US" dirty="0"/>
              <a:t>Click to edit Master title style</a:t>
            </a:r>
          </a:p>
        </p:txBody>
      </p:sp>
    </p:spTree>
    <p:extLst>
      <p:ext uri="{BB962C8B-B14F-4D97-AF65-F5344CB8AC3E}">
        <p14:creationId xmlns:p14="http://schemas.microsoft.com/office/powerpoint/2010/main" val="2185873433"/>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Demonstration ">
    <p:bg>
      <p:bgPr>
        <a:solidFill>
          <a:srgbClr val="F4F3F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0DA845-DD15-1C56-8B25-22EAA1B45A8A}"/>
              </a:ext>
            </a:extLst>
          </p:cNvPr>
          <p:cNvSpPr>
            <a:spLocks noGrp="1"/>
          </p:cNvSpPr>
          <p:nvPr>
            <p:ph type="title"/>
          </p:nvPr>
        </p:nvSpPr>
        <p:spPr/>
        <p:txBody>
          <a:bodyPr/>
          <a:lstStyle/>
          <a:p>
            <a:r>
              <a:rPr lang="en-US"/>
              <a:t>Click to edit Master title style</a:t>
            </a:r>
          </a:p>
        </p:txBody>
      </p:sp>
      <p:sp>
        <p:nvSpPr>
          <p:cNvPr id="4" name="Rounded Rectangle 3_1">
            <a:extLst>
              <a:ext uri="{FF2B5EF4-FFF2-40B4-BE49-F238E27FC236}">
                <a16:creationId xmlns:a16="http://schemas.microsoft.com/office/drawing/2014/main" id="{FC76C8DF-13B1-1B33-CBD3-D0B1496658D3}"/>
              </a:ext>
            </a:extLst>
          </p:cNvPr>
          <p:cNvSpPr/>
          <p:nvPr userDrawn="1"/>
        </p:nvSpPr>
        <p:spPr>
          <a:xfrm>
            <a:off x="521111" y="1292745"/>
            <a:ext cx="10387932" cy="4749970"/>
          </a:xfrm>
          <a:prstGeom prst="roundRect">
            <a:avLst>
              <a:gd name="adj" fmla="val 6113"/>
            </a:avLst>
          </a:prstGeom>
          <a:solidFill>
            <a:schemeClr val="bg1"/>
          </a:solid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82880" tIns="274320" rIns="274320" bIns="182880" rtlCol="0" anchor="t"/>
          <a:lstStyle/>
          <a:p>
            <a:pPr marL="0" marR="0" lvl="0" indent="0" algn="l" defTabSz="932742" rtl="0" eaLnBrk="1" fontAlgn="auto" latinLnBrk="0" hangingPunct="1">
              <a:lnSpc>
                <a:spcPct val="100000"/>
              </a:lnSpc>
              <a:spcBef>
                <a:spcPct val="20000"/>
              </a:spcBef>
              <a:spcAft>
                <a:spcPts val="0"/>
              </a:spcAft>
              <a:buClrTx/>
              <a:buSzPct val="90000"/>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endParaRPr>
          </a:p>
        </p:txBody>
      </p:sp>
      <p:sp>
        <p:nvSpPr>
          <p:cNvPr id="6" name="Oval 5">
            <a:extLst>
              <a:ext uri="{FF2B5EF4-FFF2-40B4-BE49-F238E27FC236}">
                <a16:creationId xmlns:a16="http://schemas.microsoft.com/office/drawing/2014/main" id="{C0B7F7B8-27DC-CB90-9841-2B0EB6BDC8A9}"/>
              </a:ext>
            </a:extLst>
          </p:cNvPr>
          <p:cNvSpPr/>
          <p:nvPr userDrawn="1"/>
        </p:nvSpPr>
        <p:spPr>
          <a:xfrm>
            <a:off x="10324155" y="1117294"/>
            <a:ext cx="1132870" cy="1132709"/>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32597" rtl="0" eaLnBrk="1" fontAlgn="auto" latinLnBrk="0" hangingPunct="1">
              <a:lnSpc>
                <a:spcPct val="100000"/>
              </a:lnSpc>
              <a:spcBef>
                <a:spcPts val="0"/>
              </a:spcBef>
              <a:spcAft>
                <a:spcPts val="0"/>
              </a:spcAft>
              <a:buClrTx/>
              <a:buSzTx/>
              <a:buFontTx/>
              <a:buNone/>
              <a:tabLst/>
              <a:defRPr/>
            </a:pPr>
            <a:endParaRPr kumimoji="0" lang="en-US" sz="1836" b="0" i="0" u="none" strike="noStrike" kern="1200" cap="none" spc="0" normalizeH="0" baseline="0" noProof="0" dirty="0">
              <a:ln>
                <a:noFill/>
              </a:ln>
              <a:solidFill>
                <a:srgbClr val="FFFFFF"/>
              </a:solidFill>
              <a:effectLst/>
              <a:uLnTx/>
              <a:uFillTx/>
              <a:latin typeface="Segoe UI"/>
              <a:ea typeface="+mn-ea"/>
              <a:cs typeface="+mn-cs"/>
            </a:endParaRPr>
          </a:p>
        </p:txBody>
      </p:sp>
      <p:pic>
        <p:nvPicPr>
          <p:cNvPr id="15" name="Graphic 14">
            <a:extLst>
              <a:ext uri="{FF2B5EF4-FFF2-40B4-BE49-F238E27FC236}">
                <a16:creationId xmlns:a16="http://schemas.microsoft.com/office/drawing/2014/main" id="{B2A34330-BC4D-94AB-2A95-93170E542890}"/>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 y="3207262"/>
            <a:ext cx="12436476" cy="3095623"/>
          </a:xfrm>
          <a:prstGeom prst="rect">
            <a:avLst/>
          </a:prstGeom>
        </p:spPr>
      </p:pic>
      <p:pic>
        <p:nvPicPr>
          <p:cNvPr id="5" name="Graphic 4" descr="Beaker with solid fill">
            <a:extLst>
              <a:ext uri="{FF2B5EF4-FFF2-40B4-BE49-F238E27FC236}">
                <a16:creationId xmlns:a16="http://schemas.microsoft.com/office/drawing/2014/main" id="{0A4277E8-514E-E7C0-EEAE-4DBF838AD068}"/>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433390" y="1141729"/>
            <a:ext cx="914400" cy="914400"/>
          </a:xfrm>
          <a:prstGeom prst="rect">
            <a:avLst/>
          </a:prstGeom>
        </p:spPr>
      </p:pic>
    </p:spTree>
    <p:extLst>
      <p:ext uri="{BB962C8B-B14F-4D97-AF65-F5344CB8AC3E}">
        <p14:creationId xmlns:p14="http://schemas.microsoft.com/office/powerpoint/2010/main" val="3670049654"/>
      </p:ext>
    </p:extLst>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Lab">
    <p:spTree>
      <p:nvGrpSpPr>
        <p:cNvPr id="1" name=""/>
        <p:cNvGrpSpPr/>
        <p:nvPr/>
      </p:nvGrpSpPr>
      <p:grpSpPr>
        <a:xfrm>
          <a:off x="0" y="0"/>
          <a:ext cx="0" cy="0"/>
          <a:chOff x="0" y="0"/>
          <a:chExt cx="0" cy="0"/>
        </a:xfrm>
      </p:grpSpPr>
      <p:sp>
        <p:nvSpPr>
          <p:cNvPr id="6" name="Rectangle: Single Corner Rounded 5">
            <a:extLst>
              <a:ext uri="{FF2B5EF4-FFF2-40B4-BE49-F238E27FC236}">
                <a16:creationId xmlns:a16="http://schemas.microsoft.com/office/drawing/2014/main" id="{A02CAEB8-26C8-4DCC-A205-1958858BB2CA}"/>
              </a:ext>
              <a:ext uri="{C183D7F6-B498-43B3-948B-1728B52AA6E4}">
                <adec:decorative xmlns:adec="http://schemas.microsoft.com/office/drawing/2017/decorative" val="1"/>
              </a:ext>
            </a:extLst>
          </p:cNvPr>
          <p:cNvSpPr/>
          <p:nvPr userDrawn="1"/>
        </p:nvSpPr>
        <p:spPr bwMode="auto">
          <a:xfrm>
            <a:off x="-1" y="1951559"/>
            <a:ext cx="4282290" cy="4015292"/>
          </a:xfrm>
          <a:prstGeom prst="round1Rect">
            <a:avLst>
              <a:gd name="adj" fmla="val 6737"/>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6521" tIns="149217" rIns="186521" bIns="149217" numCol="1" spcCol="0" rtlCol="0" fromWordArt="0" anchor="ctr" anchorCtr="0" forceAA="0" compatLnSpc="1">
            <a:prstTxWarp prst="textNoShape">
              <a:avLst/>
            </a:prstTxWarp>
            <a:noAutofit/>
          </a:bodyPr>
          <a:lstStyle/>
          <a:p>
            <a:pPr algn="ctr" defTabSz="951028" fontAlgn="base">
              <a:spcBef>
                <a:spcPct val="0"/>
              </a:spcBef>
              <a:spcAft>
                <a:spcPct val="0"/>
              </a:spcAft>
            </a:pPr>
            <a:endParaRPr lang="en-US" sz="2448" dirty="0">
              <a:solidFill>
                <a:schemeClr val="tx1"/>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BCE35D3C-86EE-875E-D2A6-669DF7E1C19A}"/>
              </a:ext>
            </a:extLst>
          </p:cNvPr>
          <p:cNvSpPr>
            <a:spLocks noGrp="1"/>
          </p:cNvSpPr>
          <p:nvPr>
            <p:ph type="title" hasCustomPrompt="1"/>
          </p:nvPr>
        </p:nvSpPr>
        <p:spPr>
          <a:xfrm>
            <a:off x="600058" y="525428"/>
            <a:ext cx="11703601" cy="502246"/>
          </a:xfrm>
        </p:spPr>
        <p:txBody>
          <a:bodyPr/>
          <a:lstStyle>
            <a:lvl1pPr>
              <a:defRPr sz="3264" b="0" i="0">
                <a:solidFill>
                  <a:schemeClr val="tx1"/>
                </a:solidFill>
                <a:latin typeface="+mj-lt"/>
                <a:cs typeface="Segoe UI Semibold" panose="020B0502040204020203" pitchFamily="34" charset="0"/>
              </a:defRPr>
            </a:lvl1pPr>
          </a:lstStyle>
          <a:p>
            <a:r>
              <a:rPr lang="en-US" dirty="0"/>
              <a:t> </a:t>
            </a:r>
          </a:p>
        </p:txBody>
      </p:sp>
      <p:grpSp>
        <p:nvGrpSpPr>
          <p:cNvPr id="8" name="Group 7">
            <a:extLst>
              <a:ext uri="{FF2B5EF4-FFF2-40B4-BE49-F238E27FC236}">
                <a16:creationId xmlns:a16="http://schemas.microsoft.com/office/drawing/2014/main" id="{1682E78A-A36F-A9AB-B5BC-51FF48A0C477}"/>
              </a:ext>
              <a:ext uri="{C183D7F6-B498-43B3-948B-1728B52AA6E4}">
                <adec:decorative xmlns:adec="http://schemas.microsoft.com/office/drawing/2017/decorative" val="1"/>
              </a:ext>
            </a:extLst>
          </p:cNvPr>
          <p:cNvGrpSpPr/>
          <p:nvPr userDrawn="1"/>
        </p:nvGrpSpPr>
        <p:grpSpPr>
          <a:xfrm>
            <a:off x="3726989" y="1477271"/>
            <a:ext cx="1110600" cy="1110600"/>
            <a:chOff x="5540700" y="2116300"/>
            <a:chExt cx="1110600" cy="1110600"/>
          </a:xfrm>
        </p:grpSpPr>
        <p:sp>
          <p:nvSpPr>
            <p:cNvPr id="10" name="Oval 9">
              <a:extLst>
                <a:ext uri="{FF2B5EF4-FFF2-40B4-BE49-F238E27FC236}">
                  <a16:creationId xmlns:a16="http://schemas.microsoft.com/office/drawing/2014/main" id="{A006B05E-82F0-67C0-F4BE-484546169B05}"/>
                </a:ext>
              </a:extLst>
            </p:cNvPr>
            <p:cNvSpPr/>
            <p:nvPr/>
          </p:nvSpPr>
          <p:spPr>
            <a:xfrm>
              <a:off x="5540700" y="2116300"/>
              <a:ext cx="1110600" cy="1110600"/>
            </a:xfrm>
            <a:prstGeom prst="ellipse">
              <a:avLst/>
            </a:prstGeom>
            <a:solidFill>
              <a:srgbClr val="8DC8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Segoe UI"/>
                <a:ea typeface="+mn-ea"/>
                <a:cs typeface="+mn-cs"/>
              </a:endParaRPr>
            </a:p>
          </p:txBody>
        </p:sp>
        <p:pic>
          <p:nvPicPr>
            <p:cNvPr id="11" name="Picture 33">
              <a:extLst>
                <a:ext uri="{FF2B5EF4-FFF2-40B4-BE49-F238E27FC236}">
                  <a16:creationId xmlns:a16="http://schemas.microsoft.com/office/drawing/2014/main" id="{B551F7BB-0B62-B45A-97E8-BDBC64276EB2}"/>
                </a:ext>
              </a:extLst>
            </p:cNvPr>
            <p:cNvPicPr/>
            <p:nvPr/>
          </p:nvPicPr>
          <p:blipFill>
            <a:blip r:embed="rId2">
              <a:extLst>
                <a:ext uri="{96DAC541-7B7A-43D3-8B79-37D633B846F1}">
                  <asvg:svgBlip xmlns:asvg="http://schemas.microsoft.com/office/drawing/2016/SVG/main" r:embed="rId3"/>
                </a:ext>
              </a:extLst>
            </a:blip>
            <a:srcRect/>
            <a:stretch/>
          </p:blipFill>
          <p:spPr>
            <a:xfrm>
              <a:off x="5749602" y="2325202"/>
              <a:ext cx="692796" cy="692796"/>
            </a:xfrm>
            <a:prstGeom prst="rect">
              <a:avLst/>
            </a:prstGeom>
            <a:noFill/>
          </p:spPr>
        </p:pic>
      </p:grpSp>
    </p:spTree>
    <p:extLst>
      <p:ext uri="{BB962C8B-B14F-4D97-AF65-F5344CB8AC3E}">
        <p14:creationId xmlns:p14="http://schemas.microsoft.com/office/powerpoint/2010/main" val="2222276095"/>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1_Lab">
    <p:spTree>
      <p:nvGrpSpPr>
        <p:cNvPr id="1" name=""/>
        <p:cNvGrpSpPr/>
        <p:nvPr/>
      </p:nvGrpSpPr>
      <p:grpSpPr>
        <a:xfrm>
          <a:off x="0" y="0"/>
          <a:ext cx="0" cy="0"/>
          <a:chOff x="0" y="0"/>
          <a:chExt cx="0" cy="0"/>
        </a:xfrm>
      </p:grpSpPr>
      <p:sp>
        <p:nvSpPr>
          <p:cNvPr id="6" name="Rectangle: Single Corner Rounded 5">
            <a:extLst>
              <a:ext uri="{FF2B5EF4-FFF2-40B4-BE49-F238E27FC236}">
                <a16:creationId xmlns:a16="http://schemas.microsoft.com/office/drawing/2014/main" id="{A02CAEB8-26C8-4DCC-A205-1958858BB2CA}"/>
              </a:ext>
              <a:ext uri="{C183D7F6-B498-43B3-948B-1728B52AA6E4}">
                <adec:decorative xmlns:adec="http://schemas.microsoft.com/office/drawing/2017/decorative" val="1"/>
              </a:ext>
            </a:extLst>
          </p:cNvPr>
          <p:cNvSpPr/>
          <p:nvPr userDrawn="1"/>
        </p:nvSpPr>
        <p:spPr bwMode="auto">
          <a:xfrm>
            <a:off x="-1" y="1951559"/>
            <a:ext cx="4282290" cy="4015292"/>
          </a:xfrm>
          <a:prstGeom prst="round1Rect">
            <a:avLst>
              <a:gd name="adj" fmla="val 6737"/>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6494" tIns="149196" rIns="186494" bIns="149196" numCol="1" spcCol="0" rtlCol="0" fromWordArt="0" anchor="ctr" anchorCtr="0" forceAA="0" compatLnSpc="1">
            <a:prstTxWarp prst="textNoShape">
              <a:avLst/>
            </a:prstTxWarp>
            <a:noAutofit/>
          </a:bodyPr>
          <a:lstStyle/>
          <a:p>
            <a:pPr algn="ctr" defTabSz="950846" fontAlgn="base">
              <a:spcBef>
                <a:spcPct val="0"/>
              </a:spcBef>
              <a:spcAft>
                <a:spcPct val="0"/>
              </a:spcAft>
            </a:pPr>
            <a:endParaRPr lang="en-US" sz="2448" dirty="0">
              <a:solidFill>
                <a:schemeClr val="tx1"/>
              </a:solidFill>
              <a:ea typeface="Segoe UI" pitchFamily="34" charset="0"/>
              <a:cs typeface="Segoe UI" pitchFamily="34" charset="0"/>
            </a:endParaRPr>
          </a:p>
        </p:txBody>
      </p:sp>
      <p:grpSp>
        <p:nvGrpSpPr>
          <p:cNvPr id="8" name="Group 7">
            <a:extLst>
              <a:ext uri="{FF2B5EF4-FFF2-40B4-BE49-F238E27FC236}">
                <a16:creationId xmlns:a16="http://schemas.microsoft.com/office/drawing/2014/main" id="{1682E78A-A36F-A9AB-B5BC-51FF48A0C477}"/>
              </a:ext>
              <a:ext uri="{C183D7F6-B498-43B3-948B-1728B52AA6E4}">
                <adec:decorative xmlns:adec="http://schemas.microsoft.com/office/drawing/2017/decorative" val="1"/>
              </a:ext>
            </a:extLst>
          </p:cNvPr>
          <p:cNvGrpSpPr/>
          <p:nvPr userDrawn="1"/>
        </p:nvGrpSpPr>
        <p:grpSpPr>
          <a:xfrm>
            <a:off x="3726989" y="1477271"/>
            <a:ext cx="1110600" cy="1110600"/>
            <a:chOff x="5540700" y="2116300"/>
            <a:chExt cx="1110600" cy="1110600"/>
          </a:xfrm>
        </p:grpSpPr>
        <p:sp>
          <p:nvSpPr>
            <p:cNvPr id="10" name="Oval 9">
              <a:extLst>
                <a:ext uri="{FF2B5EF4-FFF2-40B4-BE49-F238E27FC236}">
                  <a16:creationId xmlns:a16="http://schemas.microsoft.com/office/drawing/2014/main" id="{A006B05E-82F0-67C0-F4BE-484546169B05}"/>
                </a:ext>
              </a:extLst>
            </p:cNvPr>
            <p:cNvSpPr/>
            <p:nvPr/>
          </p:nvSpPr>
          <p:spPr>
            <a:xfrm>
              <a:off x="5540700" y="2116300"/>
              <a:ext cx="1110600" cy="1110600"/>
            </a:xfrm>
            <a:prstGeom prst="ellipse">
              <a:avLst/>
            </a:prstGeom>
            <a:solidFill>
              <a:srgbClr val="8DC8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22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Segoe UI"/>
                <a:ea typeface="+mn-ea"/>
                <a:cs typeface="+mn-cs"/>
              </a:endParaRPr>
            </a:p>
          </p:txBody>
        </p:sp>
        <p:pic>
          <p:nvPicPr>
            <p:cNvPr id="11" name="Picture 33">
              <a:extLst>
                <a:ext uri="{FF2B5EF4-FFF2-40B4-BE49-F238E27FC236}">
                  <a16:creationId xmlns:a16="http://schemas.microsoft.com/office/drawing/2014/main" id="{B551F7BB-0B62-B45A-97E8-BDBC64276EB2}"/>
                </a:ext>
              </a:extLst>
            </p:cNvPr>
            <p:cNvPicPr/>
            <p:nvPr/>
          </p:nvPicPr>
          <p:blipFill>
            <a:blip r:embed="rId2">
              <a:extLst>
                <a:ext uri="{96DAC541-7B7A-43D3-8B79-37D633B846F1}">
                  <asvg:svgBlip xmlns:asvg="http://schemas.microsoft.com/office/drawing/2016/SVG/main" r:embed="rId3"/>
                </a:ext>
              </a:extLst>
            </a:blip>
            <a:srcRect/>
            <a:stretch/>
          </p:blipFill>
          <p:spPr>
            <a:xfrm>
              <a:off x="5749602" y="2325202"/>
              <a:ext cx="692796" cy="692796"/>
            </a:xfrm>
            <a:prstGeom prst="rect">
              <a:avLst/>
            </a:prstGeom>
            <a:noFill/>
          </p:spPr>
        </p:pic>
      </p:grpSp>
      <p:sp>
        <p:nvSpPr>
          <p:cNvPr id="5" name="Title 2">
            <a:extLst>
              <a:ext uri="{FF2B5EF4-FFF2-40B4-BE49-F238E27FC236}">
                <a16:creationId xmlns:a16="http://schemas.microsoft.com/office/drawing/2014/main" id="{4175403B-6F90-A094-AF78-603246CF1E2C}"/>
              </a:ext>
            </a:extLst>
          </p:cNvPr>
          <p:cNvSpPr>
            <a:spLocks noGrp="1"/>
          </p:cNvSpPr>
          <p:nvPr>
            <p:ph type="title" hasCustomPrompt="1"/>
          </p:nvPr>
        </p:nvSpPr>
        <p:spPr>
          <a:xfrm>
            <a:off x="465138" y="567458"/>
            <a:ext cx="11530584" cy="546234"/>
          </a:xfrm>
        </p:spPr>
        <p:txBody>
          <a:bodyPr/>
          <a:lstStyle>
            <a:lvl1pPr>
              <a:defRPr/>
            </a:lvl1pPr>
          </a:lstStyle>
          <a:p>
            <a:r>
              <a:rPr lang="en-US" dirty="0"/>
              <a:t>Heading Segoe UI </a:t>
            </a:r>
            <a:r>
              <a:rPr lang="en-US" dirty="0" err="1"/>
              <a:t>Semibold</a:t>
            </a:r>
            <a:r>
              <a:rPr lang="en-US" dirty="0"/>
              <a:t> 32</a:t>
            </a:r>
          </a:p>
        </p:txBody>
      </p:sp>
    </p:spTree>
    <p:extLst>
      <p:ext uri="{BB962C8B-B14F-4D97-AF65-F5344CB8AC3E}">
        <p14:creationId xmlns:p14="http://schemas.microsoft.com/office/powerpoint/2010/main" val="3106024476"/>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1_Titl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29445A-A014-4223-90E2-3D3353E0CE83}"/>
              </a:ext>
            </a:extLst>
          </p:cNvPr>
          <p:cNvSpPr>
            <a:spLocks noGrp="1"/>
          </p:cNvSpPr>
          <p:nvPr>
            <p:ph type="title" hasCustomPrompt="1"/>
          </p:nvPr>
        </p:nvSpPr>
        <p:spPr>
          <a:xfrm>
            <a:off x="465138" y="567458"/>
            <a:ext cx="11530584" cy="537180"/>
          </a:xfrm>
        </p:spPr>
        <p:txBody>
          <a:bodyPr/>
          <a:lstStyle>
            <a:lvl1pPr>
              <a:defRPr/>
            </a:lvl1pPr>
          </a:lstStyle>
          <a:p>
            <a:r>
              <a:rPr lang="en-US" dirty="0"/>
              <a:t>Heading Segoe UI </a:t>
            </a:r>
            <a:r>
              <a:rPr lang="en-US" dirty="0" err="1"/>
              <a:t>Semibold</a:t>
            </a:r>
            <a:r>
              <a:rPr lang="en-US" dirty="0"/>
              <a:t> 32</a:t>
            </a:r>
          </a:p>
        </p:txBody>
      </p:sp>
    </p:spTree>
    <p:extLst>
      <p:ext uri="{BB962C8B-B14F-4D97-AF65-F5344CB8AC3E}">
        <p14:creationId xmlns:p14="http://schemas.microsoft.com/office/powerpoint/2010/main" val="85585588"/>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27038" y="449263"/>
            <a:ext cx="11568684" cy="693737"/>
          </a:xfrm>
          <a:prstGeom prst="rect">
            <a:avLst/>
          </a:prstGeom>
        </p:spPr>
        <p:txBody>
          <a:bodyPr vert="horz" wrap="square" lIns="0" tIns="91440" rIns="146304" bIns="91440" rtlCol="0" anchor="t">
            <a:noAutofit/>
          </a:bodyPr>
          <a:lstStyle/>
          <a:p>
            <a:r>
              <a:rPr lang="en-US" dirty="0"/>
              <a:t>Heading Segoe UI </a:t>
            </a:r>
            <a:r>
              <a:rPr lang="en-US" dirty="0" err="1"/>
              <a:t>Semibold</a:t>
            </a:r>
            <a:r>
              <a:rPr lang="en-US" dirty="0"/>
              <a:t> 28/32</a:t>
            </a:r>
          </a:p>
        </p:txBody>
      </p:sp>
      <p:sp>
        <p:nvSpPr>
          <p:cNvPr id="4" name="Text Placeholder 3"/>
          <p:cNvSpPr>
            <a:spLocks noGrp="1"/>
          </p:cNvSpPr>
          <p:nvPr>
            <p:ph type="body" idx="1"/>
          </p:nvPr>
        </p:nvSpPr>
        <p:spPr>
          <a:xfrm>
            <a:off x="427038" y="1485901"/>
            <a:ext cx="11568684" cy="2542619"/>
          </a:xfrm>
          <a:prstGeom prst="rect">
            <a:avLst/>
          </a:prstGeom>
        </p:spPr>
        <p:txBody>
          <a:bodyPr vert="horz" wrap="square" lIns="0" tIns="91440" rIns="146304" bIns="91440" rtlCol="0">
            <a:spAutoFit/>
          </a:bodyPr>
          <a:lstStyle/>
          <a:p>
            <a:pPr lvl="1"/>
            <a:r>
              <a:rPr lang="en-US" dirty="0"/>
              <a:t>Large: subhead Segoe UI Regular 20/24</a:t>
            </a:r>
          </a:p>
          <a:p>
            <a:pPr lvl="2"/>
            <a:r>
              <a:rPr lang="en-US" dirty="0"/>
              <a:t>Medium: paragraph heading Segoe UI </a:t>
            </a:r>
            <a:r>
              <a:rPr lang="en-US" dirty="0" err="1"/>
              <a:t>Semibold</a:t>
            </a:r>
            <a:r>
              <a:rPr lang="en-US" dirty="0"/>
              <a:t> 14/18</a:t>
            </a:r>
          </a:p>
          <a:p>
            <a:pPr lvl="3"/>
            <a:r>
              <a:rPr lang="en-US" dirty="0"/>
              <a:t>Medium: paragraph body copy Segoe UI Regular 14/18</a:t>
            </a:r>
          </a:p>
          <a:p>
            <a:pPr lvl="4"/>
            <a:r>
              <a:rPr lang="en-US" dirty="0"/>
              <a:t>Small: caption heading Segoe UI Bold 10/12</a:t>
            </a:r>
          </a:p>
          <a:p>
            <a:pPr lvl="6"/>
            <a:r>
              <a:rPr lang="en-US" dirty="0"/>
              <a:t>Small: caption body copy Segoe UI Regular 10/12</a:t>
            </a:r>
          </a:p>
          <a:p>
            <a:pPr lvl="6"/>
            <a:endParaRPr lang="en-US" dirty="0"/>
          </a:p>
          <a:p>
            <a:pPr lvl="6"/>
            <a:endParaRPr lang="en-US" dirty="0"/>
          </a:p>
        </p:txBody>
      </p:sp>
      <p:sp>
        <p:nvSpPr>
          <p:cNvPr id="5" name="TextBox 4">
            <a:extLst>
              <a:ext uri="{FF2B5EF4-FFF2-40B4-BE49-F238E27FC236}">
                <a16:creationId xmlns:a16="http://schemas.microsoft.com/office/drawing/2014/main" id="{FB0C3644-97BA-5FDC-B828-5ADC34453C64}"/>
              </a:ext>
            </a:extLst>
          </p:cNvPr>
          <p:cNvSpPr txBox="1"/>
          <p:nvPr userDrawn="1"/>
        </p:nvSpPr>
        <p:spPr>
          <a:xfrm>
            <a:off x="427038" y="6411853"/>
            <a:ext cx="6216728" cy="270285"/>
          </a:xfrm>
          <a:prstGeom prst="rect">
            <a:avLst/>
          </a:prstGeom>
          <a:noFill/>
        </p:spPr>
        <p:txBody>
          <a:bodyPr wrap="square">
            <a:spAutoFit/>
          </a:bodyPr>
          <a:lstStyle/>
          <a:p>
            <a:pPr defTabSz="932563">
              <a:defRPr/>
            </a:pPr>
            <a:r>
              <a:rPr lang="en-US" sz="1122" dirty="0">
                <a:solidFill>
                  <a:srgbClr val="000000"/>
                </a:solidFill>
              </a:rPr>
              <a:t>© Copyright Microsoft Corporation. All rights reserved.</a:t>
            </a:r>
          </a:p>
        </p:txBody>
      </p:sp>
    </p:spTree>
    <p:extLst>
      <p:ext uri="{BB962C8B-B14F-4D97-AF65-F5344CB8AC3E}">
        <p14:creationId xmlns:p14="http://schemas.microsoft.com/office/powerpoint/2010/main" val="547528521"/>
      </p:ext>
    </p:extLst>
  </p:cSld>
  <p:clrMap bg1="lt1" tx1="dk1" bg2="lt2" tx2="dk2" accent1="accent1" accent2="accent2" accent3="accent3" accent4="accent4" accent5="accent5" accent6="accent6" hlink="hlink" folHlink="folHlink"/>
  <p:sldLayoutIdLst>
    <p:sldLayoutId id="2147484638" r:id="rId1"/>
    <p:sldLayoutId id="2147484639" r:id="rId2"/>
    <p:sldLayoutId id="2147484640" r:id="rId3"/>
    <p:sldLayoutId id="2147484641" r:id="rId4"/>
    <p:sldLayoutId id="2147484642" r:id="rId5"/>
    <p:sldLayoutId id="2147484643" r:id="rId6"/>
    <p:sldLayoutId id="2147484644" r:id="rId7"/>
    <p:sldLayoutId id="2147484645" r:id="rId8"/>
    <p:sldLayoutId id="2147484646" r:id="rId9"/>
    <p:sldLayoutId id="2147484647" r:id="rId10"/>
    <p:sldLayoutId id="2147484648" r:id="rId11"/>
  </p:sldLayoutIdLst>
  <p:transition>
    <p:fade/>
  </p:transition>
  <p:hf sldNum="0" hdr="0" dt="0"/>
  <p:txStyles>
    <p:titleStyle>
      <a:lvl1pPr algn="l" defTabSz="932563" rtl="0" eaLnBrk="1" latinLnBrk="0" hangingPunct="1">
        <a:lnSpc>
          <a:spcPct val="90000"/>
        </a:lnSpc>
        <a:spcBef>
          <a:spcPct val="0"/>
        </a:spcBef>
        <a:buNone/>
        <a:defRPr lang="en-US" sz="3264" b="0" kern="1200" cap="none" spc="-50" baseline="0" dirty="0" smtClean="0">
          <a:ln w="3175">
            <a:noFill/>
          </a:ln>
          <a:solidFill>
            <a:srgbClr val="000000"/>
          </a:solidFill>
          <a:effectLst/>
          <a:latin typeface="+mj-lt"/>
          <a:ea typeface="+mn-ea"/>
          <a:cs typeface="Segoe UI" pitchFamily="34" charset="0"/>
        </a:defRPr>
      </a:lvl1pPr>
    </p:titleStyle>
    <p:bodyStyle>
      <a:lvl1pPr marL="0" marR="0" indent="0" algn="l" defTabSz="932563" rtl="0" eaLnBrk="1" fontAlgn="auto" latinLnBrk="0" hangingPunct="1">
        <a:lnSpc>
          <a:spcPct val="100000"/>
        </a:lnSpc>
        <a:spcBef>
          <a:spcPts val="0"/>
        </a:spcBef>
        <a:spcAft>
          <a:spcPts val="0"/>
        </a:spcAft>
        <a:buClrTx/>
        <a:buSzPct val="90000"/>
        <a:buFont typeface="Wingdings" panose="05000000000000000000" pitchFamily="2" charset="2"/>
        <a:buNone/>
        <a:tabLst/>
        <a:defRPr sz="2400" kern="1200" spc="-50" baseline="0">
          <a:solidFill>
            <a:srgbClr val="000000"/>
          </a:solidFill>
          <a:latin typeface="+mj-lt"/>
          <a:ea typeface="+mn-ea"/>
          <a:cs typeface="+mn-cs"/>
        </a:defRPr>
      </a:lvl1pPr>
      <a:lvl2pPr marL="0" marR="0" indent="0" algn="l" defTabSz="932563" rtl="0" eaLnBrk="1" fontAlgn="auto" latinLnBrk="0" hangingPunct="1">
        <a:lnSpc>
          <a:spcPct val="100000"/>
        </a:lnSpc>
        <a:spcBef>
          <a:spcPts val="400"/>
        </a:spcBef>
        <a:spcAft>
          <a:spcPts val="600"/>
        </a:spcAft>
        <a:buClrTx/>
        <a:buSzPct val="90000"/>
        <a:buFontTx/>
        <a:buNone/>
        <a:tabLst/>
        <a:defRPr sz="2040" kern="1200" spc="0" baseline="0">
          <a:solidFill>
            <a:schemeClr val="tx1"/>
          </a:solidFill>
          <a:latin typeface="+mn-lt"/>
          <a:ea typeface="+mn-ea"/>
          <a:cs typeface="+mn-cs"/>
        </a:defRPr>
      </a:lvl2pPr>
      <a:lvl3pPr marL="0" marR="0" indent="0" algn="l" defTabSz="932563" rtl="0" eaLnBrk="1" fontAlgn="auto" latinLnBrk="0" hangingPunct="1">
        <a:lnSpc>
          <a:spcPct val="100000"/>
        </a:lnSpc>
        <a:spcBef>
          <a:spcPts val="400"/>
        </a:spcBef>
        <a:spcAft>
          <a:spcPts val="600"/>
        </a:spcAft>
        <a:buClrTx/>
        <a:buSzPct val="90000"/>
        <a:buFont typeface="Wingdings" panose="05000000000000000000" pitchFamily="2" charset="2"/>
        <a:buNone/>
        <a:tabLst/>
        <a:defRPr sz="1632" kern="1200" spc="0" baseline="0">
          <a:solidFill>
            <a:schemeClr val="tx1"/>
          </a:solidFill>
          <a:latin typeface="+mj-lt"/>
          <a:ea typeface="+mn-ea"/>
          <a:cs typeface="+mn-cs"/>
        </a:defRPr>
      </a:lvl3pPr>
      <a:lvl4pPr marL="0" marR="0" indent="0" algn="l" defTabSz="932563" rtl="0" eaLnBrk="1" fontAlgn="auto" latinLnBrk="0" hangingPunct="1">
        <a:lnSpc>
          <a:spcPct val="100000"/>
        </a:lnSpc>
        <a:spcBef>
          <a:spcPts val="400"/>
        </a:spcBef>
        <a:spcAft>
          <a:spcPts val="600"/>
        </a:spcAft>
        <a:buClrTx/>
        <a:buSzPct val="90000"/>
        <a:buFont typeface="Wingdings" panose="05000000000000000000" pitchFamily="2" charset="2"/>
        <a:buNone/>
        <a:tabLst/>
        <a:defRPr sz="1632" kern="1200" spc="0" baseline="0">
          <a:solidFill>
            <a:schemeClr val="tx1"/>
          </a:solidFill>
          <a:latin typeface="+mn-lt"/>
          <a:ea typeface="+mn-ea"/>
          <a:cs typeface="+mn-cs"/>
        </a:defRPr>
      </a:lvl4pPr>
      <a:lvl5pPr marL="0" marR="0" indent="0" algn="l" defTabSz="932563" rtl="0" eaLnBrk="1" fontAlgn="auto" latinLnBrk="0" hangingPunct="1">
        <a:lnSpc>
          <a:spcPct val="100000"/>
        </a:lnSpc>
        <a:spcBef>
          <a:spcPts val="400"/>
        </a:spcBef>
        <a:spcAft>
          <a:spcPts val="600"/>
        </a:spcAft>
        <a:buClrTx/>
        <a:buSzPct val="90000"/>
        <a:buFont typeface="Wingdings" panose="05000000000000000000" pitchFamily="2" charset="2"/>
        <a:buNone/>
        <a:tabLst/>
        <a:defRPr sz="1224" b="1" kern="1200" spc="0" baseline="0">
          <a:solidFill>
            <a:schemeClr val="tx1"/>
          </a:solidFill>
          <a:latin typeface="+mn-lt"/>
          <a:ea typeface="+mn-ea"/>
          <a:cs typeface="+mn-cs"/>
        </a:defRPr>
      </a:lvl5pPr>
      <a:lvl6pPr marL="2331406" indent="0" algn="l" defTabSz="932563" rtl="0" eaLnBrk="1" latinLnBrk="0" hangingPunct="1">
        <a:spcBef>
          <a:spcPct val="20000"/>
        </a:spcBef>
        <a:buFont typeface="Arial" pitchFamily="34" charset="0"/>
        <a:buNone/>
        <a:defRPr sz="2000" kern="1200">
          <a:solidFill>
            <a:schemeClr val="tx1"/>
          </a:solidFill>
          <a:latin typeface="+mn-lt"/>
          <a:ea typeface="+mn-ea"/>
          <a:cs typeface="+mn-cs"/>
        </a:defRPr>
      </a:lvl6pPr>
      <a:lvl7pPr marL="0" indent="0" algn="l" defTabSz="932563" rtl="0" eaLnBrk="1" latinLnBrk="0" hangingPunct="1">
        <a:lnSpc>
          <a:spcPct val="100000"/>
        </a:lnSpc>
        <a:spcBef>
          <a:spcPts val="400"/>
        </a:spcBef>
        <a:spcAft>
          <a:spcPts val="600"/>
        </a:spcAft>
        <a:buFont typeface="Arial" pitchFamily="34" charset="0"/>
        <a:buNone/>
        <a:defRPr sz="1224" kern="1200">
          <a:solidFill>
            <a:schemeClr val="tx1"/>
          </a:solidFill>
          <a:latin typeface="+mn-lt"/>
          <a:ea typeface="+mn-ea"/>
          <a:cs typeface="+mn-cs"/>
        </a:defRPr>
      </a:lvl7pPr>
      <a:lvl8pPr marL="3497112" indent="-233141" algn="l" defTabSz="932563"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3394" indent="-233141" algn="l" defTabSz="932563"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563" rtl="0" eaLnBrk="1" latinLnBrk="0" hangingPunct="1">
        <a:defRPr sz="1800" kern="1200">
          <a:solidFill>
            <a:schemeClr val="tx1"/>
          </a:solidFill>
          <a:latin typeface="+mn-lt"/>
          <a:ea typeface="+mn-ea"/>
          <a:cs typeface="+mn-cs"/>
        </a:defRPr>
      </a:lvl1pPr>
      <a:lvl2pPr marL="466281" algn="l" defTabSz="932563" rtl="0" eaLnBrk="1" latinLnBrk="0" hangingPunct="1">
        <a:defRPr sz="1800" kern="1200">
          <a:solidFill>
            <a:schemeClr val="tx1"/>
          </a:solidFill>
          <a:latin typeface="+mn-lt"/>
          <a:ea typeface="+mn-ea"/>
          <a:cs typeface="+mn-cs"/>
        </a:defRPr>
      </a:lvl2pPr>
      <a:lvl3pPr marL="932563" algn="l" defTabSz="932563" rtl="0" eaLnBrk="1" latinLnBrk="0" hangingPunct="1">
        <a:defRPr sz="1800" kern="1200">
          <a:solidFill>
            <a:schemeClr val="tx1"/>
          </a:solidFill>
          <a:latin typeface="+mn-lt"/>
          <a:ea typeface="+mn-ea"/>
          <a:cs typeface="+mn-cs"/>
        </a:defRPr>
      </a:lvl3pPr>
      <a:lvl4pPr marL="1398844" algn="l" defTabSz="932563" rtl="0" eaLnBrk="1" latinLnBrk="0" hangingPunct="1">
        <a:defRPr sz="1800" kern="1200">
          <a:solidFill>
            <a:schemeClr val="tx1"/>
          </a:solidFill>
          <a:latin typeface="+mn-lt"/>
          <a:ea typeface="+mn-ea"/>
          <a:cs typeface="+mn-cs"/>
        </a:defRPr>
      </a:lvl4pPr>
      <a:lvl5pPr marL="1865126" algn="l" defTabSz="932563" rtl="0" eaLnBrk="1" latinLnBrk="0" hangingPunct="1">
        <a:defRPr sz="1800" kern="1200">
          <a:solidFill>
            <a:schemeClr val="tx1"/>
          </a:solidFill>
          <a:latin typeface="+mn-lt"/>
          <a:ea typeface="+mn-ea"/>
          <a:cs typeface="+mn-cs"/>
        </a:defRPr>
      </a:lvl5pPr>
      <a:lvl6pPr marL="2331408" algn="l" defTabSz="932563" rtl="0" eaLnBrk="1" latinLnBrk="0" hangingPunct="1">
        <a:defRPr sz="1800" kern="1200">
          <a:solidFill>
            <a:schemeClr val="tx1"/>
          </a:solidFill>
          <a:latin typeface="+mn-lt"/>
          <a:ea typeface="+mn-ea"/>
          <a:cs typeface="+mn-cs"/>
        </a:defRPr>
      </a:lvl6pPr>
      <a:lvl7pPr marL="2797689" algn="l" defTabSz="932563" rtl="0" eaLnBrk="1" latinLnBrk="0" hangingPunct="1">
        <a:defRPr sz="1800" kern="1200">
          <a:solidFill>
            <a:schemeClr val="tx1"/>
          </a:solidFill>
          <a:latin typeface="+mn-lt"/>
          <a:ea typeface="+mn-ea"/>
          <a:cs typeface="+mn-cs"/>
        </a:defRPr>
      </a:lvl7pPr>
      <a:lvl8pPr marL="3263970" algn="l" defTabSz="932563" rtl="0" eaLnBrk="1" latinLnBrk="0" hangingPunct="1">
        <a:defRPr sz="1800" kern="1200">
          <a:solidFill>
            <a:schemeClr val="tx1"/>
          </a:solidFill>
          <a:latin typeface="+mn-lt"/>
          <a:ea typeface="+mn-ea"/>
          <a:cs typeface="+mn-cs"/>
        </a:defRPr>
      </a:lvl8pPr>
      <a:lvl9pPr marL="3730253" algn="l" defTabSz="932563"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1" pos="1322">
          <p15:clr>
            <a:srgbClr val="C35EA4"/>
          </p15:clr>
        </p15:guide>
        <p15:guide id="32" pos="1498">
          <p15:clr>
            <a:srgbClr val="C35EA4"/>
          </p15:clr>
        </p15:guide>
        <p15:guide id="33" pos="2569">
          <p15:clr>
            <a:srgbClr val="C35EA4"/>
          </p15:clr>
        </p15:guide>
        <p15:guide id="34" pos="2711">
          <p15:clr>
            <a:srgbClr val="C35EA4"/>
          </p15:clr>
        </p15:guide>
        <p15:guide id="35" pos="3778">
          <p15:clr>
            <a:srgbClr val="C35EA4"/>
          </p15:clr>
        </p15:guide>
        <p15:guide id="36" pos="3924">
          <p15:clr>
            <a:srgbClr val="C35EA4"/>
          </p15:clr>
        </p15:guide>
        <p15:guide id="37" pos="4983">
          <p15:clr>
            <a:srgbClr val="C35EA4"/>
          </p15:clr>
        </p15:guide>
        <p15:guide id="38" pos="5127">
          <p15:clr>
            <a:srgbClr val="C35EA4"/>
          </p15:clr>
        </p15:guide>
        <p15:guide id="39" pos="6199">
          <p15:clr>
            <a:srgbClr val="C35EA4"/>
          </p15:clr>
        </p15:guide>
        <p15:guide id="40" pos="6342">
          <p15:clr>
            <a:srgbClr val="C35EA4"/>
          </p15:clr>
        </p15:guide>
        <p15:guide id="41" pos="264">
          <p15:clr>
            <a:srgbClr val="F26B43"/>
          </p15:clr>
        </p15:guide>
        <p15:guide id="42" pos="7416">
          <p15:clr>
            <a:srgbClr val="F26B43"/>
          </p15:clr>
        </p15:guide>
        <p15:guide id="43" orient="horz" pos="736">
          <p15:clr>
            <a:srgbClr val="5ACBF0"/>
          </p15:clr>
        </p15:guide>
        <p15:guide id="44" orient="horz" pos="1360">
          <p15:clr>
            <a:srgbClr val="5ACBF0"/>
          </p15:clr>
        </p15:guide>
        <p15:guide id="45" orient="horz" pos="593">
          <p15:clr>
            <a:srgbClr val="5ACBF0"/>
          </p15:clr>
        </p15:guide>
        <p15:guide id="46" orient="horz" pos="1484">
          <p15:clr>
            <a:srgbClr val="5ACBF0"/>
          </p15:clr>
        </p15:guide>
        <p15:guide id="47" orient="horz" pos="2088">
          <p15:clr>
            <a:srgbClr val="5ACBF0"/>
          </p15:clr>
        </p15:guide>
        <p15:guide id="48" orient="horz" pos="2254">
          <p15:clr>
            <a:srgbClr val="5ACBF0"/>
          </p15:clr>
        </p15:guide>
        <p15:guide id="49" orient="horz" pos="277">
          <p15:clr>
            <a:srgbClr val="F26B43"/>
          </p15:clr>
        </p15:guide>
        <p15:guide id="50" orient="horz" pos="4043">
          <p15:clr>
            <a:srgbClr val="F26B43"/>
          </p15:clr>
        </p15:guide>
        <p15:guide id="51" orient="horz" pos="2835">
          <p15:clr>
            <a:srgbClr val="5ACBF0"/>
          </p15:clr>
        </p15:guide>
        <p15:guide id="52" orient="horz" pos="2960">
          <p15:clr>
            <a:srgbClr val="5ACBF0"/>
          </p15:clr>
        </p15:guide>
        <p15:guide id="53" orient="horz" pos="3572">
          <p15:clr>
            <a:srgbClr val="5ACBF0"/>
          </p15:clr>
        </p15:guide>
        <p15:guide id="54" orient="horz" pos="3690">
          <p15:clr>
            <a:srgbClr val="5ACBF0"/>
          </p15:clr>
        </p15:guide>
        <p15:guide id="55" orient="horz" pos="918">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3" Type="http://schemas.openxmlformats.org/officeDocument/2006/relationships/hyperlink" Target="https://learn.microsoft.com/training/modules/introduction-to-azure-virtual-networks/" TargetMode="External"/><Relationship Id="rId2" Type="http://schemas.openxmlformats.org/officeDocument/2006/relationships/notesSlide" Target="../notesSlides/notesSlide14.xml"/><Relationship Id="rId1" Type="http://schemas.openxmlformats.org/officeDocument/2006/relationships/slideLayout" Target="../slideLayouts/slideLayout7.xml"/><Relationship Id="rId5" Type="http://schemas.openxmlformats.org/officeDocument/2006/relationships/hyperlink" Target="https://learn.microsoft.com/training/modules/implement-windows-server-iaas-virtual-machine-ip-addressing-routing/" TargetMode="External"/><Relationship Id="rId4" Type="http://schemas.openxmlformats.org/officeDocument/2006/relationships/hyperlink" Target="https://learn.microsoft.com/training/modules/design-ip-addressing-for-azure/" TargetMode="Externa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9.xml"/><Relationship Id="rId1" Type="http://schemas.openxmlformats.org/officeDocument/2006/relationships/slideLayout" Target="../slideLayouts/slideLayout3.xml"/><Relationship Id="rId4" Type="http://schemas.openxmlformats.org/officeDocument/2006/relationships/image" Target="../media/image18.png"/></Relationships>
</file>

<file path=ppt/slides/_rels/slide2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8" Type="http://schemas.openxmlformats.org/officeDocument/2006/relationships/image" Target="../media/image25.svg"/><Relationship Id="rId3" Type="http://schemas.openxmlformats.org/officeDocument/2006/relationships/image" Target="../media/image20.png"/><Relationship Id="rId7" Type="http://schemas.openxmlformats.org/officeDocument/2006/relationships/image" Target="../media/image24.png"/><Relationship Id="rId2" Type="http://schemas.openxmlformats.org/officeDocument/2006/relationships/notesSlide" Target="../notesSlides/notesSlide21.xml"/><Relationship Id="rId1" Type="http://schemas.openxmlformats.org/officeDocument/2006/relationships/slideLayout" Target="../slideLayouts/slideLayout3.xml"/><Relationship Id="rId6" Type="http://schemas.openxmlformats.org/officeDocument/2006/relationships/image" Target="../media/image23.svg"/><Relationship Id="rId11" Type="http://schemas.openxmlformats.org/officeDocument/2006/relationships/image" Target="../media/image28.svg"/><Relationship Id="rId5" Type="http://schemas.openxmlformats.org/officeDocument/2006/relationships/image" Target="../media/image22.png"/><Relationship Id="rId10" Type="http://schemas.openxmlformats.org/officeDocument/2006/relationships/image" Target="../media/image27.png"/><Relationship Id="rId4" Type="http://schemas.openxmlformats.org/officeDocument/2006/relationships/image" Target="../media/image21.svg"/><Relationship Id="rId9" Type="http://schemas.openxmlformats.org/officeDocument/2006/relationships/image" Target="../media/image26.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3" Type="http://schemas.openxmlformats.org/officeDocument/2006/relationships/hyperlink" Target="https://learn.microsoft.com/training/modules/configure-network-security-groups/" TargetMode="External"/><Relationship Id="rId2" Type="http://schemas.openxmlformats.org/officeDocument/2006/relationships/notesSlide" Target="../notesSlides/notesSlide23.xml"/><Relationship Id="rId1" Type="http://schemas.openxmlformats.org/officeDocument/2006/relationships/slideLayout" Target="../slideLayouts/slideLayout7.xml"/><Relationship Id="rId5" Type="http://schemas.openxmlformats.org/officeDocument/2006/relationships/hyperlink" Target="https://learn.microsoft.com/training/modules/secure-and-isolate-with-nsg-and-service-endpoints/" TargetMode="External"/><Relationship Id="rId4" Type="http://schemas.openxmlformats.org/officeDocument/2006/relationships/hyperlink" Target="https://learn.microsoft.com/training/modules/filter-network-traffic-network-security-group-using-azure-portal/" TargetMode="Externa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6.xml"/><Relationship Id="rId1" Type="http://schemas.openxmlformats.org/officeDocument/2006/relationships/slideLayout" Target="../slideLayouts/slideLayout3.xml"/><Relationship Id="rId4" Type="http://schemas.openxmlformats.org/officeDocument/2006/relationships/image" Target="../media/image30.png"/></Relationships>
</file>

<file path=ppt/slides/_rels/slide2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8.xml"/></Relationships>
</file>

<file path=ppt/slides/_rels/slide32.xml.rels><?xml version="1.0" encoding="UTF-8" standalone="yes"?>
<Relationships xmlns="http://schemas.openxmlformats.org/package/2006/relationships"><Relationship Id="rId3" Type="http://schemas.openxmlformats.org/officeDocument/2006/relationships/hyperlink" Target="https://learn.microsoft.com/training/modules/intro-to-azure-dns/" TargetMode="External"/><Relationship Id="rId2" Type="http://schemas.openxmlformats.org/officeDocument/2006/relationships/notesSlide" Target="../notesSlides/notesSlide32.xml"/><Relationship Id="rId1" Type="http://schemas.openxmlformats.org/officeDocument/2006/relationships/slideLayout" Target="../slideLayouts/slideLayout7.xml"/><Relationship Id="rId4" Type="http://schemas.openxmlformats.org/officeDocument/2006/relationships/hyperlink" Target="https://learn.microsoft.com/training/modules/host-domain-azure-dns/" TargetMode="Externa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0.xml"/></Relationships>
</file>

<file path=ppt/slides/_rels/slide35.xml.rels><?xml version="1.0" encoding="UTF-8" standalone="yes"?>
<Relationships xmlns="http://schemas.openxmlformats.org/package/2006/relationships"><Relationship Id="rId8" Type="http://schemas.openxmlformats.org/officeDocument/2006/relationships/image" Target="../media/image40.svg"/><Relationship Id="rId3" Type="http://schemas.openxmlformats.org/officeDocument/2006/relationships/image" Target="../media/image35.png"/><Relationship Id="rId7" Type="http://schemas.openxmlformats.org/officeDocument/2006/relationships/image" Target="../media/image39.png"/><Relationship Id="rId2" Type="http://schemas.openxmlformats.org/officeDocument/2006/relationships/notesSlide" Target="../notesSlides/notesSlide35.xml"/><Relationship Id="rId1" Type="http://schemas.openxmlformats.org/officeDocument/2006/relationships/slideLayout" Target="../slideLayouts/slideLayout11.xml"/><Relationship Id="rId6" Type="http://schemas.openxmlformats.org/officeDocument/2006/relationships/image" Target="../media/image38.svg"/><Relationship Id="rId5" Type="http://schemas.openxmlformats.org/officeDocument/2006/relationships/image" Target="../media/image37.png"/><Relationship Id="rId10" Type="http://schemas.openxmlformats.org/officeDocument/2006/relationships/image" Target="../media/image25.svg"/><Relationship Id="rId4" Type="http://schemas.openxmlformats.org/officeDocument/2006/relationships/image" Target="../media/image36.svg"/><Relationship Id="rId9" Type="http://schemas.openxmlformats.org/officeDocument/2006/relationships/image" Target="../media/image24.png"/></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3" Type="http://schemas.openxmlformats.org/officeDocument/2006/relationships/image" Target="../media/image42.emf"/><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581341" y="3057605"/>
            <a:ext cx="5800990" cy="1695272"/>
          </a:xfrm>
        </p:spPr>
        <p:txBody>
          <a:bodyPr/>
          <a:lstStyle/>
          <a:p>
            <a:r>
              <a:rPr lang="en-US" dirty="0"/>
              <a:t>AZ-104T00A</a:t>
            </a:r>
            <a:br>
              <a:rPr lang="en-US" spc="0" dirty="0">
                <a:solidFill>
                  <a:schemeClr val="tx1"/>
                </a:solidFill>
              </a:rPr>
            </a:br>
            <a:r>
              <a:rPr lang="en-US" spc="0" dirty="0">
                <a:solidFill>
                  <a:schemeClr val="tx1"/>
                </a:solidFill>
              </a:rPr>
              <a:t>Administer</a:t>
            </a:r>
            <a:br>
              <a:rPr lang="en-US" spc="0" dirty="0">
                <a:solidFill>
                  <a:schemeClr val="tx1"/>
                </a:solidFill>
              </a:rPr>
            </a:br>
            <a:r>
              <a:rPr lang="en-US" spc="0" dirty="0">
                <a:solidFill>
                  <a:schemeClr val="tx1"/>
                </a:solidFill>
              </a:rPr>
              <a:t>Virtual Networking</a:t>
            </a:r>
          </a:p>
        </p:txBody>
      </p:sp>
    </p:spTree>
    <p:extLst>
      <p:ext uri="{BB962C8B-B14F-4D97-AF65-F5344CB8AC3E}">
        <p14:creationId xmlns:p14="http://schemas.microsoft.com/office/powerpoint/2010/main" val="36358529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3">
            <a:extLst>
              <a:ext uri="{FF2B5EF4-FFF2-40B4-BE49-F238E27FC236}">
                <a16:creationId xmlns:a16="http://schemas.microsoft.com/office/drawing/2014/main" id="{1EF2E00C-13A9-4720-83C4-2F0C958ADAC8}"/>
              </a:ext>
            </a:extLst>
          </p:cNvPr>
          <p:cNvSpPr>
            <a:spLocks noGrp="1"/>
          </p:cNvSpPr>
          <p:nvPr>
            <p:ph type="title"/>
          </p:nvPr>
        </p:nvSpPr>
        <p:spPr/>
        <p:txBody>
          <a:bodyPr/>
          <a:lstStyle/>
          <a:p>
            <a:r>
              <a:rPr lang="en-US" dirty="0"/>
              <a:t>Learning Objectives - Administer Virtual Networking</a:t>
            </a:r>
          </a:p>
        </p:txBody>
      </p:sp>
      <p:sp>
        <p:nvSpPr>
          <p:cNvPr id="61" name="Rectangle 60">
            <a:extLst>
              <a:ext uri="{FF2B5EF4-FFF2-40B4-BE49-F238E27FC236}">
                <a16:creationId xmlns:a16="http://schemas.microsoft.com/office/drawing/2014/main" id="{B89C5FB4-1D85-45E3-8D4A-7DB36147B975}"/>
              </a:ext>
            </a:extLst>
          </p:cNvPr>
          <p:cNvSpPr/>
          <p:nvPr/>
        </p:nvSpPr>
        <p:spPr>
          <a:xfrm>
            <a:off x="505460" y="1361445"/>
            <a:ext cx="6413680" cy="2598520"/>
          </a:xfrm>
          <a:prstGeom prst="rect">
            <a:avLst/>
          </a:prstGeom>
          <a:no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0" tIns="0" rIns="0" bIns="0" numCol="1" spcCol="1270" anchor="ctr" anchorCtr="0">
            <a:noAutofit/>
          </a:bodyPr>
          <a:lstStyle/>
          <a:p>
            <a:pPr marL="342900" lvl="0" indent="-342900" algn="l" defTabSz="1022350">
              <a:lnSpc>
                <a:spcPct val="150000"/>
              </a:lnSpc>
              <a:spcBef>
                <a:spcPct val="0"/>
              </a:spcBef>
              <a:spcAft>
                <a:spcPct val="35000"/>
              </a:spcAft>
              <a:buFont typeface="Arial" panose="020B0604020202020204" pitchFamily="34" charset="0"/>
              <a:buChar char="•"/>
            </a:pPr>
            <a:r>
              <a:rPr lang="en-US" sz="2300" kern="1200" dirty="0">
                <a:solidFill>
                  <a:schemeClr val="tx1"/>
                </a:solidFill>
              </a:rPr>
              <a:t>Configure Virtual Networks</a:t>
            </a:r>
          </a:p>
          <a:p>
            <a:pPr marL="342900" indent="-342900" defTabSz="1022350">
              <a:lnSpc>
                <a:spcPct val="150000"/>
              </a:lnSpc>
              <a:spcBef>
                <a:spcPct val="0"/>
              </a:spcBef>
              <a:spcAft>
                <a:spcPct val="35000"/>
              </a:spcAft>
              <a:buFont typeface="Arial" panose="020B0604020202020204" pitchFamily="34" charset="0"/>
              <a:buChar char="•"/>
            </a:pPr>
            <a:r>
              <a:rPr lang="en-US" sz="2300" kern="1200" dirty="0">
                <a:solidFill>
                  <a:schemeClr val="tx1"/>
                </a:solidFill>
              </a:rPr>
              <a:t>Configure Network Security Groups</a:t>
            </a:r>
          </a:p>
          <a:p>
            <a:pPr marL="342900" indent="-342900" defTabSz="1022350">
              <a:lnSpc>
                <a:spcPct val="150000"/>
              </a:lnSpc>
              <a:spcBef>
                <a:spcPct val="0"/>
              </a:spcBef>
              <a:spcAft>
                <a:spcPct val="35000"/>
              </a:spcAft>
              <a:buClr>
                <a:schemeClr val="tx1"/>
              </a:buClr>
              <a:buFont typeface="Arial" panose="020B0604020202020204" pitchFamily="34" charset="0"/>
              <a:buChar char="•"/>
            </a:pPr>
            <a:r>
              <a:rPr lang="en-US" sz="2300" dirty="0">
                <a:solidFill>
                  <a:schemeClr val="tx1"/>
                </a:solidFill>
              </a:rPr>
              <a:t>Host your domain on Azure DNS</a:t>
            </a:r>
          </a:p>
          <a:p>
            <a:pPr marL="342900" indent="-342900" defTabSz="1022350">
              <a:lnSpc>
                <a:spcPct val="150000"/>
              </a:lnSpc>
              <a:spcBef>
                <a:spcPct val="0"/>
              </a:spcBef>
              <a:spcAft>
                <a:spcPct val="35000"/>
              </a:spcAft>
              <a:buFont typeface="Arial" panose="020B0604020202020204" pitchFamily="34" charset="0"/>
              <a:buChar char="•"/>
            </a:pPr>
            <a:r>
              <a:rPr lang="en-US" sz="2300" dirty="0">
                <a:solidFill>
                  <a:schemeClr val="tx1"/>
                </a:solidFill>
              </a:rPr>
              <a:t>Lab 04 – Implement Virtual Networks</a:t>
            </a:r>
            <a:endParaRPr lang="en-IN" sz="2300" dirty="0">
              <a:solidFill>
                <a:schemeClr val="tx1"/>
              </a:solidFill>
            </a:endParaRPr>
          </a:p>
        </p:txBody>
      </p:sp>
    </p:spTree>
    <p:extLst>
      <p:ext uri="{BB962C8B-B14F-4D97-AF65-F5344CB8AC3E}">
        <p14:creationId xmlns:p14="http://schemas.microsoft.com/office/powerpoint/2010/main" val="3268212801"/>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485812-8F87-2C71-3CFC-361F22D2E97C}"/>
              </a:ext>
            </a:extLst>
          </p:cNvPr>
          <p:cNvSpPr>
            <a:spLocks noGrp="1"/>
          </p:cNvSpPr>
          <p:nvPr>
            <p:ph type="title"/>
          </p:nvPr>
        </p:nvSpPr>
        <p:spPr/>
        <p:txBody>
          <a:bodyPr/>
          <a:lstStyle/>
          <a:p>
            <a:r>
              <a:rPr lang="en-US" dirty="0"/>
              <a:t>Virtual networking whiteboard</a:t>
            </a:r>
          </a:p>
        </p:txBody>
      </p:sp>
      <p:grpSp>
        <p:nvGrpSpPr>
          <p:cNvPr id="50" name="Group 49" descr="whiteboard with labels">
            <a:extLst>
              <a:ext uri="{FF2B5EF4-FFF2-40B4-BE49-F238E27FC236}">
                <a16:creationId xmlns:a16="http://schemas.microsoft.com/office/drawing/2014/main" id="{D46A721E-69F4-105E-4FBF-FD865C53ABAD}"/>
              </a:ext>
            </a:extLst>
          </p:cNvPr>
          <p:cNvGrpSpPr/>
          <p:nvPr/>
        </p:nvGrpSpPr>
        <p:grpSpPr>
          <a:xfrm>
            <a:off x="1406214" y="1533390"/>
            <a:ext cx="9912026" cy="4483879"/>
            <a:chOff x="1902031" y="1482590"/>
            <a:chExt cx="9603725" cy="4483879"/>
          </a:xfrm>
        </p:grpSpPr>
        <p:sp>
          <p:nvSpPr>
            <p:cNvPr id="27" name="TextBox 26">
              <a:extLst>
                <a:ext uri="{FF2B5EF4-FFF2-40B4-BE49-F238E27FC236}">
                  <a16:creationId xmlns:a16="http://schemas.microsoft.com/office/drawing/2014/main" id="{03FCDDDC-9CC7-CE39-D673-4693F3C4B572}"/>
                </a:ext>
              </a:extLst>
            </p:cNvPr>
            <p:cNvSpPr txBox="1"/>
            <p:nvPr/>
          </p:nvSpPr>
          <p:spPr>
            <a:xfrm>
              <a:off x="8006380" y="1482590"/>
              <a:ext cx="1480181" cy="1015663"/>
            </a:xfrm>
            <a:prstGeom prst="rect">
              <a:avLst/>
            </a:prstGeom>
            <a:noFill/>
          </p:spPr>
          <p:txBody>
            <a:bodyPr wrap="square">
              <a:spAutoFit/>
            </a:bodyPr>
            <a:lstStyle/>
            <a:p>
              <a:pPr defTabSz="932597"/>
              <a:r>
                <a:rPr lang="en-US" sz="2000" b="1" u="sng" dirty="0">
                  <a:solidFill>
                    <a:srgbClr val="0078D4">
                      <a:lumMod val="50000"/>
                    </a:srgbClr>
                  </a:solidFill>
                  <a:latin typeface="Segoe UI" panose="020B0502040204020203" pitchFamily="34" charset="0"/>
                  <a:cs typeface="Segoe UI" panose="020B0502040204020203" pitchFamily="34" charset="0"/>
                </a:rPr>
                <a:t>Endpoints</a:t>
              </a:r>
            </a:p>
            <a:p>
              <a:pPr marL="173038" indent="-173038" defTabSz="932597">
                <a:buFont typeface="Arial" panose="020B0604020202020204" pitchFamily="34" charset="0"/>
                <a:buChar char="•"/>
              </a:pPr>
              <a:r>
                <a:rPr lang="en-US" sz="2000" dirty="0">
                  <a:solidFill>
                    <a:srgbClr val="000000"/>
                  </a:solidFill>
                  <a:latin typeface="Segoe UI" panose="020B0502040204020203" pitchFamily="34" charset="0"/>
                  <a:cs typeface="Segoe UI" panose="020B0502040204020203" pitchFamily="34" charset="0"/>
                </a:rPr>
                <a:t>Service</a:t>
              </a:r>
            </a:p>
            <a:p>
              <a:pPr marL="173038" indent="-173038" defTabSz="932597">
                <a:buFont typeface="Arial" panose="020B0604020202020204" pitchFamily="34" charset="0"/>
                <a:buChar char="•"/>
              </a:pPr>
              <a:r>
                <a:rPr lang="en-US" sz="2000" dirty="0">
                  <a:solidFill>
                    <a:srgbClr val="000000"/>
                  </a:solidFill>
                  <a:latin typeface="Segoe UI" panose="020B0502040204020203" pitchFamily="34" charset="0"/>
                  <a:cs typeface="Segoe UI" panose="020B0502040204020203" pitchFamily="34" charset="0"/>
                </a:rPr>
                <a:t>Private</a:t>
              </a:r>
            </a:p>
          </p:txBody>
        </p:sp>
        <p:sp>
          <p:nvSpPr>
            <p:cNvPr id="7" name="Oval 6">
              <a:extLst>
                <a:ext uri="{FF2B5EF4-FFF2-40B4-BE49-F238E27FC236}">
                  <a16:creationId xmlns:a16="http://schemas.microsoft.com/office/drawing/2014/main" id="{B3798BCD-2DA1-9259-296E-A1737EDD0C32}"/>
                </a:ext>
              </a:extLst>
            </p:cNvPr>
            <p:cNvSpPr/>
            <p:nvPr/>
          </p:nvSpPr>
          <p:spPr bwMode="auto">
            <a:xfrm>
              <a:off x="4653280" y="3254736"/>
              <a:ext cx="3154162" cy="1126905"/>
            </a:xfrm>
            <a:prstGeom prst="ellipse">
              <a:avLst/>
            </a:prstGeom>
            <a:noFill/>
            <a:ln>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6521" tIns="149217" rIns="186521" bIns="149217" numCol="1" spcCol="0" rtlCol="0" fromWordArt="0" anchor="ctr" anchorCtr="0" forceAA="0" compatLnSpc="1">
              <a:prstTxWarp prst="textNoShape">
                <a:avLst/>
              </a:prstTxWarp>
              <a:noAutofit/>
            </a:bodyPr>
            <a:lstStyle/>
            <a:p>
              <a:pPr algn="ctr" defTabSz="951028" fontAlgn="base">
                <a:lnSpc>
                  <a:spcPct val="90000"/>
                </a:lnSpc>
                <a:spcBef>
                  <a:spcPct val="0"/>
                </a:spcBef>
                <a:spcAft>
                  <a:spcPct val="0"/>
                </a:spcAft>
              </a:pPr>
              <a:r>
                <a:rPr lang="en-US" sz="2000" b="1" dirty="0">
                  <a:solidFill>
                    <a:srgbClr val="0078D4">
                      <a:lumMod val="50000"/>
                    </a:srgbClr>
                  </a:solidFill>
                  <a:latin typeface="Segoe UI" panose="020B0502040204020203" pitchFamily="34" charset="0"/>
                  <a:cs typeface="Segoe UI" panose="020B0502040204020203" pitchFamily="34" charset="0"/>
                </a:rPr>
                <a:t>virtual networks</a:t>
              </a:r>
            </a:p>
          </p:txBody>
        </p:sp>
        <p:cxnSp>
          <p:nvCxnSpPr>
            <p:cNvPr id="8" name="Straight Connector 7">
              <a:extLst>
                <a:ext uri="{FF2B5EF4-FFF2-40B4-BE49-F238E27FC236}">
                  <a16:creationId xmlns:a16="http://schemas.microsoft.com/office/drawing/2014/main" id="{8416EFC7-EB51-2214-4A63-D7D75C42FED4}"/>
                </a:ext>
              </a:extLst>
            </p:cNvPr>
            <p:cNvCxnSpPr>
              <a:cxnSpLocks/>
              <a:stCxn id="7" idx="0"/>
              <a:endCxn id="9" idx="2"/>
            </p:cNvCxnSpPr>
            <p:nvPr/>
          </p:nvCxnSpPr>
          <p:spPr>
            <a:xfrm flipV="1">
              <a:off x="6230361" y="2434511"/>
              <a:ext cx="0" cy="820225"/>
            </a:xfrm>
            <a:prstGeom prst="line">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14F48FC6-B5D3-F948-D772-E86B6ADE43C5}"/>
                </a:ext>
              </a:extLst>
            </p:cNvPr>
            <p:cNvSpPr txBox="1"/>
            <p:nvPr/>
          </p:nvSpPr>
          <p:spPr>
            <a:xfrm>
              <a:off x="5346556" y="1726625"/>
              <a:ext cx="1767609" cy="707886"/>
            </a:xfrm>
            <a:prstGeom prst="rect">
              <a:avLst/>
            </a:prstGeom>
            <a:noFill/>
          </p:spPr>
          <p:txBody>
            <a:bodyPr wrap="square">
              <a:spAutoFit/>
            </a:bodyPr>
            <a:lstStyle/>
            <a:p>
              <a:pPr algn="ctr" defTabSz="932597"/>
              <a:r>
                <a:rPr lang="en-US" sz="2000" b="1" u="sng" dirty="0">
                  <a:solidFill>
                    <a:srgbClr val="0078D4">
                      <a:lumMod val="50000"/>
                    </a:srgbClr>
                  </a:solidFill>
                  <a:latin typeface="Segoe UI" panose="020B0502040204020203" pitchFamily="34" charset="0"/>
                  <a:cs typeface="Segoe UI" panose="020B0502040204020203" pitchFamily="34" charset="0"/>
                </a:rPr>
                <a:t>Naming guidelines</a:t>
              </a:r>
            </a:p>
          </p:txBody>
        </p:sp>
        <p:cxnSp>
          <p:nvCxnSpPr>
            <p:cNvPr id="10" name="Straight Connector 9">
              <a:extLst>
                <a:ext uri="{FF2B5EF4-FFF2-40B4-BE49-F238E27FC236}">
                  <a16:creationId xmlns:a16="http://schemas.microsoft.com/office/drawing/2014/main" id="{85310162-D52B-0907-7BA2-F05EC4E9D5F5}"/>
                </a:ext>
              </a:extLst>
            </p:cNvPr>
            <p:cNvCxnSpPr>
              <a:cxnSpLocks/>
              <a:stCxn id="7" idx="1"/>
              <a:endCxn id="11" idx="2"/>
            </p:cNvCxnSpPr>
            <p:nvPr/>
          </p:nvCxnSpPr>
          <p:spPr>
            <a:xfrm flipH="1" flipV="1">
              <a:off x="3398574" y="2498253"/>
              <a:ext cx="1716622" cy="921514"/>
            </a:xfrm>
            <a:prstGeom prst="line">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D53512BA-8077-0958-D5FD-7BF08E2E3FE2}"/>
                </a:ext>
              </a:extLst>
            </p:cNvPr>
            <p:cNvSpPr txBox="1"/>
            <p:nvPr/>
          </p:nvSpPr>
          <p:spPr>
            <a:xfrm>
              <a:off x="1902031" y="1482590"/>
              <a:ext cx="2993086" cy="1015663"/>
            </a:xfrm>
            <a:prstGeom prst="rect">
              <a:avLst/>
            </a:prstGeom>
            <a:noFill/>
          </p:spPr>
          <p:txBody>
            <a:bodyPr wrap="square">
              <a:spAutoFit/>
            </a:bodyPr>
            <a:lstStyle/>
            <a:p>
              <a:pPr algn="ctr" defTabSz="932597"/>
              <a:r>
                <a:rPr lang="en-US" sz="2000" b="1" u="sng" dirty="0">
                  <a:solidFill>
                    <a:srgbClr val="0078D4">
                      <a:lumMod val="50000"/>
                    </a:srgbClr>
                  </a:solidFill>
                  <a:latin typeface="Segoe UI" panose="020B0502040204020203" pitchFamily="34" charset="0"/>
                  <a:cs typeface="Segoe UI" panose="020B0502040204020203" pitchFamily="34" charset="0"/>
                </a:rPr>
                <a:t>Connectivity</a:t>
              </a:r>
            </a:p>
            <a:p>
              <a:pPr marL="173038" indent="-173038" defTabSz="932597">
                <a:buFont typeface="Arial" panose="020B0604020202020204" pitchFamily="34" charset="0"/>
                <a:buChar char="•"/>
              </a:pPr>
              <a:r>
                <a:rPr lang="en-US" sz="2000" dirty="0">
                  <a:solidFill>
                    <a:srgbClr val="000000"/>
                  </a:solidFill>
                  <a:latin typeface="Segoe UI" panose="020B0502040204020203" pitchFamily="34" charset="0"/>
                  <a:cs typeface="Segoe UI" panose="020B0502040204020203" pitchFamily="34" charset="0"/>
                </a:rPr>
                <a:t>On-premises</a:t>
              </a:r>
            </a:p>
            <a:p>
              <a:pPr marL="173038" indent="-173038" defTabSz="932597">
                <a:buFont typeface="Arial" panose="020B0604020202020204" pitchFamily="34" charset="0"/>
                <a:buChar char="•"/>
              </a:pPr>
              <a:r>
                <a:rPr lang="en-US" sz="2000" dirty="0">
                  <a:solidFill>
                    <a:srgbClr val="000000"/>
                  </a:solidFill>
                  <a:latin typeface="Segoe UI" panose="020B0502040204020203" pitchFamily="34" charset="0"/>
                  <a:cs typeface="Segoe UI" panose="020B0502040204020203" pitchFamily="34" charset="0"/>
                </a:rPr>
                <a:t>Other virtual networks</a:t>
              </a:r>
            </a:p>
          </p:txBody>
        </p:sp>
        <p:cxnSp>
          <p:nvCxnSpPr>
            <p:cNvPr id="23" name="Straight Connector 22">
              <a:extLst>
                <a:ext uri="{FF2B5EF4-FFF2-40B4-BE49-F238E27FC236}">
                  <a16:creationId xmlns:a16="http://schemas.microsoft.com/office/drawing/2014/main" id="{7C35A455-5245-28D4-DF95-BE6012BFADFE}"/>
                </a:ext>
              </a:extLst>
            </p:cNvPr>
            <p:cNvCxnSpPr>
              <a:cxnSpLocks/>
              <a:stCxn id="7" idx="7"/>
              <a:endCxn id="27" idx="2"/>
            </p:cNvCxnSpPr>
            <p:nvPr/>
          </p:nvCxnSpPr>
          <p:spPr>
            <a:xfrm flipV="1">
              <a:off x="7345526" y="2498253"/>
              <a:ext cx="1400945" cy="921514"/>
            </a:xfrm>
            <a:prstGeom prst="line">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EFCEBA7F-3D0C-5642-20B1-7FB063F8AB67}"/>
                </a:ext>
              </a:extLst>
            </p:cNvPr>
            <p:cNvCxnSpPr>
              <a:cxnSpLocks/>
              <a:stCxn id="7" idx="2"/>
              <a:endCxn id="42" idx="3"/>
            </p:cNvCxnSpPr>
            <p:nvPr/>
          </p:nvCxnSpPr>
          <p:spPr>
            <a:xfrm flipH="1" flipV="1">
              <a:off x="3533477" y="3818187"/>
              <a:ext cx="1119803" cy="2"/>
            </a:xfrm>
            <a:prstGeom prst="line">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42" name="TextBox 41">
              <a:extLst>
                <a:ext uri="{FF2B5EF4-FFF2-40B4-BE49-F238E27FC236}">
                  <a16:creationId xmlns:a16="http://schemas.microsoft.com/office/drawing/2014/main" id="{B360482F-18F8-29D6-5E90-E52272432F53}"/>
                </a:ext>
              </a:extLst>
            </p:cNvPr>
            <p:cNvSpPr txBox="1"/>
            <p:nvPr/>
          </p:nvSpPr>
          <p:spPr>
            <a:xfrm>
              <a:off x="2147055" y="3618132"/>
              <a:ext cx="1386422" cy="400109"/>
            </a:xfrm>
            <a:prstGeom prst="rect">
              <a:avLst/>
            </a:prstGeom>
            <a:noFill/>
          </p:spPr>
          <p:txBody>
            <a:bodyPr wrap="square">
              <a:spAutoFit/>
            </a:bodyPr>
            <a:lstStyle/>
            <a:p>
              <a:pPr algn="ctr" defTabSz="932597"/>
              <a:r>
                <a:rPr lang="en-US" sz="2000" b="1" u="sng" dirty="0">
                  <a:solidFill>
                    <a:srgbClr val="0078D4">
                      <a:lumMod val="50000"/>
                    </a:srgbClr>
                  </a:solidFill>
                  <a:latin typeface="Segoe UI" panose="020B0502040204020203" pitchFamily="34" charset="0"/>
                  <a:cs typeface="Segoe UI" panose="020B0502040204020203" pitchFamily="34" charset="0"/>
                </a:rPr>
                <a:t>Subnets</a:t>
              </a:r>
            </a:p>
          </p:txBody>
        </p:sp>
        <p:sp>
          <p:nvSpPr>
            <p:cNvPr id="63" name="TextBox 62">
              <a:extLst>
                <a:ext uri="{FF2B5EF4-FFF2-40B4-BE49-F238E27FC236}">
                  <a16:creationId xmlns:a16="http://schemas.microsoft.com/office/drawing/2014/main" id="{09F01505-F879-D13B-B595-579C91475B64}"/>
                </a:ext>
              </a:extLst>
            </p:cNvPr>
            <p:cNvSpPr txBox="1"/>
            <p:nvPr/>
          </p:nvSpPr>
          <p:spPr>
            <a:xfrm>
              <a:off x="6895106" y="4924152"/>
              <a:ext cx="1927323" cy="1015663"/>
            </a:xfrm>
            <a:prstGeom prst="rect">
              <a:avLst/>
            </a:prstGeom>
            <a:noFill/>
          </p:spPr>
          <p:txBody>
            <a:bodyPr wrap="square">
              <a:spAutoFit/>
            </a:bodyPr>
            <a:lstStyle/>
            <a:p>
              <a:pPr defTabSz="932597"/>
              <a:r>
                <a:rPr lang="en-US" sz="2000" b="1" u="sng" dirty="0">
                  <a:solidFill>
                    <a:srgbClr val="0078D4">
                      <a:lumMod val="50000"/>
                    </a:srgbClr>
                  </a:solidFill>
                  <a:latin typeface="Segoe UI" panose="020B0502040204020203" pitchFamily="34" charset="0"/>
                  <a:cs typeface="Segoe UI" panose="020B0502040204020203" pitchFamily="34" charset="0"/>
                </a:rPr>
                <a:t>IP addressing</a:t>
              </a:r>
              <a:r>
                <a:rPr lang="en-US" sz="2000" b="1" dirty="0">
                  <a:solidFill>
                    <a:srgbClr val="0078D4">
                      <a:lumMod val="50000"/>
                    </a:srgbClr>
                  </a:solidFill>
                  <a:latin typeface="Segoe UI" panose="020B0502040204020203" pitchFamily="34" charset="0"/>
                  <a:cs typeface="Segoe UI" panose="020B0502040204020203" pitchFamily="34" charset="0"/>
                </a:rPr>
                <a:t> </a:t>
              </a:r>
            </a:p>
            <a:p>
              <a:pPr marL="173038" indent="-173038" defTabSz="932597">
                <a:buFont typeface="Arial" panose="020B0604020202020204" pitchFamily="34" charset="0"/>
                <a:buChar char="•"/>
              </a:pPr>
              <a:r>
                <a:rPr lang="en-US" sz="2000" dirty="0">
                  <a:solidFill>
                    <a:srgbClr val="000000"/>
                  </a:solidFill>
                  <a:latin typeface="Segoe UI" panose="020B0502040204020203" pitchFamily="34" charset="0"/>
                  <a:cs typeface="Segoe UI" panose="020B0502040204020203" pitchFamily="34" charset="0"/>
                </a:rPr>
                <a:t>public</a:t>
              </a:r>
            </a:p>
            <a:p>
              <a:pPr marL="173038" indent="-173038" defTabSz="932597">
                <a:buFont typeface="Arial" panose="020B0604020202020204" pitchFamily="34" charset="0"/>
                <a:buChar char="•"/>
              </a:pPr>
              <a:r>
                <a:rPr lang="en-US" sz="2000" dirty="0">
                  <a:solidFill>
                    <a:srgbClr val="000000"/>
                  </a:solidFill>
                  <a:latin typeface="Segoe UI" panose="020B0502040204020203" pitchFamily="34" charset="0"/>
                  <a:cs typeface="Segoe UI" panose="020B0502040204020203" pitchFamily="34" charset="0"/>
                </a:rPr>
                <a:t>private</a:t>
              </a:r>
            </a:p>
          </p:txBody>
        </p:sp>
        <p:sp>
          <p:nvSpPr>
            <p:cNvPr id="73" name="TextBox 72">
              <a:extLst>
                <a:ext uri="{FF2B5EF4-FFF2-40B4-BE49-F238E27FC236}">
                  <a16:creationId xmlns:a16="http://schemas.microsoft.com/office/drawing/2014/main" id="{20F316B5-F973-F12E-8B21-49080EE671A0}"/>
                </a:ext>
              </a:extLst>
            </p:cNvPr>
            <p:cNvSpPr txBox="1"/>
            <p:nvPr/>
          </p:nvSpPr>
          <p:spPr>
            <a:xfrm>
              <a:off x="8822429" y="3156468"/>
              <a:ext cx="2683327" cy="1323439"/>
            </a:xfrm>
            <a:prstGeom prst="rect">
              <a:avLst/>
            </a:prstGeom>
            <a:noFill/>
          </p:spPr>
          <p:txBody>
            <a:bodyPr wrap="square">
              <a:spAutoFit/>
            </a:bodyPr>
            <a:lstStyle/>
            <a:p>
              <a:pPr defTabSz="932597"/>
              <a:r>
                <a:rPr lang="en-US" sz="2000" b="1" u="sng" dirty="0">
                  <a:solidFill>
                    <a:srgbClr val="0078D4">
                      <a:lumMod val="50000"/>
                    </a:srgbClr>
                  </a:solidFill>
                  <a:latin typeface="Segoe UI" panose="020B0502040204020203" pitchFamily="34" charset="0"/>
                  <a:cs typeface="Segoe UI" panose="020B0502040204020203" pitchFamily="34" charset="0"/>
                </a:rPr>
                <a:t>Traffic routing </a:t>
              </a:r>
            </a:p>
            <a:p>
              <a:pPr marL="173038" indent="-173038" defTabSz="932597">
                <a:buFont typeface="Arial" panose="020B0604020202020204" pitchFamily="34" charset="0"/>
                <a:buChar char="•"/>
              </a:pPr>
              <a:r>
                <a:rPr lang="en-US" sz="2000" dirty="0">
                  <a:solidFill>
                    <a:srgbClr val="000000"/>
                  </a:solidFill>
                  <a:latin typeface="Segoe UI" panose="020B0502040204020203" pitchFamily="34" charset="0"/>
                  <a:cs typeface="Segoe UI" panose="020B0502040204020203" pitchFamily="34" charset="0"/>
                </a:rPr>
                <a:t>NSGs </a:t>
              </a:r>
            </a:p>
            <a:p>
              <a:pPr marL="173038" indent="-173038" defTabSz="932597">
                <a:buFont typeface="Arial" panose="020B0604020202020204" pitchFamily="34" charset="0"/>
                <a:buChar char="•"/>
              </a:pPr>
              <a:r>
                <a:rPr lang="en-US" sz="2000" dirty="0">
                  <a:solidFill>
                    <a:srgbClr val="000000"/>
                  </a:solidFill>
                  <a:latin typeface="Segoe UI" panose="020B0502040204020203" pitchFamily="34" charset="0"/>
                  <a:cs typeface="Segoe UI" panose="020B0502040204020203" pitchFamily="34" charset="0"/>
                </a:rPr>
                <a:t>ASGs</a:t>
              </a:r>
            </a:p>
            <a:p>
              <a:pPr marL="173038" indent="-173038" defTabSz="932597">
                <a:buFont typeface="Arial" panose="020B0604020202020204" pitchFamily="34" charset="0"/>
                <a:buChar char="•"/>
              </a:pPr>
              <a:r>
                <a:rPr lang="en-US" sz="2000" dirty="0">
                  <a:solidFill>
                    <a:srgbClr val="000000"/>
                  </a:solidFill>
                  <a:latin typeface="Segoe UI" panose="020B0502040204020203" pitchFamily="34" charset="0"/>
                  <a:cs typeface="Segoe UI" panose="020B0502040204020203" pitchFamily="34" charset="0"/>
                </a:rPr>
                <a:t>Azure Firewall</a:t>
              </a:r>
            </a:p>
          </p:txBody>
        </p:sp>
        <p:cxnSp>
          <p:nvCxnSpPr>
            <p:cNvPr id="93" name="Straight Connector 92">
              <a:extLst>
                <a:ext uri="{FF2B5EF4-FFF2-40B4-BE49-F238E27FC236}">
                  <a16:creationId xmlns:a16="http://schemas.microsoft.com/office/drawing/2014/main" id="{030525F7-7DB4-DF01-56A8-7E7CB3321046}"/>
                </a:ext>
              </a:extLst>
            </p:cNvPr>
            <p:cNvCxnSpPr>
              <a:cxnSpLocks/>
              <a:stCxn id="7" idx="6"/>
              <a:endCxn id="73" idx="1"/>
            </p:cNvCxnSpPr>
            <p:nvPr/>
          </p:nvCxnSpPr>
          <p:spPr>
            <a:xfrm flipV="1">
              <a:off x="7807442" y="3818188"/>
              <a:ext cx="1014987" cy="1"/>
            </a:xfrm>
            <a:prstGeom prst="line">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9" name="Straight Connector 98">
              <a:extLst>
                <a:ext uri="{FF2B5EF4-FFF2-40B4-BE49-F238E27FC236}">
                  <a16:creationId xmlns:a16="http://schemas.microsoft.com/office/drawing/2014/main" id="{285490DC-8DA5-9BBF-06FE-00854AFC2DAE}"/>
                </a:ext>
              </a:extLst>
            </p:cNvPr>
            <p:cNvCxnSpPr>
              <a:cxnSpLocks/>
              <a:stCxn id="7" idx="3"/>
              <a:endCxn id="100" idx="0"/>
            </p:cNvCxnSpPr>
            <p:nvPr/>
          </p:nvCxnSpPr>
          <p:spPr>
            <a:xfrm flipH="1">
              <a:off x="4262322" y="4216610"/>
              <a:ext cx="852874" cy="734196"/>
            </a:xfrm>
            <a:prstGeom prst="line">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100" name="TextBox 99">
              <a:extLst>
                <a:ext uri="{FF2B5EF4-FFF2-40B4-BE49-F238E27FC236}">
                  <a16:creationId xmlns:a16="http://schemas.microsoft.com/office/drawing/2014/main" id="{9D6ED3A3-C6BF-249D-27EE-B1ABC8B19B5E}"/>
                </a:ext>
              </a:extLst>
            </p:cNvPr>
            <p:cNvSpPr txBox="1"/>
            <p:nvPr/>
          </p:nvSpPr>
          <p:spPr>
            <a:xfrm>
              <a:off x="3049279" y="4950806"/>
              <a:ext cx="2426086" cy="1015663"/>
            </a:xfrm>
            <a:prstGeom prst="rect">
              <a:avLst/>
            </a:prstGeom>
            <a:noFill/>
          </p:spPr>
          <p:txBody>
            <a:bodyPr wrap="square">
              <a:spAutoFit/>
            </a:bodyPr>
            <a:lstStyle/>
            <a:p>
              <a:pPr algn="ctr" defTabSz="932597"/>
              <a:r>
                <a:rPr lang="en-US" sz="2000" b="1" u="sng" dirty="0">
                  <a:solidFill>
                    <a:srgbClr val="0078D4">
                      <a:lumMod val="50000"/>
                    </a:srgbClr>
                  </a:solidFill>
                  <a:latin typeface="Segoe UI" panose="020B0502040204020203" pitchFamily="34" charset="0"/>
                  <a:cs typeface="Segoe UI" panose="020B0502040204020203" pitchFamily="34" charset="0"/>
                </a:rPr>
                <a:t>DNS</a:t>
              </a:r>
            </a:p>
            <a:p>
              <a:pPr marL="173038" indent="-173038" defTabSz="932597">
                <a:buFont typeface="Arial" panose="020B0604020202020204" pitchFamily="34" charset="0"/>
                <a:buChar char="•"/>
              </a:pPr>
              <a:r>
                <a:rPr lang="en-US" sz="2000" dirty="0">
                  <a:solidFill>
                    <a:srgbClr val="000000"/>
                  </a:solidFill>
                  <a:latin typeface="Segoe UI" panose="020B0502040204020203" pitchFamily="34" charset="0"/>
                  <a:cs typeface="Segoe UI" panose="020B0502040204020203" pitchFamily="34" charset="0"/>
                </a:rPr>
                <a:t>zones</a:t>
              </a:r>
            </a:p>
            <a:p>
              <a:pPr marL="173038" indent="-173038" defTabSz="932597">
                <a:buFont typeface="Arial" panose="020B0604020202020204" pitchFamily="34" charset="0"/>
                <a:buChar char="•"/>
              </a:pPr>
              <a:r>
                <a:rPr lang="en-US" sz="2000" dirty="0">
                  <a:solidFill>
                    <a:srgbClr val="000000"/>
                  </a:solidFill>
                  <a:latin typeface="Segoe UI" panose="020B0502040204020203" pitchFamily="34" charset="0"/>
                  <a:cs typeface="Segoe UI" panose="020B0502040204020203" pitchFamily="34" charset="0"/>
                </a:rPr>
                <a:t>custom names</a:t>
              </a:r>
            </a:p>
          </p:txBody>
        </p:sp>
        <p:cxnSp>
          <p:nvCxnSpPr>
            <p:cNvPr id="6" name="Straight Connector 5">
              <a:extLst>
                <a:ext uri="{FF2B5EF4-FFF2-40B4-BE49-F238E27FC236}">
                  <a16:creationId xmlns:a16="http://schemas.microsoft.com/office/drawing/2014/main" id="{77AEF0F6-507D-40EC-1E7C-4151182ACE68}"/>
                </a:ext>
                <a:ext uri="{C183D7F6-B498-43B3-948B-1728B52AA6E4}">
                  <adec:decorative xmlns:adec="http://schemas.microsoft.com/office/drawing/2017/decorative" val="1"/>
                </a:ext>
              </a:extLst>
            </p:cNvPr>
            <p:cNvCxnSpPr>
              <a:cxnSpLocks/>
              <a:stCxn id="7" idx="5"/>
              <a:endCxn id="63" idx="0"/>
            </p:cNvCxnSpPr>
            <p:nvPr/>
          </p:nvCxnSpPr>
          <p:spPr>
            <a:xfrm>
              <a:off x="7345526" y="4216610"/>
              <a:ext cx="513242" cy="707542"/>
            </a:xfrm>
            <a:prstGeom prst="line">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561333621"/>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CD8665D-5A50-4F07-9D33-48CCD3FD74C7}"/>
              </a:ext>
            </a:extLst>
          </p:cNvPr>
          <p:cNvSpPr>
            <a:spLocks noGrp="1"/>
          </p:cNvSpPr>
          <p:nvPr>
            <p:ph type="title"/>
          </p:nvPr>
        </p:nvSpPr>
        <p:spPr/>
        <p:txBody>
          <a:bodyPr/>
          <a:lstStyle/>
          <a:p>
            <a:r>
              <a:rPr lang="en-US" dirty="0"/>
              <a:t>Configure Virtual Networks</a:t>
            </a:r>
          </a:p>
        </p:txBody>
      </p:sp>
    </p:spTree>
    <p:extLst>
      <p:ext uri="{BB962C8B-B14F-4D97-AF65-F5344CB8AC3E}">
        <p14:creationId xmlns:p14="http://schemas.microsoft.com/office/powerpoint/2010/main" val="37467660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F59A6A-B20B-45F5-A780-AC3D243BA88E}"/>
              </a:ext>
            </a:extLst>
          </p:cNvPr>
          <p:cNvSpPr>
            <a:spLocks noGrp="1"/>
          </p:cNvSpPr>
          <p:nvPr>
            <p:ph type="title"/>
          </p:nvPr>
        </p:nvSpPr>
        <p:spPr/>
        <p:txBody>
          <a:bodyPr/>
          <a:lstStyle/>
          <a:p>
            <a:r>
              <a:rPr lang="en-US" dirty="0"/>
              <a:t>Learning Objectives - Configure Virtual Networks</a:t>
            </a:r>
          </a:p>
        </p:txBody>
      </p:sp>
      <p:sp>
        <p:nvSpPr>
          <p:cNvPr id="5" name="Rectangle 4">
            <a:extLst>
              <a:ext uri="{FF2B5EF4-FFF2-40B4-BE49-F238E27FC236}">
                <a16:creationId xmlns:a16="http://schemas.microsoft.com/office/drawing/2014/main" id="{AB3A1709-C971-4249-90BC-2B61932F0B83}"/>
              </a:ext>
            </a:extLst>
          </p:cNvPr>
          <p:cNvSpPr/>
          <p:nvPr/>
        </p:nvSpPr>
        <p:spPr>
          <a:xfrm>
            <a:off x="523240" y="1288965"/>
            <a:ext cx="5521960" cy="4416594"/>
          </a:xfrm>
          <a:prstGeom prst="rect">
            <a:avLst/>
          </a:prstGeom>
          <a:no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0" tIns="0" rIns="0" bIns="0" numCol="1" spcCol="1270" anchor="ctr" anchorCtr="0">
            <a:spAutoFit/>
          </a:bodyPr>
          <a:lstStyle/>
          <a:p>
            <a:pPr marL="342900" indent="-342900" defTabSz="1022350">
              <a:spcBef>
                <a:spcPct val="0"/>
              </a:spcBef>
              <a:spcAft>
                <a:spcPts val="1200"/>
              </a:spcAft>
              <a:buFont typeface="Arial" panose="020B0604020202020204" pitchFamily="34" charset="0"/>
              <a:buChar char="•"/>
            </a:pPr>
            <a:r>
              <a:rPr lang="en-US" sz="2300" dirty="0">
                <a:solidFill>
                  <a:schemeClr val="tx1"/>
                </a:solidFill>
              </a:rPr>
              <a:t>Plan Virtual Networks</a:t>
            </a:r>
          </a:p>
          <a:p>
            <a:pPr marL="342900" indent="-342900" defTabSz="1022350">
              <a:spcBef>
                <a:spcPct val="0"/>
              </a:spcBef>
              <a:spcAft>
                <a:spcPts val="1200"/>
              </a:spcAft>
              <a:buFont typeface="Arial" panose="020B0604020202020204" pitchFamily="34" charset="0"/>
              <a:buChar char="•"/>
            </a:pPr>
            <a:r>
              <a:rPr lang="en-US" sz="2300" dirty="0">
                <a:solidFill>
                  <a:schemeClr val="tx1"/>
                </a:solidFill>
              </a:rPr>
              <a:t>Create Virtual Networks</a:t>
            </a:r>
          </a:p>
          <a:p>
            <a:pPr marL="342900" indent="-342900" defTabSz="1022350">
              <a:spcBef>
                <a:spcPct val="0"/>
              </a:spcBef>
              <a:spcAft>
                <a:spcPts val="1200"/>
              </a:spcAft>
              <a:buFont typeface="Arial" panose="020B0604020202020204" pitchFamily="34" charset="0"/>
              <a:buChar char="•"/>
            </a:pPr>
            <a:r>
              <a:rPr lang="en-US" sz="2300" dirty="0">
                <a:solidFill>
                  <a:schemeClr val="tx1"/>
                </a:solidFill>
              </a:rPr>
              <a:t>Create Subnets</a:t>
            </a:r>
          </a:p>
          <a:p>
            <a:pPr marL="342900" indent="-342900" defTabSz="1022350">
              <a:spcBef>
                <a:spcPct val="0"/>
              </a:spcBef>
              <a:spcAft>
                <a:spcPts val="1200"/>
              </a:spcAft>
              <a:buFont typeface="Arial" panose="020B0604020202020204" pitchFamily="34" charset="0"/>
              <a:buChar char="•"/>
            </a:pPr>
            <a:r>
              <a:rPr lang="en-US" sz="2300" dirty="0">
                <a:solidFill>
                  <a:schemeClr val="tx1"/>
                </a:solidFill>
              </a:rPr>
              <a:t>Plan IP Addressing</a:t>
            </a:r>
          </a:p>
          <a:p>
            <a:pPr marL="342900" indent="-342900" defTabSz="1022350">
              <a:spcBef>
                <a:spcPct val="0"/>
              </a:spcBef>
              <a:spcAft>
                <a:spcPts val="1200"/>
              </a:spcAft>
              <a:buFont typeface="Arial" panose="020B0604020202020204" pitchFamily="34" charset="0"/>
              <a:buChar char="•"/>
            </a:pPr>
            <a:r>
              <a:rPr lang="en-US" sz="2300" dirty="0">
                <a:solidFill>
                  <a:schemeClr val="tx1"/>
                </a:solidFill>
              </a:rPr>
              <a:t>Create Public IP Addresses</a:t>
            </a:r>
          </a:p>
          <a:p>
            <a:pPr marL="342900" indent="-342900" defTabSz="1022350">
              <a:spcBef>
                <a:spcPct val="0"/>
              </a:spcBef>
              <a:spcAft>
                <a:spcPts val="1200"/>
              </a:spcAft>
              <a:buFont typeface="Arial" panose="020B0604020202020204" pitchFamily="34" charset="0"/>
              <a:buChar char="•"/>
            </a:pPr>
            <a:r>
              <a:rPr lang="en-US" sz="2300" dirty="0">
                <a:solidFill>
                  <a:schemeClr val="tx1"/>
                </a:solidFill>
              </a:rPr>
              <a:t>Associate Public IP Addresses</a:t>
            </a:r>
          </a:p>
          <a:p>
            <a:pPr marL="342900" indent="-342900" defTabSz="1022350">
              <a:spcBef>
                <a:spcPct val="0"/>
              </a:spcBef>
              <a:spcAft>
                <a:spcPts val="1200"/>
              </a:spcAft>
              <a:buFont typeface="Arial" panose="020B0604020202020204" pitchFamily="34" charset="0"/>
              <a:buChar char="•"/>
            </a:pPr>
            <a:r>
              <a:rPr lang="en-US" sz="2300" dirty="0">
                <a:solidFill>
                  <a:schemeClr val="tx1"/>
                </a:solidFill>
              </a:rPr>
              <a:t>Allocate or Assign Private IP Addresses</a:t>
            </a:r>
          </a:p>
          <a:p>
            <a:pPr marL="342900" indent="-342900" defTabSz="1022350">
              <a:spcBef>
                <a:spcPct val="0"/>
              </a:spcBef>
              <a:spcAft>
                <a:spcPts val="1200"/>
              </a:spcAft>
              <a:buFont typeface="Arial" panose="020B0604020202020204" pitchFamily="34" charset="0"/>
              <a:buChar char="•"/>
            </a:pPr>
            <a:r>
              <a:rPr lang="en-US" sz="2300" dirty="0">
                <a:solidFill>
                  <a:schemeClr val="tx1"/>
                </a:solidFill>
              </a:rPr>
              <a:t>Demonstration – Virtual Networks</a:t>
            </a:r>
          </a:p>
          <a:p>
            <a:pPr marL="342900" indent="-342900" defTabSz="1022350">
              <a:spcBef>
                <a:spcPct val="0"/>
              </a:spcBef>
              <a:spcAft>
                <a:spcPts val="1200"/>
              </a:spcAft>
              <a:buFont typeface="Arial" panose="020B0604020202020204" pitchFamily="34" charset="0"/>
              <a:buChar char="•"/>
            </a:pPr>
            <a:r>
              <a:rPr lang="en-US" sz="2300" dirty="0">
                <a:solidFill>
                  <a:schemeClr val="tx1"/>
                </a:solidFill>
              </a:rPr>
              <a:t>Learning Recap</a:t>
            </a:r>
          </a:p>
        </p:txBody>
      </p:sp>
      <p:sp>
        <p:nvSpPr>
          <p:cNvPr id="9" name="TextBox 8">
            <a:extLst>
              <a:ext uri="{FF2B5EF4-FFF2-40B4-BE49-F238E27FC236}">
                <a16:creationId xmlns:a16="http://schemas.microsoft.com/office/drawing/2014/main" id="{92730277-5A99-08A8-B699-BFAB8A6564A8}"/>
              </a:ext>
            </a:extLst>
          </p:cNvPr>
          <p:cNvSpPr txBox="1"/>
          <p:nvPr/>
        </p:nvSpPr>
        <p:spPr>
          <a:xfrm>
            <a:off x="6391276" y="1759578"/>
            <a:ext cx="4794884" cy="2631490"/>
          </a:xfrm>
          <a:prstGeom prst="rect">
            <a:avLst/>
          </a:prstGeom>
          <a:noFill/>
        </p:spPr>
        <p:txBody>
          <a:bodyPr wrap="square">
            <a:spAutoFit/>
          </a:bodyPr>
          <a:lstStyle/>
          <a:p>
            <a:pPr algn="l">
              <a:spcAft>
                <a:spcPts val="600"/>
              </a:spcAft>
            </a:pPr>
            <a:r>
              <a:rPr lang="en-US" sz="2000" dirty="0">
                <a:solidFill>
                  <a:schemeClr val="accent1"/>
                </a:solidFill>
              </a:rPr>
              <a:t>Implement and manage virtual networking (15–20%): Configure and manage virtual networks in Azure</a:t>
            </a:r>
          </a:p>
          <a:p>
            <a:pPr marL="173038" indent="-173038" algn="l">
              <a:buFont typeface="Arial" panose="020B0604020202020204" pitchFamily="34" charset="0"/>
              <a:buChar char="•"/>
            </a:pPr>
            <a:r>
              <a:rPr lang="en-US" sz="2000" dirty="0"/>
              <a:t>Create and configure virtual networks and subnets</a:t>
            </a:r>
          </a:p>
          <a:p>
            <a:pPr algn="l">
              <a:buFont typeface="Arial" panose="020B0604020202020204" pitchFamily="34" charset="0"/>
              <a:buChar char="•"/>
            </a:pPr>
            <a:r>
              <a:rPr lang="en-US" sz="2000" dirty="0"/>
              <a:t> Configure public IP addresses</a:t>
            </a:r>
          </a:p>
          <a:p>
            <a:br>
              <a:rPr lang="en-US" sz="2000" dirty="0"/>
            </a:br>
            <a:endParaRPr lang="en-US" sz="2000" dirty="0"/>
          </a:p>
        </p:txBody>
      </p:sp>
    </p:spTree>
    <p:extLst>
      <p:ext uri="{BB962C8B-B14F-4D97-AF65-F5344CB8AC3E}">
        <p14:creationId xmlns:p14="http://schemas.microsoft.com/office/powerpoint/2010/main" val="4074022650"/>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0CECF43-A5B3-4EBA-84DE-4A669251E787}"/>
              </a:ext>
              <a:ext uri="{C183D7F6-B498-43B3-948B-1728B52AA6E4}">
                <adec:decorative xmlns:adec="http://schemas.microsoft.com/office/drawing/2017/decorative" val="0"/>
              </a:ext>
            </a:extLst>
          </p:cNvPr>
          <p:cNvSpPr>
            <a:spLocks noGrp="1"/>
          </p:cNvSpPr>
          <p:nvPr>
            <p:ph type="title"/>
          </p:nvPr>
        </p:nvSpPr>
        <p:spPr/>
        <p:txBody>
          <a:bodyPr/>
          <a:lstStyle/>
          <a:p>
            <a:r>
              <a:rPr lang="en-US" dirty="0"/>
              <a:t>Plan Virtual Networks</a:t>
            </a:r>
          </a:p>
        </p:txBody>
      </p:sp>
      <p:grpSp>
        <p:nvGrpSpPr>
          <p:cNvPr id="2" name="Group 1" descr="A virtual network has subnets and connects to on-premises and virtual networks. ">
            <a:extLst>
              <a:ext uri="{FF2B5EF4-FFF2-40B4-BE49-F238E27FC236}">
                <a16:creationId xmlns:a16="http://schemas.microsoft.com/office/drawing/2014/main" id="{B272DFE8-1AE3-4A24-BB31-4C425D3CFC1D}"/>
              </a:ext>
            </a:extLst>
          </p:cNvPr>
          <p:cNvGrpSpPr/>
          <p:nvPr/>
        </p:nvGrpSpPr>
        <p:grpSpPr>
          <a:xfrm>
            <a:off x="1691181" y="1309239"/>
            <a:ext cx="8104459" cy="3103150"/>
            <a:chOff x="1438934" y="3914453"/>
            <a:chExt cx="5979008" cy="2373331"/>
          </a:xfrm>
        </p:grpSpPr>
        <p:sp>
          <p:nvSpPr>
            <p:cNvPr id="11" name="Rectangle 10">
              <a:extLst>
                <a:ext uri="{FF2B5EF4-FFF2-40B4-BE49-F238E27FC236}">
                  <a16:creationId xmlns:a16="http://schemas.microsoft.com/office/drawing/2014/main" id="{ED1A22FB-3218-45DB-9C1E-355DF9DBB251}"/>
                </a:ext>
              </a:extLst>
            </p:cNvPr>
            <p:cNvSpPr/>
            <p:nvPr/>
          </p:nvSpPr>
          <p:spPr>
            <a:xfrm>
              <a:off x="1489566" y="3963863"/>
              <a:ext cx="3785063" cy="2323921"/>
            </a:xfrm>
            <a:prstGeom prst="rect">
              <a:avLst/>
            </a:prstGeom>
            <a:solidFill>
              <a:srgbClr val="44546A">
                <a:lumMod val="20000"/>
                <a:lumOff val="80000"/>
              </a:srgbClr>
            </a:solidFill>
            <a:ln w="12700" cap="flat" cmpd="sng" algn="ctr">
              <a:solidFill>
                <a:sysClr val="windowText" lastClr="000000"/>
              </a:solidFill>
              <a:prstDash val="sysDash"/>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panose="020F0502020204030204"/>
                <a:ea typeface="+mn-ea"/>
                <a:cs typeface="+mn-cs"/>
              </a:endParaRPr>
            </a:p>
          </p:txBody>
        </p:sp>
        <p:sp>
          <p:nvSpPr>
            <p:cNvPr id="13" name="Rectangle 12">
              <a:extLst>
                <a:ext uri="{FF2B5EF4-FFF2-40B4-BE49-F238E27FC236}">
                  <a16:creationId xmlns:a16="http://schemas.microsoft.com/office/drawing/2014/main" id="{D245DBDA-D26F-4554-95F2-15A0BCE64A44}"/>
                </a:ext>
              </a:extLst>
            </p:cNvPr>
            <p:cNvSpPr/>
            <p:nvPr/>
          </p:nvSpPr>
          <p:spPr>
            <a:xfrm>
              <a:off x="1984222" y="4470849"/>
              <a:ext cx="2892829" cy="1662545"/>
            </a:xfrm>
            <a:prstGeom prst="rect">
              <a:avLst/>
            </a:prstGeom>
            <a:solidFill>
              <a:srgbClr val="E7E6E6"/>
            </a:solidFill>
            <a:ln w="12700" cap="flat" cmpd="sng" algn="ctr">
              <a:solidFill>
                <a:sysClr val="windowText" lastClr="000000"/>
              </a:solidFill>
              <a:prstDash val="sysDash"/>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panose="020F0502020204030204"/>
                <a:ea typeface="+mn-ea"/>
                <a:cs typeface="+mn-cs"/>
              </a:endParaRPr>
            </a:p>
          </p:txBody>
        </p:sp>
        <p:sp>
          <p:nvSpPr>
            <p:cNvPr id="14" name="TextBox 13">
              <a:extLst>
                <a:ext uri="{FF2B5EF4-FFF2-40B4-BE49-F238E27FC236}">
                  <a16:creationId xmlns:a16="http://schemas.microsoft.com/office/drawing/2014/main" id="{7DB04DCB-3541-4CC8-8096-0C7A73B01867}"/>
                </a:ext>
              </a:extLst>
            </p:cNvPr>
            <p:cNvSpPr txBox="1"/>
            <p:nvPr/>
          </p:nvSpPr>
          <p:spPr>
            <a:xfrm>
              <a:off x="2484536" y="5711032"/>
              <a:ext cx="1771640" cy="369332"/>
            </a:xfrm>
            <a:prstGeom prst="rect">
              <a:avLst/>
            </a:prstGeom>
            <a:noFill/>
          </p:spPr>
          <p:txBody>
            <a:bodyPr wrap="none" rtlCol="0">
              <a:spAutoFit/>
            </a:bodyPr>
            <a:lstStyle/>
            <a:p>
              <a:pPr algn="ctr" defTabSz="914400"/>
              <a:r>
                <a:rPr lang="en-US" dirty="0">
                  <a:solidFill>
                    <a:prstClr val="black"/>
                  </a:solidFill>
                  <a:latin typeface="Calibri" panose="020F0502020204030204"/>
                </a:rPr>
                <a:t>Virtual Machines</a:t>
              </a:r>
            </a:p>
          </p:txBody>
        </p:sp>
        <p:grpSp>
          <p:nvGrpSpPr>
            <p:cNvPr id="16" name="Group 15">
              <a:extLst>
                <a:ext uri="{FF2B5EF4-FFF2-40B4-BE49-F238E27FC236}">
                  <a16:creationId xmlns:a16="http://schemas.microsoft.com/office/drawing/2014/main" id="{86A90234-A9FD-4FA4-AF6A-D268762B091E}"/>
                </a:ext>
              </a:extLst>
            </p:cNvPr>
            <p:cNvGrpSpPr/>
            <p:nvPr/>
          </p:nvGrpSpPr>
          <p:grpSpPr>
            <a:xfrm>
              <a:off x="3556116" y="4833183"/>
              <a:ext cx="1002118" cy="798085"/>
              <a:chOff x="7563034" y="1853676"/>
              <a:chExt cx="1002118" cy="798085"/>
            </a:xfrm>
          </p:grpSpPr>
          <p:grpSp>
            <p:nvGrpSpPr>
              <p:cNvPr id="17" name="Group 16">
                <a:extLst>
                  <a:ext uri="{FF2B5EF4-FFF2-40B4-BE49-F238E27FC236}">
                    <a16:creationId xmlns:a16="http://schemas.microsoft.com/office/drawing/2014/main" id="{35B3842C-27B8-4021-97AC-2A22F0C36306}"/>
                  </a:ext>
                </a:extLst>
              </p:cNvPr>
              <p:cNvGrpSpPr>
                <a:grpSpLocks noChangeAspect="1"/>
              </p:cNvGrpSpPr>
              <p:nvPr/>
            </p:nvGrpSpPr>
            <p:grpSpPr>
              <a:xfrm>
                <a:off x="7563034" y="1853676"/>
                <a:ext cx="416425" cy="798085"/>
                <a:chOff x="9191145" y="3741535"/>
                <a:chExt cx="774393" cy="2092980"/>
              </a:xfrm>
            </p:grpSpPr>
            <p:grpSp>
              <p:nvGrpSpPr>
                <p:cNvPr id="20" name="Group 19">
                  <a:extLst>
                    <a:ext uri="{FF2B5EF4-FFF2-40B4-BE49-F238E27FC236}">
                      <a16:creationId xmlns:a16="http://schemas.microsoft.com/office/drawing/2014/main" id="{9F33091F-FE67-4955-88CB-3510168332A0}"/>
                    </a:ext>
                  </a:extLst>
                </p:cNvPr>
                <p:cNvGrpSpPr>
                  <a:grpSpLocks noChangeAspect="1"/>
                </p:cNvGrpSpPr>
                <p:nvPr/>
              </p:nvGrpSpPr>
              <p:grpSpPr>
                <a:xfrm>
                  <a:off x="9191145" y="3741535"/>
                  <a:ext cx="774393" cy="2092980"/>
                  <a:chOff x="6576174" y="3760259"/>
                  <a:chExt cx="1081539" cy="2764684"/>
                </a:xfrm>
              </p:grpSpPr>
              <p:grpSp>
                <p:nvGrpSpPr>
                  <p:cNvPr id="24" name="Group 23">
                    <a:extLst>
                      <a:ext uri="{FF2B5EF4-FFF2-40B4-BE49-F238E27FC236}">
                        <a16:creationId xmlns:a16="http://schemas.microsoft.com/office/drawing/2014/main" id="{9FF195F2-AB75-40EE-A6BE-CA3DB575D87A}"/>
                      </a:ext>
                    </a:extLst>
                  </p:cNvPr>
                  <p:cNvGrpSpPr/>
                  <p:nvPr/>
                </p:nvGrpSpPr>
                <p:grpSpPr>
                  <a:xfrm>
                    <a:off x="6576174" y="3760259"/>
                    <a:ext cx="1081539" cy="2764684"/>
                    <a:chOff x="6576174" y="3760259"/>
                    <a:chExt cx="1081539" cy="2764684"/>
                  </a:xfrm>
                </p:grpSpPr>
                <p:grpSp>
                  <p:nvGrpSpPr>
                    <p:cNvPr id="26" name="Group 25">
                      <a:extLst>
                        <a:ext uri="{FF2B5EF4-FFF2-40B4-BE49-F238E27FC236}">
                          <a16:creationId xmlns:a16="http://schemas.microsoft.com/office/drawing/2014/main" id="{92BCDB64-F94C-4117-ADA0-212C0C25B03D}"/>
                        </a:ext>
                      </a:extLst>
                    </p:cNvPr>
                    <p:cNvGrpSpPr/>
                    <p:nvPr/>
                  </p:nvGrpSpPr>
                  <p:grpSpPr>
                    <a:xfrm>
                      <a:off x="6576174" y="3760259"/>
                      <a:ext cx="1081539" cy="2764684"/>
                      <a:chOff x="5365826" y="3709999"/>
                      <a:chExt cx="1074023" cy="2853208"/>
                    </a:xfrm>
                  </p:grpSpPr>
                  <p:sp>
                    <p:nvSpPr>
                      <p:cNvPr id="36" name="Rectangle 35">
                        <a:extLst>
                          <a:ext uri="{FF2B5EF4-FFF2-40B4-BE49-F238E27FC236}">
                            <a16:creationId xmlns:a16="http://schemas.microsoft.com/office/drawing/2014/main" id="{73E1C3F2-1226-4660-99FC-836501A2AD59}"/>
                          </a:ext>
                        </a:extLst>
                      </p:cNvPr>
                      <p:cNvSpPr/>
                      <p:nvPr/>
                    </p:nvSpPr>
                    <p:spPr bwMode="auto">
                      <a:xfrm>
                        <a:off x="5365826" y="3709999"/>
                        <a:ext cx="1074023" cy="2853208"/>
                      </a:xfrm>
                      <a:prstGeom prst="rect">
                        <a:avLst/>
                      </a:prstGeom>
                      <a:solidFill>
                        <a:srgbClr val="FFFFFF">
                          <a:alpha val="69804"/>
                        </a:srgbClr>
                      </a:solidFill>
                      <a:ln w="12700" cap="flat" cmpd="sng" algn="ctr">
                        <a:solidFill>
                          <a:sysClr val="windowText" lastClr="000000"/>
                        </a:solidFill>
                        <a:prstDash val="solid"/>
                        <a:miter lim="800000"/>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eaLnBrk="1" fontAlgn="base" latinLnBrk="0" hangingPunct="1">
                          <a:lnSpc>
                            <a:spcPct val="90000"/>
                          </a:lnSpc>
                          <a:spcBef>
                            <a:spcPct val="0"/>
                          </a:spcBef>
                          <a:spcAft>
                            <a:spcPct val="0"/>
                          </a:spcAft>
                          <a:buClrTx/>
                          <a:buSzTx/>
                          <a:buFontTx/>
                          <a:buNone/>
                          <a:tabLst/>
                          <a:defRPr/>
                        </a:pPr>
                        <a:endParaRPr kumimoji="0" lang="en-US" sz="2400" b="0" i="0" u="none" strike="noStrike" kern="0" cap="none" spc="0" normalizeH="0" baseline="0" noProof="0" dirty="0">
                          <a:ln>
                            <a:noFill/>
                          </a:ln>
                          <a:gradFill>
                            <a:gsLst>
                              <a:gs pos="0">
                                <a:srgbClr val="FFFFFF"/>
                              </a:gs>
                              <a:gs pos="100000">
                                <a:srgbClr val="FFFFFF"/>
                              </a:gs>
                            </a:gsLst>
                            <a:lin ang="5400000" scaled="0"/>
                          </a:gradFill>
                          <a:effectLst/>
                          <a:uLnTx/>
                          <a:uFillTx/>
                          <a:latin typeface="Calibri" panose="020F0502020204030204"/>
                          <a:ea typeface="Segoe UI" pitchFamily="34" charset="0"/>
                          <a:cs typeface="Segoe UI" pitchFamily="34" charset="0"/>
                        </a:endParaRPr>
                      </a:p>
                    </p:txBody>
                  </p:sp>
                  <p:sp>
                    <p:nvSpPr>
                      <p:cNvPr id="37" name="Rectangle 36">
                        <a:extLst>
                          <a:ext uri="{FF2B5EF4-FFF2-40B4-BE49-F238E27FC236}">
                            <a16:creationId xmlns:a16="http://schemas.microsoft.com/office/drawing/2014/main" id="{00823CEA-0B13-4FC9-900A-C5BE444E2C39}"/>
                          </a:ext>
                        </a:extLst>
                      </p:cNvPr>
                      <p:cNvSpPr/>
                      <p:nvPr/>
                    </p:nvSpPr>
                    <p:spPr bwMode="auto">
                      <a:xfrm>
                        <a:off x="5478169" y="4034937"/>
                        <a:ext cx="849330" cy="182880"/>
                      </a:xfrm>
                      <a:prstGeom prst="rect">
                        <a:avLst/>
                      </a:prstGeom>
                      <a:noFill/>
                      <a:ln w="9525" cap="flat" cmpd="sng" algn="ctr">
                        <a:solidFill>
                          <a:sysClr val="windowText" lastClr="000000"/>
                        </a:solidFill>
                        <a:prstDash val="solid"/>
                        <a:miter lim="800000"/>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eaLnBrk="1" fontAlgn="base" latinLnBrk="0" hangingPunct="1">
                          <a:lnSpc>
                            <a:spcPct val="90000"/>
                          </a:lnSpc>
                          <a:spcBef>
                            <a:spcPct val="0"/>
                          </a:spcBef>
                          <a:spcAft>
                            <a:spcPct val="0"/>
                          </a:spcAft>
                          <a:buClrTx/>
                          <a:buSzTx/>
                          <a:buFontTx/>
                          <a:buNone/>
                          <a:tabLst/>
                          <a:defRPr/>
                        </a:pPr>
                        <a:endParaRPr kumimoji="0" lang="en-US" sz="2400" b="0" i="0" u="none" strike="noStrike" kern="0" cap="none" spc="0" normalizeH="0" baseline="0" noProof="0" dirty="0">
                          <a:ln>
                            <a:noFill/>
                          </a:ln>
                          <a:gradFill>
                            <a:gsLst>
                              <a:gs pos="0">
                                <a:srgbClr val="FFFFFF"/>
                              </a:gs>
                              <a:gs pos="100000">
                                <a:srgbClr val="FFFFFF"/>
                              </a:gs>
                            </a:gsLst>
                            <a:lin ang="5400000" scaled="0"/>
                          </a:gradFill>
                          <a:effectLst/>
                          <a:uLnTx/>
                          <a:uFillTx/>
                          <a:latin typeface="Calibri" panose="020F0502020204030204"/>
                          <a:ea typeface="Segoe UI" pitchFamily="34" charset="0"/>
                          <a:cs typeface="Segoe UI" pitchFamily="34" charset="0"/>
                        </a:endParaRPr>
                      </a:p>
                    </p:txBody>
                  </p:sp>
                  <p:sp>
                    <p:nvSpPr>
                      <p:cNvPr id="38" name="Rectangle 37">
                        <a:extLst>
                          <a:ext uri="{FF2B5EF4-FFF2-40B4-BE49-F238E27FC236}">
                            <a16:creationId xmlns:a16="http://schemas.microsoft.com/office/drawing/2014/main" id="{977775E8-AF4E-40A5-8442-7E224A8C066B}"/>
                          </a:ext>
                        </a:extLst>
                      </p:cNvPr>
                      <p:cNvSpPr/>
                      <p:nvPr/>
                    </p:nvSpPr>
                    <p:spPr bwMode="auto">
                      <a:xfrm>
                        <a:off x="5478170" y="4215859"/>
                        <a:ext cx="849331" cy="182880"/>
                      </a:xfrm>
                      <a:prstGeom prst="rect">
                        <a:avLst/>
                      </a:prstGeom>
                      <a:noFill/>
                      <a:ln w="9525" cap="flat" cmpd="sng" algn="ctr">
                        <a:solidFill>
                          <a:sysClr val="windowText" lastClr="000000"/>
                        </a:solidFill>
                        <a:prstDash val="solid"/>
                        <a:miter lim="800000"/>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eaLnBrk="1" fontAlgn="base" latinLnBrk="0" hangingPunct="1">
                          <a:lnSpc>
                            <a:spcPct val="90000"/>
                          </a:lnSpc>
                          <a:spcBef>
                            <a:spcPct val="0"/>
                          </a:spcBef>
                          <a:spcAft>
                            <a:spcPct val="0"/>
                          </a:spcAft>
                          <a:buClrTx/>
                          <a:buSzTx/>
                          <a:buFontTx/>
                          <a:buNone/>
                          <a:tabLst/>
                          <a:defRPr/>
                        </a:pPr>
                        <a:r>
                          <a:rPr kumimoji="0" lang="en-US" sz="2400" b="0" i="0" u="none" strike="noStrike" kern="0" cap="none" spc="0" normalizeH="0" baseline="0" noProof="0" dirty="0">
                            <a:ln>
                              <a:noFill/>
                            </a:ln>
                            <a:gradFill>
                              <a:gsLst>
                                <a:gs pos="0">
                                  <a:srgbClr val="FFFFFF"/>
                                </a:gs>
                                <a:gs pos="100000">
                                  <a:srgbClr val="FFFFFF"/>
                                </a:gs>
                              </a:gsLst>
                              <a:lin ang="5400000" scaled="0"/>
                            </a:gradFill>
                            <a:effectLst/>
                            <a:uLnTx/>
                            <a:uFillTx/>
                            <a:latin typeface="Calibri" panose="020F0502020204030204"/>
                            <a:ea typeface="Segoe UI" pitchFamily="34" charset="0"/>
                            <a:cs typeface="Segoe UI" pitchFamily="34" charset="0"/>
                          </a:rPr>
                          <a:t> </a:t>
                        </a:r>
                      </a:p>
                    </p:txBody>
                  </p:sp>
                  <p:sp>
                    <p:nvSpPr>
                      <p:cNvPr id="39" name="Rectangle 38">
                        <a:extLst>
                          <a:ext uri="{FF2B5EF4-FFF2-40B4-BE49-F238E27FC236}">
                            <a16:creationId xmlns:a16="http://schemas.microsoft.com/office/drawing/2014/main" id="{7E96C21D-DE99-48BB-90F7-8136D156419C}"/>
                          </a:ext>
                        </a:extLst>
                      </p:cNvPr>
                      <p:cNvSpPr/>
                      <p:nvPr/>
                    </p:nvSpPr>
                    <p:spPr bwMode="auto">
                      <a:xfrm>
                        <a:off x="5478170" y="4398739"/>
                        <a:ext cx="849331" cy="182880"/>
                      </a:xfrm>
                      <a:prstGeom prst="rect">
                        <a:avLst/>
                      </a:prstGeom>
                      <a:noFill/>
                      <a:ln w="9525" cap="flat" cmpd="sng" algn="ctr">
                        <a:solidFill>
                          <a:sysClr val="windowText" lastClr="000000"/>
                        </a:solidFill>
                        <a:prstDash val="solid"/>
                        <a:miter lim="800000"/>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eaLnBrk="1" fontAlgn="base" latinLnBrk="0" hangingPunct="1">
                          <a:lnSpc>
                            <a:spcPct val="90000"/>
                          </a:lnSpc>
                          <a:spcBef>
                            <a:spcPct val="0"/>
                          </a:spcBef>
                          <a:spcAft>
                            <a:spcPct val="0"/>
                          </a:spcAft>
                          <a:buClrTx/>
                          <a:buSzTx/>
                          <a:buFontTx/>
                          <a:buNone/>
                          <a:tabLst/>
                          <a:defRPr/>
                        </a:pPr>
                        <a:endParaRPr kumimoji="0" lang="en-US" sz="2400" b="0" i="0" u="none" strike="noStrike" kern="0" cap="none" spc="0" normalizeH="0" baseline="0" noProof="0" dirty="0">
                          <a:ln>
                            <a:noFill/>
                          </a:ln>
                          <a:gradFill>
                            <a:gsLst>
                              <a:gs pos="0">
                                <a:srgbClr val="FFFFFF"/>
                              </a:gs>
                              <a:gs pos="100000">
                                <a:srgbClr val="FFFFFF"/>
                              </a:gs>
                            </a:gsLst>
                            <a:lin ang="5400000" scaled="0"/>
                          </a:gradFill>
                          <a:effectLst/>
                          <a:uLnTx/>
                          <a:uFillTx/>
                          <a:latin typeface="Calibri" panose="020F0502020204030204"/>
                          <a:ea typeface="Segoe UI" pitchFamily="34" charset="0"/>
                          <a:cs typeface="Segoe UI" pitchFamily="34" charset="0"/>
                        </a:endParaRPr>
                      </a:p>
                    </p:txBody>
                  </p:sp>
                  <p:sp>
                    <p:nvSpPr>
                      <p:cNvPr id="40" name="Rectangle 39">
                        <a:extLst>
                          <a:ext uri="{FF2B5EF4-FFF2-40B4-BE49-F238E27FC236}">
                            <a16:creationId xmlns:a16="http://schemas.microsoft.com/office/drawing/2014/main" id="{0F1E03A8-5778-4331-B9A0-5011D54B5232}"/>
                          </a:ext>
                        </a:extLst>
                      </p:cNvPr>
                      <p:cNvSpPr/>
                      <p:nvPr/>
                    </p:nvSpPr>
                    <p:spPr bwMode="auto">
                      <a:xfrm>
                        <a:off x="5478170" y="4764122"/>
                        <a:ext cx="849331" cy="182880"/>
                      </a:xfrm>
                      <a:prstGeom prst="rect">
                        <a:avLst/>
                      </a:prstGeom>
                      <a:noFill/>
                      <a:ln w="9525" cap="flat" cmpd="sng" algn="ctr">
                        <a:solidFill>
                          <a:sysClr val="windowText" lastClr="000000"/>
                        </a:solidFill>
                        <a:prstDash val="solid"/>
                        <a:miter lim="800000"/>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eaLnBrk="1" fontAlgn="base" latinLnBrk="0" hangingPunct="1">
                          <a:lnSpc>
                            <a:spcPct val="90000"/>
                          </a:lnSpc>
                          <a:spcBef>
                            <a:spcPct val="0"/>
                          </a:spcBef>
                          <a:spcAft>
                            <a:spcPct val="0"/>
                          </a:spcAft>
                          <a:buClrTx/>
                          <a:buSzTx/>
                          <a:buFontTx/>
                          <a:buNone/>
                          <a:tabLst/>
                          <a:defRPr/>
                        </a:pPr>
                        <a:endParaRPr kumimoji="0" lang="en-US" sz="2400" b="0" i="0" u="none" strike="noStrike" kern="0" cap="none" spc="0" normalizeH="0" baseline="0" noProof="0" dirty="0">
                          <a:ln>
                            <a:noFill/>
                          </a:ln>
                          <a:gradFill>
                            <a:gsLst>
                              <a:gs pos="0">
                                <a:srgbClr val="FFFFFF"/>
                              </a:gs>
                              <a:gs pos="100000">
                                <a:srgbClr val="FFFFFF"/>
                              </a:gs>
                            </a:gsLst>
                            <a:lin ang="5400000" scaled="0"/>
                          </a:gradFill>
                          <a:effectLst/>
                          <a:uLnTx/>
                          <a:uFillTx/>
                          <a:latin typeface="Calibri" panose="020F0502020204030204"/>
                          <a:ea typeface="Segoe UI" pitchFamily="34" charset="0"/>
                          <a:cs typeface="Segoe UI" pitchFamily="34" charset="0"/>
                        </a:endParaRPr>
                      </a:p>
                    </p:txBody>
                  </p:sp>
                  <p:sp>
                    <p:nvSpPr>
                      <p:cNvPr id="41" name="Rectangle 40">
                        <a:extLst>
                          <a:ext uri="{FF2B5EF4-FFF2-40B4-BE49-F238E27FC236}">
                            <a16:creationId xmlns:a16="http://schemas.microsoft.com/office/drawing/2014/main" id="{59519EF3-A12C-4828-855E-51833107D177}"/>
                          </a:ext>
                        </a:extLst>
                      </p:cNvPr>
                      <p:cNvSpPr/>
                      <p:nvPr/>
                    </p:nvSpPr>
                    <p:spPr bwMode="auto">
                      <a:xfrm>
                        <a:off x="5478171" y="4947002"/>
                        <a:ext cx="849330" cy="182880"/>
                      </a:xfrm>
                      <a:prstGeom prst="rect">
                        <a:avLst/>
                      </a:prstGeom>
                      <a:noFill/>
                      <a:ln w="9525" cap="flat" cmpd="sng" algn="ctr">
                        <a:solidFill>
                          <a:sysClr val="windowText" lastClr="000000"/>
                        </a:solidFill>
                        <a:prstDash val="solid"/>
                        <a:miter lim="800000"/>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eaLnBrk="1" fontAlgn="base" latinLnBrk="0" hangingPunct="1">
                          <a:lnSpc>
                            <a:spcPct val="90000"/>
                          </a:lnSpc>
                          <a:spcBef>
                            <a:spcPct val="0"/>
                          </a:spcBef>
                          <a:spcAft>
                            <a:spcPct val="0"/>
                          </a:spcAft>
                          <a:buClrTx/>
                          <a:buSzTx/>
                          <a:buFontTx/>
                          <a:buNone/>
                          <a:tabLst/>
                          <a:defRPr/>
                        </a:pPr>
                        <a:endParaRPr kumimoji="0" lang="en-US" sz="2400" b="0" i="0" u="none" strike="noStrike" kern="0" cap="none" spc="0" normalizeH="0" baseline="0" noProof="0" dirty="0">
                          <a:ln>
                            <a:noFill/>
                          </a:ln>
                          <a:gradFill>
                            <a:gsLst>
                              <a:gs pos="0">
                                <a:srgbClr val="FFFFFF"/>
                              </a:gs>
                              <a:gs pos="100000">
                                <a:srgbClr val="FFFFFF"/>
                              </a:gs>
                            </a:gsLst>
                            <a:lin ang="5400000" scaled="0"/>
                          </a:gradFill>
                          <a:effectLst/>
                          <a:uLnTx/>
                          <a:uFillTx/>
                          <a:latin typeface="Calibri" panose="020F0502020204030204"/>
                          <a:ea typeface="Segoe UI" pitchFamily="34" charset="0"/>
                          <a:cs typeface="Segoe UI" pitchFamily="34" charset="0"/>
                        </a:endParaRPr>
                      </a:p>
                    </p:txBody>
                  </p:sp>
                  <p:sp>
                    <p:nvSpPr>
                      <p:cNvPr id="42" name="Rectangle 41">
                        <a:extLst>
                          <a:ext uri="{FF2B5EF4-FFF2-40B4-BE49-F238E27FC236}">
                            <a16:creationId xmlns:a16="http://schemas.microsoft.com/office/drawing/2014/main" id="{E2A93760-7ADF-4954-94F7-39584794AA4D}"/>
                          </a:ext>
                        </a:extLst>
                      </p:cNvPr>
                      <p:cNvSpPr/>
                      <p:nvPr/>
                    </p:nvSpPr>
                    <p:spPr bwMode="auto">
                      <a:xfrm>
                        <a:off x="5478171" y="5131673"/>
                        <a:ext cx="849331" cy="182880"/>
                      </a:xfrm>
                      <a:prstGeom prst="rect">
                        <a:avLst/>
                      </a:prstGeom>
                      <a:noFill/>
                      <a:ln w="9525" cap="flat" cmpd="sng" algn="ctr">
                        <a:solidFill>
                          <a:sysClr val="windowText" lastClr="000000"/>
                        </a:solidFill>
                        <a:prstDash val="solid"/>
                        <a:miter lim="800000"/>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eaLnBrk="1" fontAlgn="base" latinLnBrk="0" hangingPunct="1">
                          <a:lnSpc>
                            <a:spcPct val="90000"/>
                          </a:lnSpc>
                          <a:spcBef>
                            <a:spcPct val="0"/>
                          </a:spcBef>
                          <a:spcAft>
                            <a:spcPct val="0"/>
                          </a:spcAft>
                          <a:buClrTx/>
                          <a:buSzTx/>
                          <a:buFontTx/>
                          <a:buNone/>
                          <a:tabLst/>
                          <a:defRPr/>
                        </a:pPr>
                        <a:r>
                          <a:rPr kumimoji="0" lang="en-US" sz="2400" b="0" i="0" u="none" strike="noStrike" kern="0" cap="none" spc="0" normalizeH="0" baseline="0" noProof="0" dirty="0">
                            <a:ln>
                              <a:noFill/>
                            </a:ln>
                            <a:gradFill>
                              <a:gsLst>
                                <a:gs pos="0">
                                  <a:srgbClr val="FFFFFF"/>
                                </a:gs>
                                <a:gs pos="100000">
                                  <a:srgbClr val="FFFFFF"/>
                                </a:gs>
                              </a:gsLst>
                              <a:lin ang="5400000" scaled="0"/>
                            </a:gradFill>
                            <a:effectLst/>
                            <a:uLnTx/>
                            <a:uFillTx/>
                            <a:latin typeface="Calibri" panose="020F0502020204030204"/>
                            <a:ea typeface="Segoe UI" pitchFamily="34" charset="0"/>
                            <a:cs typeface="Segoe UI" pitchFamily="34" charset="0"/>
                          </a:rPr>
                          <a:t> </a:t>
                        </a:r>
                      </a:p>
                    </p:txBody>
                  </p:sp>
                  <p:sp>
                    <p:nvSpPr>
                      <p:cNvPr id="43" name="Rectangle 42">
                        <a:extLst>
                          <a:ext uri="{FF2B5EF4-FFF2-40B4-BE49-F238E27FC236}">
                            <a16:creationId xmlns:a16="http://schemas.microsoft.com/office/drawing/2014/main" id="{F7F7D77F-4528-4CDB-AD0F-9EA481FA7F59}"/>
                          </a:ext>
                        </a:extLst>
                      </p:cNvPr>
                      <p:cNvSpPr/>
                      <p:nvPr/>
                    </p:nvSpPr>
                    <p:spPr bwMode="auto">
                      <a:xfrm>
                        <a:off x="5478171" y="5313426"/>
                        <a:ext cx="849331" cy="182880"/>
                      </a:xfrm>
                      <a:prstGeom prst="rect">
                        <a:avLst/>
                      </a:prstGeom>
                      <a:noFill/>
                      <a:ln w="9525" cap="flat" cmpd="sng" algn="ctr">
                        <a:solidFill>
                          <a:sysClr val="windowText" lastClr="000000"/>
                        </a:solidFill>
                        <a:prstDash val="solid"/>
                        <a:miter lim="800000"/>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eaLnBrk="1" fontAlgn="base" latinLnBrk="0" hangingPunct="1">
                          <a:lnSpc>
                            <a:spcPct val="90000"/>
                          </a:lnSpc>
                          <a:spcBef>
                            <a:spcPct val="0"/>
                          </a:spcBef>
                          <a:spcAft>
                            <a:spcPct val="0"/>
                          </a:spcAft>
                          <a:buClrTx/>
                          <a:buSzTx/>
                          <a:buFontTx/>
                          <a:buNone/>
                          <a:tabLst/>
                          <a:defRPr/>
                        </a:pPr>
                        <a:endParaRPr kumimoji="0" lang="en-US" sz="2400" b="0" i="0" u="none" strike="noStrike" kern="0" cap="none" spc="0" normalizeH="0" baseline="0" noProof="0" dirty="0">
                          <a:ln>
                            <a:noFill/>
                          </a:ln>
                          <a:gradFill>
                            <a:gsLst>
                              <a:gs pos="0">
                                <a:srgbClr val="FFFFFF"/>
                              </a:gs>
                              <a:gs pos="100000">
                                <a:srgbClr val="FFFFFF"/>
                              </a:gs>
                            </a:gsLst>
                            <a:lin ang="5400000" scaled="0"/>
                          </a:gradFill>
                          <a:effectLst/>
                          <a:uLnTx/>
                          <a:uFillTx/>
                          <a:latin typeface="Calibri" panose="020F0502020204030204"/>
                          <a:ea typeface="Segoe UI" pitchFamily="34" charset="0"/>
                          <a:cs typeface="Segoe UI" pitchFamily="34" charset="0"/>
                        </a:endParaRPr>
                      </a:p>
                    </p:txBody>
                  </p:sp>
                  <p:sp>
                    <p:nvSpPr>
                      <p:cNvPr id="44" name="Rectangle 43">
                        <a:extLst>
                          <a:ext uri="{FF2B5EF4-FFF2-40B4-BE49-F238E27FC236}">
                            <a16:creationId xmlns:a16="http://schemas.microsoft.com/office/drawing/2014/main" id="{57543689-5309-4005-A2E3-0C7AEF86239F}"/>
                          </a:ext>
                        </a:extLst>
                      </p:cNvPr>
                      <p:cNvSpPr/>
                      <p:nvPr/>
                    </p:nvSpPr>
                    <p:spPr bwMode="auto">
                      <a:xfrm>
                        <a:off x="5478170" y="5496306"/>
                        <a:ext cx="849331" cy="182880"/>
                      </a:xfrm>
                      <a:prstGeom prst="rect">
                        <a:avLst/>
                      </a:prstGeom>
                      <a:noFill/>
                      <a:ln w="9525" cap="flat" cmpd="sng" algn="ctr">
                        <a:solidFill>
                          <a:sysClr val="windowText" lastClr="000000"/>
                        </a:solidFill>
                        <a:prstDash val="solid"/>
                        <a:miter lim="800000"/>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eaLnBrk="1" fontAlgn="base" latinLnBrk="0" hangingPunct="1">
                          <a:lnSpc>
                            <a:spcPct val="90000"/>
                          </a:lnSpc>
                          <a:spcBef>
                            <a:spcPct val="0"/>
                          </a:spcBef>
                          <a:spcAft>
                            <a:spcPct val="0"/>
                          </a:spcAft>
                          <a:buClrTx/>
                          <a:buSzTx/>
                          <a:buFontTx/>
                          <a:buNone/>
                          <a:tabLst/>
                          <a:defRPr/>
                        </a:pPr>
                        <a:endParaRPr kumimoji="0" lang="en-US" sz="2400" b="0" i="0" u="none" strike="noStrike" kern="0" cap="none" spc="0" normalizeH="0" baseline="0" noProof="0" dirty="0">
                          <a:ln>
                            <a:noFill/>
                          </a:ln>
                          <a:gradFill>
                            <a:gsLst>
                              <a:gs pos="0">
                                <a:srgbClr val="FFFFFF"/>
                              </a:gs>
                              <a:gs pos="100000">
                                <a:srgbClr val="FFFFFF"/>
                              </a:gs>
                            </a:gsLst>
                            <a:lin ang="5400000" scaled="0"/>
                          </a:gradFill>
                          <a:effectLst/>
                          <a:uLnTx/>
                          <a:uFillTx/>
                          <a:latin typeface="Calibri" panose="020F0502020204030204"/>
                          <a:ea typeface="Segoe UI" pitchFamily="34" charset="0"/>
                          <a:cs typeface="Segoe UI" pitchFamily="34" charset="0"/>
                        </a:endParaRPr>
                      </a:p>
                    </p:txBody>
                  </p:sp>
                  <p:sp>
                    <p:nvSpPr>
                      <p:cNvPr id="45" name="Freeform 34">
                        <a:extLst>
                          <a:ext uri="{FF2B5EF4-FFF2-40B4-BE49-F238E27FC236}">
                            <a16:creationId xmlns:a16="http://schemas.microsoft.com/office/drawing/2014/main" id="{1D66EF7A-D6B4-4A89-B0C6-E23D301EAF09}"/>
                          </a:ext>
                        </a:extLst>
                      </p:cNvPr>
                      <p:cNvSpPr>
                        <a:spLocks/>
                      </p:cNvSpPr>
                      <p:nvPr/>
                    </p:nvSpPr>
                    <p:spPr bwMode="auto">
                      <a:xfrm>
                        <a:off x="5478170" y="3943870"/>
                        <a:ext cx="299923" cy="14043"/>
                      </a:xfrm>
                      <a:custGeom>
                        <a:avLst/>
                        <a:gdLst>
                          <a:gd name="T0" fmla="*/ 64 w 65"/>
                          <a:gd name="T1" fmla="*/ 3 h 3"/>
                          <a:gd name="T2" fmla="*/ 2 w 65"/>
                          <a:gd name="T3" fmla="*/ 3 h 3"/>
                          <a:gd name="T4" fmla="*/ 0 w 65"/>
                          <a:gd name="T5" fmla="*/ 2 h 3"/>
                          <a:gd name="T6" fmla="*/ 2 w 65"/>
                          <a:gd name="T7" fmla="*/ 0 h 3"/>
                          <a:gd name="T8" fmla="*/ 64 w 65"/>
                          <a:gd name="T9" fmla="*/ 0 h 3"/>
                          <a:gd name="T10" fmla="*/ 65 w 65"/>
                          <a:gd name="T11" fmla="*/ 2 h 3"/>
                          <a:gd name="T12" fmla="*/ 64 w 65"/>
                          <a:gd name="T13" fmla="*/ 3 h 3"/>
                        </a:gdLst>
                        <a:ahLst/>
                        <a:cxnLst>
                          <a:cxn ang="0">
                            <a:pos x="T0" y="T1"/>
                          </a:cxn>
                          <a:cxn ang="0">
                            <a:pos x="T2" y="T3"/>
                          </a:cxn>
                          <a:cxn ang="0">
                            <a:pos x="T4" y="T5"/>
                          </a:cxn>
                          <a:cxn ang="0">
                            <a:pos x="T6" y="T7"/>
                          </a:cxn>
                          <a:cxn ang="0">
                            <a:pos x="T8" y="T9"/>
                          </a:cxn>
                          <a:cxn ang="0">
                            <a:pos x="T10" y="T11"/>
                          </a:cxn>
                          <a:cxn ang="0">
                            <a:pos x="T12" y="T13"/>
                          </a:cxn>
                        </a:cxnLst>
                        <a:rect l="0" t="0" r="r" b="b"/>
                        <a:pathLst>
                          <a:path w="65" h="3">
                            <a:moveTo>
                              <a:pt x="64" y="3"/>
                            </a:moveTo>
                            <a:cubicBezTo>
                              <a:pt x="2" y="3"/>
                              <a:pt x="2" y="3"/>
                              <a:pt x="2" y="3"/>
                            </a:cubicBezTo>
                            <a:cubicBezTo>
                              <a:pt x="1" y="3"/>
                              <a:pt x="0" y="2"/>
                              <a:pt x="0" y="2"/>
                            </a:cubicBezTo>
                            <a:cubicBezTo>
                              <a:pt x="0" y="1"/>
                              <a:pt x="1" y="0"/>
                              <a:pt x="2" y="0"/>
                            </a:cubicBezTo>
                            <a:cubicBezTo>
                              <a:pt x="64" y="0"/>
                              <a:pt x="64" y="0"/>
                              <a:pt x="64" y="0"/>
                            </a:cubicBezTo>
                            <a:cubicBezTo>
                              <a:pt x="65" y="0"/>
                              <a:pt x="65" y="1"/>
                              <a:pt x="65" y="2"/>
                            </a:cubicBezTo>
                            <a:cubicBezTo>
                              <a:pt x="65" y="2"/>
                              <a:pt x="65" y="3"/>
                              <a:pt x="64" y="3"/>
                            </a:cubicBezTo>
                            <a:close/>
                          </a:path>
                        </a:pathLst>
                      </a:custGeom>
                      <a:solidFill>
                        <a:sysClr val="window" lastClr="FFFFFF">
                          <a:lumMod val="75000"/>
                        </a:sysClr>
                      </a:solidFill>
                      <a:ln w="6350">
                        <a:noFill/>
                        <a:round/>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latin typeface="Calibri" panose="020F0502020204030204"/>
                        </a:endParaRPr>
                      </a:p>
                    </p:txBody>
                  </p:sp>
                  <p:sp>
                    <p:nvSpPr>
                      <p:cNvPr id="46" name="Freeform 35">
                        <a:extLst>
                          <a:ext uri="{FF2B5EF4-FFF2-40B4-BE49-F238E27FC236}">
                            <a16:creationId xmlns:a16="http://schemas.microsoft.com/office/drawing/2014/main" id="{F309CDB0-583B-4958-8B29-E59E50320DDB}"/>
                          </a:ext>
                        </a:extLst>
                      </p:cNvPr>
                      <p:cNvSpPr>
                        <a:spLocks/>
                      </p:cNvSpPr>
                      <p:nvPr/>
                    </p:nvSpPr>
                    <p:spPr bwMode="auto">
                      <a:xfrm>
                        <a:off x="5478170" y="3906755"/>
                        <a:ext cx="299923" cy="14043"/>
                      </a:xfrm>
                      <a:custGeom>
                        <a:avLst/>
                        <a:gdLst>
                          <a:gd name="T0" fmla="*/ 64 w 65"/>
                          <a:gd name="T1" fmla="*/ 3 h 3"/>
                          <a:gd name="T2" fmla="*/ 2 w 65"/>
                          <a:gd name="T3" fmla="*/ 3 h 3"/>
                          <a:gd name="T4" fmla="*/ 0 w 65"/>
                          <a:gd name="T5" fmla="*/ 2 h 3"/>
                          <a:gd name="T6" fmla="*/ 2 w 65"/>
                          <a:gd name="T7" fmla="*/ 0 h 3"/>
                          <a:gd name="T8" fmla="*/ 64 w 65"/>
                          <a:gd name="T9" fmla="*/ 0 h 3"/>
                          <a:gd name="T10" fmla="*/ 65 w 65"/>
                          <a:gd name="T11" fmla="*/ 2 h 3"/>
                          <a:gd name="T12" fmla="*/ 64 w 65"/>
                          <a:gd name="T13" fmla="*/ 3 h 3"/>
                        </a:gdLst>
                        <a:ahLst/>
                        <a:cxnLst>
                          <a:cxn ang="0">
                            <a:pos x="T0" y="T1"/>
                          </a:cxn>
                          <a:cxn ang="0">
                            <a:pos x="T2" y="T3"/>
                          </a:cxn>
                          <a:cxn ang="0">
                            <a:pos x="T4" y="T5"/>
                          </a:cxn>
                          <a:cxn ang="0">
                            <a:pos x="T6" y="T7"/>
                          </a:cxn>
                          <a:cxn ang="0">
                            <a:pos x="T8" y="T9"/>
                          </a:cxn>
                          <a:cxn ang="0">
                            <a:pos x="T10" y="T11"/>
                          </a:cxn>
                          <a:cxn ang="0">
                            <a:pos x="T12" y="T13"/>
                          </a:cxn>
                        </a:cxnLst>
                        <a:rect l="0" t="0" r="r" b="b"/>
                        <a:pathLst>
                          <a:path w="65" h="3">
                            <a:moveTo>
                              <a:pt x="64" y="3"/>
                            </a:moveTo>
                            <a:cubicBezTo>
                              <a:pt x="2" y="3"/>
                              <a:pt x="2" y="3"/>
                              <a:pt x="2" y="3"/>
                            </a:cubicBezTo>
                            <a:cubicBezTo>
                              <a:pt x="1" y="3"/>
                              <a:pt x="0" y="2"/>
                              <a:pt x="0" y="2"/>
                            </a:cubicBezTo>
                            <a:cubicBezTo>
                              <a:pt x="0" y="1"/>
                              <a:pt x="1" y="0"/>
                              <a:pt x="2" y="0"/>
                            </a:cubicBezTo>
                            <a:cubicBezTo>
                              <a:pt x="64" y="0"/>
                              <a:pt x="64" y="0"/>
                              <a:pt x="64" y="0"/>
                            </a:cubicBezTo>
                            <a:cubicBezTo>
                              <a:pt x="65" y="0"/>
                              <a:pt x="65" y="1"/>
                              <a:pt x="65" y="2"/>
                            </a:cubicBezTo>
                            <a:cubicBezTo>
                              <a:pt x="65" y="2"/>
                              <a:pt x="65" y="3"/>
                              <a:pt x="64" y="3"/>
                            </a:cubicBezTo>
                            <a:close/>
                          </a:path>
                        </a:pathLst>
                      </a:custGeom>
                      <a:solidFill>
                        <a:sysClr val="window" lastClr="FFFFFF">
                          <a:lumMod val="75000"/>
                        </a:sysClr>
                      </a:solidFill>
                      <a:ln w="6350">
                        <a:noFill/>
                        <a:round/>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latin typeface="Calibri" panose="020F0502020204030204"/>
                        </a:endParaRPr>
                      </a:p>
                    </p:txBody>
                  </p:sp>
                  <p:sp>
                    <p:nvSpPr>
                      <p:cNvPr id="47" name="Freeform 36">
                        <a:extLst>
                          <a:ext uri="{FF2B5EF4-FFF2-40B4-BE49-F238E27FC236}">
                            <a16:creationId xmlns:a16="http://schemas.microsoft.com/office/drawing/2014/main" id="{090F9837-5F4F-4C4B-A73B-B310DDF0E859}"/>
                          </a:ext>
                        </a:extLst>
                      </p:cNvPr>
                      <p:cNvSpPr>
                        <a:spLocks/>
                      </p:cNvSpPr>
                      <p:nvPr/>
                    </p:nvSpPr>
                    <p:spPr bwMode="auto">
                      <a:xfrm>
                        <a:off x="5478170" y="3870644"/>
                        <a:ext cx="299923" cy="14043"/>
                      </a:xfrm>
                      <a:custGeom>
                        <a:avLst/>
                        <a:gdLst>
                          <a:gd name="T0" fmla="*/ 64 w 65"/>
                          <a:gd name="T1" fmla="*/ 3 h 3"/>
                          <a:gd name="T2" fmla="*/ 2 w 65"/>
                          <a:gd name="T3" fmla="*/ 3 h 3"/>
                          <a:gd name="T4" fmla="*/ 0 w 65"/>
                          <a:gd name="T5" fmla="*/ 2 h 3"/>
                          <a:gd name="T6" fmla="*/ 2 w 65"/>
                          <a:gd name="T7" fmla="*/ 0 h 3"/>
                          <a:gd name="T8" fmla="*/ 64 w 65"/>
                          <a:gd name="T9" fmla="*/ 0 h 3"/>
                          <a:gd name="T10" fmla="*/ 65 w 65"/>
                          <a:gd name="T11" fmla="*/ 2 h 3"/>
                          <a:gd name="T12" fmla="*/ 64 w 65"/>
                          <a:gd name="T13" fmla="*/ 3 h 3"/>
                        </a:gdLst>
                        <a:ahLst/>
                        <a:cxnLst>
                          <a:cxn ang="0">
                            <a:pos x="T0" y="T1"/>
                          </a:cxn>
                          <a:cxn ang="0">
                            <a:pos x="T2" y="T3"/>
                          </a:cxn>
                          <a:cxn ang="0">
                            <a:pos x="T4" y="T5"/>
                          </a:cxn>
                          <a:cxn ang="0">
                            <a:pos x="T6" y="T7"/>
                          </a:cxn>
                          <a:cxn ang="0">
                            <a:pos x="T8" y="T9"/>
                          </a:cxn>
                          <a:cxn ang="0">
                            <a:pos x="T10" y="T11"/>
                          </a:cxn>
                          <a:cxn ang="0">
                            <a:pos x="T12" y="T13"/>
                          </a:cxn>
                        </a:cxnLst>
                        <a:rect l="0" t="0" r="r" b="b"/>
                        <a:pathLst>
                          <a:path w="65" h="3">
                            <a:moveTo>
                              <a:pt x="64" y="3"/>
                            </a:moveTo>
                            <a:cubicBezTo>
                              <a:pt x="2" y="3"/>
                              <a:pt x="2" y="3"/>
                              <a:pt x="2" y="3"/>
                            </a:cubicBezTo>
                            <a:cubicBezTo>
                              <a:pt x="1" y="3"/>
                              <a:pt x="0" y="2"/>
                              <a:pt x="0" y="2"/>
                            </a:cubicBezTo>
                            <a:cubicBezTo>
                              <a:pt x="0" y="1"/>
                              <a:pt x="1" y="0"/>
                              <a:pt x="2" y="0"/>
                            </a:cubicBezTo>
                            <a:cubicBezTo>
                              <a:pt x="64" y="0"/>
                              <a:pt x="64" y="0"/>
                              <a:pt x="64" y="0"/>
                            </a:cubicBezTo>
                            <a:cubicBezTo>
                              <a:pt x="65" y="0"/>
                              <a:pt x="65" y="1"/>
                              <a:pt x="65" y="2"/>
                            </a:cubicBezTo>
                            <a:cubicBezTo>
                              <a:pt x="65" y="2"/>
                              <a:pt x="65" y="3"/>
                              <a:pt x="64" y="3"/>
                            </a:cubicBezTo>
                            <a:close/>
                          </a:path>
                        </a:pathLst>
                      </a:custGeom>
                      <a:solidFill>
                        <a:sysClr val="window" lastClr="FFFFFF">
                          <a:lumMod val="75000"/>
                        </a:sysClr>
                      </a:solidFill>
                      <a:ln w="6350">
                        <a:noFill/>
                        <a:round/>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latin typeface="Calibri" panose="020F0502020204030204"/>
                        </a:endParaRPr>
                      </a:p>
                    </p:txBody>
                  </p:sp>
                  <p:sp>
                    <p:nvSpPr>
                      <p:cNvPr id="48" name="Freeform 37">
                        <a:extLst>
                          <a:ext uri="{FF2B5EF4-FFF2-40B4-BE49-F238E27FC236}">
                            <a16:creationId xmlns:a16="http://schemas.microsoft.com/office/drawing/2014/main" id="{EA9EB62C-9A78-47FB-9BBA-F9A4ED19DB1D}"/>
                          </a:ext>
                        </a:extLst>
                      </p:cNvPr>
                      <p:cNvSpPr>
                        <a:spLocks/>
                      </p:cNvSpPr>
                      <p:nvPr/>
                    </p:nvSpPr>
                    <p:spPr bwMode="auto">
                      <a:xfrm>
                        <a:off x="5478170" y="3834533"/>
                        <a:ext cx="299923" cy="13040"/>
                      </a:xfrm>
                      <a:custGeom>
                        <a:avLst/>
                        <a:gdLst>
                          <a:gd name="T0" fmla="*/ 64 w 65"/>
                          <a:gd name="T1" fmla="*/ 3 h 3"/>
                          <a:gd name="T2" fmla="*/ 2 w 65"/>
                          <a:gd name="T3" fmla="*/ 3 h 3"/>
                          <a:gd name="T4" fmla="*/ 0 w 65"/>
                          <a:gd name="T5" fmla="*/ 2 h 3"/>
                          <a:gd name="T6" fmla="*/ 2 w 65"/>
                          <a:gd name="T7" fmla="*/ 0 h 3"/>
                          <a:gd name="T8" fmla="*/ 64 w 65"/>
                          <a:gd name="T9" fmla="*/ 0 h 3"/>
                          <a:gd name="T10" fmla="*/ 65 w 65"/>
                          <a:gd name="T11" fmla="*/ 2 h 3"/>
                          <a:gd name="T12" fmla="*/ 64 w 65"/>
                          <a:gd name="T13" fmla="*/ 3 h 3"/>
                        </a:gdLst>
                        <a:ahLst/>
                        <a:cxnLst>
                          <a:cxn ang="0">
                            <a:pos x="T0" y="T1"/>
                          </a:cxn>
                          <a:cxn ang="0">
                            <a:pos x="T2" y="T3"/>
                          </a:cxn>
                          <a:cxn ang="0">
                            <a:pos x="T4" y="T5"/>
                          </a:cxn>
                          <a:cxn ang="0">
                            <a:pos x="T6" y="T7"/>
                          </a:cxn>
                          <a:cxn ang="0">
                            <a:pos x="T8" y="T9"/>
                          </a:cxn>
                          <a:cxn ang="0">
                            <a:pos x="T10" y="T11"/>
                          </a:cxn>
                          <a:cxn ang="0">
                            <a:pos x="T12" y="T13"/>
                          </a:cxn>
                        </a:cxnLst>
                        <a:rect l="0" t="0" r="r" b="b"/>
                        <a:pathLst>
                          <a:path w="65" h="3">
                            <a:moveTo>
                              <a:pt x="64" y="3"/>
                            </a:moveTo>
                            <a:cubicBezTo>
                              <a:pt x="2" y="3"/>
                              <a:pt x="2" y="3"/>
                              <a:pt x="2" y="3"/>
                            </a:cubicBezTo>
                            <a:cubicBezTo>
                              <a:pt x="1" y="3"/>
                              <a:pt x="0" y="2"/>
                              <a:pt x="0" y="2"/>
                            </a:cubicBezTo>
                            <a:cubicBezTo>
                              <a:pt x="0" y="1"/>
                              <a:pt x="1" y="0"/>
                              <a:pt x="2" y="0"/>
                            </a:cubicBezTo>
                            <a:cubicBezTo>
                              <a:pt x="64" y="0"/>
                              <a:pt x="64" y="0"/>
                              <a:pt x="64" y="0"/>
                            </a:cubicBezTo>
                            <a:cubicBezTo>
                              <a:pt x="65" y="0"/>
                              <a:pt x="65" y="1"/>
                              <a:pt x="65" y="2"/>
                            </a:cubicBezTo>
                            <a:cubicBezTo>
                              <a:pt x="65" y="2"/>
                              <a:pt x="65" y="3"/>
                              <a:pt x="64" y="3"/>
                            </a:cubicBezTo>
                            <a:close/>
                          </a:path>
                        </a:pathLst>
                      </a:custGeom>
                      <a:solidFill>
                        <a:sysClr val="window" lastClr="FFFFFF">
                          <a:lumMod val="75000"/>
                        </a:sysClr>
                      </a:solidFill>
                      <a:ln w="6350">
                        <a:noFill/>
                        <a:round/>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latin typeface="Calibri" panose="020F0502020204030204"/>
                        </a:endParaRPr>
                      </a:p>
                    </p:txBody>
                  </p:sp>
                  <p:sp>
                    <p:nvSpPr>
                      <p:cNvPr id="49" name="Freeform 34">
                        <a:extLst>
                          <a:ext uri="{FF2B5EF4-FFF2-40B4-BE49-F238E27FC236}">
                            <a16:creationId xmlns:a16="http://schemas.microsoft.com/office/drawing/2014/main" id="{8A4FE913-A6AA-4964-9264-419DA56ECB9C}"/>
                          </a:ext>
                        </a:extLst>
                      </p:cNvPr>
                      <p:cNvSpPr>
                        <a:spLocks/>
                      </p:cNvSpPr>
                      <p:nvPr/>
                    </p:nvSpPr>
                    <p:spPr bwMode="auto">
                      <a:xfrm flipH="1">
                        <a:off x="6027579" y="3943869"/>
                        <a:ext cx="299923" cy="14043"/>
                      </a:xfrm>
                      <a:custGeom>
                        <a:avLst/>
                        <a:gdLst>
                          <a:gd name="T0" fmla="*/ 64 w 65"/>
                          <a:gd name="T1" fmla="*/ 3 h 3"/>
                          <a:gd name="T2" fmla="*/ 2 w 65"/>
                          <a:gd name="T3" fmla="*/ 3 h 3"/>
                          <a:gd name="T4" fmla="*/ 0 w 65"/>
                          <a:gd name="T5" fmla="*/ 2 h 3"/>
                          <a:gd name="T6" fmla="*/ 2 w 65"/>
                          <a:gd name="T7" fmla="*/ 0 h 3"/>
                          <a:gd name="T8" fmla="*/ 64 w 65"/>
                          <a:gd name="T9" fmla="*/ 0 h 3"/>
                          <a:gd name="T10" fmla="*/ 65 w 65"/>
                          <a:gd name="T11" fmla="*/ 2 h 3"/>
                          <a:gd name="T12" fmla="*/ 64 w 65"/>
                          <a:gd name="T13" fmla="*/ 3 h 3"/>
                        </a:gdLst>
                        <a:ahLst/>
                        <a:cxnLst>
                          <a:cxn ang="0">
                            <a:pos x="T0" y="T1"/>
                          </a:cxn>
                          <a:cxn ang="0">
                            <a:pos x="T2" y="T3"/>
                          </a:cxn>
                          <a:cxn ang="0">
                            <a:pos x="T4" y="T5"/>
                          </a:cxn>
                          <a:cxn ang="0">
                            <a:pos x="T6" y="T7"/>
                          </a:cxn>
                          <a:cxn ang="0">
                            <a:pos x="T8" y="T9"/>
                          </a:cxn>
                          <a:cxn ang="0">
                            <a:pos x="T10" y="T11"/>
                          </a:cxn>
                          <a:cxn ang="0">
                            <a:pos x="T12" y="T13"/>
                          </a:cxn>
                        </a:cxnLst>
                        <a:rect l="0" t="0" r="r" b="b"/>
                        <a:pathLst>
                          <a:path w="65" h="3">
                            <a:moveTo>
                              <a:pt x="64" y="3"/>
                            </a:moveTo>
                            <a:cubicBezTo>
                              <a:pt x="2" y="3"/>
                              <a:pt x="2" y="3"/>
                              <a:pt x="2" y="3"/>
                            </a:cubicBezTo>
                            <a:cubicBezTo>
                              <a:pt x="1" y="3"/>
                              <a:pt x="0" y="2"/>
                              <a:pt x="0" y="2"/>
                            </a:cubicBezTo>
                            <a:cubicBezTo>
                              <a:pt x="0" y="1"/>
                              <a:pt x="1" y="0"/>
                              <a:pt x="2" y="0"/>
                            </a:cubicBezTo>
                            <a:cubicBezTo>
                              <a:pt x="64" y="0"/>
                              <a:pt x="64" y="0"/>
                              <a:pt x="64" y="0"/>
                            </a:cubicBezTo>
                            <a:cubicBezTo>
                              <a:pt x="65" y="0"/>
                              <a:pt x="65" y="1"/>
                              <a:pt x="65" y="2"/>
                            </a:cubicBezTo>
                            <a:cubicBezTo>
                              <a:pt x="65" y="2"/>
                              <a:pt x="65" y="3"/>
                              <a:pt x="64" y="3"/>
                            </a:cubicBezTo>
                            <a:close/>
                          </a:path>
                        </a:pathLst>
                      </a:custGeom>
                      <a:solidFill>
                        <a:sysClr val="window" lastClr="FFFFFF">
                          <a:lumMod val="75000"/>
                        </a:sysClr>
                      </a:solidFill>
                      <a:ln w="6350">
                        <a:noFill/>
                        <a:round/>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latin typeface="Calibri" panose="020F0502020204030204"/>
                        </a:endParaRPr>
                      </a:p>
                    </p:txBody>
                  </p:sp>
                  <p:sp>
                    <p:nvSpPr>
                      <p:cNvPr id="50" name="Freeform 35">
                        <a:extLst>
                          <a:ext uri="{FF2B5EF4-FFF2-40B4-BE49-F238E27FC236}">
                            <a16:creationId xmlns:a16="http://schemas.microsoft.com/office/drawing/2014/main" id="{429AA64E-DA56-413E-A796-C044B358D2E0}"/>
                          </a:ext>
                        </a:extLst>
                      </p:cNvPr>
                      <p:cNvSpPr>
                        <a:spLocks/>
                      </p:cNvSpPr>
                      <p:nvPr/>
                    </p:nvSpPr>
                    <p:spPr bwMode="auto">
                      <a:xfrm flipH="1">
                        <a:off x="6027579" y="3906753"/>
                        <a:ext cx="299923" cy="14043"/>
                      </a:xfrm>
                      <a:custGeom>
                        <a:avLst/>
                        <a:gdLst>
                          <a:gd name="T0" fmla="*/ 64 w 65"/>
                          <a:gd name="T1" fmla="*/ 3 h 3"/>
                          <a:gd name="T2" fmla="*/ 2 w 65"/>
                          <a:gd name="T3" fmla="*/ 3 h 3"/>
                          <a:gd name="T4" fmla="*/ 0 w 65"/>
                          <a:gd name="T5" fmla="*/ 2 h 3"/>
                          <a:gd name="T6" fmla="*/ 2 w 65"/>
                          <a:gd name="T7" fmla="*/ 0 h 3"/>
                          <a:gd name="T8" fmla="*/ 64 w 65"/>
                          <a:gd name="T9" fmla="*/ 0 h 3"/>
                          <a:gd name="T10" fmla="*/ 65 w 65"/>
                          <a:gd name="T11" fmla="*/ 2 h 3"/>
                          <a:gd name="T12" fmla="*/ 64 w 65"/>
                          <a:gd name="T13" fmla="*/ 3 h 3"/>
                        </a:gdLst>
                        <a:ahLst/>
                        <a:cxnLst>
                          <a:cxn ang="0">
                            <a:pos x="T0" y="T1"/>
                          </a:cxn>
                          <a:cxn ang="0">
                            <a:pos x="T2" y="T3"/>
                          </a:cxn>
                          <a:cxn ang="0">
                            <a:pos x="T4" y="T5"/>
                          </a:cxn>
                          <a:cxn ang="0">
                            <a:pos x="T6" y="T7"/>
                          </a:cxn>
                          <a:cxn ang="0">
                            <a:pos x="T8" y="T9"/>
                          </a:cxn>
                          <a:cxn ang="0">
                            <a:pos x="T10" y="T11"/>
                          </a:cxn>
                          <a:cxn ang="0">
                            <a:pos x="T12" y="T13"/>
                          </a:cxn>
                        </a:cxnLst>
                        <a:rect l="0" t="0" r="r" b="b"/>
                        <a:pathLst>
                          <a:path w="65" h="3">
                            <a:moveTo>
                              <a:pt x="64" y="3"/>
                            </a:moveTo>
                            <a:cubicBezTo>
                              <a:pt x="2" y="3"/>
                              <a:pt x="2" y="3"/>
                              <a:pt x="2" y="3"/>
                            </a:cubicBezTo>
                            <a:cubicBezTo>
                              <a:pt x="1" y="3"/>
                              <a:pt x="0" y="2"/>
                              <a:pt x="0" y="2"/>
                            </a:cubicBezTo>
                            <a:cubicBezTo>
                              <a:pt x="0" y="1"/>
                              <a:pt x="1" y="0"/>
                              <a:pt x="2" y="0"/>
                            </a:cubicBezTo>
                            <a:cubicBezTo>
                              <a:pt x="64" y="0"/>
                              <a:pt x="64" y="0"/>
                              <a:pt x="64" y="0"/>
                            </a:cubicBezTo>
                            <a:cubicBezTo>
                              <a:pt x="65" y="0"/>
                              <a:pt x="65" y="1"/>
                              <a:pt x="65" y="2"/>
                            </a:cubicBezTo>
                            <a:cubicBezTo>
                              <a:pt x="65" y="2"/>
                              <a:pt x="65" y="3"/>
                              <a:pt x="64" y="3"/>
                            </a:cubicBezTo>
                            <a:close/>
                          </a:path>
                        </a:pathLst>
                      </a:custGeom>
                      <a:solidFill>
                        <a:sysClr val="window" lastClr="FFFFFF">
                          <a:lumMod val="75000"/>
                        </a:sysClr>
                      </a:solidFill>
                      <a:ln w="6350">
                        <a:noFill/>
                        <a:round/>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latin typeface="Calibri" panose="020F0502020204030204"/>
                        </a:endParaRPr>
                      </a:p>
                    </p:txBody>
                  </p:sp>
                  <p:sp>
                    <p:nvSpPr>
                      <p:cNvPr id="51" name="Freeform 36">
                        <a:extLst>
                          <a:ext uri="{FF2B5EF4-FFF2-40B4-BE49-F238E27FC236}">
                            <a16:creationId xmlns:a16="http://schemas.microsoft.com/office/drawing/2014/main" id="{F63A230A-08F8-498C-86CA-16554D04DB43}"/>
                          </a:ext>
                        </a:extLst>
                      </p:cNvPr>
                      <p:cNvSpPr>
                        <a:spLocks/>
                      </p:cNvSpPr>
                      <p:nvPr/>
                    </p:nvSpPr>
                    <p:spPr bwMode="auto">
                      <a:xfrm flipH="1">
                        <a:off x="6027579" y="3870643"/>
                        <a:ext cx="299923" cy="14043"/>
                      </a:xfrm>
                      <a:custGeom>
                        <a:avLst/>
                        <a:gdLst>
                          <a:gd name="T0" fmla="*/ 64 w 65"/>
                          <a:gd name="T1" fmla="*/ 3 h 3"/>
                          <a:gd name="T2" fmla="*/ 2 w 65"/>
                          <a:gd name="T3" fmla="*/ 3 h 3"/>
                          <a:gd name="T4" fmla="*/ 0 w 65"/>
                          <a:gd name="T5" fmla="*/ 2 h 3"/>
                          <a:gd name="T6" fmla="*/ 2 w 65"/>
                          <a:gd name="T7" fmla="*/ 0 h 3"/>
                          <a:gd name="T8" fmla="*/ 64 w 65"/>
                          <a:gd name="T9" fmla="*/ 0 h 3"/>
                          <a:gd name="T10" fmla="*/ 65 w 65"/>
                          <a:gd name="T11" fmla="*/ 2 h 3"/>
                          <a:gd name="T12" fmla="*/ 64 w 65"/>
                          <a:gd name="T13" fmla="*/ 3 h 3"/>
                        </a:gdLst>
                        <a:ahLst/>
                        <a:cxnLst>
                          <a:cxn ang="0">
                            <a:pos x="T0" y="T1"/>
                          </a:cxn>
                          <a:cxn ang="0">
                            <a:pos x="T2" y="T3"/>
                          </a:cxn>
                          <a:cxn ang="0">
                            <a:pos x="T4" y="T5"/>
                          </a:cxn>
                          <a:cxn ang="0">
                            <a:pos x="T6" y="T7"/>
                          </a:cxn>
                          <a:cxn ang="0">
                            <a:pos x="T8" y="T9"/>
                          </a:cxn>
                          <a:cxn ang="0">
                            <a:pos x="T10" y="T11"/>
                          </a:cxn>
                          <a:cxn ang="0">
                            <a:pos x="T12" y="T13"/>
                          </a:cxn>
                        </a:cxnLst>
                        <a:rect l="0" t="0" r="r" b="b"/>
                        <a:pathLst>
                          <a:path w="65" h="3">
                            <a:moveTo>
                              <a:pt x="64" y="3"/>
                            </a:moveTo>
                            <a:cubicBezTo>
                              <a:pt x="2" y="3"/>
                              <a:pt x="2" y="3"/>
                              <a:pt x="2" y="3"/>
                            </a:cubicBezTo>
                            <a:cubicBezTo>
                              <a:pt x="1" y="3"/>
                              <a:pt x="0" y="2"/>
                              <a:pt x="0" y="2"/>
                            </a:cubicBezTo>
                            <a:cubicBezTo>
                              <a:pt x="0" y="1"/>
                              <a:pt x="1" y="0"/>
                              <a:pt x="2" y="0"/>
                            </a:cubicBezTo>
                            <a:cubicBezTo>
                              <a:pt x="64" y="0"/>
                              <a:pt x="64" y="0"/>
                              <a:pt x="64" y="0"/>
                            </a:cubicBezTo>
                            <a:cubicBezTo>
                              <a:pt x="65" y="0"/>
                              <a:pt x="65" y="1"/>
                              <a:pt x="65" y="2"/>
                            </a:cubicBezTo>
                            <a:cubicBezTo>
                              <a:pt x="65" y="2"/>
                              <a:pt x="65" y="3"/>
                              <a:pt x="64" y="3"/>
                            </a:cubicBezTo>
                            <a:close/>
                          </a:path>
                        </a:pathLst>
                      </a:custGeom>
                      <a:solidFill>
                        <a:sysClr val="window" lastClr="FFFFFF">
                          <a:lumMod val="75000"/>
                        </a:sysClr>
                      </a:solidFill>
                      <a:ln w="6350">
                        <a:noFill/>
                        <a:round/>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latin typeface="Calibri" panose="020F0502020204030204"/>
                        </a:endParaRPr>
                      </a:p>
                    </p:txBody>
                  </p:sp>
                  <p:sp>
                    <p:nvSpPr>
                      <p:cNvPr id="52" name="Freeform 37">
                        <a:extLst>
                          <a:ext uri="{FF2B5EF4-FFF2-40B4-BE49-F238E27FC236}">
                            <a16:creationId xmlns:a16="http://schemas.microsoft.com/office/drawing/2014/main" id="{1E9D322E-3483-464F-BB3B-525E36D8BBA0}"/>
                          </a:ext>
                        </a:extLst>
                      </p:cNvPr>
                      <p:cNvSpPr>
                        <a:spLocks/>
                      </p:cNvSpPr>
                      <p:nvPr/>
                    </p:nvSpPr>
                    <p:spPr bwMode="auto">
                      <a:xfrm flipH="1">
                        <a:off x="6027579" y="3834532"/>
                        <a:ext cx="299923" cy="13040"/>
                      </a:xfrm>
                      <a:custGeom>
                        <a:avLst/>
                        <a:gdLst>
                          <a:gd name="T0" fmla="*/ 64 w 65"/>
                          <a:gd name="T1" fmla="*/ 3 h 3"/>
                          <a:gd name="T2" fmla="*/ 2 w 65"/>
                          <a:gd name="T3" fmla="*/ 3 h 3"/>
                          <a:gd name="T4" fmla="*/ 0 w 65"/>
                          <a:gd name="T5" fmla="*/ 2 h 3"/>
                          <a:gd name="T6" fmla="*/ 2 w 65"/>
                          <a:gd name="T7" fmla="*/ 0 h 3"/>
                          <a:gd name="T8" fmla="*/ 64 w 65"/>
                          <a:gd name="T9" fmla="*/ 0 h 3"/>
                          <a:gd name="T10" fmla="*/ 65 w 65"/>
                          <a:gd name="T11" fmla="*/ 2 h 3"/>
                          <a:gd name="T12" fmla="*/ 64 w 65"/>
                          <a:gd name="T13" fmla="*/ 3 h 3"/>
                        </a:gdLst>
                        <a:ahLst/>
                        <a:cxnLst>
                          <a:cxn ang="0">
                            <a:pos x="T0" y="T1"/>
                          </a:cxn>
                          <a:cxn ang="0">
                            <a:pos x="T2" y="T3"/>
                          </a:cxn>
                          <a:cxn ang="0">
                            <a:pos x="T4" y="T5"/>
                          </a:cxn>
                          <a:cxn ang="0">
                            <a:pos x="T6" y="T7"/>
                          </a:cxn>
                          <a:cxn ang="0">
                            <a:pos x="T8" y="T9"/>
                          </a:cxn>
                          <a:cxn ang="0">
                            <a:pos x="T10" y="T11"/>
                          </a:cxn>
                          <a:cxn ang="0">
                            <a:pos x="T12" y="T13"/>
                          </a:cxn>
                        </a:cxnLst>
                        <a:rect l="0" t="0" r="r" b="b"/>
                        <a:pathLst>
                          <a:path w="65" h="3">
                            <a:moveTo>
                              <a:pt x="64" y="3"/>
                            </a:moveTo>
                            <a:cubicBezTo>
                              <a:pt x="2" y="3"/>
                              <a:pt x="2" y="3"/>
                              <a:pt x="2" y="3"/>
                            </a:cubicBezTo>
                            <a:cubicBezTo>
                              <a:pt x="1" y="3"/>
                              <a:pt x="0" y="2"/>
                              <a:pt x="0" y="2"/>
                            </a:cubicBezTo>
                            <a:cubicBezTo>
                              <a:pt x="0" y="1"/>
                              <a:pt x="1" y="0"/>
                              <a:pt x="2" y="0"/>
                            </a:cubicBezTo>
                            <a:cubicBezTo>
                              <a:pt x="64" y="0"/>
                              <a:pt x="64" y="0"/>
                              <a:pt x="64" y="0"/>
                            </a:cubicBezTo>
                            <a:cubicBezTo>
                              <a:pt x="65" y="0"/>
                              <a:pt x="65" y="1"/>
                              <a:pt x="65" y="2"/>
                            </a:cubicBezTo>
                            <a:cubicBezTo>
                              <a:pt x="65" y="2"/>
                              <a:pt x="65" y="3"/>
                              <a:pt x="64" y="3"/>
                            </a:cubicBezTo>
                            <a:close/>
                          </a:path>
                        </a:pathLst>
                      </a:custGeom>
                      <a:solidFill>
                        <a:sysClr val="window" lastClr="FFFFFF">
                          <a:lumMod val="75000"/>
                        </a:sysClr>
                      </a:solidFill>
                      <a:ln w="6350">
                        <a:noFill/>
                        <a:round/>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latin typeface="Calibri" panose="020F0502020204030204"/>
                        </a:endParaRPr>
                      </a:p>
                    </p:txBody>
                  </p:sp>
                  <p:sp>
                    <p:nvSpPr>
                      <p:cNvPr id="53" name="Rectangle 42">
                        <a:extLst>
                          <a:ext uri="{FF2B5EF4-FFF2-40B4-BE49-F238E27FC236}">
                            <a16:creationId xmlns:a16="http://schemas.microsoft.com/office/drawing/2014/main" id="{20663CA8-84A6-4560-A85B-D8F9BCE987CB}"/>
                          </a:ext>
                        </a:extLst>
                      </p:cNvPr>
                      <p:cNvSpPr>
                        <a:spLocks noChangeArrowheads="1"/>
                      </p:cNvSpPr>
                      <p:nvPr/>
                    </p:nvSpPr>
                    <p:spPr bwMode="auto">
                      <a:xfrm>
                        <a:off x="5480021" y="5797778"/>
                        <a:ext cx="868674" cy="13040"/>
                      </a:xfrm>
                      <a:prstGeom prst="rect">
                        <a:avLst/>
                      </a:prstGeom>
                      <a:solidFill>
                        <a:sysClr val="windowText" lastClr="000000"/>
                      </a:solidFill>
                      <a:ln w="6350">
                        <a:noFill/>
                        <a:miter lim="800000"/>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latin typeface="Calibri" panose="020F0502020204030204"/>
                        </a:endParaRPr>
                      </a:p>
                    </p:txBody>
                  </p:sp>
                </p:grpSp>
                <p:sp>
                  <p:nvSpPr>
                    <p:cNvPr id="27" name="Freeform 8">
                      <a:extLst>
                        <a:ext uri="{FF2B5EF4-FFF2-40B4-BE49-F238E27FC236}">
                          <a16:creationId xmlns:a16="http://schemas.microsoft.com/office/drawing/2014/main" id="{7479DB76-3ABA-4ECF-9F29-50AD6995A961}"/>
                        </a:ext>
                      </a:extLst>
                    </p:cNvPr>
                    <p:cNvSpPr>
                      <a:spLocks/>
                    </p:cNvSpPr>
                    <p:nvPr/>
                  </p:nvSpPr>
                  <p:spPr bwMode="auto">
                    <a:xfrm>
                      <a:off x="7317062" y="4126258"/>
                      <a:ext cx="188580" cy="64198"/>
                    </a:xfrm>
                    <a:custGeom>
                      <a:avLst/>
                      <a:gdLst>
                        <a:gd name="T0" fmla="*/ 41 w 41"/>
                        <a:gd name="T1" fmla="*/ 0 h 14"/>
                        <a:gd name="T2" fmla="*/ 6 w 41"/>
                        <a:gd name="T3" fmla="*/ 0 h 14"/>
                        <a:gd name="T4" fmla="*/ 0 w 41"/>
                        <a:gd name="T5" fmla="*/ 7 h 14"/>
                        <a:gd name="T6" fmla="*/ 6 w 41"/>
                        <a:gd name="T7" fmla="*/ 14 h 14"/>
                        <a:gd name="T8" fmla="*/ 41 w 41"/>
                        <a:gd name="T9" fmla="*/ 14 h 14"/>
                        <a:gd name="T10" fmla="*/ 41 w 41"/>
                        <a:gd name="T11" fmla="*/ 0 h 14"/>
                      </a:gdLst>
                      <a:ahLst/>
                      <a:cxnLst>
                        <a:cxn ang="0">
                          <a:pos x="T0" y="T1"/>
                        </a:cxn>
                        <a:cxn ang="0">
                          <a:pos x="T2" y="T3"/>
                        </a:cxn>
                        <a:cxn ang="0">
                          <a:pos x="T4" y="T5"/>
                        </a:cxn>
                        <a:cxn ang="0">
                          <a:pos x="T6" y="T7"/>
                        </a:cxn>
                        <a:cxn ang="0">
                          <a:pos x="T8" y="T9"/>
                        </a:cxn>
                        <a:cxn ang="0">
                          <a:pos x="T10" y="T11"/>
                        </a:cxn>
                      </a:cxnLst>
                      <a:rect l="0" t="0" r="r" b="b"/>
                      <a:pathLst>
                        <a:path w="41" h="14">
                          <a:moveTo>
                            <a:pt x="41" y="0"/>
                          </a:moveTo>
                          <a:cubicBezTo>
                            <a:pt x="6" y="0"/>
                            <a:pt x="6" y="0"/>
                            <a:pt x="6" y="0"/>
                          </a:cubicBezTo>
                          <a:cubicBezTo>
                            <a:pt x="3" y="0"/>
                            <a:pt x="0" y="3"/>
                            <a:pt x="0" y="7"/>
                          </a:cubicBezTo>
                          <a:cubicBezTo>
                            <a:pt x="0" y="11"/>
                            <a:pt x="3" y="14"/>
                            <a:pt x="6" y="14"/>
                          </a:cubicBezTo>
                          <a:cubicBezTo>
                            <a:pt x="41" y="14"/>
                            <a:pt x="41" y="14"/>
                            <a:pt x="41" y="14"/>
                          </a:cubicBezTo>
                          <a:lnTo>
                            <a:pt x="41" y="0"/>
                          </a:lnTo>
                          <a:close/>
                        </a:path>
                      </a:pathLst>
                    </a:custGeom>
                    <a:solidFill>
                      <a:srgbClr val="0072C6"/>
                    </a:solidFill>
                    <a:ln w="9525">
                      <a:noFill/>
                      <a:round/>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latin typeface="Calibri" panose="020F0502020204030204"/>
                      </a:endParaRPr>
                    </a:p>
                  </p:txBody>
                </p:sp>
                <p:sp>
                  <p:nvSpPr>
                    <p:cNvPr id="28" name="Freeform 8">
                      <a:extLst>
                        <a:ext uri="{FF2B5EF4-FFF2-40B4-BE49-F238E27FC236}">
                          <a16:creationId xmlns:a16="http://schemas.microsoft.com/office/drawing/2014/main" id="{426C0450-7A4B-4DC0-97E5-4B0B43EF29DD}"/>
                        </a:ext>
                      </a:extLst>
                    </p:cNvPr>
                    <p:cNvSpPr>
                      <a:spLocks/>
                    </p:cNvSpPr>
                    <p:nvPr/>
                  </p:nvSpPr>
                  <p:spPr bwMode="auto">
                    <a:xfrm>
                      <a:off x="7317062" y="4304332"/>
                      <a:ext cx="188580" cy="64198"/>
                    </a:xfrm>
                    <a:custGeom>
                      <a:avLst/>
                      <a:gdLst>
                        <a:gd name="T0" fmla="*/ 41 w 41"/>
                        <a:gd name="T1" fmla="*/ 0 h 14"/>
                        <a:gd name="T2" fmla="*/ 6 w 41"/>
                        <a:gd name="T3" fmla="*/ 0 h 14"/>
                        <a:gd name="T4" fmla="*/ 0 w 41"/>
                        <a:gd name="T5" fmla="*/ 7 h 14"/>
                        <a:gd name="T6" fmla="*/ 6 w 41"/>
                        <a:gd name="T7" fmla="*/ 14 h 14"/>
                        <a:gd name="T8" fmla="*/ 41 w 41"/>
                        <a:gd name="T9" fmla="*/ 14 h 14"/>
                        <a:gd name="T10" fmla="*/ 41 w 41"/>
                        <a:gd name="T11" fmla="*/ 0 h 14"/>
                      </a:gdLst>
                      <a:ahLst/>
                      <a:cxnLst>
                        <a:cxn ang="0">
                          <a:pos x="T0" y="T1"/>
                        </a:cxn>
                        <a:cxn ang="0">
                          <a:pos x="T2" y="T3"/>
                        </a:cxn>
                        <a:cxn ang="0">
                          <a:pos x="T4" y="T5"/>
                        </a:cxn>
                        <a:cxn ang="0">
                          <a:pos x="T6" y="T7"/>
                        </a:cxn>
                        <a:cxn ang="0">
                          <a:pos x="T8" y="T9"/>
                        </a:cxn>
                        <a:cxn ang="0">
                          <a:pos x="T10" y="T11"/>
                        </a:cxn>
                      </a:cxnLst>
                      <a:rect l="0" t="0" r="r" b="b"/>
                      <a:pathLst>
                        <a:path w="41" h="14">
                          <a:moveTo>
                            <a:pt x="41" y="0"/>
                          </a:moveTo>
                          <a:cubicBezTo>
                            <a:pt x="6" y="0"/>
                            <a:pt x="6" y="0"/>
                            <a:pt x="6" y="0"/>
                          </a:cubicBezTo>
                          <a:cubicBezTo>
                            <a:pt x="3" y="0"/>
                            <a:pt x="0" y="3"/>
                            <a:pt x="0" y="7"/>
                          </a:cubicBezTo>
                          <a:cubicBezTo>
                            <a:pt x="0" y="11"/>
                            <a:pt x="3" y="14"/>
                            <a:pt x="6" y="14"/>
                          </a:cubicBezTo>
                          <a:cubicBezTo>
                            <a:pt x="41" y="14"/>
                            <a:pt x="41" y="14"/>
                            <a:pt x="41" y="14"/>
                          </a:cubicBezTo>
                          <a:lnTo>
                            <a:pt x="41" y="0"/>
                          </a:lnTo>
                          <a:close/>
                        </a:path>
                      </a:pathLst>
                    </a:custGeom>
                    <a:solidFill>
                      <a:srgbClr val="0072C6"/>
                    </a:solidFill>
                    <a:ln w="9525">
                      <a:noFill/>
                      <a:round/>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latin typeface="Calibri" panose="020F0502020204030204"/>
                      </a:endParaRPr>
                    </a:p>
                  </p:txBody>
                </p:sp>
                <p:sp>
                  <p:nvSpPr>
                    <p:cNvPr id="29" name="Freeform 8">
                      <a:extLst>
                        <a:ext uri="{FF2B5EF4-FFF2-40B4-BE49-F238E27FC236}">
                          <a16:creationId xmlns:a16="http://schemas.microsoft.com/office/drawing/2014/main" id="{83C212D5-0AA2-4D5D-965B-7CE99E39F623}"/>
                        </a:ext>
                      </a:extLst>
                    </p:cNvPr>
                    <p:cNvSpPr>
                      <a:spLocks/>
                    </p:cNvSpPr>
                    <p:nvPr/>
                  </p:nvSpPr>
                  <p:spPr bwMode="auto">
                    <a:xfrm>
                      <a:off x="7317062" y="4490080"/>
                      <a:ext cx="188580" cy="64198"/>
                    </a:xfrm>
                    <a:custGeom>
                      <a:avLst/>
                      <a:gdLst>
                        <a:gd name="T0" fmla="*/ 41 w 41"/>
                        <a:gd name="T1" fmla="*/ 0 h 14"/>
                        <a:gd name="T2" fmla="*/ 6 w 41"/>
                        <a:gd name="T3" fmla="*/ 0 h 14"/>
                        <a:gd name="T4" fmla="*/ 0 w 41"/>
                        <a:gd name="T5" fmla="*/ 7 h 14"/>
                        <a:gd name="T6" fmla="*/ 6 w 41"/>
                        <a:gd name="T7" fmla="*/ 14 h 14"/>
                        <a:gd name="T8" fmla="*/ 41 w 41"/>
                        <a:gd name="T9" fmla="*/ 14 h 14"/>
                        <a:gd name="T10" fmla="*/ 41 w 41"/>
                        <a:gd name="T11" fmla="*/ 0 h 14"/>
                      </a:gdLst>
                      <a:ahLst/>
                      <a:cxnLst>
                        <a:cxn ang="0">
                          <a:pos x="T0" y="T1"/>
                        </a:cxn>
                        <a:cxn ang="0">
                          <a:pos x="T2" y="T3"/>
                        </a:cxn>
                        <a:cxn ang="0">
                          <a:pos x="T4" y="T5"/>
                        </a:cxn>
                        <a:cxn ang="0">
                          <a:pos x="T6" y="T7"/>
                        </a:cxn>
                        <a:cxn ang="0">
                          <a:pos x="T8" y="T9"/>
                        </a:cxn>
                        <a:cxn ang="0">
                          <a:pos x="T10" y="T11"/>
                        </a:cxn>
                      </a:cxnLst>
                      <a:rect l="0" t="0" r="r" b="b"/>
                      <a:pathLst>
                        <a:path w="41" h="14">
                          <a:moveTo>
                            <a:pt x="41" y="0"/>
                          </a:moveTo>
                          <a:cubicBezTo>
                            <a:pt x="6" y="0"/>
                            <a:pt x="6" y="0"/>
                            <a:pt x="6" y="0"/>
                          </a:cubicBezTo>
                          <a:cubicBezTo>
                            <a:pt x="3" y="0"/>
                            <a:pt x="0" y="3"/>
                            <a:pt x="0" y="7"/>
                          </a:cubicBezTo>
                          <a:cubicBezTo>
                            <a:pt x="0" y="11"/>
                            <a:pt x="3" y="14"/>
                            <a:pt x="6" y="14"/>
                          </a:cubicBezTo>
                          <a:cubicBezTo>
                            <a:pt x="41" y="14"/>
                            <a:pt x="41" y="14"/>
                            <a:pt x="41" y="14"/>
                          </a:cubicBezTo>
                          <a:lnTo>
                            <a:pt x="41" y="0"/>
                          </a:lnTo>
                          <a:close/>
                        </a:path>
                      </a:pathLst>
                    </a:custGeom>
                    <a:solidFill>
                      <a:srgbClr val="0072C6"/>
                    </a:solidFill>
                    <a:ln w="9525">
                      <a:noFill/>
                      <a:round/>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latin typeface="Calibri" panose="020F0502020204030204"/>
                      </a:endParaRPr>
                    </a:p>
                  </p:txBody>
                </p:sp>
                <p:sp>
                  <p:nvSpPr>
                    <p:cNvPr id="30" name="Freeform 8">
                      <a:extLst>
                        <a:ext uri="{FF2B5EF4-FFF2-40B4-BE49-F238E27FC236}">
                          <a16:creationId xmlns:a16="http://schemas.microsoft.com/office/drawing/2014/main" id="{91E8DD33-C284-4D10-9AC7-414BA6C7A18A}"/>
                        </a:ext>
                      </a:extLst>
                    </p:cNvPr>
                    <p:cNvSpPr>
                      <a:spLocks/>
                    </p:cNvSpPr>
                    <p:nvPr/>
                  </p:nvSpPr>
                  <p:spPr bwMode="auto">
                    <a:xfrm>
                      <a:off x="7320696" y="4666368"/>
                      <a:ext cx="188580" cy="64198"/>
                    </a:xfrm>
                    <a:custGeom>
                      <a:avLst/>
                      <a:gdLst>
                        <a:gd name="T0" fmla="*/ 41 w 41"/>
                        <a:gd name="T1" fmla="*/ 0 h 14"/>
                        <a:gd name="T2" fmla="*/ 6 w 41"/>
                        <a:gd name="T3" fmla="*/ 0 h 14"/>
                        <a:gd name="T4" fmla="*/ 0 w 41"/>
                        <a:gd name="T5" fmla="*/ 7 h 14"/>
                        <a:gd name="T6" fmla="*/ 6 w 41"/>
                        <a:gd name="T7" fmla="*/ 14 h 14"/>
                        <a:gd name="T8" fmla="*/ 41 w 41"/>
                        <a:gd name="T9" fmla="*/ 14 h 14"/>
                        <a:gd name="T10" fmla="*/ 41 w 41"/>
                        <a:gd name="T11" fmla="*/ 0 h 14"/>
                      </a:gdLst>
                      <a:ahLst/>
                      <a:cxnLst>
                        <a:cxn ang="0">
                          <a:pos x="T0" y="T1"/>
                        </a:cxn>
                        <a:cxn ang="0">
                          <a:pos x="T2" y="T3"/>
                        </a:cxn>
                        <a:cxn ang="0">
                          <a:pos x="T4" y="T5"/>
                        </a:cxn>
                        <a:cxn ang="0">
                          <a:pos x="T6" y="T7"/>
                        </a:cxn>
                        <a:cxn ang="0">
                          <a:pos x="T8" y="T9"/>
                        </a:cxn>
                        <a:cxn ang="0">
                          <a:pos x="T10" y="T11"/>
                        </a:cxn>
                      </a:cxnLst>
                      <a:rect l="0" t="0" r="r" b="b"/>
                      <a:pathLst>
                        <a:path w="41" h="14">
                          <a:moveTo>
                            <a:pt x="41" y="0"/>
                          </a:moveTo>
                          <a:cubicBezTo>
                            <a:pt x="6" y="0"/>
                            <a:pt x="6" y="0"/>
                            <a:pt x="6" y="0"/>
                          </a:cubicBezTo>
                          <a:cubicBezTo>
                            <a:pt x="3" y="0"/>
                            <a:pt x="0" y="3"/>
                            <a:pt x="0" y="7"/>
                          </a:cubicBezTo>
                          <a:cubicBezTo>
                            <a:pt x="0" y="11"/>
                            <a:pt x="3" y="14"/>
                            <a:pt x="6" y="14"/>
                          </a:cubicBezTo>
                          <a:cubicBezTo>
                            <a:pt x="41" y="14"/>
                            <a:pt x="41" y="14"/>
                            <a:pt x="41" y="14"/>
                          </a:cubicBezTo>
                          <a:lnTo>
                            <a:pt x="41" y="0"/>
                          </a:lnTo>
                          <a:close/>
                        </a:path>
                      </a:pathLst>
                    </a:custGeom>
                    <a:solidFill>
                      <a:srgbClr val="0072C6"/>
                    </a:solidFill>
                    <a:ln w="9525">
                      <a:noFill/>
                      <a:round/>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latin typeface="Calibri" panose="020F0502020204030204"/>
                      </a:endParaRPr>
                    </a:p>
                  </p:txBody>
                </p:sp>
                <p:sp>
                  <p:nvSpPr>
                    <p:cNvPr id="31" name="Freeform 8">
                      <a:extLst>
                        <a:ext uri="{FF2B5EF4-FFF2-40B4-BE49-F238E27FC236}">
                          <a16:creationId xmlns:a16="http://schemas.microsoft.com/office/drawing/2014/main" id="{45C49118-C1DE-4F5B-A4F9-DEF49E992AC1}"/>
                        </a:ext>
                      </a:extLst>
                    </p:cNvPr>
                    <p:cNvSpPr>
                      <a:spLocks/>
                    </p:cNvSpPr>
                    <p:nvPr/>
                  </p:nvSpPr>
                  <p:spPr bwMode="auto">
                    <a:xfrm>
                      <a:off x="7320696" y="4846841"/>
                      <a:ext cx="188580" cy="64198"/>
                    </a:xfrm>
                    <a:custGeom>
                      <a:avLst/>
                      <a:gdLst>
                        <a:gd name="T0" fmla="*/ 41 w 41"/>
                        <a:gd name="T1" fmla="*/ 0 h 14"/>
                        <a:gd name="T2" fmla="*/ 6 w 41"/>
                        <a:gd name="T3" fmla="*/ 0 h 14"/>
                        <a:gd name="T4" fmla="*/ 0 w 41"/>
                        <a:gd name="T5" fmla="*/ 7 h 14"/>
                        <a:gd name="T6" fmla="*/ 6 w 41"/>
                        <a:gd name="T7" fmla="*/ 14 h 14"/>
                        <a:gd name="T8" fmla="*/ 41 w 41"/>
                        <a:gd name="T9" fmla="*/ 14 h 14"/>
                        <a:gd name="T10" fmla="*/ 41 w 41"/>
                        <a:gd name="T11" fmla="*/ 0 h 14"/>
                      </a:gdLst>
                      <a:ahLst/>
                      <a:cxnLst>
                        <a:cxn ang="0">
                          <a:pos x="T0" y="T1"/>
                        </a:cxn>
                        <a:cxn ang="0">
                          <a:pos x="T2" y="T3"/>
                        </a:cxn>
                        <a:cxn ang="0">
                          <a:pos x="T4" y="T5"/>
                        </a:cxn>
                        <a:cxn ang="0">
                          <a:pos x="T6" y="T7"/>
                        </a:cxn>
                        <a:cxn ang="0">
                          <a:pos x="T8" y="T9"/>
                        </a:cxn>
                        <a:cxn ang="0">
                          <a:pos x="T10" y="T11"/>
                        </a:cxn>
                      </a:cxnLst>
                      <a:rect l="0" t="0" r="r" b="b"/>
                      <a:pathLst>
                        <a:path w="41" h="14">
                          <a:moveTo>
                            <a:pt x="41" y="0"/>
                          </a:moveTo>
                          <a:cubicBezTo>
                            <a:pt x="6" y="0"/>
                            <a:pt x="6" y="0"/>
                            <a:pt x="6" y="0"/>
                          </a:cubicBezTo>
                          <a:cubicBezTo>
                            <a:pt x="3" y="0"/>
                            <a:pt x="0" y="3"/>
                            <a:pt x="0" y="7"/>
                          </a:cubicBezTo>
                          <a:cubicBezTo>
                            <a:pt x="0" y="11"/>
                            <a:pt x="3" y="14"/>
                            <a:pt x="6" y="14"/>
                          </a:cubicBezTo>
                          <a:cubicBezTo>
                            <a:pt x="41" y="14"/>
                            <a:pt x="41" y="14"/>
                            <a:pt x="41" y="14"/>
                          </a:cubicBezTo>
                          <a:lnTo>
                            <a:pt x="41" y="0"/>
                          </a:lnTo>
                          <a:close/>
                        </a:path>
                      </a:pathLst>
                    </a:custGeom>
                    <a:solidFill>
                      <a:srgbClr val="0072C6"/>
                    </a:solidFill>
                    <a:ln w="9525">
                      <a:noFill/>
                      <a:round/>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latin typeface="Calibri" panose="020F0502020204030204"/>
                      </a:endParaRPr>
                    </a:p>
                  </p:txBody>
                </p:sp>
                <p:sp>
                  <p:nvSpPr>
                    <p:cNvPr id="32" name="Freeform 8">
                      <a:extLst>
                        <a:ext uri="{FF2B5EF4-FFF2-40B4-BE49-F238E27FC236}">
                          <a16:creationId xmlns:a16="http://schemas.microsoft.com/office/drawing/2014/main" id="{57E130A2-3724-439C-85C1-FDCF28D0D18E}"/>
                        </a:ext>
                      </a:extLst>
                    </p:cNvPr>
                    <p:cNvSpPr>
                      <a:spLocks/>
                    </p:cNvSpPr>
                    <p:nvPr/>
                  </p:nvSpPr>
                  <p:spPr bwMode="auto">
                    <a:xfrm>
                      <a:off x="7320696" y="5017519"/>
                      <a:ext cx="188580" cy="64198"/>
                    </a:xfrm>
                    <a:custGeom>
                      <a:avLst/>
                      <a:gdLst>
                        <a:gd name="T0" fmla="*/ 41 w 41"/>
                        <a:gd name="T1" fmla="*/ 0 h 14"/>
                        <a:gd name="T2" fmla="*/ 6 w 41"/>
                        <a:gd name="T3" fmla="*/ 0 h 14"/>
                        <a:gd name="T4" fmla="*/ 0 w 41"/>
                        <a:gd name="T5" fmla="*/ 7 h 14"/>
                        <a:gd name="T6" fmla="*/ 6 w 41"/>
                        <a:gd name="T7" fmla="*/ 14 h 14"/>
                        <a:gd name="T8" fmla="*/ 41 w 41"/>
                        <a:gd name="T9" fmla="*/ 14 h 14"/>
                        <a:gd name="T10" fmla="*/ 41 w 41"/>
                        <a:gd name="T11" fmla="*/ 0 h 14"/>
                      </a:gdLst>
                      <a:ahLst/>
                      <a:cxnLst>
                        <a:cxn ang="0">
                          <a:pos x="T0" y="T1"/>
                        </a:cxn>
                        <a:cxn ang="0">
                          <a:pos x="T2" y="T3"/>
                        </a:cxn>
                        <a:cxn ang="0">
                          <a:pos x="T4" y="T5"/>
                        </a:cxn>
                        <a:cxn ang="0">
                          <a:pos x="T6" y="T7"/>
                        </a:cxn>
                        <a:cxn ang="0">
                          <a:pos x="T8" y="T9"/>
                        </a:cxn>
                        <a:cxn ang="0">
                          <a:pos x="T10" y="T11"/>
                        </a:cxn>
                      </a:cxnLst>
                      <a:rect l="0" t="0" r="r" b="b"/>
                      <a:pathLst>
                        <a:path w="41" h="14">
                          <a:moveTo>
                            <a:pt x="41" y="0"/>
                          </a:moveTo>
                          <a:cubicBezTo>
                            <a:pt x="6" y="0"/>
                            <a:pt x="6" y="0"/>
                            <a:pt x="6" y="0"/>
                          </a:cubicBezTo>
                          <a:cubicBezTo>
                            <a:pt x="3" y="0"/>
                            <a:pt x="0" y="3"/>
                            <a:pt x="0" y="7"/>
                          </a:cubicBezTo>
                          <a:cubicBezTo>
                            <a:pt x="0" y="11"/>
                            <a:pt x="3" y="14"/>
                            <a:pt x="6" y="14"/>
                          </a:cubicBezTo>
                          <a:cubicBezTo>
                            <a:pt x="41" y="14"/>
                            <a:pt x="41" y="14"/>
                            <a:pt x="41" y="14"/>
                          </a:cubicBezTo>
                          <a:lnTo>
                            <a:pt x="41" y="0"/>
                          </a:lnTo>
                          <a:close/>
                        </a:path>
                      </a:pathLst>
                    </a:custGeom>
                    <a:solidFill>
                      <a:srgbClr val="0072C6"/>
                    </a:solidFill>
                    <a:ln w="9525">
                      <a:noFill/>
                      <a:round/>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latin typeface="Calibri" panose="020F0502020204030204"/>
                      </a:endParaRPr>
                    </a:p>
                  </p:txBody>
                </p:sp>
                <p:sp>
                  <p:nvSpPr>
                    <p:cNvPr id="33" name="Freeform 8">
                      <a:extLst>
                        <a:ext uri="{FF2B5EF4-FFF2-40B4-BE49-F238E27FC236}">
                          <a16:creationId xmlns:a16="http://schemas.microsoft.com/office/drawing/2014/main" id="{0E9E8427-C7F6-4CB6-85E3-7EBF913936BC}"/>
                        </a:ext>
                      </a:extLst>
                    </p:cNvPr>
                    <p:cNvSpPr>
                      <a:spLocks/>
                    </p:cNvSpPr>
                    <p:nvPr/>
                  </p:nvSpPr>
                  <p:spPr bwMode="auto">
                    <a:xfrm>
                      <a:off x="7320696" y="5207178"/>
                      <a:ext cx="188580" cy="64198"/>
                    </a:xfrm>
                    <a:custGeom>
                      <a:avLst/>
                      <a:gdLst>
                        <a:gd name="T0" fmla="*/ 41 w 41"/>
                        <a:gd name="T1" fmla="*/ 0 h 14"/>
                        <a:gd name="T2" fmla="*/ 6 w 41"/>
                        <a:gd name="T3" fmla="*/ 0 h 14"/>
                        <a:gd name="T4" fmla="*/ 0 w 41"/>
                        <a:gd name="T5" fmla="*/ 7 h 14"/>
                        <a:gd name="T6" fmla="*/ 6 w 41"/>
                        <a:gd name="T7" fmla="*/ 14 h 14"/>
                        <a:gd name="T8" fmla="*/ 41 w 41"/>
                        <a:gd name="T9" fmla="*/ 14 h 14"/>
                        <a:gd name="T10" fmla="*/ 41 w 41"/>
                        <a:gd name="T11" fmla="*/ 0 h 14"/>
                      </a:gdLst>
                      <a:ahLst/>
                      <a:cxnLst>
                        <a:cxn ang="0">
                          <a:pos x="T0" y="T1"/>
                        </a:cxn>
                        <a:cxn ang="0">
                          <a:pos x="T2" y="T3"/>
                        </a:cxn>
                        <a:cxn ang="0">
                          <a:pos x="T4" y="T5"/>
                        </a:cxn>
                        <a:cxn ang="0">
                          <a:pos x="T6" y="T7"/>
                        </a:cxn>
                        <a:cxn ang="0">
                          <a:pos x="T8" y="T9"/>
                        </a:cxn>
                        <a:cxn ang="0">
                          <a:pos x="T10" y="T11"/>
                        </a:cxn>
                      </a:cxnLst>
                      <a:rect l="0" t="0" r="r" b="b"/>
                      <a:pathLst>
                        <a:path w="41" h="14">
                          <a:moveTo>
                            <a:pt x="41" y="0"/>
                          </a:moveTo>
                          <a:cubicBezTo>
                            <a:pt x="6" y="0"/>
                            <a:pt x="6" y="0"/>
                            <a:pt x="6" y="0"/>
                          </a:cubicBezTo>
                          <a:cubicBezTo>
                            <a:pt x="3" y="0"/>
                            <a:pt x="0" y="3"/>
                            <a:pt x="0" y="7"/>
                          </a:cubicBezTo>
                          <a:cubicBezTo>
                            <a:pt x="0" y="11"/>
                            <a:pt x="3" y="14"/>
                            <a:pt x="6" y="14"/>
                          </a:cubicBezTo>
                          <a:cubicBezTo>
                            <a:pt x="41" y="14"/>
                            <a:pt x="41" y="14"/>
                            <a:pt x="41" y="14"/>
                          </a:cubicBezTo>
                          <a:lnTo>
                            <a:pt x="41" y="0"/>
                          </a:lnTo>
                          <a:close/>
                        </a:path>
                      </a:pathLst>
                    </a:custGeom>
                    <a:solidFill>
                      <a:srgbClr val="0072C6"/>
                    </a:solidFill>
                    <a:ln w="9525">
                      <a:noFill/>
                      <a:round/>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latin typeface="Calibri" panose="020F0502020204030204"/>
                      </a:endParaRPr>
                    </a:p>
                  </p:txBody>
                </p:sp>
                <p:sp>
                  <p:nvSpPr>
                    <p:cNvPr id="34" name="Freeform 8">
                      <a:extLst>
                        <a:ext uri="{FF2B5EF4-FFF2-40B4-BE49-F238E27FC236}">
                          <a16:creationId xmlns:a16="http://schemas.microsoft.com/office/drawing/2014/main" id="{F20CF64E-8E9E-47BF-825A-788A43C53003}"/>
                        </a:ext>
                      </a:extLst>
                    </p:cNvPr>
                    <p:cNvSpPr>
                      <a:spLocks/>
                    </p:cNvSpPr>
                    <p:nvPr/>
                  </p:nvSpPr>
                  <p:spPr bwMode="auto">
                    <a:xfrm>
                      <a:off x="7317062" y="5384981"/>
                      <a:ext cx="188580" cy="64198"/>
                    </a:xfrm>
                    <a:custGeom>
                      <a:avLst/>
                      <a:gdLst>
                        <a:gd name="T0" fmla="*/ 41 w 41"/>
                        <a:gd name="T1" fmla="*/ 0 h 14"/>
                        <a:gd name="T2" fmla="*/ 6 w 41"/>
                        <a:gd name="T3" fmla="*/ 0 h 14"/>
                        <a:gd name="T4" fmla="*/ 0 w 41"/>
                        <a:gd name="T5" fmla="*/ 7 h 14"/>
                        <a:gd name="T6" fmla="*/ 6 w 41"/>
                        <a:gd name="T7" fmla="*/ 14 h 14"/>
                        <a:gd name="T8" fmla="*/ 41 w 41"/>
                        <a:gd name="T9" fmla="*/ 14 h 14"/>
                        <a:gd name="T10" fmla="*/ 41 w 41"/>
                        <a:gd name="T11" fmla="*/ 0 h 14"/>
                      </a:gdLst>
                      <a:ahLst/>
                      <a:cxnLst>
                        <a:cxn ang="0">
                          <a:pos x="T0" y="T1"/>
                        </a:cxn>
                        <a:cxn ang="0">
                          <a:pos x="T2" y="T3"/>
                        </a:cxn>
                        <a:cxn ang="0">
                          <a:pos x="T4" y="T5"/>
                        </a:cxn>
                        <a:cxn ang="0">
                          <a:pos x="T6" y="T7"/>
                        </a:cxn>
                        <a:cxn ang="0">
                          <a:pos x="T8" y="T9"/>
                        </a:cxn>
                        <a:cxn ang="0">
                          <a:pos x="T10" y="T11"/>
                        </a:cxn>
                      </a:cxnLst>
                      <a:rect l="0" t="0" r="r" b="b"/>
                      <a:pathLst>
                        <a:path w="41" h="14">
                          <a:moveTo>
                            <a:pt x="41" y="0"/>
                          </a:moveTo>
                          <a:cubicBezTo>
                            <a:pt x="6" y="0"/>
                            <a:pt x="6" y="0"/>
                            <a:pt x="6" y="0"/>
                          </a:cubicBezTo>
                          <a:cubicBezTo>
                            <a:pt x="3" y="0"/>
                            <a:pt x="0" y="3"/>
                            <a:pt x="0" y="7"/>
                          </a:cubicBezTo>
                          <a:cubicBezTo>
                            <a:pt x="0" y="11"/>
                            <a:pt x="3" y="14"/>
                            <a:pt x="6" y="14"/>
                          </a:cubicBezTo>
                          <a:cubicBezTo>
                            <a:pt x="41" y="14"/>
                            <a:pt x="41" y="14"/>
                            <a:pt x="41" y="14"/>
                          </a:cubicBezTo>
                          <a:lnTo>
                            <a:pt x="41" y="0"/>
                          </a:lnTo>
                          <a:close/>
                        </a:path>
                      </a:pathLst>
                    </a:custGeom>
                    <a:solidFill>
                      <a:srgbClr val="0072C6"/>
                    </a:solidFill>
                    <a:ln w="9525">
                      <a:noFill/>
                      <a:round/>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latin typeface="Calibri" panose="020F0502020204030204"/>
                      </a:endParaRPr>
                    </a:p>
                  </p:txBody>
                </p:sp>
                <p:sp>
                  <p:nvSpPr>
                    <p:cNvPr id="35" name="Freeform 8">
                      <a:extLst>
                        <a:ext uri="{FF2B5EF4-FFF2-40B4-BE49-F238E27FC236}">
                          <a16:creationId xmlns:a16="http://schemas.microsoft.com/office/drawing/2014/main" id="{2FA0CC7A-099F-475E-8813-5E48CA4FD8CD}"/>
                        </a:ext>
                      </a:extLst>
                    </p:cNvPr>
                    <p:cNvSpPr>
                      <a:spLocks/>
                    </p:cNvSpPr>
                    <p:nvPr/>
                  </p:nvSpPr>
                  <p:spPr bwMode="auto">
                    <a:xfrm>
                      <a:off x="7320696" y="5553271"/>
                      <a:ext cx="188580" cy="64198"/>
                    </a:xfrm>
                    <a:custGeom>
                      <a:avLst/>
                      <a:gdLst>
                        <a:gd name="T0" fmla="*/ 41 w 41"/>
                        <a:gd name="T1" fmla="*/ 0 h 14"/>
                        <a:gd name="T2" fmla="*/ 6 w 41"/>
                        <a:gd name="T3" fmla="*/ 0 h 14"/>
                        <a:gd name="T4" fmla="*/ 0 w 41"/>
                        <a:gd name="T5" fmla="*/ 7 h 14"/>
                        <a:gd name="T6" fmla="*/ 6 w 41"/>
                        <a:gd name="T7" fmla="*/ 14 h 14"/>
                        <a:gd name="T8" fmla="*/ 41 w 41"/>
                        <a:gd name="T9" fmla="*/ 14 h 14"/>
                        <a:gd name="T10" fmla="*/ 41 w 41"/>
                        <a:gd name="T11" fmla="*/ 0 h 14"/>
                      </a:gdLst>
                      <a:ahLst/>
                      <a:cxnLst>
                        <a:cxn ang="0">
                          <a:pos x="T0" y="T1"/>
                        </a:cxn>
                        <a:cxn ang="0">
                          <a:pos x="T2" y="T3"/>
                        </a:cxn>
                        <a:cxn ang="0">
                          <a:pos x="T4" y="T5"/>
                        </a:cxn>
                        <a:cxn ang="0">
                          <a:pos x="T6" y="T7"/>
                        </a:cxn>
                        <a:cxn ang="0">
                          <a:pos x="T8" y="T9"/>
                        </a:cxn>
                        <a:cxn ang="0">
                          <a:pos x="T10" y="T11"/>
                        </a:cxn>
                      </a:cxnLst>
                      <a:rect l="0" t="0" r="r" b="b"/>
                      <a:pathLst>
                        <a:path w="41" h="14">
                          <a:moveTo>
                            <a:pt x="41" y="0"/>
                          </a:moveTo>
                          <a:cubicBezTo>
                            <a:pt x="6" y="0"/>
                            <a:pt x="6" y="0"/>
                            <a:pt x="6" y="0"/>
                          </a:cubicBezTo>
                          <a:cubicBezTo>
                            <a:pt x="3" y="0"/>
                            <a:pt x="0" y="3"/>
                            <a:pt x="0" y="7"/>
                          </a:cubicBezTo>
                          <a:cubicBezTo>
                            <a:pt x="0" y="11"/>
                            <a:pt x="3" y="14"/>
                            <a:pt x="6" y="14"/>
                          </a:cubicBezTo>
                          <a:cubicBezTo>
                            <a:pt x="41" y="14"/>
                            <a:pt x="41" y="14"/>
                            <a:pt x="41" y="14"/>
                          </a:cubicBezTo>
                          <a:lnTo>
                            <a:pt x="41" y="0"/>
                          </a:lnTo>
                          <a:close/>
                        </a:path>
                      </a:pathLst>
                    </a:custGeom>
                    <a:solidFill>
                      <a:srgbClr val="0072C6"/>
                    </a:solidFill>
                    <a:ln w="9525">
                      <a:noFill/>
                      <a:round/>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latin typeface="Calibri" panose="020F0502020204030204"/>
                      </a:endParaRPr>
                    </a:p>
                  </p:txBody>
                </p:sp>
              </p:grpSp>
              <p:sp>
                <p:nvSpPr>
                  <p:cNvPr id="25" name="Rectangle 24">
                    <a:extLst>
                      <a:ext uri="{FF2B5EF4-FFF2-40B4-BE49-F238E27FC236}">
                        <a16:creationId xmlns:a16="http://schemas.microsoft.com/office/drawing/2014/main" id="{879F7338-3A36-47A5-9D52-12BF45FD6617}"/>
                      </a:ext>
                    </a:extLst>
                  </p:cNvPr>
                  <p:cNvSpPr/>
                  <p:nvPr/>
                </p:nvSpPr>
                <p:spPr bwMode="auto">
                  <a:xfrm>
                    <a:off x="6689300" y="4605702"/>
                    <a:ext cx="855274" cy="177206"/>
                  </a:xfrm>
                  <a:prstGeom prst="rect">
                    <a:avLst/>
                  </a:prstGeom>
                  <a:noFill/>
                  <a:ln w="9525" cap="flat" cmpd="sng" algn="ctr">
                    <a:solidFill>
                      <a:sysClr val="windowText" lastClr="000000"/>
                    </a:solidFill>
                    <a:prstDash val="solid"/>
                    <a:miter lim="800000"/>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eaLnBrk="1" fontAlgn="base" latinLnBrk="0" hangingPunct="1">
                      <a:lnSpc>
                        <a:spcPct val="90000"/>
                      </a:lnSpc>
                      <a:spcBef>
                        <a:spcPct val="0"/>
                      </a:spcBef>
                      <a:spcAft>
                        <a:spcPct val="0"/>
                      </a:spcAft>
                      <a:buClrTx/>
                      <a:buSzTx/>
                      <a:buFontTx/>
                      <a:buNone/>
                      <a:tabLst/>
                      <a:defRPr/>
                    </a:pPr>
                    <a:endParaRPr kumimoji="0" lang="en-US" sz="2400" b="0" i="0" u="none" strike="noStrike" kern="0" cap="none" spc="0" normalizeH="0" baseline="0" noProof="0" dirty="0">
                      <a:ln>
                        <a:noFill/>
                      </a:ln>
                      <a:gradFill>
                        <a:gsLst>
                          <a:gs pos="0">
                            <a:srgbClr val="FFFFFF"/>
                          </a:gs>
                          <a:gs pos="100000">
                            <a:srgbClr val="FFFFFF"/>
                          </a:gs>
                        </a:gsLst>
                        <a:lin ang="5400000" scaled="0"/>
                      </a:gradFill>
                      <a:effectLst/>
                      <a:uLnTx/>
                      <a:uFillTx/>
                      <a:latin typeface="Calibri" panose="020F0502020204030204"/>
                      <a:ea typeface="Segoe UI" pitchFamily="34" charset="0"/>
                      <a:cs typeface="Segoe UI" pitchFamily="34" charset="0"/>
                    </a:endParaRPr>
                  </a:p>
                </p:txBody>
              </p:sp>
            </p:grpSp>
            <p:sp>
              <p:nvSpPr>
                <p:cNvPr id="21" name="Rectangle 42">
                  <a:extLst>
                    <a:ext uri="{FF2B5EF4-FFF2-40B4-BE49-F238E27FC236}">
                      <a16:creationId xmlns:a16="http://schemas.microsoft.com/office/drawing/2014/main" id="{A3FB83F2-EB52-4DBB-B78B-1B4A1278A0F9}"/>
                    </a:ext>
                  </a:extLst>
                </p:cNvPr>
                <p:cNvSpPr>
                  <a:spLocks noChangeArrowheads="1"/>
                </p:cNvSpPr>
                <p:nvPr/>
              </p:nvSpPr>
              <p:spPr bwMode="auto">
                <a:xfrm>
                  <a:off x="9273483" y="5413375"/>
                  <a:ext cx="626332" cy="9566"/>
                </a:xfrm>
                <a:prstGeom prst="rect">
                  <a:avLst/>
                </a:prstGeom>
                <a:solidFill>
                  <a:sysClr val="windowText" lastClr="000000"/>
                </a:solidFill>
                <a:ln w="6350">
                  <a:noFill/>
                  <a:miter lim="800000"/>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latin typeface="Calibri" panose="020F0502020204030204"/>
                  </a:endParaRPr>
                </a:p>
              </p:txBody>
            </p:sp>
            <p:sp>
              <p:nvSpPr>
                <p:cNvPr id="22" name="Rectangle 42">
                  <a:extLst>
                    <a:ext uri="{FF2B5EF4-FFF2-40B4-BE49-F238E27FC236}">
                      <a16:creationId xmlns:a16="http://schemas.microsoft.com/office/drawing/2014/main" id="{DB5C8F4E-BAB1-4424-AC34-CC847CE97B0D}"/>
                    </a:ext>
                  </a:extLst>
                </p:cNvPr>
                <p:cNvSpPr>
                  <a:spLocks noChangeArrowheads="1"/>
                </p:cNvSpPr>
                <p:nvPr/>
              </p:nvSpPr>
              <p:spPr bwMode="auto">
                <a:xfrm>
                  <a:off x="9273483" y="5549431"/>
                  <a:ext cx="626332" cy="9566"/>
                </a:xfrm>
                <a:prstGeom prst="rect">
                  <a:avLst/>
                </a:prstGeom>
                <a:solidFill>
                  <a:sysClr val="windowText" lastClr="000000"/>
                </a:solidFill>
                <a:ln w="6350">
                  <a:noFill/>
                  <a:miter lim="800000"/>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latin typeface="Calibri" panose="020F0502020204030204"/>
                  </a:endParaRPr>
                </a:p>
              </p:txBody>
            </p:sp>
            <p:sp>
              <p:nvSpPr>
                <p:cNvPr id="23" name="Rectangle 42">
                  <a:extLst>
                    <a:ext uri="{FF2B5EF4-FFF2-40B4-BE49-F238E27FC236}">
                      <a16:creationId xmlns:a16="http://schemas.microsoft.com/office/drawing/2014/main" id="{1A25D5AC-67D8-4E99-B8D8-994F3B43194D}"/>
                    </a:ext>
                  </a:extLst>
                </p:cNvPr>
                <p:cNvSpPr>
                  <a:spLocks noChangeArrowheads="1"/>
                </p:cNvSpPr>
                <p:nvPr/>
              </p:nvSpPr>
              <p:spPr bwMode="auto">
                <a:xfrm>
                  <a:off x="9281420" y="5683350"/>
                  <a:ext cx="626332" cy="9566"/>
                </a:xfrm>
                <a:prstGeom prst="rect">
                  <a:avLst/>
                </a:prstGeom>
                <a:solidFill>
                  <a:sysClr val="windowText" lastClr="000000"/>
                </a:solidFill>
                <a:ln w="6350">
                  <a:noFill/>
                  <a:miter lim="800000"/>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latin typeface="Calibri" panose="020F0502020204030204"/>
                  </a:endParaRPr>
                </a:p>
              </p:txBody>
            </p:sp>
          </p:grpSp>
          <p:pic>
            <p:nvPicPr>
              <p:cNvPr id="18" name="Picture 17">
                <a:extLst>
                  <a:ext uri="{FF2B5EF4-FFF2-40B4-BE49-F238E27FC236}">
                    <a16:creationId xmlns:a16="http://schemas.microsoft.com/office/drawing/2014/main" id="{D61F7322-24A4-42B7-85BF-27669BC13C30}"/>
                  </a:ext>
                </a:extLst>
              </p:cNvPr>
              <p:cNvPicPr>
                <a:picLocks noChangeAspect="1"/>
              </p:cNvPicPr>
              <p:nvPr/>
            </p:nvPicPr>
            <p:blipFill>
              <a:blip r:embed="rId3"/>
              <a:stretch>
                <a:fillRect/>
              </a:stretch>
            </p:blipFill>
            <p:spPr>
              <a:xfrm>
                <a:off x="7767172" y="2098177"/>
                <a:ext cx="354359" cy="228857"/>
              </a:xfrm>
              <a:prstGeom prst="rect">
                <a:avLst/>
              </a:prstGeom>
            </p:spPr>
          </p:pic>
          <p:sp>
            <p:nvSpPr>
              <p:cNvPr id="19" name="Rectangle 18">
                <a:extLst>
                  <a:ext uri="{FF2B5EF4-FFF2-40B4-BE49-F238E27FC236}">
                    <a16:creationId xmlns:a16="http://schemas.microsoft.com/office/drawing/2014/main" id="{D9754935-3203-489D-8EC8-FB0D3159BAE4}"/>
                  </a:ext>
                </a:extLst>
              </p:cNvPr>
              <p:cNvSpPr/>
              <p:nvPr/>
            </p:nvSpPr>
            <p:spPr>
              <a:xfrm>
                <a:off x="8050267" y="2022363"/>
                <a:ext cx="514885" cy="369332"/>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rPr>
                  <a:t>NIC</a:t>
                </a:r>
              </a:p>
            </p:txBody>
          </p:sp>
        </p:grpSp>
        <p:sp>
          <p:nvSpPr>
            <p:cNvPr id="54" name="Rectangle 53">
              <a:extLst>
                <a:ext uri="{FF2B5EF4-FFF2-40B4-BE49-F238E27FC236}">
                  <a16:creationId xmlns:a16="http://schemas.microsoft.com/office/drawing/2014/main" id="{32749BD8-002B-449C-8F2F-8359FF990BD3}"/>
                </a:ext>
              </a:extLst>
            </p:cNvPr>
            <p:cNvSpPr/>
            <p:nvPr/>
          </p:nvSpPr>
          <p:spPr>
            <a:xfrm>
              <a:off x="1922507" y="4431655"/>
              <a:ext cx="847091" cy="369332"/>
            </a:xfrm>
            <a:prstGeom prst="rect">
              <a:avLst/>
            </a:prstGeom>
          </p:spPr>
          <p:txBody>
            <a:bodyPr wrap="none">
              <a:spAutoFit/>
            </a:bodyPr>
            <a:lstStyle/>
            <a:p>
              <a:pPr defTabSz="914400"/>
              <a:r>
                <a:rPr lang="en-US" dirty="0">
                  <a:solidFill>
                    <a:prstClr val="black"/>
                  </a:solidFill>
                  <a:latin typeface="Calibri" panose="020F0502020204030204"/>
                </a:rPr>
                <a:t>Subnet</a:t>
              </a:r>
            </a:p>
          </p:txBody>
        </p:sp>
        <p:sp>
          <p:nvSpPr>
            <p:cNvPr id="55" name="Rectangle 54">
              <a:extLst>
                <a:ext uri="{FF2B5EF4-FFF2-40B4-BE49-F238E27FC236}">
                  <a16:creationId xmlns:a16="http://schemas.microsoft.com/office/drawing/2014/main" id="{7560462A-04ED-4776-9603-5B9695651962}"/>
                </a:ext>
              </a:extLst>
            </p:cNvPr>
            <p:cNvSpPr/>
            <p:nvPr/>
          </p:nvSpPr>
          <p:spPr>
            <a:xfrm>
              <a:off x="1438934" y="3944066"/>
              <a:ext cx="1673728" cy="369332"/>
            </a:xfrm>
            <a:prstGeom prst="rect">
              <a:avLst/>
            </a:prstGeom>
          </p:spPr>
          <p:txBody>
            <a:bodyPr wrap="none">
              <a:spAutoFit/>
            </a:bodyPr>
            <a:lstStyle/>
            <a:p>
              <a:pPr defTabSz="914400"/>
              <a:r>
                <a:rPr lang="en-US" dirty="0">
                  <a:solidFill>
                    <a:prstClr val="black"/>
                  </a:solidFill>
                  <a:latin typeface="Calibri" panose="020F0502020204030204"/>
                </a:rPr>
                <a:t>Virtual Network</a:t>
              </a:r>
            </a:p>
          </p:txBody>
        </p:sp>
        <p:grpSp>
          <p:nvGrpSpPr>
            <p:cNvPr id="56" name="Group 55">
              <a:extLst>
                <a:ext uri="{FF2B5EF4-FFF2-40B4-BE49-F238E27FC236}">
                  <a16:creationId xmlns:a16="http://schemas.microsoft.com/office/drawing/2014/main" id="{5BEB202C-4354-42A3-89D7-45553A5EF87F}"/>
                </a:ext>
              </a:extLst>
            </p:cNvPr>
            <p:cNvGrpSpPr/>
            <p:nvPr/>
          </p:nvGrpSpPr>
          <p:grpSpPr>
            <a:xfrm>
              <a:off x="2434521" y="4841746"/>
              <a:ext cx="1002118" cy="798085"/>
              <a:chOff x="7563034" y="1853676"/>
              <a:chExt cx="1002118" cy="798085"/>
            </a:xfrm>
          </p:grpSpPr>
          <p:grpSp>
            <p:nvGrpSpPr>
              <p:cNvPr id="57" name="Group 56">
                <a:extLst>
                  <a:ext uri="{FF2B5EF4-FFF2-40B4-BE49-F238E27FC236}">
                    <a16:creationId xmlns:a16="http://schemas.microsoft.com/office/drawing/2014/main" id="{D35EC841-EE2D-4FC3-B069-791AC24EC43A}"/>
                  </a:ext>
                </a:extLst>
              </p:cNvPr>
              <p:cNvGrpSpPr>
                <a:grpSpLocks noChangeAspect="1"/>
              </p:cNvGrpSpPr>
              <p:nvPr/>
            </p:nvGrpSpPr>
            <p:grpSpPr>
              <a:xfrm>
                <a:off x="7563034" y="1853676"/>
                <a:ext cx="416425" cy="798085"/>
                <a:chOff x="9191145" y="3741535"/>
                <a:chExt cx="774393" cy="2092980"/>
              </a:xfrm>
            </p:grpSpPr>
            <p:grpSp>
              <p:nvGrpSpPr>
                <p:cNvPr id="60" name="Group 59">
                  <a:extLst>
                    <a:ext uri="{FF2B5EF4-FFF2-40B4-BE49-F238E27FC236}">
                      <a16:creationId xmlns:a16="http://schemas.microsoft.com/office/drawing/2014/main" id="{724CE315-5655-4073-971E-EEEAA3215EF0}"/>
                    </a:ext>
                  </a:extLst>
                </p:cNvPr>
                <p:cNvGrpSpPr>
                  <a:grpSpLocks noChangeAspect="1"/>
                </p:cNvGrpSpPr>
                <p:nvPr/>
              </p:nvGrpSpPr>
              <p:grpSpPr>
                <a:xfrm>
                  <a:off x="9191145" y="3741535"/>
                  <a:ext cx="774393" cy="2092980"/>
                  <a:chOff x="6576174" y="3760259"/>
                  <a:chExt cx="1081539" cy="2764684"/>
                </a:xfrm>
              </p:grpSpPr>
              <p:grpSp>
                <p:nvGrpSpPr>
                  <p:cNvPr id="64" name="Group 63">
                    <a:extLst>
                      <a:ext uri="{FF2B5EF4-FFF2-40B4-BE49-F238E27FC236}">
                        <a16:creationId xmlns:a16="http://schemas.microsoft.com/office/drawing/2014/main" id="{915F9323-1D51-4F14-BDB0-8A52D5107B02}"/>
                      </a:ext>
                    </a:extLst>
                  </p:cNvPr>
                  <p:cNvGrpSpPr/>
                  <p:nvPr/>
                </p:nvGrpSpPr>
                <p:grpSpPr>
                  <a:xfrm>
                    <a:off x="6576174" y="3760259"/>
                    <a:ext cx="1081539" cy="2764684"/>
                    <a:chOff x="6576174" y="3760259"/>
                    <a:chExt cx="1081539" cy="2764684"/>
                  </a:xfrm>
                </p:grpSpPr>
                <p:grpSp>
                  <p:nvGrpSpPr>
                    <p:cNvPr id="66" name="Group 65">
                      <a:extLst>
                        <a:ext uri="{FF2B5EF4-FFF2-40B4-BE49-F238E27FC236}">
                          <a16:creationId xmlns:a16="http://schemas.microsoft.com/office/drawing/2014/main" id="{35F275B0-75CA-4955-A8A6-48717027969A}"/>
                        </a:ext>
                      </a:extLst>
                    </p:cNvPr>
                    <p:cNvGrpSpPr/>
                    <p:nvPr/>
                  </p:nvGrpSpPr>
                  <p:grpSpPr>
                    <a:xfrm>
                      <a:off x="6576174" y="3760259"/>
                      <a:ext cx="1081539" cy="2764684"/>
                      <a:chOff x="5365826" y="3709999"/>
                      <a:chExt cx="1074023" cy="2853208"/>
                    </a:xfrm>
                  </p:grpSpPr>
                  <p:sp>
                    <p:nvSpPr>
                      <p:cNvPr id="76" name="Rectangle 75">
                        <a:extLst>
                          <a:ext uri="{FF2B5EF4-FFF2-40B4-BE49-F238E27FC236}">
                            <a16:creationId xmlns:a16="http://schemas.microsoft.com/office/drawing/2014/main" id="{0C708256-D4C3-44D4-8E19-FEA11F14CBD9}"/>
                          </a:ext>
                        </a:extLst>
                      </p:cNvPr>
                      <p:cNvSpPr/>
                      <p:nvPr/>
                    </p:nvSpPr>
                    <p:spPr bwMode="auto">
                      <a:xfrm>
                        <a:off x="5365826" y="3709999"/>
                        <a:ext cx="1074023" cy="2853208"/>
                      </a:xfrm>
                      <a:prstGeom prst="rect">
                        <a:avLst/>
                      </a:prstGeom>
                      <a:solidFill>
                        <a:srgbClr val="FFFFFF">
                          <a:alpha val="69804"/>
                        </a:srgbClr>
                      </a:solidFill>
                      <a:ln w="12700" cap="flat" cmpd="sng" algn="ctr">
                        <a:solidFill>
                          <a:sysClr val="windowText" lastClr="000000"/>
                        </a:solidFill>
                        <a:prstDash val="solid"/>
                        <a:miter lim="800000"/>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eaLnBrk="1" fontAlgn="base" latinLnBrk="0" hangingPunct="1">
                          <a:lnSpc>
                            <a:spcPct val="90000"/>
                          </a:lnSpc>
                          <a:spcBef>
                            <a:spcPct val="0"/>
                          </a:spcBef>
                          <a:spcAft>
                            <a:spcPct val="0"/>
                          </a:spcAft>
                          <a:buClrTx/>
                          <a:buSzTx/>
                          <a:buFontTx/>
                          <a:buNone/>
                          <a:tabLst/>
                          <a:defRPr/>
                        </a:pPr>
                        <a:endParaRPr kumimoji="0" lang="en-US" sz="2400" b="0" i="0" u="none" strike="noStrike" kern="0" cap="none" spc="0" normalizeH="0" baseline="0" noProof="0" dirty="0">
                          <a:ln>
                            <a:noFill/>
                          </a:ln>
                          <a:gradFill>
                            <a:gsLst>
                              <a:gs pos="0">
                                <a:srgbClr val="FFFFFF"/>
                              </a:gs>
                              <a:gs pos="100000">
                                <a:srgbClr val="FFFFFF"/>
                              </a:gs>
                            </a:gsLst>
                            <a:lin ang="5400000" scaled="0"/>
                          </a:gradFill>
                          <a:effectLst/>
                          <a:uLnTx/>
                          <a:uFillTx/>
                          <a:latin typeface="Calibri" panose="020F0502020204030204"/>
                          <a:ea typeface="Segoe UI" pitchFamily="34" charset="0"/>
                          <a:cs typeface="Segoe UI" pitchFamily="34" charset="0"/>
                        </a:endParaRPr>
                      </a:p>
                    </p:txBody>
                  </p:sp>
                  <p:sp>
                    <p:nvSpPr>
                      <p:cNvPr id="77" name="Rectangle 76">
                        <a:extLst>
                          <a:ext uri="{FF2B5EF4-FFF2-40B4-BE49-F238E27FC236}">
                            <a16:creationId xmlns:a16="http://schemas.microsoft.com/office/drawing/2014/main" id="{8340B444-043F-4D0E-8538-C2326272350B}"/>
                          </a:ext>
                        </a:extLst>
                      </p:cNvPr>
                      <p:cNvSpPr/>
                      <p:nvPr/>
                    </p:nvSpPr>
                    <p:spPr bwMode="auto">
                      <a:xfrm>
                        <a:off x="5478169" y="4034937"/>
                        <a:ext cx="849330" cy="182880"/>
                      </a:xfrm>
                      <a:prstGeom prst="rect">
                        <a:avLst/>
                      </a:prstGeom>
                      <a:noFill/>
                      <a:ln w="9525" cap="flat" cmpd="sng" algn="ctr">
                        <a:solidFill>
                          <a:sysClr val="windowText" lastClr="000000"/>
                        </a:solidFill>
                        <a:prstDash val="solid"/>
                        <a:miter lim="800000"/>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eaLnBrk="1" fontAlgn="base" latinLnBrk="0" hangingPunct="1">
                          <a:lnSpc>
                            <a:spcPct val="90000"/>
                          </a:lnSpc>
                          <a:spcBef>
                            <a:spcPct val="0"/>
                          </a:spcBef>
                          <a:spcAft>
                            <a:spcPct val="0"/>
                          </a:spcAft>
                          <a:buClrTx/>
                          <a:buSzTx/>
                          <a:buFontTx/>
                          <a:buNone/>
                          <a:tabLst/>
                          <a:defRPr/>
                        </a:pPr>
                        <a:endParaRPr kumimoji="0" lang="en-US" sz="2400" b="0" i="0" u="none" strike="noStrike" kern="0" cap="none" spc="0" normalizeH="0" baseline="0" noProof="0" dirty="0">
                          <a:ln>
                            <a:noFill/>
                          </a:ln>
                          <a:gradFill>
                            <a:gsLst>
                              <a:gs pos="0">
                                <a:srgbClr val="FFFFFF"/>
                              </a:gs>
                              <a:gs pos="100000">
                                <a:srgbClr val="FFFFFF"/>
                              </a:gs>
                            </a:gsLst>
                            <a:lin ang="5400000" scaled="0"/>
                          </a:gradFill>
                          <a:effectLst/>
                          <a:uLnTx/>
                          <a:uFillTx/>
                          <a:latin typeface="Calibri" panose="020F0502020204030204"/>
                          <a:ea typeface="Segoe UI" pitchFamily="34" charset="0"/>
                          <a:cs typeface="Segoe UI" pitchFamily="34" charset="0"/>
                        </a:endParaRPr>
                      </a:p>
                    </p:txBody>
                  </p:sp>
                  <p:sp>
                    <p:nvSpPr>
                      <p:cNvPr id="78" name="Rectangle 77">
                        <a:extLst>
                          <a:ext uri="{FF2B5EF4-FFF2-40B4-BE49-F238E27FC236}">
                            <a16:creationId xmlns:a16="http://schemas.microsoft.com/office/drawing/2014/main" id="{61735650-E527-40D7-9D3A-2950CAFD29CD}"/>
                          </a:ext>
                        </a:extLst>
                      </p:cNvPr>
                      <p:cNvSpPr/>
                      <p:nvPr/>
                    </p:nvSpPr>
                    <p:spPr bwMode="auto">
                      <a:xfrm>
                        <a:off x="5478170" y="4215859"/>
                        <a:ext cx="849331" cy="182880"/>
                      </a:xfrm>
                      <a:prstGeom prst="rect">
                        <a:avLst/>
                      </a:prstGeom>
                      <a:noFill/>
                      <a:ln w="9525" cap="flat" cmpd="sng" algn="ctr">
                        <a:solidFill>
                          <a:sysClr val="windowText" lastClr="000000"/>
                        </a:solidFill>
                        <a:prstDash val="solid"/>
                        <a:miter lim="800000"/>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eaLnBrk="1" fontAlgn="base" latinLnBrk="0" hangingPunct="1">
                          <a:lnSpc>
                            <a:spcPct val="90000"/>
                          </a:lnSpc>
                          <a:spcBef>
                            <a:spcPct val="0"/>
                          </a:spcBef>
                          <a:spcAft>
                            <a:spcPct val="0"/>
                          </a:spcAft>
                          <a:buClrTx/>
                          <a:buSzTx/>
                          <a:buFontTx/>
                          <a:buNone/>
                          <a:tabLst/>
                          <a:defRPr/>
                        </a:pPr>
                        <a:r>
                          <a:rPr kumimoji="0" lang="en-US" sz="2400" b="0" i="0" u="none" strike="noStrike" kern="0" cap="none" spc="0" normalizeH="0" baseline="0" noProof="0" dirty="0">
                            <a:ln>
                              <a:noFill/>
                            </a:ln>
                            <a:gradFill>
                              <a:gsLst>
                                <a:gs pos="0">
                                  <a:srgbClr val="FFFFFF"/>
                                </a:gs>
                                <a:gs pos="100000">
                                  <a:srgbClr val="FFFFFF"/>
                                </a:gs>
                              </a:gsLst>
                              <a:lin ang="5400000" scaled="0"/>
                            </a:gradFill>
                            <a:effectLst/>
                            <a:uLnTx/>
                            <a:uFillTx/>
                            <a:latin typeface="Calibri" panose="020F0502020204030204"/>
                            <a:ea typeface="Segoe UI" pitchFamily="34" charset="0"/>
                            <a:cs typeface="Segoe UI" pitchFamily="34" charset="0"/>
                          </a:rPr>
                          <a:t> </a:t>
                        </a:r>
                      </a:p>
                    </p:txBody>
                  </p:sp>
                  <p:sp>
                    <p:nvSpPr>
                      <p:cNvPr id="79" name="Rectangle 78">
                        <a:extLst>
                          <a:ext uri="{FF2B5EF4-FFF2-40B4-BE49-F238E27FC236}">
                            <a16:creationId xmlns:a16="http://schemas.microsoft.com/office/drawing/2014/main" id="{FF14015A-0CE7-489A-B092-98606E484CC6}"/>
                          </a:ext>
                        </a:extLst>
                      </p:cNvPr>
                      <p:cNvSpPr/>
                      <p:nvPr/>
                    </p:nvSpPr>
                    <p:spPr bwMode="auto">
                      <a:xfrm>
                        <a:off x="5478170" y="4398739"/>
                        <a:ext cx="849331" cy="182880"/>
                      </a:xfrm>
                      <a:prstGeom prst="rect">
                        <a:avLst/>
                      </a:prstGeom>
                      <a:noFill/>
                      <a:ln w="9525" cap="flat" cmpd="sng" algn="ctr">
                        <a:solidFill>
                          <a:sysClr val="windowText" lastClr="000000"/>
                        </a:solidFill>
                        <a:prstDash val="solid"/>
                        <a:miter lim="800000"/>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eaLnBrk="1" fontAlgn="base" latinLnBrk="0" hangingPunct="1">
                          <a:lnSpc>
                            <a:spcPct val="90000"/>
                          </a:lnSpc>
                          <a:spcBef>
                            <a:spcPct val="0"/>
                          </a:spcBef>
                          <a:spcAft>
                            <a:spcPct val="0"/>
                          </a:spcAft>
                          <a:buClrTx/>
                          <a:buSzTx/>
                          <a:buFontTx/>
                          <a:buNone/>
                          <a:tabLst/>
                          <a:defRPr/>
                        </a:pPr>
                        <a:endParaRPr kumimoji="0" lang="en-US" sz="2400" b="0" i="0" u="none" strike="noStrike" kern="0" cap="none" spc="0" normalizeH="0" baseline="0" noProof="0" dirty="0">
                          <a:ln>
                            <a:noFill/>
                          </a:ln>
                          <a:gradFill>
                            <a:gsLst>
                              <a:gs pos="0">
                                <a:srgbClr val="FFFFFF"/>
                              </a:gs>
                              <a:gs pos="100000">
                                <a:srgbClr val="FFFFFF"/>
                              </a:gs>
                            </a:gsLst>
                            <a:lin ang="5400000" scaled="0"/>
                          </a:gradFill>
                          <a:effectLst/>
                          <a:uLnTx/>
                          <a:uFillTx/>
                          <a:latin typeface="Calibri" panose="020F0502020204030204"/>
                          <a:ea typeface="Segoe UI" pitchFamily="34" charset="0"/>
                          <a:cs typeface="Segoe UI" pitchFamily="34" charset="0"/>
                        </a:endParaRPr>
                      </a:p>
                    </p:txBody>
                  </p:sp>
                  <p:sp>
                    <p:nvSpPr>
                      <p:cNvPr id="80" name="Rectangle 79">
                        <a:extLst>
                          <a:ext uri="{FF2B5EF4-FFF2-40B4-BE49-F238E27FC236}">
                            <a16:creationId xmlns:a16="http://schemas.microsoft.com/office/drawing/2014/main" id="{538258F9-6A2C-469C-BD1F-42A83727B294}"/>
                          </a:ext>
                        </a:extLst>
                      </p:cNvPr>
                      <p:cNvSpPr/>
                      <p:nvPr/>
                    </p:nvSpPr>
                    <p:spPr bwMode="auto">
                      <a:xfrm>
                        <a:off x="5478170" y="4764122"/>
                        <a:ext cx="849331" cy="182880"/>
                      </a:xfrm>
                      <a:prstGeom prst="rect">
                        <a:avLst/>
                      </a:prstGeom>
                      <a:noFill/>
                      <a:ln w="9525" cap="flat" cmpd="sng" algn="ctr">
                        <a:solidFill>
                          <a:sysClr val="windowText" lastClr="000000"/>
                        </a:solidFill>
                        <a:prstDash val="solid"/>
                        <a:miter lim="800000"/>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eaLnBrk="1" fontAlgn="base" latinLnBrk="0" hangingPunct="1">
                          <a:lnSpc>
                            <a:spcPct val="90000"/>
                          </a:lnSpc>
                          <a:spcBef>
                            <a:spcPct val="0"/>
                          </a:spcBef>
                          <a:spcAft>
                            <a:spcPct val="0"/>
                          </a:spcAft>
                          <a:buClrTx/>
                          <a:buSzTx/>
                          <a:buFontTx/>
                          <a:buNone/>
                          <a:tabLst/>
                          <a:defRPr/>
                        </a:pPr>
                        <a:endParaRPr kumimoji="0" lang="en-US" sz="2400" b="0" i="0" u="none" strike="noStrike" kern="0" cap="none" spc="0" normalizeH="0" baseline="0" noProof="0" dirty="0">
                          <a:ln>
                            <a:noFill/>
                          </a:ln>
                          <a:gradFill>
                            <a:gsLst>
                              <a:gs pos="0">
                                <a:srgbClr val="FFFFFF"/>
                              </a:gs>
                              <a:gs pos="100000">
                                <a:srgbClr val="FFFFFF"/>
                              </a:gs>
                            </a:gsLst>
                            <a:lin ang="5400000" scaled="0"/>
                          </a:gradFill>
                          <a:effectLst/>
                          <a:uLnTx/>
                          <a:uFillTx/>
                          <a:latin typeface="Calibri" panose="020F0502020204030204"/>
                          <a:ea typeface="Segoe UI" pitchFamily="34" charset="0"/>
                          <a:cs typeface="Segoe UI" pitchFamily="34" charset="0"/>
                        </a:endParaRPr>
                      </a:p>
                    </p:txBody>
                  </p:sp>
                  <p:sp>
                    <p:nvSpPr>
                      <p:cNvPr id="81" name="Rectangle 80">
                        <a:extLst>
                          <a:ext uri="{FF2B5EF4-FFF2-40B4-BE49-F238E27FC236}">
                            <a16:creationId xmlns:a16="http://schemas.microsoft.com/office/drawing/2014/main" id="{944D3A8A-F008-4E29-A293-FFAC47BCBF22}"/>
                          </a:ext>
                        </a:extLst>
                      </p:cNvPr>
                      <p:cNvSpPr/>
                      <p:nvPr/>
                    </p:nvSpPr>
                    <p:spPr bwMode="auto">
                      <a:xfrm>
                        <a:off x="5478171" y="4947002"/>
                        <a:ext cx="849330" cy="182880"/>
                      </a:xfrm>
                      <a:prstGeom prst="rect">
                        <a:avLst/>
                      </a:prstGeom>
                      <a:noFill/>
                      <a:ln w="9525" cap="flat" cmpd="sng" algn="ctr">
                        <a:solidFill>
                          <a:sysClr val="windowText" lastClr="000000"/>
                        </a:solidFill>
                        <a:prstDash val="solid"/>
                        <a:miter lim="800000"/>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eaLnBrk="1" fontAlgn="base" latinLnBrk="0" hangingPunct="1">
                          <a:lnSpc>
                            <a:spcPct val="90000"/>
                          </a:lnSpc>
                          <a:spcBef>
                            <a:spcPct val="0"/>
                          </a:spcBef>
                          <a:spcAft>
                            <a:spcPct val="0"/>
                          </a:spcAft>
                          <a:buClrTx/>
                          <a:buSzTx/>
                          <a:buFontTx/>
                          <a:buNone/>
                          <a:tabLst/>
                          <a:defRPr/>
                        </a:pPr>
                        <a:endParaRPr kumimoji="0" lang="en-US" sz="2400" b="0" i="0" u="none" strike="noStrike" kern="0" cap="none" spc="0" normalizeH="0" baseline="0" noProof="0" dirty="0">
                          <a:ln>
                            <a:noFill/>
                          </a:ln>
                          <a:gradFill>
                            <a:gsLst>
                              <a:gs pos="0">
                                <a:srgbClr val="FFFFFF"/>
                              </a:gs>
                              <a:gs pos="100000">
                                <a:srgbClr val="FFFFFF"/>
                              </a:gs>
                            </a:gsLst>
                            <a:lin ang="5400000" scaled="0"/>
                          </a:gradFill>
                          <a:effectLst/>
                          <a:uLnTx/>
                          <a:uFillTx/>
                          <a:latin typeface="Calibri" panose="020F0502020204030204"/>
                          <a:ea typeface="Segoe UI" pitchFamily="34" charset="0"/>
                          <a:cs typeface="Segoe UI" pitchFamily="34" charset="0"/>
                        </a:endParaRPr>
                      </a:p>
                    </p:txBody>
                  </p:sp>
                  <p:sp>
                    <p:nvSpPr>
                      <p:cNvPr id="82" name="Rectangle 81">
                        <a:extLst>
                          <a:ext uri="{FF2B5EF4-FFF2-40B4-BE49-F238E27FC236}">
                            <a16:creationId xmlns:a16="http://schemas.microsoft.com/office/drawing/2014/main" id="{00E792CB-ACC2-47A2-AACF-DDF7262AAE3F}"/>
                          </a:ext>
                        </a:extLst>
                      </p:cNvPr>
                      <p:cNvSpPr/>
                      <p:nvPr/>
                    </p:nvSpPr>
                    <p:spPr bwMode="auto">
                      <a:xfrm>
                        <a:off x="5478171" y="5131673"/>
                        <a:ext cx="849331" cy="182880"/>
                      </a:xfrm>
                      <a:prstGeom prst="rect">
                        <a:avLst/>
                      </a:prstGeom>
                      <a:noFill/>
                      <a:ln w="9525" cap="flat" cmpd="sng" algn="ctr">
                        <a:solidFill>
                          <a:sysClr val="windowText" lastClr="000000"/>
                        </a:solidFill>
                        <a:prstDash val="solid"/>
                        <a:miter lim="800000"/>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eaLnBrk="1" fontAlgn="base" latinLnBrk="0" hangingPunct="1">
                          <a:lnSpc>
                            <a:spcPct val="90000"/>
                          </a:lnSpc>
                          <a:spcBef>
                            <a:spcPct val="0"/>
                          </a:spcBef>
                          <a:spcAft>
                            <a:spcPct val="0"/>
                          </a:spcAft>
                          <a:buClrTx/>
                          <a:buSzTx/>
                          <a:buFontTx/>
                          <a:buNone/>
                          <a:tabLst/>
                          <a:defRPr/>
                        </a:pPr>
                        <a:r>
                          <a:rPr kumimoji="0" lang="en-US" sz="2400" b="0" i="0" u="none" strike="noStrike" kern="0" cap="none" spc="0" normalizeH="0" baseline="0" noProof="0" dirty="0">
                            <a:ln>
                              <a:noFill/>
                            </a:ln>
                            <a:gradFill>
                              <a:gsLst>
                                <a:gs pos="0">
                                  <a:srgbClr val="FFFFFF"/>
                                </a:gs>
                                <a:gs pos="100000">
                                  <a:srgbClr val="FFFFFF"/>
                                </a:gs>
                              </a:gsLst>
                              <a:lin ang="5400000" scaled="0"/>
                            </a:gradFill>
                            <a:effectLst/>
                            <a:uLnTx/>
                            <a:uFillTx/>
                            <a:latin typeface="Calibri" panose="020F0502020204030204"/>
                            <a:ea typeface="Segoe UI" pitchFamily="34" charset="0"/>
                            <a:cs typeface="Segoe UI" pitchFamily="34" charset="0"/>
                          </a:rPr>
                          <a:t> </a:t>
                        </a:r>
                      </a:p>
                    </p:txBody>
                  </p:sp>
                  <p:sp>
                    <p:nvSpPr>
                      <p:cNvPr id="83" name="Rectangle 82">
                        <a:extLst>
                          <a:ext uri="{FF2B5EF4-FFF2-40B4-BE49-F238E27FC236}">
                            <a16:creationId xmlns:a16="http://schemas.microsoft.com/office/drawing/2014/main" id="{B0BF506F-C57C-4461-BC0B-0FAA281E8C9F}"/>
                          </a:ext>
                        </a:extLst>
                      </p:cNvPr>
                      <p:cNvSpPr/>
                      <p:nvPr/>
                    </p:nvSpPr>
                    <p:spPr bwMode="auto">
                      <a:xfrm>
                        <a:off x="5478171" y="5313426"/>
                        <a:ext cx="849331" cy="182880"/>
                      </a:xfrm>
                      <a:prstGeom prst="rect">
                        <a:avLst/>
                      </a:prstGeom>
                      <a:noFill/>
                      <a:ln w="9525" cap="flat" cmpd="sng" algn="ctr">
                        <a:solidFill>
                          <a:sysClr val="windowText" lastClr="000000"/>
                        </a:solidFill>
                        <a:prstDash val="solid"/>
                        <a:miter lim="800000"/>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eaLnBrk="1" fontAlgn="base" latinLnBrk="0" hangingPunct="1">
                          <a:lnSpc>
                            <a:spcPct val="90000"/>
                          </a:lnSpc>
                          <a:spcBef>
                            <a:spcPct val="0"/>
                          </a:spcBef>
                          <a:spcAft>
                            <a:spcPct val="0"/>
                          </a:spcAft>
                          <a:buClrTx/>
                          <a:buSzTx/>
                          <a:buFontTx/>
                          <a:buNone/>
                          <a:tabLst/>
                          <a:defRPr/>
                        </a:pPr>
                        <a:endParaRPr kumimoji="0" lang="en-US" sz="2400" b="0" i="0" u="none" strike="noStrike" kern="0" cap="none" spc="0" normalizeH="0" baseline="0" noProof="0" dirty="0">
                          <a:ln>
                            <a:noFill/>
                          </a:ln>
                          <a:gradFill>
                            <a:gsLst>
                              <a:gs pos="0">
                                <a:srgbClr val="FFFFFF"/>
                              </a:gs>
                              <a:gs pos="100000">
                                <a:srgbClr val="FFFFFF"/>
                              </a:gs>
                            </a:gsLst>
                            <a:lin ang="5400000" scaled="0"/>
                          </a:gradFill>
                          <a:effectLst/>
                          <a:uLnTx/>
                          <a:uFillTx/>
                          <a:latin typeface="Calibri" panose="020F0502020204030204"/>
                          <a:ea typeface="Segoe UI" pitchFamily="34" charset="0"/>
                          <a:cs typeface="Segoe UI" pitchFamily="34" charset="0"/>
                        </a:endParaRPr>
                      </a:p>
                    </p:txBody>
                  </p:sp>
                  <p:sp>
                    <p:nvSpPr>
                      <p:cNvPr id="84" name="Rectangle 83">
                        <a:extLst>
                          <a:ext uri="{FF2B5EF4-FFF2-40B4-BE49-F238E27FC236}">
                            <a16:creationId xmlns:a16="http://schemas.microsoft.com/office/drawing/2014/main" id="{7D43C5D7-02A4-4433-BCA4-19363A4E4201}"/>
                          </a:ext>
                        </a:extLst>
                      </p:cNvPr>
                      <p:cNvSpPr/>
                      <p:nvPr/>
                    </p:nvSpPr>
                    <p:spPr bwMode="auto">
                      <a:xfrm>
                        <a:off x="5478170" y="5496306"/>
                        <a:ext cx="849331" cy="182880"/>
                      </a:xfrm>
                      <a:prstGeom prst="rect">
                        <a:avLst/>
                      </a:prstGeom>
                      <a:noFill/>
                      <a:ln w="9525" cap="flat" cmpd="sng" algn="ctr">
                        <a:solidFill>
                          <a:sysClr val="windowText" lastClr="000000"/>
                        </a:solidFill>
                        <a:prstDash val="solid"/>
                        <a:miter lim="800000"/>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eaLnBrk="1" fontAlgn="base" latinLnBrk="0" hangingPunct="1">
                          <a:lnSpc>
                            <a:spcPct val="90000"/>
                          </a:lnSpc>
                          <a:spcBef>
                            <a:spcPct val="0"/>
                          </a:spcBef>
                          <a:spcAft>
                            <a:spcPct val="0"/>
                          </a:spcAft>
                          <a:buClrTx/>
                          <a:buSzTx/>
                          <a:buFontTx/>
                          <a:buNone/>
                          <a:tabLst/>
                          <a:defRPr/>
                        </a:pPr>
                        <a:endParaRPr kumimoji="0" lang="en-US" sz="2400" b="0" i="0" u="none" strike="noStrike" kern="0" cap="none" spc="0" normalizeH="0" baseline="0" noProof="0" dirty="0">
                          <a:ln>
                            <a:noFill/>
                          </a:ln>
                          <a:gradFill>
                            <a:gsLst>
                              <a:gs pos="0">
                                <a:srgbClr val="FFFFFF"/>
                              </a:gs>
                              <a:gs pos="100000">
                                <a:srgbClr val="FFFFFF"/>
                              </a:gs>
                            </a:gsLst>
                            <a:lin ang="5400000" scaled="0"/>
                          </a:gradFill>
                          <a:effectLst/>
                          <a:uLnTx/>
                          <a:uFillTx/>
                          <a:latin typeface="Calibri" panose="020F0502020204030204"/>
                          <a:ea typeface="Segoe UI" pitchFamily="34" charset="0"/>
                          <a:cs typeface="Segoe UI" pitchFamily="34" charset="0"/>
                        </a:endParaRPr>
                      </a:p>
                    </p:txBody>
                  </p:sp>
                  <p:sp>
                    <p:nvSpPr>
                      <p:cNvPr id="85" name="Freeform 34">
                        <a:extLst>
                          <a:ext uri="{FF2B5EF4-FFF2-40B4-BE49-F238E27FC236}">
                            <a16:creationId xmlns:a16="http://schemas.microsoft.com/office/drawing/2014/main" id="{645CA46F-F785-49D1-B400-8A4D957ACB9C}"/>
                          </a:ext>
                        </a:extLst>
                      </p:cNvPr>
                      <p:cNvSpPr>
                        <a:spLocks/>
                      </p:cNvSpPr>
                      <p:nvPr/>
                    </p:nvSpPr>
                    <p:spPr bwMode="auto">
                      <a:xfrm>
                        <a:off x="5478170" y="3943870"/>
                        <a:ext cx="299923" cy="14043"/>
                      </a:xfrm>
                      <a:custGeom>
                        <a:avLst/>
                        <a:gdLst>
                          <a:gd name="T0" fmla="*/ 64 w 65"/>
                          <a:gd name="T1" fmla="*/ 3 h 3"/>
                          <a:gd name="T2" fmla="*/ 2 w 65"/>
                          <a:gd name="T3" fmla="*/ 3 h 3"/>
                          <a:gd name="T4" fmla="*/ 0 w 65"/>
                          <a:gd name="T5" fmla="*/ 2 h 3"/>
                          <a:gd name="T6" fmla="*/ 2 w 65"/>
                          <a:gd name="T7" fmla="*/ 0 h 3"/>
                          <a:gd name="T8" fmla="*/ 64 w 65"/>
                          <a:gd name="T9" fmla="*/ 0 h 3"/>
                          <a:gd name="T10" fmla="*/ 65 w 65"/>
                          <a:gd name="T11" fmla="*/ 2 h 3"/>
                          <a:gd name="T12" fmla="*/ 64 w 65"/>
                          <a:gd name="T13" fmla="*/ 3 h 3"/>
                        </a:gdLst>
                        <a:ahLst/>
                        <a:cxnLst>
                          <a:cxn ang="0">
                            <a:pos x="T0" y="T1"/>
                          </a:cxn>
                          <a:cxn ang="0">
                            <a:pos x="T2" y="T3"/>
                          </a:cxn>
                          <a:cxn ang="0">
                            <a:pos x="T4" y="T5"/>
                          </a:cxn>
                          <a:cxn ang="0">
                            <a:pos x="T6" y="T7"/>
                          </a:cxn>
                          <a:cxn ang="0">
                            <a:pos x="T8" y="T9"/>
                          </a:cxn>
                          <a:cxn ang="0">
                            <a:pos x="T10" y="T11"/>
                          </a:cxn>
                          <a:cxn ang="0">
                            <a:pos x="T12" y="T13"/>
                          </a:cxn>
                        </a:cxnLst>
                        <a:rect l="0" t="0" r="r" b="b"/>
                        <a:pathLst>
                          <a:path w="65" h="3">
                            <a:moveTo>
                              <a:pt x="64" y="3"/>
                            </a:moveTo>
                            <a:cubicBezTo>
                              <a:pt x="2" y="3"/>
                              <a:pt x="2" y="3"/>
                              <a:pt x="2" y="3"/>
                            </a:cubicBezTo>
                            <a:cubicBezTo>
                              <a:pt x="1" y="3"/>
                              <a:pt x="0" y="2"/>
                              <a:pt x="0" y="2"/>
                            </a:cubicBezTo>
                            <a:cubicBezTo>
                              <a:pt x="0" y="1"/>
                              <a:pt x="1" y="0"/>
                              <a:pt x="2" y="0"/>
                            </a:cubicBezTo>
                            <a:cubicBezTo>
                              <a:pt x="64" y="0"/>
                              <a:pt x="64" y="0"/>
                              <a:pt x="64" y="0"/>
                            </a:cubicBezTo>
                            <a:cubicBezTo>
                              <a:pt x="65" y="0"/>
                              <a:pt x="65" y="1"/>
                              <a:pt x="65" y="2"/>
                            </a:cubicBezTo>
                            <a:cubicBezTo>
                              <a:pt x="65" y="2"/>
                              <a:pt x="65" y="3"/>
                              <a:pt x="64" y="3"/>
                            </a:cubicBezTo>
                            <a:close/>
                          </a:path>
                        </a:pathLst>
                      </a:custGeom>
                      <a:solidFill>
                        <a:sysClr val="window" lastClr="FFFFFF">
                          <a:lumMod val="75000"/>
                        </a:sysClr>
                      </a:solidFill>
                      <a:ln w="6350">
                        <a:noFill/>
                        <a:round/>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latin typeface="Calibri" panose="020F0502020204030204"/>
                        </a:endParaRPr>
                      </a:p>
                    </p:txBody>
                  </p:sp>
                  <p:sp>
                    <p:nvSpPr>
                      <p:cNvPr id="86" name="Freeform 35">
                        <a:extLst>
                          <a:ext uri="{FF2B5EF4-FFF2-40B4-BE49-F238E27FC236}">
                            <a16:creationId xmlns:a16="http://schemas.microsoft.com/office/drawing/2014/main" id="{63BFCC21-F5C7-4216-9457-33795B6C50D1}"/>
                          </a:ext>
                        </a:extLst>
                      </p:cNvPr>
                      <p:cNvSpPr>
                        <a:spLocks/>
                      </p:cNvSpPr>
                      <p:nvPr/>
                    </p:nvSpPr>
                    <p:spPr bwMode="auto">
                      <a:xfrm>
                        <a:off x="5478170" y="3906755"/>
                        <a:ext cx="299923" cy="14043"/>
                      </a:xfrm>
                      <a:custGeom>
                        <a:avLst/>
                        <a:gdLst>
                          <a:gd name="T0" fmla="*/ 64 w 65"/>
                          <a:gd name="T1" fmla="*/ 3 h 3"/>
                          <a:gd name="T2" fmla="*/ 2 w 65"/>
                          <a:gd name="T3" fmla="*/ 3 h 3"/>
                          <a:gd name="T4" fmla="*/ 0 w 65"/>
                          <a:gd name="T5" fmla="*/ 2 h 3"/>
                          <a:gd name="T6" fmla="*/ 2 w 65"/>
                          <a:gd name="T7" fmla="*/ 0 h 3"/>
                          <a:gd name="T8" fmla="*/ 64 w 65"/>
                          <a:gd name="T9" fmla="*/ 0 h 3"/>
                          <a:gd name="T10" fmla="*/ 65 w 65"/>
                          <a:gd name="T11" fmla="*/ 2 h 3"/>
                          <a:gd name="T12" fmla="*/ 64 w 65"/>
                          <a:gd name="T13" fmla="*/ 3 h 3"/>
                        </a:gdLst>
                        <a:ahLst/>
                        <a:cxnLst>
                          <a:cxn ang="0">
                            <a:pos x="T0" y="T1"/>
                          </a:cxn>
                          <a:cxn ang="0">
                            <a:pos x="T2" y="T3"/>
                          </a:cxn>
                          <a:cxn ang="0">
                            <a:pos x="T4" y="T5"/>
                          </a:cxn>
                          <a:cxn ang="0">
                            <a:pos x="T6" y="T7"/>
                          </a:cxn>
                          <a:cxn ang="0">
                            <a:pos x="T8" y="T9"/>
                          </a:cxn>
                          <a:cxn ang="0">
                            <a:pos x="T10" y="T11"/>
                          </a:cxn>
                          <a:cxn ang="0">
                            <a:pos x="T12" y="T13"/>
                          </a:cxn>
                        </a:cxnLst>
                        <a:rect l="0" t="0" r="r" b="b"/>
                        <a:pathLst>
                          <a:path w="65" h="3">
                            <a:moveTo>
                              <a:pt x="64" y="3"/>
                            </a:moveTo>
                            <a:cubicBezTo>
                              <a:pt x="2" y="3"/>
                              <a:pt x="2" y="3"/>
                              <a:pt x="2" y="3"/>
                            </a:cubicBezTo>
                            <a:cubicBezTo>
                              <a:pt x="1" y="3"/>
                              <a:pt x="0" y="2"/>
                              <a:pt x="0" y="2"/>
                            </a:cubicBezTo>
                            <a:cubicBezTo>
                              <a:pt x="0" y="1"/>
                              <a:pt x="1" y="0"/>
                              <a:pt x="2" y="0"/>
                            </a:cubicBezTo>
                            <a:cubicBezTo>
                              <a:pt x="64" y="0"/>
                              <a:pt x="64" y="0"/>
                              <a:pt x="64" y="0"/>
                            </a:cubicBezTo>
                            <a:cubicBezTo>
                              <a:pt x="65" y="0"/>
                              <a:pt x="65" y="1"/>
                              <a:pt x="65" y="2"/>
                            </a:cubicBezTo>
                            <a:cubicBezTo>
                              <a:pt x="65" y="2"/>
                              <a:pt x="65" y="3"/>
                              <a:pt x="64" y="3"/>
                            </a:cubicBezTo>
                            <a:close/>
                          </a:path>
                        </a:pathLst>
                      </a:custGeom>
                      <a:solidFill>
                        <a:sysClr val="window" lastClr="FFFFFF">
                          <a:lumMod val="75000"/>
                        </a:sysClr>
                      </a:solidFill>
                      <a:ln w="6350">
                        <a:noFill/>
                        <a:round/>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latin typeface="Calibri" panose="020F0502020204030204"/>
                        </a:endParaRPr>
                      </a:p>
                    </p:txBody>
                  </p:sp>
                  <p:sp>
                    <p:nvSpPr>
                      <p:cNvPr id="87" name="Freeform 36">
                        <a:extLst>
                          <a:ext uri="{FF2B5EF4-FFF2-40B4-BE49-F238E27FC236}">
                            <a16:creationId xmlns:a16="http://schemas.microsoft.com/office/drawing/2014/main" id="{62C713DB-513F-432B-96F5-8B41A796BF93}"/>
                          </a:ext>
                        </a:extLst>
                      </p:cNvPr>
                      <p:cNvSpPr>
                        <a:spLocks/>
                      </p:cNvSpPr>
                      <p:nvPr/>
                    </p:nvSpPr>
                    <p:spPr bwMode="auto">
                      <a:xfrm>
                        <a:off x="5478170" y="3870644"/>
                        <a:ext cx="299923" cy="14043"/>
                      </a:xfrm>
                      <a:custGeom>
                        <a:avLst/>
                        <a:gdLst>
                          <a:gd name="T0" fmla="*/ 64 w 65"/>
                          <a:gd name="T1" fmla="*/ 3 h 3"/>
                          <a:gd name="T2" fmla="*/ 2 w 65"/>
                          <a:gd name="T3" fmla="*/ 3 h 3"/>
                          <a:gd name="T4" fmla="*/ 0 w 65"/>
                          <a:gd name="T5" fmla="*/ 2 h 3"/>
                          <a:gd name="T6" fmla="*/ 2 w 65"/>
                          <a:gd name="T7" fmla="*/ 0 h 3"/>
                          <a:gd name="T8" fmla="*/ 64 w 65"/>
                          <a:gd name="T9" fmla="*/ 0 h 3"/>
                          <a:gd name="T10" fmla="*/ 65 w 65"/>
                          <a:gd name="T11" fmla="*/ 2 h 3"/>
                          <a:gd name="T12" fmla="*/ 64 w 65"/>
                          <a:gd name="T13" fmla="*/ 3 h 3"/>
                        </a:gdLst>
                        <a:ahLst/>
                        <a:cxnLst>
                          <a:cxn ang="0">
                            <a:pos x="T0" y="T1"/>
                          </a:cxn>
                          <a:cxn ang="0">
                            <a:pos x="T2" y="T3"/>
                          </a:cxn>
                          <a:cxn ang="0">
                            <a:pos x="T4" y="T5"/>
                          </a:cxn>
                          <a:cxn ang="0">
                            <a:pos x="T6" y="T7"/>
                          </a:cxn>
                          <a:cxn ang="0">
                            <a:pos x="T8" y="T9"/>
                          </a:cxn>
                          <a:cxn ang="0">
                            <a:pos x="T10" y="T11"/>
                          </a:cxn>
                          <a:cxn ang="0">
                            <a:pos x="T12" y="T13"/>
                          </a:cxn>
                        </a:cxnLst>
                        <a:rect l="0" t="0" r="r" b="b"/>
                        <a:pathLst>
                          <a:path w="65" h="3">
                            <a:moveTo>
                              <a:pt x="64" y="3"/>
                            </a:moveTo>
                            <a:cubicBezTo>
                              <a:pt x="2" y="3"/>
                              <a:pt x="2" y="3"/>
                              <a:pt x="2" y="3"/>
                            </a:cubicBezTo>
                            <a:cubicBezTo>
                              <a:pt x="1" y="3"/>
                              <a:pt x="0" y="2"/>
                              <a:pt x="0" y="2"/>
                            </a:cubicBezTo>
                            <a:cubicBezTo>
                              <a:pt x="0" y="1"/>
                              <a:pt x="1" y="0"/>
                              <a:pt x="2" y="0"/>
                            </a:cubicBezTo>
                            <a:cubicBezTo>
                              <a:pt x="64" y="0"/>
                              <a:pt x="64" y="0"/>
                              <a:pt x="64" y="0"/>
                            </a:cubicBezTo>
                            <a:cubicBezTo>
                              <a:pt x="65" y="0"/>
                              <a:pt x="65" y="1"/>
                              <a:pt x="65" y="2"/>
                            </a:cubicBezTo>
                            <a:cubicBezTo>
                              <a:pt x="65" y="2"/>
                              <a:pt x="65" y="3"/>
                              <a:pt x="64" y="3"/>
                            </a:cubicBezTo>
                            <a:close/>
                          </a:path>
                        </a:pathLst>
                      </a:custGeom>
                      <a:solidFill>
                        <a:sysClr val="window" lastClr="FFFFFF">
                          <a:lumMod val="75000"/>
                        </a:sysClr>
                      </a:solidFill>
                      <a:ln w="6350">
                        <a:noFill/>
                        <a:round/>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latin typeface="Calibri" panose="020F0502020204030204"/>
                        </a:endParaRPr>
                      </a:p>
                    </p:txBody>
                  </p:sp>
                  <p:sp>
                    <p:nvSpPr>
                      <p:cNvPr id="88" name="Freeform 37">
                        <a:extLst>
                          <a:ext uri="{FF2B5EF4-FFF2-40B4-BE49-F238E27FC236}">
                            <a16:creationId xmlns:a16="http://schemas.microsoft.com/office/drawing/2014/main" id="{ABC1F08B-61A3-4D81-A519-A30458137C06}"/>
                          </a:ext>
                        </a:extLst>
                      </p:cNvPr>
                      <p:cNvSpPr>
                        <a:spLocks/>
                      </p:cNvSpPr>
                      <p:nvPr/>
                    </p:nvSpPr>
                    <p:spPr bwMode="auto">
                      <a:xfrm>
                        <a:off x="5478170" y="3834533"/>
                        <a:ext cx="299923" cy="13040"/>
                      </a:xfrm>
                      <a:custGeom>
                        <a:avLst/>
                        <a:gdLst>
                          <a:gd name="T0" fmla="*/ 64 w 65"/>
                          <a:gd name="T1" fmla="*/ 3 h 3"/>
                          <a:gd name="T2" fmla="*/ 2 w 65"/>
                          <a:gd name="T3" fmla="*/ 3 h 3"/>
                          <a:gd name="T4" fmla="*/ 0 w 65"/>
                          <a:gd name="T5" fmla="*/ 2 h 3"/>
                          <a:gd name="T6" fmla="*/ 2 w 65"/>
                          <a:gd name="T7" fmla="*/ 0 h 3"/>
                          <a:gd name="T8" fmla="*/ 64 w 65"/>
                          <a:gd name="T9" fmla="*/ 0 h 3"/>
                          <a:gd name="T10" fmla="*/ 65 w 65"/>
                          <a:gd name="T11" fmla="*/ 2 h 3"/>
                          <a:gd name="T12" fmla="*/ 64 w 65"/>
                          <a:gd name="T13" fmla="*/ 3 h 3"/>
                        </a:gdLst>
                        <a:ahLst/>
                        <a:cxnLst>
                          <a:cxn ang="0">
                            <a:pos x="T0" y="T1"/>
                          </a:cxn>
                          <a:cxn ang="0">
                            <a:pos x="T2" y="T3"/>
                          </a:cxn>
                          <a:cxn ang="0">
                            <a:pos x="T4" y="T5"/>
                          </a:cxn>
                          <a:cxn ang="0">
                            <a:pos x="T6" y="T7"/>
                          </a:cxn>
                          <a:cxn ang="0">
                            <a:pos x="T8" y="T9"/>
                          </a:cxn>
                          <a:cxn ang="0">
                            <a:pos x="T10" y="T11"/>
                          </a:cxn>
                          <a:cxn ang="0">
                            <a:pos x="T12" y="T13"/>
                          </a:cxn>
                        </a:cxnLst>
                        <a:rect l="0" t="0" r="r" b="b"/>
                        <a:pathLst>
                          <a:path w="65" h="3">
                            <a:moveTo>
                              <a:pt x="64" y="3"/>
                            </a:moveTo>
                            <a:cubicBezTo>
                              <a:pt x="2" y="3"/>
                              <a:pt x="2" y="3"/>
                              <a:pt x="2" y="3"/>
                            </a:cubicBezTo>
                            <a:cubicBezTo>
                              <a:pt x="1" y="3"/>
                              <a:pt x="0" y="2"/>
                              <a:pt x="0" y="2"/>
                            </a:cubicBezTo>
                            <a:cubicBezTo>
                              <a:pt x="0" y="1"/>
                              <a:pt x="1" y="0"/>
                              <a:pt x="2" y="0"/>
                            </a:cubicBezTo>
                            <a:cubicBezTo>
                              <a:pt x="64" y="0"/>
                              <a:pt x="64" y="0"/>
                              <a:pt x="64" y="0"/>
                            </a:cubicBezTo>
                            <a:cubicBezTo>
                              <a:pt x="65" y="0"/>
                              <a:pt x="65" y="1"/>
                              <a:pt x="65" y="2"/>
                            </a:cubicBezTo>
                            <a:cubicBezTo>
                              <a:pt x="65" y="2"/>
                              <a:pt x="65" y="3"/>
                              <a:pt x="64" y="3"/>
                            </a:cubicBezTo>
                            <a:close/>
                          </a:path>
                        </a:pathLst>
                      </a:custGeom>
                      <a:solidFill>
                        <a:sysClr val="window" lastClr="FFFFFF">
                          <a:lumMod val="75000"/>
                        </a:sysClr>
                      </a:solidFill>
                      <a:ln w="6350">
                        <a:noFill/>
                        <a:round/>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latin typeface="Calibri" panose="020F0502020204030204"/>
                        </a:endParaRPr>
                      </a:p>
                    </p:txBody>
                  </p:sp>
                  <p:sp>
                    <p:nvSpPr>
                      <p:cNvPr id="89" name="Freeform 34">
                        <a:extLst>
                          <a:ext uri="{FF2B5EF4-FFF2-40B4-BE49-F238E27FC236}">
                            <a16:creationId xmlns:a16="http://schemas.microsoft.com/office/drawing/2014/main" id="{C0B65951-561C-49B7-931C-0AC397622372}"/>
                          </a:ext>
                        </a:extLst>
                      </p:cNvPr>
                      <p:cNvSpPr>
                        <a:spLocks/>
                      </p:cNvSpPr>
                      <p:nvPr/>
                    </p:nvSpPr>
                    <p:spPr bwMode="auto">
                      <a:xfrm flipH="1">
                        <a:off x="6027579" y="3943869"/>
                        <a:ext cx="299923" cy="14043"/>
                      </a:xfrm>
                      <a:custGeom>
                        <a:avLst/>
                        <a:gdLst>
                          <a:gd name="T0" fmla="*/ 64 w 65"/>
                          <a:gd name="T1" fmla="*/ 3 h 3"/>
                          <a:gd name="T2" fmla="*/ 2 w 65"/>
                          <a:gd name="T3" fmla="*/ 3 h 3"/>
                          <a:gd name="T4" fmla="*/ 0 w 65"/>
                          <a:gd name="T5" fmla="*/ 2 h 3"/>
                          <a:gd name="T6" fmla="*/ 2 w 65"/>
                          <a:gd name="T7" fmla="*/ 0 h 3"/>
                          <a:gd name="T8" fmla="*/ 64 w 65"/>
                          <a:gd name="T9" fmla="*/ 0 h 3"/>
                          <a:gd name="T10" fmla="*/ 65 w 65"/>
                          <a:gd name="T11" fmla="*/ 2 h 3"/>
                          <a:gd name="T12" fmla="*/ 64 w 65"/>
                          <a:gd name="T13" fmla="*/ 3 h 3"/>
                        </a:gdLst>
                        <a:ahLst/>
                        <a:cxnLst>
                          <a:cxn ang="0">
                            <a:pos x="T0" y="T1"/>
                          </a:cxn>
                          <a:cxn ang="0">
                            <a:pos x="T2" y="T3"/>
                          </a:cxn>
                          <a:cxn ang="0">
                            <a:pos x="T4" y="T5"/>
                          </a:cxn>
                          <a:cxn ang="0">
                            <a:pos x="T6" y="T7"/>
                          </a:cxn>
                          <a:cxn ang="0">
                            <a:pos x="T8" y="T9"/>
                          </a:cxn>
                          <a:cxn ang="0">
                            <a:pos x="T10" y="T11"/>
                          </a:cxn>
                          <a:cxn ang="0">
                            <a:pos x="T12" y="T13"/>
                          </a:cxn>
                        </a:cxnLst>
                        <a:rect l="0" t="0" r="r" b="b"/>
                        <a:pathLst>
                          <a:path w="65" h="3">
                            <a:moveTo>
                              <a:pt x="64" y="3"/>
                            </a:moveTo>
                            <a:cubicBezTo>
                              <a:pt x="2" y="3"/>
                              <a:pt x="2" y="3"/>
                              <a:pt x="2" y="3"/>
                            </a:cubicBezTo>
                            <a:cubicBezTo>
                              <a:pt x="1" y="3"/>
                              <a:pt x="0" y="2"/>
                              <a:pt x="0" y="2"/>
                            </a:cubicBezTo>
                            <a:cubicBezTo>
                              <a:pt x="0" y="1"/>
                              <a:pt x="1" y="0"/>
                              <a:pt x="2" y="0"/>
                            </a:cubicBezTo>
                            <a:cubicBezTo>
                              <a:pt x="64" y="0"/>
                              <a:pt x="64" y="0"/>
                              <a:pt x="64" y="0"/>
                            </a:cubicBezTo>
                            <a:cubicBezTo>
                              <a:pt x="65" y="0"/>
                              <a:pt x="65" y="1"/>
                              <a:pt x="65" y="2"/>
                            </a:cubicBezTo>
                            <a:cubicBezTo>
                              <a:pt x="65" y="2"/>
                              <a:pt x="65" y="3"/>
                              <a:pt x="64" y="3"/>
                            </a:cubicBezTo>
                            <a:close/>
                          </a:path>
                        </a:pathLst>
                      </a:custGeom>
                      <a:solidFill>
                        <a:sysClr val="window" lastClr="FFFFFF">
                          <a:lumMod val="75000"/>
                        </a:sysClr>
                      </a:solidFill>
                      <a:ln w="6350">
                        <a:noFill/>
                        <a:round/>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latin typeface="Calibri" panose="020F0502020204030204"/>
                        </a:endParaRPr>
                      </a:p>
                    </p:txBody>
                  </p:sp>
                  <p:sp>
                    <p:nvSpPr>
                      <p:cNvPr id="90" name="Freeform 35">
                        <a:extLst>
                          <a:ext uri="{FF2B5EF4-FFF2-40B4-BE49-F238E27FC236}">
                            <a16:creationId xmlns:a16="http://schemas.microsoft.com/office/drawing/2014/main" id="{1778506B-A4F6-43DF-9E2F-BCFBFDF311C7}"/>
                          </a:ext>
                        </a:extLst>
                      </p:cNvPr>
                      <p:cNvSpPr>
                        <a:spLocks/>
                      </p:cNvSpPr>
                      <p:nvPr/>
                    </p:nvSpPr>
                    <p:spPr bwMode="auto">
                      <a:xfrm flipH="1">
                        <a:off x="6027579" y="3906753"/>
                        <a:ext cx="299923" cy="14043"/>
                      </a:xfrm>
                      <a:custGeom>
                        <a:avLst/>
                        <a:gdLst>
                          <a:gd name="T0" fmla="*/ 64 w 65"/>
                          <a:gd name="T1" fmla="*/ 3 h 3"/>
                          <a:gd name="T2" fmla="*/ 2 w 65"/>
                          <a:gd name="T3" fmla="*/ 3 h 3"/>
                          <a:gd name="T4" fmla="*/ 0 w 65"/>
                          <a:gd name="T5" fmla="*/ 2 h 3"/>
                          <a:gd name="T6" fmla="*/ 2 w 65"/>
                          <a:gd name="T7" fmla="*/ 0 h 3"/>
                          <a:gd name="T8" fmla="*/ 64 w 65"/>
                          <a:gd name="T9" fmla="*/ 0 h 3"/>
                          <a:gd name="T10" fmla="*/ 65 w 65"/>
                          <a:gd name="T11" fmla="*/ 2 h 3"/>
                          <a:gd name="T12" fmla="*/ 64 w 65"/>
                          <a:gd name="T13" fmla="*/ 3 h 3"/>
                        </a:gdLst>
                        <a:ahLst/>
                        <a:cxnLst>
                          <a:cxn ang="0">
                            <a:pos x="T0" y="T1"/>
                          </a:cxn>
                          <a:cxn ang="0">
                            <a:pos x="T2" y="T3"/>
                          </a:cxn>
                          <a:cxn ang="0">
                            <a:pos x="T4" y="T5"/>
                          </a:cxn>
                          <a:cxn ang="0">
                            <a:pos x="T6" y="T7"/>
                          </a:cxn>
                          <a:cxn ang="0">
                            <a:pos x="T8" y="T9"/>
                          </a:cxn>
                          <a:cxn ang="0">
                            <a:pos x="T10" y="T11"/>
                          </a:cxn>
                          <a:cxn ang="0">
                            <a:pos x="T12" y="T13"/>
                          </a:cxn>
                        </a:cxnLst>
                        <a:rect l="0" t="0" r="r" b="b"/>
                        <a:pathLst>
                          <a:path w="65" h="3">
                            <a:moveTo>
                              <a:pt x="64" y="3"/>
                            </a:moveTo>
                            <a:cubicBezTo>
                              <a:pt x="2" y="3"/>
                              <a:pt x="2" y="3"/>
                              <a:pt x="2" y="3"/>
                            </a:cubicBezTo>
                            <a:cubicBezTo>
                              <a:pt x="1" y="3"/>
                              <a:pt x="0" y="2"/>
                              <a:pt x="0" y="2"/>
                            </a:cubicBezTo>
                            <a:cubicBezTo>
                              <a:pt x="0" y="1"/>
                              <a:pt x="1" y="0"/>
                              <a:pt x="2" y="0"/>
                            </a:cubicBezTo>
                            <a:cubicBezTo>
                              <a:pt x="64" y="0"/>
                              <a:pt x="64" y="0"/>
                              <a:pt x="64" y="0"/>
                            </a:cubicBezTo>
                            <a:cubicBezTo>
                              <a:pt x="65" y="0"/>
                              <a:pt x="65" y="1"/>
                              <a:pt x="65" y="2"/>
                            </a:cubicBezTo>
                            <a:cubicBezTo>
                              <a:pt x="65" y="2"/>
                              <a:pt x="65" y="3"/>
                              <a:pt x="64" y="3"/>
                            </a:cubicBezTo>
                            <a:close/>
                          </a:path>
                        </a:pathLst>
                      </a:custGeom>
                      <a:solidFill>
                        <a:sysClr val="window" lastClr="FFFFFF">
                          <a:lumMod val="75000"/>
                        </a:sysClr>
                      </a:solidFill>
                      <a:ln w="6350">
                        <a:noFill/>
                        <a:round/>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latin typeface="Calibri" panose="020F0502020204030204"/>
                        </a:endParaRPr>
                      </a:p>
                    </p:txBody>
                  </p:sp>
                  <p:sp>
                    <p:nvSpPr>
                      <p:cNvPr id="91" name="Freeform 36">
                        <a:extLst>
                          <a:ext uri="{FF2B5EF4-FFF2-40B4-BE49-F238E27FC236}">
                            <a16:creationId xmlns:a16="http://schemas.microsoft.com/office/drawing/2014/main" id="{BA463852-F7FA-4160-AB00-BA6DCC4A657B}"/>
                          </a:ext>
                        </a:extLst>
                      </p:cNvPr>
                      <p:cNvSpPr>
                        <a:spLocks/>
                      </p:cNvSpPr>
                      <p:nvPr/>
                    </p:nvSpPr>
                    <p:spPr bwMode="auto">
                      <a:xfrm flipH="1">
                        <a:off x="6027579" y="3870643"/>
                        <a:ext cx="299923" cy="14043"/>
                      </a:xfrm>
                      <a:custGeom>
                        <a:avLst/>
                        <a:gdLst>
                          <a:gd name="T0" fmla="*/ 64 w 65"/>
                          <a:gd name="T1" fmla="*/ 3 h 3"/>
                          <a:gd name="T2" fmla="*/ 2 w 65"/>
                          <a:gd name="T3" fmla="*/ 3 h 3"/>
                          <a:gd name="T4" fmla="*/ 0 w 65"/>
                          <a:gd name="T5" fmla="*/ 2 h 3"/>
                          <a:gd name="T6" fmla="*/ 2 w 65"/>
                          <a:gd name="T7" fmla="*/ 0 h 3"/>
                          <a:gd name="T8" fmla="*/ 64 w 65"/>
                          <a:gd name="T9" fmla="*/ 0 h 3"/>
                          <a:gd name="T10" fmla="*/ 65 w 65"/>
                          <a:gd name="T11" fmla="*/ 2 h 3"/>
                          <a:gd name="T12" fmla="*/ 64 w 65"/>
                          <a:gd name="T13" fmla="*/ 3 h 3"/>
                        </a:gdLst>
                        <a:ahLst/>
                        <a:cxnLst>
                          <a:cxn ang="0">
                            <a:pos x="T0" y="T1"/>
                          </a:cxn>
                          <a:cxn ang="0">
                            <a:pos x="T2" y="T3"/>
                          </a:cxn>
                          <a:cxn ang="0">
                            <a:pos x="T4" y="T5"/>
                          </a:cxn>
                          <a:cxn ang="0">
                            <a:pos x="T6" y="T7"/>
                          </a:cxn>
                          <a:cxn ang="0">
                            <a:pos x="T8" y="T9"/>
                          </a:cxn>
                          <a:cxn ang="0">
                            <a:pos x="T10" y="T11"/>
                          </a:cxn>
                          <a:cxn ang="0">
                            <a:pos x="T12" y="T13"/>
                          </a:cxn>
                        </a:cxnLst>
                        <a:rect l="0" t="0" r="r" b="b"/>
                        <a:pathLst>
                          <a:path w="65" h="3">
                            <a:moveTo>
                              <a:pt x="64" y="3"/>
                            </a:moveTo>
                            <a:cubicBezTo>
                              <a:pt x="2" y="3"/>
                              <a:pt x="2" y="3"/>
                              <a:pt x="2" y="3"/>
                            </a:cubicBezTo>
                            <a:cubicBezTo>
                              <a:pt x="1" y="3"/>
                              <a:pt x="0" y="2"/>
                              <a:pt x="0" y="2"/>
                            </a:cubicBezTo>
                            <a:cubicBezTo>
                              <a:pt x="0" y="1"/>
                              <a:pt x="1" y="0"/>
                              <a:pt x="2" y="0"/>
                            </a:cubicBezTo>
                            <a:cubicBezTo>
                              <a:pt x="64" y="0"/>
                              <a:pt x="64" y="0"/>
                              <a:pt x="64" y="0"/>
                            </a:cubicBezTo>
                            <a:cubicBezTo>
                              <a:pt x="65" y="0"/>
                              <a:pt x="65" y="1"/>
                              <a:pt x="65" y="2"/>
                            </a:cubicBezTo>
                            <a:cubicBezTo>
                              <a:pt x="65" y="2"/>
                              <a:pt x="65" y="3"/>
                              <a:pt x="64" y="3"/>
                            </a:cubicBezTo>
                            <a:close/>
                          </a:path>
                        </a:pathLst>
                      </a:custGeom>
                      <a:solidFill>
                        <a:sysClr val="window" lastClr="FFFFFF">
                          <a:lumMod val="75000"/>
                        </a:sysClr>
                      </a:solidFill>
                      <a:ln w="6350">
                        <a:noFill/>
                        <a:round/>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latin typeface="Calibri" panose="020F0502020204030204"/>
                        </a:endParaRPr>
                      </a:p>
                    </p:txBody>
                  </p:sp>
                  <p:sp>
                    <p:nvSpPr>
                      <p:cNvPr id="92" name="Freeform 37">
                        <a:extLst>
                          <a:ext uri="{FF2B5EF4-FFF2-40B4-BE49-F238E27FC236}">
                            <a16:creationId xmlns:a16="http://schemas.microsoft.com/office/drawing/2014/main" id="{7BEAB276-1FB7-4AE4-B6C2-4B9F188841DC}"/>
                          </a:ext>
                        </a:extLst>
                      </p:cNvPr>
                      <p:cNvSpPr>
                        <a:spLocks/>
                      </p:cNvSpPr>
                      <p:nvPr/>
                    </p:nvSpPr>
                    <p:spPr bwMode="auto">
                      <a:xfrm flipH="1">
                        <a:off x="6027579" y="3834532"/>
                        <a:ext cx="299923" cy="13040"/>
                      </a:xfrm>
                      <a:custGeom>
                        <a:avLst/>
                        <a:gdLst>
                          <a:gd name="T0" fmla="*/ 64 w 65"/>
                          <a:gd name="T1" fmla="*/ 3 h 3"/>
                          <a:gd name="T2" fmla="*/ 2 w 65"/>
                          <a:gd name="T3" fmla="*/ 3 h 3"/>
                          <a:gd name="T4" fmla="*/ 0 w 65"/>
                          <a:gd name="T5" fmla="*/ 2 h 3"/>
                          <a:gd name="T6" fmla="*/ 2 w 65"/>
                          <a:gd name="T7" fmla="*/ 0 h 3"/>
                          <a:gd name="T8" fmla="*/ 64 w 65"/>
                          <a:gd name="T9" fmla="*/ 0 h 3"/>
                          <a:gd name="T10" fmla="*/ 65 w 65"/>
                          <a:gd name="T11" fmla="*/ 2 h 3"/>
                          <a:gd name="T12" fmla="*/ 64 w 65"/>
                          <a:gd name="T13" fmla="*/ 3 h 3"/>
                        </a:gdLst>
                        <a:ahLst/>
                        <a:cxnLst>
                          <a:cxn ang="0">
                            <a:pos x="T0" y="T1"/>
                          </a:cxn>
                          <a:cxn ang="0">
                            <a:pos x="T2" y="T3"/>
                          </a:cxn>
                          <a:cxn ang="0">
                            <a:pos x="T4" y="T5"/>
                          </a:cxn>
                          <a:cxn ang="0">
                            <a:pos x="T6" y="T7"/>
                          </a:cxn>
                          <a:cxn ang="0">
                            <a:pos x="T8" y="T9"/>
                          </a:cxn>
                          <a:cxn ang="0">
                            <a:pos x="T10" y="T11"/>
                          </a:cxn>
                          <a:cxn ang="0">
                            <a:pos x="T12" y="T13"/>
                          </a:cxn>
                        </a:cxnLst>
                        <a:rect l="0" t="0" r="r" b="b"/>
                        <a:pathLst>
                          <a:path w="65" h="3">
                            <a:moveTo>
                              <a:pt x="64" y="3"/>
                            </a:moveTo>
                            <a:cubicBezTo>
                              <a:pt x="2" y="3"/>
                              <a:pt x="2" y="3"/>
                              <a:pt x="2" y="3"/>
                            </a:cubicBezTo>
                            <a:cubicBezTo>
                              <a:pt x="1" y="3"/>
                              <a:pt x="0" y="2"/>
                              <a:pt x="0" y="2"/>
                            </a:cubicBezTo>
                            <a:cubicBezTo>
                              <a:pt x="0" y="1"/>
                              <a:pt x="1" y="0"/>
                              <a:pt x="2" y="0"/>
                            </a:cubicBezTo>
                            <a:cubicBezTo>
                              <a:pt x="64" y="0"/>
                              <a:pt x="64" y="0"/>
                              <a:pt x="64" y="0"/>
                            </a:cubicBezTo>
                            <a:cubicBezTo>
                              <a:pt x="65" y="0"/>
                              <a:pt x="65" y="1"/>
                              <a:pt x="65" y="2"/>
                            </a:cubicBezTo>
                            <a:cubicBezTo>
                              <a:pt x="65" y="2"/>
                              <a:pt x="65" y="3"/>
                              <a:pt x="64" y="3"/>
                            </a:cubicBezTo>
                            <a:close/>
                          </a:path>
                        </a:pathLst>
                      </a:custGeom>
                      <a:solidFill>
                        <a:sysClr val="window" lastClr="FFFFFF">
                          <a:lumMod val="75000"/>
                        </a:sysClr>
                      </a:solidFill>
                      <a:ln w="6350">
                        <a:noFill/>
                        <a:round/>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latin typeface="Calibri" panose="020F0502020204030204"/>
                        </a:endParaRPr>
                      </a:p>
                    </p:txBody>
                  </p:sp>
                  <p:sp>
                    <p:nvSpPr>
                      <p:cNvPr id="93" name="Rectangle 42">
                        <a:extLst>
                          <a:ext uri="{FF2B5EF4-FFF2-40B4-BE49-F238E27FC236}">
                            <a16:creationId xmlns:a16="http://schemas.microsoft.com/office/drawing/2014/main" id="{8FC31C71-9AE4-4DFC-ACB5-BE3AD8E20899}"/>
                          </a:ext>
                        </a:extLst>
                      </p:cNvPr>
                      <p:cNvSpPr>
                        <a:spLocks noChangeArrowheads="1"/>
                      </p:cNvSpPr>
                      <p:nvPr/>
                    </p:nvSpPr>
                    <p:spPr bwMode="auto">
                      <a:xfrm>
                        <a:off x="5480021" y="5797778"/>
                        <a:ext cx="868674" cy="13040"/>
                      </a:xfrm>
                      <a:prstGeom prst="rect">
                        <a:avLst/>
                      </a:prstGeom>
                      <a:solidFill>
                        <a:sysClr val="windowText" lastClr="000000"/>
                      </a:solidFill>
                      <a:ln w="6350">
                        <a:noFill/>
                        <a:miter lim="800000"/>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latin typeface="Calibri" panose="020F0502020204030204"/>
                        </a:endParaRPr>
                      </a:p>
                    </p:txBody>
                  </p:sp>
                </p:grpSp>
                <p:sp>
                  <p:nvSpPr>
                    <p:cNvPr id="67" name="Freeform 8">
                      <a:extLst>
                        <a:ext uri="{FF2B5EF4-FFF2-40B4-BE49-F238E27FC236}">
                          <a16:creationId xmlns:a16="http://schemas.microsoft.com/office/drawing/2014/main" id="{5D482F69-947F-45BF-9CC2-D19A3684E7B5}"/>
                        </a:ext>
                      </a:extLst>
                    </p:cNvPr>
                    <p:cNvSpPr>
                      <a:spLocks/>
                    </p:cNvSpPr>
                    <p:nvPr/>
                  </p:nvSpPr>
                  <p:spPr bwMode="auto">
                    <a:xfrm>
                      <a:off x="7317062" y="4126258"/>
                      <a:ext cx="188580" cy="64198"/>
                    </a:xfrm>
                    <a:custGeom>
                      <a:avLst/>
                      <a:gdLst>
                        <a:gd name="T0" fmla="*/ 41 w 41"/>
                        <a:gd name="T1" fmla="*/ 0 h 14"/>
                        <a:gd name="T2" fmla="*/ 6 w 41"/>
                        <a:gd name="T3" fmla="*/ 0 h 14"/>
                        <a:gd name="T4" fmla="*/ 0 w 41"/>
                        <a:gd name="T5" fmla="*/ 7 h 14"/>
                        <a:gd name="T6" fmla="*/ 6 w 41"/>
                        <a:gd name="T7" fmla="*/ 14 h 14"/>
                        <a:gd name="T8" fmla="*/ 41 w 41"/>
                        <a:gd name="T9" fmla="*/ 14 h 14"/>
                        <a:gd name="T10" fmla="*/ 41 w 41"/>
                        <a:gd name="T11" fmla="*/ 0 h 14"/>
                      </a:gdLst>
                      <a:ahLst/>
                      <a:cxnLst>
                        <a:cxn ang="0">
                          <a:pos x="T0" y="T1"/>
                        </a:cxn>
                        <a:cxn ang="0">
                          <a:pos x="T2" y="T3"/>
                        </a:cxn>
                        <a:cxn ang="0">
                          <a:pos x="T4" y="T5"/>
                        </a:cxn>
                        <a:cxn ang="0">
                          <a:pos x="T6" y="T7"/>
                        </a:cxn>
                        <a:cxn ang="0">
                          <a:pos x="T8" y="T9"/>
                        </a:cxn>
                        <a:cxn ang="0">
                          <a:pos x="T10" y="T11"/>
                        </a:cxn>
                      </a:cxnLst>
                      <a:rect l="0" t="0" r="r" b="b"/>
                      <a:pathLst>
                        <a:path w="41" h="14">
                          <a:moveTo>
                            <a:pt x="41" y="0"/>
                          </a:moveTo>
                          <a:cubicBezTo>
                            <a:pt x="6" y="0"/>
                            <a:pt x="6" y="0"/>
                            <a:pt x="6" y="0"/>
                          </a:cubicBezTo>
                          <a:cubicBezTo>
                            <a:pt x="3" y="0"/>
                            <a:pt x="0" y="3"/>
                            <a:pt x="0" y="7"/>
                          </a:cubicBezTo>
                          <a:cubicBezTo>
                            <a:pt x="0" y="11"/>
                            <a:pt x="3" y="14"/>
                            <a:pt x="6" y="14"/>
                          </a:cubicBezTo>
                          <a:cubicBezTo>
                            <a:pt x="41" y="14"/>
                            <a:pt x="41" y="14"/>
                            <a:pt x="41" y="14"/>
                          </a:cubicBezTo>
                          <a:lnTo>
                            <a:pt x="41" y="0"/>
                          </a:lnTo>
                          <a:close/>
                        </a:path>
                      </a:pathLst>
                    </a:custGeom>
                    <a:solidFill>
                      <a:srgbClr val="0072C6"/>
                    </a:solidFill>
                    <a:ln w="9525">
                      <a:noFill/>
                      <a:round/>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latin typeface="Calibri" panose="020F0502020204030204"/>
                      </a:endParaRPr>
                    </a:p>
                  </p:txBody>
                </p:sp>
                <p:sp>
                  <p:nvSpPr>
                    <p:cNvPr id="68" name="Freeform 8">
                      <a:extLst>
                        <a:ext uri="{FF2B5EF4-FFF2-40B4-BE49-F238E27FC236}">
                          <a16:creationId xmlns:a16="http://schemas.microsoft.com/office/drawing/2014/main" id="{4BB5DC1D-583F-42F8-B092-ECF207142762}"/>
                        </a:ext>
                      </a:extLst>
                    </p:cNvPr>
                    <p:cNvSpPr>
                      <a:spLocks/>
                    </p:cNvSpPr>
                    <p:nvPr/>
                  </p:nvSpPr>
                  <p:spPr bwMode="auto">
                    <a:xfrm>
                      <a:off x="7317062" y="4304332"/>
                      <a:ext cx="188580" cy="64198"/>
                    </a:xfrm>
                    <a:custGeom>
                      <a:avLst/>
                      <a:gdLst>
                        <a:gd name="T0" fmla="*/ 41 w 41"/>
                        <a:gd name="T1" fmla="*/ 0 h 14"/>
                        <a:gd name="T2" fmla="*/ 6 w 41"/>
                        <a:gd name="T3" fmla="*/ 0 h 14"/>
                        <a:gd name="T4" fmla="*/ 0 w 41"/>
                        <a:gd name="T5" fmla="*/ 7 h 14"/>
                        <a:gd name="T6" fmla="*/ 6 w 41"/>
                        <a:gd name="T7" fmla="*/ 14 h 14"/>
                        <a:gd name="T8" fmla="*/ 41 w 41"/>
                        <a:gd name="T9" fmla="*/ 14 h 14"/>
                        <a:gd name="T10" fmla="*/ 41 w 41"/>
                        <a:gd name="T11" fmla="*/ 0 h 14"/>
                      </a:gdLst>
                      <a:ahLst/>
                      <a:cxnLst>
                        <a:cxn ang="0">
                          <a:pos x="T0" y="T1"/>
                        </a:cxn>
                        <a:cxn ang="0">
                          <a:pos x="T2" y="T3"/>
                        </a:cxn>
                        <a:cxn ang="0">
                          <a:pos x="T4" y="T5"/>
                        </a:cxn>
                        <a:cxn ang="0">
                          <a:pos x="T6" y="T7"/>
                        </a:cxn>
                        <a:cxn ang="0">
                          <a:pos x="T8" y="T9"/>
                        </a:cxn>
                        <a:cxn ang="0">
                          <a:pos x="T10" y="T11"/>
                        </a:cxn>
                      </a:cxnLst>
                      <a:rect l="0" t="0" r="r" b="b"/>
                      <a:pathLst>
                        <a:path w="41" h="14">
                          <a:moveTo>
                            <a:pt x="41" y="0"/>
                          </a:moveTo>
                          <a:cubicBezTo>
                            <a:pt x="6" y="0"/>
                            <a:pt x="6" y="0"/>
                            <a:pt x="6" y="0"/>
                          </a:cubicBezTo>
                          <a:cubicBezTo>
                            <a:pt x="3" y="0"/>
                            <a:pt x="0" y="3"/>
                            <a:pt x="0" y="7"/>
                          </a:cubicBezTo>
                          <a:cubicBezTo>
                            <a:pt x="0" y="11"/>
                            <a:pt x="3" y="14"/>
                            <a:pt x="6" y="14"/>
                          </a:cubicBezTo>
                          <a:cubicBezTo>
                            <a:pt x="41" y="14"/>
                            <a:pt x="41" y="14"/>
                            <a:pt x="41" y="14"/>
                          </a:cubicBezTo>
                          <a:lnTo>
                            <a:pt x="41" y="0"/>
                          </a:lnTo>
                          <a:close/>
                        </a:path>
                      </a:pathLst>
                    </a:custGeom>
                    <a:solidFill>
                      <a:srgbClr val="0072C6"/>
                    </a:solidFill>
                    <a:ln w="9525">
                      <a:noFill/>
                      <a:round/>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latin typeface="Calibri" panose="020F0502020204030204"/>
                      </a:endParaRPr>
                    </a:p>
                  </p:txBody>
                </p:sp>
                <p:sp>
                  <p:nvSpPr>
                    <p:cNvPr id="69" name="Freeform 8">
                      <a:extLst>
                        <a:ext uri="{FF2B5EF4-FFF2-40B4-BE49-F238E27FC236}">
                          <a16:creationId xmlns:a16="http://schemas.microsoft.com/office/drawing/2014/main" id="{D633AEB9-16D4-412B-9C55-2EA6C13742A5}"/>
                        </a:ext>
                      </a:extLst>
                    </p:cNvPr>
                    <p:cNvSpPr>
                      <a:spLocks/>
                    </p:cNvSpPr>
                    <p:nvPr/>
                  </p:nvSpPr>
                  <p:spPr bwMode="auto">
                    <a:xfrm>
                      <a:off x="7317062" y="4490080"/>
                      <a:ext cx="188580" cy="64198"/>
                    </a:xfrm>
                    <a:custGeom>
                      <a:avLst/>
                      <a:gdLst>
                        <a:gd name="T0" fmla="*/ 41 w 41"/>
                        <a:gd name="T1" fmla="*/ 0 h 14"/>
                        <a:gd name="T2" fmla="*/ 6 w 41"/>
                        <a:gd name="T3" fmla="*/ 0 h 14"/>
                        <a:gd name="T4" fmla="*/ 0 w 41"/>
                        <a:gd name="T5" fmla="*/ 7 h 14"/>
                        <a:gd name="T6" fmla="*/ 6 w 41"/>
                        <a:gd name="T7" fmla="*/ 14 h 14"/>
                        <a:gd name="T8" fmla="*/ 41 w 41"/>
                        <a:gd name="T9" fmla="*/ 14 h 14"/>
                        <a:gd name="T10" fmla="*/ 41 w 41"/>
                        <a:gd name="T11" fmla="*/ 0 h 14"/>
                      </a:gdLst>
                      <a:ahLst/>
                      <a:cxnLst>
                        <a:cxn ang="0">
                          <a:pos x="T0" y="T1"/>
                        </a:cxn>
                        <a:cxn ang="0">
                          <a:pos x="T2" y="T3"/>
                        </a:cxn>
                        <a:cxn ang="0">
                          <a:pos x="T4" y="T5"/>
                        </a:cxn>
                        <a:cxn ang="0">
                          <a:pos x="T6" y="T7"/>
                        </a:cxn>
                        <a:cxn ang="0">
                          <a:pos x="T8" y="T9"/>
                        </a:cxn>
                        <a:cxn ang="0">
                          <a:pos x="T10" y="T11"/>
                        </a:cxn>
                      </a:cxnLst>
                      <a:rect l="0" t="0" r="r" b="b"/>
                      <a:pathLst>
                        <a:path w="41" h="14">
                          <a:moveTo>
                            <a:pt x="41" y="0"/>
                          </a:moveTo>
                          <a:cubicBezTo>
                            <a:pt x="6" y="0"/>
                            <a:pt x="6" y="0"/>
                            <a:pt x="6" y="0"/>
                          </a:cubicBezTo>
                          <a:cubicBezTo>
                            <a:pt x="3" y="0"/>
                            <a:pt x="0" y="3"/>
                            <a:pt x="0" y="7"/>
                          </a:cubicBezTo>
                          <a:cubicBezTo>
                            <a:pt x="0" y="11"/>
                            <a:pt x="3" y="14"/>
                            <a:pt x="6" y="14"/>
                          </a:cubicBezTo>
                          <a:cubicBezTo>
                            <a:pt x="41" y="14"/>
                            <a:pt x="41" y="14"/>
                            <a:pt x="41" y="14"/>
                          </a:cubicBezTo>
                          <a:lnTo>
                            <a:pt x="41" y="0"/>
                          </a:lnTo>
                          <a:close/>
                        </a:path>
                      </a:pathLst>
                    </a:custGeom>
                    <a:solidFill>
                      <a:srgbClr val="0072C6"/>
                    </a:solidFill>
                    <a:ln w="9525">
                      <a:noFill/>
                      <a:round/>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latin typeface="Calibri" panose="020F0502020204030204"/>
                      </a:endParaRPr>
                    </a:p>
                  </p:txBody>
                </p:sp>
                <p:sp>
                  <p:nvSpPr>
                    <p:cNvPr id="70" name="Freeform 8">
                      <a:extLst>
                        <a:ext uri="{FF2B5EF4-FFF2-40B4-BE49-F238E27FC236}">
                          <a16:creationId xmlns:a16="http://schemas.microsoft.com/office/drawing/2014/main" id="{24548291-2BC6-4DDF-84C9-EBD3572CAD99}"/>
                        </a:ext>
                      </a:extLst>
                    </p:cNvPr>
                    <p:cNvSpPr>
                      <a:spLocks/>
                    </p:cNvSpPr>
                    <p:nvPr/>
                  </p:nvSpPr>
                  <p:spPr bwMode="auto">
                    <a:xfrm>
                      <a:off x="7320696" y="4666368"/>
                      <a:ext cx="188580" cy="64198"/>
                    </a:xfrm>
                    <a:custGeom>
                      <a:avLst/>
                      <a:gdLst>
                        <a:gd name="T0" fmla="*/ 41 w 41"/>
                        <a:gd name="T1" fmla="*/ 0 h 14"/>
                        <a:gd name="T2" fmla="*/ 6 w 41"/>
                        <a:gd name="T3" fmla="*/ 0 h 14"/>
                        <a:gd name="T4" fmla="*/ 0 w 41"/>
                        <a:gd name="T5" fmla="*/ 7 h 14"/>
                        <a:gd name="T6" fmla="*/ 6 w 41"/>
                        <a:gd name="T7" fmla="*/ 14 h 14"/>
                        <a:gd name="T8" fmla="*/ 41 w 41"/>
                        <a:gd name="T9" fmla="*/ 14 h 14"/>
                        <a:gd name="T10" fmla="*/ 41 w 41"/>
                        <a:gd name="T11" fmla="*/ 0 h 14"/>
                      </a:gdLst>
                      <a:ahLst/>
                      <a:cxnLst>
                        <a:cxn ang="0">
                          <a:pos x="T0" y="T1"/>
                        </a:cxn>
                        <a:cxn ang="0">
                          <a:pos x="T2" y="T3"/>
                        </a:cxn>
                        <a:cxn ang="0">
                          <a:pos x="T4" y="T5"/>
                        </a:cxn>
                        <a:cxn ang="0">
                          <a:pos x="T6" y="T7"/>
                        </a:cxn>
                        <a:cxn ang="0">
                          <a:pos x="T8" y="T9"/>
                        </a:cxn>
                        <a:cxn ang="0">
                          <a:pos x="T10" y="T11"/>
                        </a:cxn>
                      </a:cxnLst>
                      <a:rect l="0" t="0" r="r" b="b"/>
                      <a:pathLst>
                        <a:path w="41" h="14">
                          <a:moveTo>
                            <a:pt x="41" y="0"/>
                          </a:moveTo>
                          <a:cubicBezTo>
                            <a:pt x="6" y="0"/>
                            <a:pt x="6" y="0"/>
                            <a:pt x="6" y="0"/>
                          </a:cubicBezTo>
                          <a:cubicBezTo>
                            <a:pt x="3" y="0"/>
                            <a:pt x="0" y="3"/>
                            <a:pt x="0" y="7"/>
                          </a:cubicBezTo>
                          <a:cubicBezTo>
                            <a:pt x="0" y="11"/>
                            <a:pt x="3" y="14"/>
                            <a:pt x="6" y="14"/>
                          </a:cubicBezTo>
                          <a:cubicBezTo>
                            <a:pt x="41" y="14"/>
                            <a:pt x="41" y="14"/>
                            <a:pt x="41" y="14"/>
                          </a:cubicBezTo>
                          <a:lnTo>
                            <a:pt x="41" y="0"/>
                          </a:lnTo>
                          <a:close/>
                        </a:path>
                      </a:pathLst>
                    </a:custGeom>
                    <a:solidFill>
                      <a:srgbClr val="0072C6"/>
                    </a:solidFill>
                    <a:ln w="9525">
                      <a:noFill/>
                      <a:round/>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latin typeface="Calibri" panose="020F0502020204030204"/>
                      </a:endParaRPr>
                    </a:p>
                  </p:txBody>
                </p:sp>
                <p:sp>
                  <p:nvSpPr>
                    <p:cNvPr id="71" name="Freeform 8">
                      <a:extLst>
                        <a:ext uri="{FF2B5EF4-FFF2-40B4-BE49-F238E27FC236}">
                          <a16:creationId xmlns:a16="http://schemas.microsoft.com/office/drawing/2014/main" id="{8269FE88-6CAF-41DB-8F27-C854A4101585}"/>
                        </a:ext>
                      </a:extLst>
                    </p:cNvPr>
                    <p:cNvSpPr>
                      <a:spLocks/>
                    </p:cNvSpPr>
                    <p:nvPr/>
                  </p:nvSpPr>
                  <p:spPr bwMode="auto">
                    <a:xfrm>
                      <a:off x="7320696" y="4846841"/>
                      <a:ext cx="188580" cy="64198"/>
                    </a:xfrm>
                    <a:custGeom>
                      <a:avLst/>
                      <a:gdLst>
                        <a:gd name="T0" fmla="*/ 41 w 41"/>
                        <a:gd name="T1" fmla="*/ 0 h 14"/>
                        <a:gd name="T2" fmla="*/ 6 w 41"/>
                        <a:gd name="T3" fmla="*/ 0 h 14"/>
                        <a:gd name="T4" fmla="*/ 0 w 41"/>
                        <a:gd name="T5" fmla="*/ 7 h 14"/>
                        <a:gd name="T6" fmla="*/ 6 w 41"/>
                        <a:gd name="T7" fmla="*/ 14 h 14"/>
                        <a:gd name="T8" fmla="*/ 41 w 41"/>
                        <a:gd name="T9" fmla="*/ 14 h 14"/>
                        <a:gd name="T10" fmla="*/ 41 w 41"/>
                        <a:gd name="T11" fmla="*/ 0 h 14"/>
                      </a:gdLst>
                      <a:ahLst/>
                      <a:cxnLst>
                        <a:cxn ang="0">
                          <a:pos x="T0" y="T1"/>
                        </a:cxn>
                        <a:cxn ang="0">
                          <a:pos x="T2" y="T3"/>
                        </a:cxn>
                        <a:cxn ang="0">
                          <a:pos x="T4" y="T5"/>
                        </a:cxn>
                        <a:cxn ang="0">
                          <a:pos x="T6" y="T7"/>
                        </a:cxn>
                        <a:cxn ang="0">
                          <a:pos x="T8" y="T9"/>
                        </a:cxn>
                        <a:cxn ang="0">
                          <a:pos x="T10" y="T11"/>
                        </a:cxn>
                      </a:cxnLst>
                      <a:rect l="0" t="0" r="r" b="b"/>
                      <a:pathLst>
                        <a:path w="41" h="14">
                          <a:moveTo>
                            <a:pt x="41" y="0"/>
                          </a:moveTo>
                          <a:cubicBezTo>
                            <a:pt x="6" y="0"/>
                            <a:pt x="6" y="0"/>
                            <a:pt x="6" y="0"/>
                          </a:cubicBezTo>
                          <a:cubicBezTo>
                            <a:pt x="3" y="0"/>
                            <a:pt x="0" y="3"/>
                            <a:pt x="0" y="7"/>
                          </a:cubicBezTo>
                          <a:cubicBezTo>
                            <a:pt x="0" y="11"/>
                            <a:pt x="3" y="14"/>
                            <a:pt x="6" y="14"/>
                          </a:cubicBezTo>
                          <a:cubicBezTo>
                            <a:pt x="41" y="14"/>
                            <a:pt x="41" y="14"/>
                            <a:pt x="41" y="14"/>
                          </a:cubicBezTo>
                          <a:lnTo>
                            <a:pt x="41" y="0"/>
                          </a:lnTo>
                          <a:close/>
                        </a:path>
                      </a:pathLst>
                    </a:custGeom>
                    <a:solidFill>
                      <a:srgbClr val="0072C6"/>
                    </a:solidFill>
                    <a:ln w="9525">
                      <a:noFill/>
                      <a:round/>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latin typeface="Calibri" panose="020F0502020204030204"/>
                      </a:endParaRPr>
                    </a:p>
                  </p:txBody>
                </p:sp>
                <p:sp>
                  <p:nvSpPr>
                    <p:cNvPr id="72" name="Freeform 8">
                      <a:extLst>
                        <a:ext uri="{FF2B5EF4-FFF2-40B4-BE49-F238E27FC236}">
                          <a16:creationId xmlns:a16="http://schemas.microsoft.com/office/drawing/2014/main" id="{6F735A54-6C90-492F-A029-3E84D6ED1A16}"/>
                        </a:ext>
                      </a:extLst>
                    </p:cNvPr>
                    <p:cNvSpPr>
                      <a:spLocks/>
                    </p:cNvSpPr>
                    <p:nvPr/>
                  </p:nvSpPr>
                  <p:spPr bwMode="auto">
                    <a:xfrm>
                      <a:off x="7320696" y="5017519"/>
                      <a:ext cx="188580" cy="64198"/>
                    </a:xfrm>
                    <a:custGeom>
                      <a:avLst/>
                      <a:gdLst>
                        <a:gd name="T0" fmla="*/ 41 w 41"/>
                        <a:gd name="T1" fmla="*/ 0 h 14"/>
                        <a:gd name="T2" fmla="*/ 6 w 41"/>
                        <a:gd name="T3" fmla="*/ 0 h 14"/>
                        <a:gd name="T4" fmla="*/ 0 w 41"/>
                        <a:gd name="T5" fmla="*/ 7 h 14"/>
                        <a:gd name="T6" fmla="*/ 6 w 41"/>
                        <a:gd name="T7" fmla="*/ 14 h 14"/>
                        <a:gd name="T8" fmla="*/ 41 w 41"/>
                        <a:gd name="T9" fmla="*/ 14 h 14"/>
                        <a:gd name="T10" fmla="*/ 41 w 41"/>
                        <a:gd name="T11" fmla="*/ 0 h 14"/>
                      </a:gdLst>
                      <a:ahLst/>
                      <a:cxnLst>
                        <a:cxn ang="0">
                          <a:pos x="T0" y="T1"/>
                        </a:cxn>
                        <a:cxn ang="0">
                          <a:pos x="T2" y="T3"/>
                        </a:cxn>
                        <a:cxn ang="0">
                          <a:pos x="T4" y="T5"/>
                        </a:cxn>
                        <a:cxn ang="0">
                          <a:pos x="T6" y="T7"/>
                        </a:cxn>
                        <a:cxn ang="0">
                          <a:pos x="T8" y="T9"/>
                        </a:cxn>
                        <a:cxn ang="0">
                          <a:pos x="T10" y="T11"/>
                        </a:cxn>
                      </a:cxnLst>
                      <a:rect l="0" t="0" r="r" b="b"/>
                      <a:pathLst>
                        <a:path w="41" h="14">
                          <a:moveTo>
                            <a:pt x="41" y="0"/>
                          </a:moveTo>
                          <a:cubicBezTo>
                            <a:pt x="6" y="0"/>
                            <a:pt x="6" y="0"/>
                            <a:pt x="6" y="0"/>
                          </a:cubicBezTo>
                          <a:cubicBezTo>
                            <a:pt x="3" y="0"/>
                            <a:pt x="0" y="3"/>
                            <a:pt x="0" y="7"/>
                          </a:cubicBezTo>
                          <a:cubicBezTo>
                            <a:pt x="0" y="11"/>
                            <a:pt x="3" y="14"/>
                            <a:pt x="6" y="14"/>
                          </a:cubicBezTo>
                          <a:cubicBezTo>
                            <a:pt x="41" y="14"/>
                            <a:pt x="41" y="14"/>
                            <a:pt x="41" y="14"/>
                          </a:cubicBezTo>
                          <a:lnTo>
                            <a:pt x="41" y="0"/>
                          </a:lnTo>
                          <a:close/>
                        </a:path>
                      </a:pathLst>
                    </a:custGeom>
                    <a:solidFill>
                      <a:srgbClr val="0072C6"/>
                    </a:solidFill>
                    <a:ln w="9525">
                      <a:noFill/>
                      <a:round/>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latin typeface="Calibri" panose="020F0502020204030204"/>
                      </a:endParaRPr>
                    </a:p>
                  </p:txBody>
                </p:sp>
                <p:sp>
                  <p:nvSpPr>
                    <p:cNvPr id="73" name="Freeform 8">
                      <a:extLst>
                        <a:ext uri="{FF2B5EF4-FFF2-40B4-BE49-F238E27FC236}">
                          <a16:creationId xmlns:a16="http://schemas.microsoft.com/office/drawing/2014/main" id="{D0A9219E-C667-4E6B-B7A8-723D036B41A8}"/>
                        </a:ext>
                      </a:extLst>
                    </p:cNvPr>
                    <p:cNvSpPr>
                      <a:spLocks/>
                    </p:cNvSpPr>
                    <p:nvPr/>
                  </p:nvSpPr>
                  <p:spPr bwMode="auto">
                    <a:xfrm>
                      <a:off x="7320696" y="5207178"/>
                      <a:ext cx="188580" cy="64198"/>
                    </a:xfrm>
                    <a:custGeom>
                      <a:avLst/>
                      <a:gdLst>
                        <a:gd name="T0" fmla="*/ 41 w 41"/>
                        <a:gd name="T1" fmla="*/ 0 h 14"/>
                        <a:gd name="T2" fmla="*/ 6 w 41"/>
                        <a:gd name="T3" fmla="*/ 0 h 14"/>
                        <a:gd name="T4" fmla="*/ 0 w 41"/>
                        <a:gd name="T5" fmla="*/ 7 h 14"/>
                        <a:gd name="T6" fmla="*/ 6 w 41"/>
                        <a:gd name="T7" fmla="*/ 14 h 14"/>
                        <a:gd name="T8" fmla="*/ 41 w 41"/>
                        <a:gd name="T9" fmla="*/ 14 h 14"/>
                        <a:gd name="T10" fmla="*/ 41 w 41"/>
                        <a:gd name="T11" fmla="*/ 0 h 14"/>
                      </a:gdLst>
                      <a:ahLst/>
                      <a:cxnLst>
                        <a:cxn ang="0">
                          <a:pos x="T0" y="T1"/>
                        </a:cxn>
                        <a:cxn ang="0">
                          <a:pos x="T2" y="T3"/>
                        </a:cxn>
                        <a:cxn ang="0">
                          <a:pos x="T4" y="T5"/>
                        </a:cxn>
                        <a:cxn ang="0">
                          <a:pos x="T6" y="T7"/>
                        </a:cxn>
                        <a:cxn ang="0">
                          <a:pos x="T8" y="T9"/>
                        </a:cxn>
                        <a:cxn ang="0">
                          <a:pos x="T10" y="T11"/>
                        </a:cxn>
                      </a:cxnLst>
                      <a:rect l="0" t="0" r="r" b="b"/>
                      <a:pathLst>
                        <a:path w="41" h="14">
                          <a:moveTo>
                            <a:pt x="41" y="0"/>
                          </a:moveTo>
                          <a:cubicBezTo>
                            <a:pt x="6" y="0"/>
                            <a:pt x="6" y="0"/>
                            <a:pt x="6" y="0"/>
                          </a:cubicBezTo>
                          <a:cubicBezTo>
                            <a:pt x="3" y="0"/>
                            <a:pt x="0" y="3"/>
                            <a:pt x="0" y="7"/>
                          </a:cubicBezTo>
                          <a:cubicBezTo>
                            <a:pt x="0" y="11"/>
                            <a:pt x="3" y="14"/>
                            <a:pt x="6" y="14"/>
                          </a:cubicBezTo>
                          <a:cubicBezTo>
                            <a:pt x="41" y="14"/>
                            <a:pt x="41" y="14"/>
                            <a:pt x="41" y="14"/>
                          </a:cubicBezTo>
                          <a:lnTo>
                            <a:pt x="41" y="0"/>
                          </a:lnTo>
                          <a:close/>
                        </a:path>
                      </a:pathLst>
                    </a:custGeom>
                    <a:solidFill>
                      <a:srgbClr val="0072C6"/>
                    </a:solidFill>
                    <a:ln w="9525">
                      <a:noFill/>
                      <a:round/>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latin typeface="Calibri" panose="020F0502020204030204"/>
                      </a:endParaRPr>
                    </a:p>
                  </p:txBody>
                </p:sp>
                <p:sp>
                  <p:nvSpPr>
                    <p:cNvPr id="74" name="Freeform 8">
                      <a:extLst>
                        <a:ext uri="{FF2B5EF4-FFF2-40B4-BE49-F238E27FC236}">
                          <a16:creationId xmlns:a16="http://schemas.microsoft.com/office/drawing/2014/main" id="{11C55257-A500-4E93-927C-33C950288100}"/>
                        </a:ext>
                      </a:extLst>
                    </p:cNvPr>
                    <p:cNvSpPr>
                      <a:spLocks/>
                    </p:cNvSpPr>
                    <p:nvPr/>
                  </p:nvSpPr>
                  <p:spPr bwMode="auto">
                    <a:xfrm>
                      <a:off x="7317062" y="5384981"/>
                      <a:ext cx="188580" cy="64198"/>
                    </a:xfrm>
                    <a:custGeom>
                      <a:avLst/>
                      <a:gdLst>
                        <a:gd name="T0" fmla="*/ 41 w 41"/>
                        <a:gd name="T1" fmla="*/ 0 h 14"/>
                        <a:gd name="T2" fmla="*/ 6 w 41"/>
                        <a:gd name="T3" fmla="*/ 0 h 14"/>
                        <a:gd name="T4" fmla="*/ 0 w 41"/>
                        <a:gd name="T5" fmla="*/ 7 h 14"/>
                        <a:gd name="T6" fmla="*/ 6 w 41"/>
                        <a:gd name="T7" fmla="*/ 14 h 14"/>
                        <a:gd name="T8" fmla="*/ 41 w 41"/>
                        <a:gd name="T9" fmla="*/ 14 h 14"/>
                        <a:gd name="T10" fmla="*/ 41 w 41"/>
                        <a:gd name="T11" fmla="*/ 0 h 14"/>
                      </a:gdLst>
                      <a:ahLst/>
                      <a:cxnLst>
                        <a:cxn ang="0">
                          <a:pos x="T0" y="T1"/>
                        </a:cxn>
                        <a:cxn ang="0">
                          <a:pos x="T2" y="T3"/>
                        </a:cxn>
                        <a:cxn ang="0">
                          <a:pos x="T4" y="T5"/>
                        </a:cxn>
                        <a:cxn ang="0">
                          <a:pos x="T6" y="T7"/>
                        </a:cxn>
                        <a:cxn ang="0">
                          <a:pos x="T8" y="T9"/>
                        </a:cxn>
                        <a:cxn ang="0">
                          <a:pos x="T10" y="T11"/>
                        </a:cxn>
                      </a:cxnLst>
                      <a:rect l="0" t="0" r="r" b="b"/>
                      <a:pathLst>
                        <a:path w="41" h="14">
                          <a:moveTo>
                            <a:pt x="41" y="0"/>
                          </a:moveTo>
                          <a:cubicBezTo>
                            <a:pt x="6" y="0"/>
                            <a:pt x="6" y="0"/>
                            <a:pt x="6" y="0"/>
                          </a:cubicBezTo>
                          <a:cubicBezTo>
                            <a:pt x="3" y="0"/>
                            <a:pt x="0" y="3"/>
                            <a:pt x="0" y="7"/>
                          </a:cubicBezTo>
                          <a:cubicBezTo>
                            <a:pt x="0" y="11"/>
                            <a:pt x="3" y="14"/>
                            <a:pt x="6" y="14"/>
                          </a:cubicBezTo>
                          <a:cubicBezTo>
                            <a:pt x="41" y="14"/>
                            <a:pt x="41" y="14"/>
                            <a:pt x="41" y="14"/>
                          </a:cubicBezTo>
                          <a:lnTo>
                            <a:pt x="41" y="0"/>
                          </a:lnTo>
                          <a:close/>
                        </a:path>
                      </a:pathLst>
                    </a:custGeom>
                    <a:solidFill>
                      <a:srgbClr val="0072C6"/>
                    </a:solidFill>
                    <a:ln w="9525">
                      <a:noFill/>
                      <a:round/>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latin typeface="Calibri" panose="020F0502020204030204"/>
                      </a:endParaRPr>
                    </a:p>
                  </p:txBody>
                </p:sp>
                <p:sp>
                  <p:nvSpPr>
                    <p:cNvPr id="75" name="Freeform 8">
                      <a:extLst>
                        <a:ext uri="{FF2B5EF4-FFF2-40B4-BE49-F238E27FC236}">
                          <a16:creationId xmlns:a16="http://schemas.microsoft.com/office/drawing/2014/main" id="{733FD628-E0F0-4030-A5A1-35D729EBEAEA}"/>
                        </a:ext>
                      </a:extLst>
                    </p:cNvPr>
                    <p:cNvSpPr>
                      <a:spLocks/>
                    </p:cNvSpPr>
                    <p:nvPr/>
                  </p:nvSpPr>
                  <p:spPr bwMode="auto">
                    <a:xfrm>
                      <a:off x="7320696" y="5553271"/>
                      <a:ext cx="188580" cy="64198"/>
                    </a:xfrm>
                    <a:custGeom>
                      <a:avLst/>
                      <a:gdLst>
                        <a:gd name="T0" fmla="*/ 41 w 41"/>
                        <a:gd name="T1" fmla="*/ 0 h 14"/>
                        <a:gd name="T2" fmla="*/ 6 w 41"/>
                        <a:gd name="T3" fmla="*/ 0 h 14"/>
                        <a:gd name="T4" fmla="*/ 0 w 41"/>
                        <a:gd name="T5" fmla="*/ 7 h 14"/>
                        <a:gd name="T6" fmla="*/ 6 w 41"/>
                        <a:gd name="T7" fmla="*/ 14 h 14"/>
                        <a:gd name="T8" fmla="*/ 41 w 41"/>
                        <a:gd name="T9" fmla="*/ 14 h 14"/>
                        <a:gd name="T10" fmla="*/ 41 w 41"/>
                        <a:gd name="T11" fmla="*/ 0 h 14"/>
                      </a:gdLst>
                      <a:ahLst/>
                      <a:cxnLst>
                        <a:cxn ang="0">
                          <a:pos x="T0" y="T1"/>
                        </a:cxn>
                        <a:cxn ang="0">
                          <a:pos x="T2" y="T3"/>
                        </a:cxn>
                        <a:cxn ang="0">
                          <a:pos x="T4" y="T5"/>
                        </a:cxn>
                        <a:cxn ang="0">
                          <a:pos x="T6" y="T7"/>
                        </a:cxn>
                        <a:cxn ang="0">
                          <a:pos x="T8" y="T9"/>
                        </a:cxn>
                        <a:cxn ang="0">
                          <a:pos x="T10" y="T11"/>
                        </a:cxn>
                      </a:cxnLst>
                      <a:rect l="0" t="0" r="r" b="b"/>
                      <a:pathLst>
                        <a:path w="41" h="14">
                          <a:moveTo>
                            <a:pt x="41" y="0"/>
                          </a:moveTo>
                          <a:cubicBezTo>
                            <a:pt x="6" y="0"/>
                            <a:pt x="6" y="0"/>
                            <a:pt x="6" y="0"/>
                          </a:cubicBezTo>
                          <a:cubicBezTo>
                            <a:pt x="3" y="0"/>
                            <a:pt x="0" y="3"/>
                            <a:pt x="0" y="7"/>
                          </a:cubicBezTo>
                          <a:cubicBezTo>
                            <a:pt x="0" y="11"/>
                            <a:pt x="3" y="14"/>
                            <a:pt x="6" y="14"/>
                          </a:cubicBezTo>
                          <a:cubicBezTo>
                            <a:pt x="41" y="14"/>
                            <a:pt x="41" y="14"/>
                            <a:pt x="41" y="14"/>
                          </a:cubicBezTo>
                          <a:lnTo>
                            <a:pt x="41" y="0"/>
                          </a:lnTo>
                          <a:close/>
                        </a:path>
                      </a:pathLst>
                    </a:custGeom>
                    <a:solidFill>
                      <a:srgbClr val="0072C6"/>
                    </a:solidFill>
                    <a:ln w="9525">
                      <a:noFill/>
                      <a:round/>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latin typeface="Calibri" panose="020F0502020204030204"/>
                      </a:endParaRPr>
                    </a:p>
                  </p:txBody>
                </p:sp>
              </p:grpSp>
              <p:sp>
                <p:nvSpPr>
                  <p:cNvPr id="65" name="Rectangle 64">
                    <a:extLst>
                      <a:ext uri="{FF2B5EF4-FFF2-40B4-BE49-F238E27FC236}">
                        <a16:creationId xmlns:a16="http://schemas.microsoft.com/office/drawing/2014/main" id="{57C3E625-395B-42AD-9820-588E235CFF62}"/>
                      </a:ext>
                    </a:extLst>
                  </p:cNvPr>
                  <p:cNvSpPr/>
                  <p:nvPr/>
                </p:nvSpPr>
                <p:spPr bwMode="auto">
                  <a:xfrm>
                    <a:off x="6689300" y="4605702"/>
                    <a:ext cx="855274" cy="177206"/>
                  </a:xfrm>
                  <a:prstGeom prst="rect">
                    <a:avLst/>
                  </a:prstGeom>
                  <a:noFill/>
                  <a:ln w="9525" cap="flat" cmpd="sng" algn="ctr">
                    <a:solidFill>
                      <a:sysClr val="windowText" lastClr="000000"/>
                    </a:solidFill>
                    <a:prstDash val="solid"/>
                    <a:miter lim="800000"/>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eaLnBrk="1" fontAlgn="base" latinLnBrk="0" hangingPunct="1">
                      <a:lnSpc>
                        <a:spcPct val="90000"/>
                      </a:lnSpc>
                      <a:spcBef>
                        <a:spcPct val="0"/>
                      </a:spcBef>
                      <a:spcAft>
                        <a:spcPct val="0"/>
                      </a:spcAft>
                      <a:buClrTx/>
                      <a:buSzTx/>
                      <a:buFontTx/>
                      <a:buNone/>
                      <a:tabLst/>
                      <a:defRPr/>
                    </a:pPr>
                    <a:endParaRPr kumimoji="0" lang="en-US" sz="2400" b="0" i="0" u="none" strike="noStrike" kern="0" cap="none" spc="0" normalizeH="0" baseline="0" noProof="0" dirty="0">
                      <a:ln>
                        <a:noFill/>
                      </a:ln>
                      <a:gradFill>
                        <a:gsLst>
                          <a:gs pos="0">
                            <a:srgbClr val="FFFFFF"/>
                          </a:gs>
                          <a:gs pos="100000">
                            <a:srgbClr val="FFFFFF"/>
                          </a:gs>
                        </a:gsLst>
                        <a:lin ang="5400000" scaled="0"/>
                      </a:gradFill>
                      <a:effectLst/>
                      <a:uLnTx/>
                      <a:uFillTx/>
                      <a:latin typeface="Calibri" panose="020F0502020204030204"/>
                      <a:ea typeface="Segoe UI" pitchFamily="34" charset="0"/>
                      <a:cs typeface="Segoe UI" pitchFamily="34" charset="0"/>
                    </a:endParaRPr>
                  </a:p>
                </p:txBody>
              </p:sp>
            </p:grpSp>
            <p:sp>
              <p:nvSpPr>
                <p:cNvPr id="61" name="Rectangle 42">
                  <a:extLst>
                    <a:ext uri="{FF2B5EF4-FFF2-40B4-BE49-F238E27FC236}">
                      <a16:creationId xmlns:a16="http://schemas.microsoft.com/office/drawing/2014/main" id="{E97802A9-2226-4DEE-B66B-247E6498C994}"/>
                    </a:ext>
                  </a:extLst>
                </p:cNvPr>
                <p:cNvSpPr>
                  <a:spLocks noChangeArrowheads="1"/>
                </p:cNvSpPr>
                <p:nvPr/>
              </p:nvSpPr>
              <p:spPr bwMode="auto">
                <a:xfrm>
                  <a:off x="9273483" y="5413375"/>
                  <a:ext cx="626332" cy="9566"/>
                </a:xfrm>
                <a:prstGeom prst="rect">
                  <a:avLst/>
                </a:prstGeom>
                <a:solidFill>
                  <a:sysClr val="windowText" lastClr="000000"/>
                </a:solidFill>
                <a:ln w="6350">
                  <a:noFill/>
                  <a:miter lim="800000"/>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latin typeface="Calibri" panose="020F0502020204030204"/>
                  </a:endParaRPr>
                </a:p>
              </p:txBody>
            </p:sp>
            <p:sp>
              <p:nvSpPr>
                <p:cNvPr id="62" name="Rectangle 42">
                  <a:extLst>
                    <a:ext uri="{FF2B5EF4-FFF2-40B4-BE49-F238E27FC236}">
                      <a16:creationId xmlns:a16="http://schemas.microsoft.com/office/drawing/2014/main" id="{B1F4ACC2-C904-4145-9430-362F12E70328}"/>
                    </a:ext>
                  </a:extLst>
                </p:cNvPr>
                <p:cNvSpPr>
                  <a:spLocks noChangeArrowheads="1"/>
                </p:cNvSpPr>
                <p:nvPr/>
              </p:nvSpPr>
              <p:spPr bwMode="auto">
                <a:xfrm>
                  <a:off x="9273483" y="5549431"/>
                  <a:ext cx="626332" cy="9566"/>
                </a:xfrm>
                <a:prstGeom prst="rect">
                  <a:avLst/>
                </a:prstGeom>
                <a:solidFill>
                  <a:sysClr val="windowText" lastClr="000000"/>
                </a:solidFill>
                <a:ln w="6350">
                  <a:noFill/>
                  <a:miter lim="800000"/>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latin typeface="Calibri" panose="020F0502020204030204"/>
                  </a:endParaRPr>
                </a:p>
              </p:txBody>
            </p:sp>
            <p:sp>
              <p:nvSpPr>
                <p:cNvPr id="63" name="Rectangle 42">
                  <a:extLst>
                    <a:ext uri="{FF2B5EF4-FFF2-40B4-BE49-F238E27FC236}">
                      <a16:creationId xmlns:a16="http://schemas.microsoft.com/office/drawing/2014/main" id="{06BD0AF4-B28D-4DD8-AEFF-6E6D90ADE78B}"/>
                    </a:ext>
                  </a:extLst>
                </p:cNvPr>
                <p:cNvSpPr>
                  <a:spLocks noChangeArrowheads="1"/>
                </p:cNvSpPr>
                <p:nvPr/>
              </p:nvSpPr>
              <p:spPr bwMode="auto">
                <a:xfrm>
                  <a:off x="9281420" y="5683350"/>
                  <a:ext cx="626332" cy="9566"/>
                </a:xfrm>
                <a:prstGeom prst="rect">
                  <a:avLst/>
                </a:prstGeom>
                <a:solidFill>
                  <a:sysClr val="windowText" lastClr="000000"/>
                </a:solidFill>
                <a:ln w="6350">
                  <a:noFill/>
                  <a:miter lim="800000"/>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latin typeface="Calibri" panose="020F0502020204030204"/>
                  </a:endParaRPr>
                </a:p>
              </p:txBody>
            </p:sp>
          </p:grpSp>
          <p:pic>
            <p:nvPicPr>
              <p:cNvPr id="58" name="Picture 57">
                <a:extLst>
                  <a:ext uri="{FF2B5EF4-FFF2-40B4-BE49-F238E27FC236}">
                    <a16:creationId xmlns:a16="http://schemas.microsoft.com/office/drawing/2014/main" id="{DFD535D4-C8A5-497E-9071-4F5854523C01}"/>
                  </a:ext>
                </a:extLst>
              </p:cNvPr>
              <p:cNvPicPr>
                <a:picLocks noChangeAspect="1"/>
              </p:cNvPicPr>
              <p:nvPr/>
            </p:nvPicPr>
            <p:blipFill>
              <a:blip r:embed="rId3"/>
              <a:stretch>
                <a:fillRect/>
              </a:stretch>
            </p:blipFill>
            <p:spPr>
              <a:xfrm>
                <a:off x="7767172" y="2098177"/>
                <a:ext cx="354359" cy="228857"/>
              </a:xfrm>
              <a:prstGeom prst="rect">
                <a:avLst/>
              </a:prstGeom>
            </p:spPr>
          </p:pic>
          <p:sp>
            <p:nvSpPr>
              <p:cNvPr id="59" name="Rectangle 58">
                <a:extLst>
                  <a:ext uri="{FF2B5EF4-FFF2-40B4-BE49-F238E27FC236}">
                    <a16:creationId xmlns:a16="http://schemas.microsoft.com/office/drawing/2014/main" id="{F8C40BC4-EEB0-459E-BBE9-6957B5BF5B99}"/>
                  </a:ext>
                </a:extLst>
              </p:cNvPr>
              <p:cNvSpPr/>
              <p:nvPr/>
            </p:nvSpPr>
            <p:spPr>
              <a:xfrm>
                <a:off x="8050267" y="2022363"/>
                <a:ext cx="514885" cy="369332"/>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rPr>
                  <a:t>NIC</a:t>
                </a:r>
              </a:p>
            </p:txBody>
          </p:sp>
        </p:grpSp>
        <p:grpSp>
          <p:nvGrpSpPr>
            <p:cNvPr id="94" name="Group 93">
              <a:extLst>
                <a:ext uri="{FF2B5EF4-FFF2-40B4-BE49-F238E27FC236}">
                  <a16:creationId xmlns:a16="http://schemas.microsoft.com/office/drawing/2014/main" id="{F6B86030-FE81-4FEB-85B8-6F15B86EC541}"/>
                </a:ext>
              </a:extLst>
            </p:cNvPr>
            <p:cNvGrpSpPr/>
            <p:nvPr/>
          </p:nvGrpSpPr>
          <p:grpSpPr>
            <a:xfrm>
              <a:off x="5872894" y="3914453"/>
              <a:ext cx="1375889" cy="1204379"/>
              <a:chOff x="6674278" y="4377743"/>
              <a:chExt cx="1375889" cy="1532200"/>
            </a:xfrm>
          </p:grpSpPr>
          <p:sp>
            <p:nvSpPr>
              <p:cNvPr id="95" name="Rectangle 94">
                <a:extLst>
                  <a:ext uri="{FF2B5EF4-FFF2-40B4-BE49-F238E27FC236}">
                    <a16:creationId xmlns:a16="http://schemas.microsoft.com/office/drawing/2014/main" id="{FE1481AA-11B2-42E9-9E4A-A91CF96215F7}"/>
                  </a:ext>
                </a:extLst>
              </p:cNvPr>
              <p:cNvSpPr/>
              <p:nvPr/>
            </p:nvSpPr>
            <p:spPr>
              <a:xfrm>
                <a:off x="6674278" y="5540611"/>
                <a:ext cx="1375889" cy="369332"/>
              </a:xfrm>
              <a:prstGeom prst="rect">
                <a:avLst/>
              </a:prstGeom>
            </p:spPr>
            <p:txBody>
              <a:bodyPr wrap="non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rPr>
                  <a:t>On-premises</a:t>
                </a:r>
              </a:p>
            </p:txBody>
          </p:sp>
          <p:grpSp>
            <p:nvGrpSpPr>
              <p:cNvPr id="96" name="Group 95">
                <a:extLst>
                  <a:ext uri="{FF2B5EF4-FFF2-40B4-BE49-F238E27FC236}">
                    <a16:creationId xmlns:a16="http://schemas.microsoft.com/office/drawing/2014/main" id="{60B64B5B-9A61-4C24-9017-68B9BFD9986D}"/>
                  </a:ext>
                </a:extLst>
              </p:cNvPr>
              <p:cNvGrpSpPr>
                <a:grpSpLocks noChangeAspect="1"/>
              </p:cNvGrpSpPr>
              <p:nvPr/>
            </p:nvGrpSpPr>
            <p:grpSpPr bwMode="auto">
              <a:xfrm>
                <a:off x="6969122" y="4377743"/>
                <a:ext cx="700277" cy="1231867"/>
                <a:chOff x="3600" y="469"/>
                <a:chExt cx="768" cy="1351"/>
              </a:xfrm>
            </p:grpSpPr>
            <p:sp>
              <p:nvSpPr>
                <p:cNvPr id="97" name="AutoShape 7">
                  <a:extLst>
                    <a:ext uri="{FF2B5EF4-FFF2-40B4-BE49-F238E27FC236}">
                      <a16:creationId xmlns:a16="http://schemas.microsoft.com/office/drawing/2014/main" id="{F907D22D-A1CD-4225-8F25-19A898A2654B}"/>
                    </a:ext>
                  </a:extLst>
                </p:cNvPr>
                <p:cNvSpPr>
                  <a:spLocks noChangeAspect="1" noChangeArrowheads="1" noTextEdit="1"/>
                </p:cNvSpPr>
                <p:nvPr/>
              </p:nvSpPr>
              <p:spPr bwMode="auto">
                <a:xfrm>
                  <a:off x="3600" y="469"/>
                  <a:ext cx="768" cy="13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latin typeface="Calibri" panose="020F0502020204030204"/>
                  </a:endParaRPr>
                </a:p>
              </p:txBody>
            </p:sp>
            <p:sp>
              <p:nvSpPr>
                <p:cNvPr id="98" name="Rectangle 97">
                  <a:extLst>
                    <a:ext uri="{FF2B5EF4-FFF2-40B4-BE49-F238E27FC236}">
                      <a16:creationId xmlns:a16="http://schemas.microsoft.com/office/drawing/2014/main" id="{D9DB2FCB-74A0-42E5-A137-17407514B6D0}"/>
                    </a:ext>
                  </a:extLst>
                </p:cNvPr>
                <p:cNvSpPr>
                  <a:spLocks noChangeArrowheads="1"/>
                </p:cNvSpPr>
                <p:nvPr/>
              </p:nvSpPr>
              <p:spPr bwMode="auto">
                <a:xfrm>
                  <a:off x="3597" y="1386"/>
                  <a:ext cx="541" cy="431"/>
                </a:xfrm>
                <a:prstGeom prst="rect">
                  <a:avLst/>
                </a:prstGeom>
                <a:solidFill>
                  <a:sysClr val="window" lastClr="FFFFFF">
                    <a:lumMod val="75000"/>
                  </a:sys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latin typeface="Calibri" panose="020F0502020204030204"/>
                  </a:endParaRPr>
                </a:p>
              </p:txBody>
            </p:sp>
            <p:sp>
              <p:nvSpPr>
                <p:cNvPr id="99" name="Freeform 135">
                  <a:extLst>
                    <a:ext uri="{FF2B5EF4-FFF2-40B4-BE49-F238E27FC236}">
                      <a16:creationId xmlns:a16="http://schemas.microsoft.com/office/drawing/2014/main" id="{8E41C064-2BBE-41DC-9DD6-FABDFA65998C}"/>
                    </a:ext>
                  </a:extLst>
                </p:cNvPr>
                <p:cNvSpPr>
                  <a:spLocks/>
                </p:cNvSpPr>
                <p:nvPr/>
              </p:nvSpPr>
              <p:spPr bwMode="auto">
                <a:xfrm>
                  <a:off x="3908" y="606"/>
                  <a:ext cx="460" cy="1211"/>
                </a:xfrm>
                <a:custGeom>
                  <a:avLst/>
                  <a:gdLst>
                    <a:gd name="T0" fmla="*/ 0 w 460"/>
                    <a:gd name="T1" fmla="*/ 0 h 1211"/>
                    <a:gd name="T2" fmla="*/ 460 w 460"/>
                    <a:gd name="T3" fmla="*/ 0 h 1211"/>
                    <a:gd name="T4" fmla="*/ 460 w 460"/>
                    <a:gd name="T5" fmla="*/ 1211 h 1211"/>
                    <a:gd name="T6" fmla="*/ 0 w 460"/>
                    <a:gd name="T7" fmla="*/ 1211 h 1211"/>
                    <a:gd name="T8" fmla="*/ 0 w 460"/>
                    <a:gd name="T9" fmla="*/ 790 h 1211"/>
                    <a:gd name="T10" fmla="*/ 0 w 460"/>
                    <a:gd name="T11" fmla="*/ 0 h 1211"/>
                  </a:gdLst>
                  <a:ahLst/>
                  <a:cxnLst>
                    <a:cxn ang="0">
                      <a:pos x="T0" y="T1"/>
                    </a:cxn>
                    <a:cxn ang="0">
                      <a:pos x="T2" y="T3"/>
                    </a:cxn>
                    <a:cxn ang="0">
                      <a:pos x="T4" y="T5"/>
                    </a:cxn>
                    <a:cxn ang="0">
                      <a:pos x="T6" y="T7"/>
                    </a:cxn>
                    <a:cxn ang="0">
                      <a:pos x="T8" y="T9"/>
                    </a:cxn>
                    <a:cxn ang="0">
                      <a:pos x="T10" y="T11"/>
                    </a:cxn>
                  </a:cxnLst>
                  <a:rect l="0" t="0" r="r" b="b"/>
                  <a:pathLst>
                    <a:path w="460" h="1211">
                      <a:moveTo>
                        <a:pt x="0" y="0"/>
                      </a:moveTo>
                      <a:lnTo>
                        <a:pt x="460" y="0"/>
                      </a:lnTo>
                      <a:lnTo>
                        <a:pt x="460" y="1211"/>
                      </a:lnTo>
                      <a:lnTo>
                        <a:pt x="0" y="1211"/>
                      </a:lnTo>
                      <a:lnTo>
                        <a:pt x="0" y="790"/>
                      </a:lnTo>
                      <a:lnTo>
                        <a:pt x="0" y="0"/>
                      </a:lnTo>
                      <a:close/>
                    </a:path>
                  </a:pathLst>
                </a:custGeom>
                <a:solidFill>
                  <a:sysClr val="window" lastClr="FFFFFF">
                    <a:lumMod val="75000"/>
                  </a:sys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latin typeface="Calibri" panose="020F0502020204030204"/>
                  </a:endParaRPr>
                </a:p>
              </p:txBody>
            </p:sp>
            <p:sp>
              <p:nvSpPr>
                <p:cNvPr id="100" name="Freeform 136">
                  <a:extLst>
                    <a:ext uri="{FF2B5EF4-FFF2-40B4-BE49-F238E27FC236}">
                      <a16:creationId xmlns:a16="http://schemas.microsoft.com/office/drawing/2014/main" id="{309E02A6-5982-40E2-BB3E-55770F5F32D8}"/>
                    </a:ext>
                  </a:extLst>
                </p:cNvPr>
                <p:cNvSpPr>
                  <a:spLocks/>
                </p:cNvSpPr>
                <p:nvPr/>
              </p:nvSpPr>
              <p:spPr bwMode="auto">
                <a:xfrm>
                  <a:off x="3597" y="1396"/>
                  <a:ext cx="311" cy="421"/>
                </a:xfrm>
                <a:custGeom>
                  <a:avLst/>
                  <a:gdLst>
                    <a:gd name="T0" fmla="*/ 0 w 311"/>
                    <a:gd name="T1" fmla="*/ 421 h 421"/>
                    <a:gd name="T2" fmla="*/ 311 w 311"/>
                    <a:gd name="T3" fmla="*/ 421 h 421"/>
                    <a:gd name="T4" fmla="*/ 311 w 311"/>
                    <a:gd name="T5" fmla="*/ 0 h 421"/>
                    <a:gd name="T6" fmla="*/ 0 w 311"/>
                    <a:gd name="T7" fmla="*/ 421 h 421"/>
                  </a:gdLst>
                  <a:ahLst/>
                  <a:cxnLst>
                    <a:cxn ang="0">
                      <a:pos x="T0" y="T1"/>
                    </a:cxn>
                    <a:cxn ang="0">
                      <a:pos x="T2" y="T3"/>
                    </a:cxn>
                    <a:cxn ang="0">
                      <a:pos x="T4" y="T5"/>
                    </a:cxn>
                    <a:cxn ang="0">
                      <a:pos x="T6" y="T7"/>
                    </a:cxn>
                  </a:cxnLst>
                  <a:rect l="0" t="0" r="r" b="b"/>
                  <a:pathLst>
                    <a:path w="311" h="421">
                      <a:moveTo>
                        <a:pt x="0" y="421"/>
                      </a:moveTo>
                      <a:lnTo>
                        <a:pt x="311" y="421"/>
                      </a:lnTo>
                      <a:lnTo>
                        <a:pt x="311" y="0"/>
                      </a:lnTo>
                      <a:lnTo>
                        <a:pt x="0" y="421"/>
                      </a:lnTo>
                      <a:close/>
                    </a:path>
                  </a:pathLst>
                </a:custGeom>
                <a:solidFill>
                  <a:srgbClr val="64646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latin typeface="Calibri" panose="020F0502020204030204"/>
                  </a:endParaRPr>
                </a:p>
              </p:txBody>
            </p:sp>
            <p:sp>
              <p:nvSpPr>
                <p:cNvPr id="101" name="Rectangle 100">
                  <a:extLst>
                    <a:ext uri="{FF2B5EF4-FFF2-40B4-BE49-F238E27FC236}">
                      <a16:creationId xmlns:a16="http://schemas.microsoft.com/office/drawing/2014/main" id="{E806D932-2891-4566-9F96-10F8B82CF8F4}"/>
                    </a:ext>
                  </a:extLst>
                </p:cNvPr>
                <p:cNvSpPr>
                  <a:spLocks noChangeArrowheads="1"/>
                </p:cNvSpPr>
                <p:nvPr/>
              </p:nvSpPr>
              <p:spPr bwMode="auto">
                <a:xfrm>
                  <a:off x="3967" y="694"/>
                  <a:ext cx="46" cy="8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latin typeface="Calibri" panose="020F0502020204030204"/>
                  </a:endParaRPr>
                </a:p>
              </p:txBody>
            </p:sp>
            <p:sp>
              <p:nvSpPr>
                <p:cNvPr id="102" name="Rectangle 101">
                  <a:extLst>
                    <a:ext uri="{FF2B5EF4-FFF2-40B4-BE49-F238E27FC236}">
                      <a16:creationId xmlns:a16="http://schemas.microsoft.com/office/drawing/2014/main" id="{5F7BE7DE-E490-461A-BAC7-E000790A87EF}"/>
                    </a:ext>
                  </a:extLst>
                </p:cNvPr>
                <p:cNvSpPr>
                  <a:spLocks noChangeArrowheads="1"/>
                </p:cNvSpPr>
                <p:nvPr/>
              </p:nvSpPr>
              <p:spPr bwMode="auto">
                <a:xfrm>
                  <a:off x="4066" y="694"/>
                  <a:ext cx="46" cy="85"/>
                </a:xfrm>
                <a:prstGeom prst="rect">
                  <a:avLst/>
                </a:prstGeom>
                <a:solidFill>
                  <a:srgbClr val="00B0F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latin typeface="Calibri" panose="020F0502020204030204"/>
                  </a:endParaRPr>
                </a:p>
              </p:txBody>
            </p:sp>
            <p:sp>
              <p:nvSpPr>
                <p:cNvPr id="103" name="Rectangle 102">
                  <a:extLst>
                    <a:ext uri="{FF2B5EF4-FFF2-40B4-BE49-F238E27FC236}">
                      <a16:creationId xmlns:a16="http://schemas.microsoft.com/office/drawing/2014/main" id="{33ABBCB8-C63A-4507-90EE-E13428409A35}"/>
                    </a:ext>
                  </a:extLst>
                </p:cNvPr>
                <p:cNvSpPr>
                  <a:spLocks noChangeArrowheads="1"/>
                </p:cNvSpPr>
                <p:nvPr/>
              </p:nvSpPr>
              <p:spPr bwMode="auto">
                <a:xfrm>
                  <a:off x="4164" y="694"/>
                  <a:ext cx="46" cy="85"/>
                </a:xfrm>
                <a:prstGeom prst="rect">
                  <a:avLst/>
                </a:prstGeom>
                <a:solidFill>
                  <a:srgbClr val="00B0F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latin typeface="Calibri" panose="020F0502020204030204"/>
                  </a:endParaRPr>
                </a:p>
              </p:txBody>
            </p:sp>
            <p:sp>
              <p:nvSpPr>
                <p:cNvPr id="104" name="Rectangle 103">
                  <a:extLst>
                    <a:ext uri="{FF2B5EF4-FFF2-40B4-BE49-F238E27FC236}">
                      <a16:creationId xmlns:a16="http://schemas.microsoft.com/office/drawing/2014/main" id="{2F60FF72-4ECA-4AFF-87D0-889F49A1CCFA}"/>
                    </a:ext>
                  </a:extLst>
                </p:cNvPr>
                <p:cNvSpPr>
                  <a:spLocks noChangeArrowheads="1"/>
                </p:cNvSpPr>
                <p:nvPr/>
              </p:nvSpPr>
              <p:spPr bwMode="auto">
                <a:xfrm>
                  <a:off x="4263" y="694"/>
                  <a:ext cx="46" cy="8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latin typeface="Calibri" panose="020F0502020204030204"/>
                  </a:endParaRPr>
                </a:p>
              </p:txBody>
            </p:sp>
            <p:sp>
              <p:nvSpPr>
                <p:cNvPr id="105" name="Rectangle 104">
                  <a:extLst>
                    <a:ext uri="{FF2B5EF4-FFF2-40B4-BE49-F238E27FC236}">
                      <a16:creationId xmlns:a16="http://schemas.microsoft.com/office/drawing/2014/main" id="{ECED562F-505F-489A-9EC0-9BCB605F3CE2}"/>
                    </a:ext>
                  </a:extLst>
                </p:cNvPr>
                <p:cNvSpPr>
                  <a:spLocks noChangeArrowheads="1"/>
                </p:cNvSpPr>
                <p:nvPr/>
              </p:nvSpPr>
              <p:spPr bwMode="auto">
                <a:xfrm>
                  <a:off x="3967" y="821"/>
                  <a:ext cx="46" cy="8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latin typeface="Calibri" panose="020F0502020204030204"/>
                  </a:endParaRPr>
                </a:p>
              </p:txBody>
            </p:sp>
            <p:sp>
              <p:nvSpPr>
                <p:cNvPr id="106" name="Rectangle 105">
                  <a:extLst>
                    <a:ext uri="{FF2B5EF4-FFF2-40B4-BE49-F238E27FC236}">
                      <a16:creationId xmlns:a16="http://schemas.microsoft.com/office/drawing/2014/main" id="{6AC14F31-82A8-488D-8D0A-35F233D37810}"/>
                    </a:ext>
                  </a:extLst>
                </p:cNvPr>
                <p:cNvSpPr>
                  <a:spLocks noChangeArrowheads="1"/>
                </p:cNvSpPr>
                <p:nvPr/>
              </p:nvSpPr>
              <p:spPr bwMode="auto">
                <a:xfrm>
                  <a:off x="4066" y="821"/>
                  <a:ext cx="46" cy="8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latin typeface="Calibri" panose="020F0502020204030204"/>
                  </a:endParaRPr>
                </a:p>
              </p:txBody>
            </p:sp>
            <p:sp>
              <p:nvSpPr>
                <p:cNvPr id="107" name="Rectangle 106">
                  <a:extLst>
                    <a:ext uri="{FF2B5EF4-FFF2-40B4-BE49-F238E27FC236}">
                      <a16:creationId xmlns:a16="http://schemas.microsoft.com/office/drawing/2014/main" id="{300570C7-0842-4F5E-B572-8EE176B1AF28}"/>
                    </a:ext>
                  </a:extLst>
                </p:cNvPr>
                <p:cNvSpPr>
                  <a:spLocks noChangeArrowheads="1"/>
                </p:cNvSpPr>
                <p:nvPr/>
              </p:nvSpPr>
              <p:spPr bwMode="auto">
                <a:xfrm>
                  <a:off x="4164" y="821"/>
                  <a:ext cx="46" cy="88"/>
                </a:xfrm>
                <a:prstGeom prst="rect">
                  <a:avLst/>
                </a:prstGeom>
                <a:solidFill>
                  <a:srgbClr val="00B0F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latin typeface="Calibri" panose="020F0502020204030204"/>
                  </a:endParaRPr>
                </a:p>
              </p:txBody>
            </p:sp>
            <p:sp>
              <p:nvSpPr>
                <p:cNvPr id="108" name="Rectangle 107">
                  <a:extLst>
                    <a:ext uri="{FF2B5EF4-FFF2-40B4-BE49-F238E27FC236}">
                      <a16:creationId xmlns:a16="http://schemas.microsoft.com/office/drawing/2014/main" id="{61BCA33F-1722-4BD2-9DE6-EA4589F66279}"/>
                    </a:ext>
                  </a:extLst>
                </p:cNvPr>
                <p:cNvSpPr>
                  <a:spLocks noChangeArrowheads="1"/>
                </p:cNvSpPr>
                <p:nvPr/>
              </p:nvSpPr>
              <p:spPr bwMode="auto">
                <a:xfrm>
                  <a:off x="4263" y="821"/>
                  <a:ext cx="46" cy="8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latin typeface="Calibri" panose="020F0502020204030204"/>
                  </a:endParaRPr>
                </a:p>
              </p:txBody>
            </p:sp>
            <p:sp>
              <p:nvSpPr>
                <p:cNvPr id="109" name="Rectangle 108">
                  <a:extLst>
                    <a:ext uri="{FF2B5EF4-FFF2-40B4-BE49-F238E27FC236}">
                      <a16:creationId xmlns:a16="http://schemas.microsoft.com/office/drawing/2014/main" id="{5CAC0AF9-6077-40DB-9C48-F8C43C36E465}"/>
                    </a:ext>
                  </a:extLst>
                </p:cNvPr>
                <p:cNvSpPr>
                  <a:spLocks noChangeArrowheads="1"/>
                </p:cNvSpPr>
                <p:nvPr/>
              </p:nvSpPr>
              <p:spPr bwMode="auto">
                <a:xfrm>
                  <a:off x="3967" y="952"/>
                  <a:ext cx="46" cy="85"/>
                </a:xfrm>
                <a:prstGeom prst="rect">
                  <a:avLst/>
                </a:prstGeom>
                <a:solidFill>
                  <a:srgbClr val="00B0F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latin typeface="Calibri" panose="020F0502020204030204"/>
                  </a:endParaRPr>
                </a:p>
              </p:txBody>
            </p:sp>
            <p:sp>
              <p:nvSpPr>
                <p:cNvPr id="110" name="Rectangle 109">
                  <a:extLst>
                    <a:ext uri="{FF2B5EF4-FFF2-40B4-BE49-F238E27FC236}">
                      <a16:creationId xmlns:a16="http://schemas.microsoft.com/office/drawing/2014/main" id="{157C0648-217A-43C6-B61B-1C29655EB5FB}"/>
                    </a:ext>
                  </a:extLst>
                </p:cNvPr>
                <p:cNvSpPr>
                  <a:spLocks noChangeArrowheads="1"/>
                </p:cNvSpPr>
                <p:nvPr/>
              </p:nvSpPr>
              <p:spPr bwMode="auto">
                <a:xfrm>
                  <a:off x="4066" y="952"/>
                  <a:ext cx="46" cy="8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latin typeface="Calibri" panose="020F0502020204030204"/>
                  </a:endParaRPr>
                </a:p>
              </p:txBody>
            </p:sp>
            <p:sp>
              <p:nvSpPr>
                <p:cNvPr id="111" name="Rectangle 110">
                  <a:extLst>
                    <a:ext uri="{FF2B5EF4-FFF2-40B4-BE49-F238E27FC236}">
                      <a16:creationId xmlns:a16="http://schemas.microsoft.com/office/drawing/2014/main" id="{0E030755-A58F-496D-93BC-E7BE201177CB}"/>
                    </a:ext>
                  </a:extLst>
                </p:cNvPr>
                <p:cNvSpPr>
                  <a:spLocks noChangeArrowheads="1"/>
                </p:cNvSpPr>
                <p:nvPr/>
              </p:nvSpPr>
              <p:spPr bwMode="auto">
                <a:xfrm>
                  <a:off x="4164" y="952"/>
                  <a:ext cx="46" cy="8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latin typeface="Calibri" panose="020F0502020204030204"/>
                  </a:endParaRPr>
                </a:p>
              </p:txBody>
            </p:sp>
            <p:sp>
              <p:nvSpPr>
                <p:cNvPr id="112" name="Rectangle 111">
                  <a:extLst>
                    <a:ext uri="{FF2B5EF4-FFF2-40B4-BE49-F238E27FC236}">
                      <a16:creationId xmlns:a16="http://schemas.microsoft.com/office/drawing/2014/main" id="{8830BF3A-C47B-4EA2-98C6-19862DDDD821}"/>
                    </a:ext>
                  </a:extLst>
                </p:cNvPr>
                <p:cNvSpPr>
                  <a:spLocks noChangeArrowheads="1"/>
                </p:cNvSpPr>
                <p:nvPr/>
              </p:nvSpPr>
              <p:spPr bwMode="auto">
                <a:xfrm>
                  <a:off x="4263" y="952"/>
                  <a:ext cx="46" cy="8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latin typeface="Calibri" panose="020F0502020204030204"/>
                  </a:endParaRPr>
                </a:p>
              </p:txBody>
            </p:sp>
            <p:sp>
              <p:nvSpPr>
                <p:cNvPr id="113" name="Rectangle 112">
                  <a:extLst>
                    <a:ext uri="{FF2B5EF4-FFF2-40B4-BE49-F238E27FC236}">
                      <a16:creationId xmlns:a16="http://schemas.microsoft.com/office/drawing/2014/main" id="{D95E60DC-852C-45F0-8A35-49C99062A573}"/>
                    </a:ext>
                  </a:extLst>
                </p:cNvPr>
                <p:cNvSpPr>
                  <a:spLocks noChangeArrowheads="1"/>
                </p:cNvSpPr>
                <p:nvPr/>
              </p:nvSpPr>
              <p:spPr bwMode="auto">
                <a:xfrm>
                  <a:off x="3967" y="1079"/>
                  <a:ext cx="46" cy="8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latin typeface="Calibri" panose="020F0502020204030204"/>
                  </a:endParaRPr>
                </a:p>
              </p:txBody>
            </p:sp>
            <p:sp>
              <p:nvSpPr>
                <p:cNvPr id="114" name="Rectangle 113">
                  <a:extLst>
                    <a:ext uri="{FF2B5EF4-FFF2-40B4-BE49-F238E27FC236}">
                      <a16:creationId xmlns:a16="http://schemas.microsoft.com/office/drawing/2014/main" id="{D3AEC032-8C94-4034-98DA-3484AEA2F014}"/>
                    </a:ext>
                  </a:extLst>
                </p:cNvPr>
                <p:cNvSpPr>
                  <a:spLocks noChangeArrowheads="1"/>
                </p:cNvSpPr>
                <p:nvPr/>
              </p:nvSpPr>
              <p:spPr bwMode="auto">
                <a:xfrm>
                  <a:off x="4066" y="1079"/>
                  <a:ext cx="46" cy="85"/>
                </a:xfrm>
                <a:prstGeom prst="rect">
                  <a:avLst/>
                </a:prstGeom>
                <a:solidFill>
                  <a:srgbClr val="00B0F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latin typeface="Calibri" panose="020F0502020204030204"/>
                  </a:endParaRPr>
                </a:p>
              </p:txBody>
            </p:sp>
            <p:sp>
              <p:nvSpPr>
                <p:cNvPr id="115" name="Rectangle 114">
                  <a:extLst>
                    <a:ext uri="{FF2B5EF4-FFF2-40B4-BE49-F238E27FC236}">
                      <a16:creationId xmlns:a16="http://schemas.microsoft.com/office/drawing/2014/main" id="{A095065E-2159-4BA5-91A5-E6094E01B033}"/>
                    </a:ext>
                  </a:extLst>
                </p:cNvPr>
                <p:cNvSpPr>
                  <a:spLocks noChangeArrowheads="1"/>
                </p:cNvSpPr>
                <p:nvPr/>
              </p:nvSpPr>
              <p:spPr bwMode="auto">
                <a:xfrm>
                  <a:off x="4164" y="1079"/>
                  <a:ext cx="46" cy="85"/>
                </a:xfrm>
                <a:prstGeom prst="rect">
                  <a:avLst/>
                </a:prstGeom>
                <a:solidFill>
                  <a:srgbClr val="00B0F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latin typeface="Calibri" panose="020F0502020204030204"/>
                  </a:endParaRPr>
                </a:p>
              </p:txBody>
            </p:sp>
            <p:sp>
              <p:nvSpPr>
                <p:cNvPr id="116" name="Rectangle 115">
                  <a:extLst>
                    <a:ext uri="{FF2B5EF4-FFF2-40B4-BE49-F238E27FC236}">
                      <a16:creationId xmlns:a16="http://schemas.microsoft.com/office/drawing/2014/main" id="{9F577CFF-0EA6-4F41-A7CF-CC3F7DAB31BA}"/>
                    </a:ext>
                  </a:extLst>
                </p:cNvPr>
                <p:cNvSpPr>
                  <a:spLocks noChangeArrowheads="1"/>
                </p:cNvSpPr>
                <p:nvPr/>
              </p:nvSpPr>
              <p:spPr bwMode="auto">
                <a:xfrm>
                  <a:off x="4263" y="1079"/>
                  <a:ext cx="46" cy="8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latin typeface="Calibri" panose="020F0502020204030204"/>
                  </a:endParaRPr>
                </a:p>
              </p:txBody>
            </p:sp>
            <p:sp>
              <p:nvSpPr>
                <p:cNvPr id="117" name="Rectangle 116">
                  <a:extLst>
                    <a:ext uri="{FF2B5EF4-FFF2-40B4-BE49-F238E27FC236}">
                      <a16:creationId xmlns:a16="http://schemas.microsoft.com/office/drawing/2014/main" id="{BF609758-DC4F-4012-8B7C-3B419278C60A}"/>
                    </a:ext>
                  </a:extLst>
                </p:cNvPr>
                <p:cNvSpPr>
                  <a:spLocks noChangeArrowheads="1"/>
                </p:cNvSpPr>
                <p:nvPr/>
              </p:nvSpPr>
              <p:spPr bwMode="auto">
                <a:xfrm>
                  <a:off x="3967" y="1210"/>
                  <a:ext cx="46" cy="8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latin typeface="Calibri" panose="020F0502020204030204"/>
                  </a:endParaRPr>
                </a:p>
              </p:txBody>
            </p:sp>
            <p:sp>
              <p:nvSpPr>
                <p:cNvPr id="118" name="Rectangle 117">
                  <a:extLst>
                    <a:ext uri="{FF2B5EF4-FFF2-40B4-BE49-F238E27FC236}">
                      <a16:creationId xmlns:a16="http://schemas.microsoft.com/office/drawing/2014/main" id="{17560036-B427-40D7-9F21-87476CEB82E5}"/>
                    </a:ext>
                  </a:extLst>
                </p:cNvPr>
                <p:cNvSpPr>
                  <a:spLocks noChangeArrowheads="1"/>
                </p:cNvSpPr>
                <p:nvPr/>
              </p:nvSpPr>
              <p:spPr bwMode="auto">
                <a:xfrm>
                  <a:off x="4066" y="1210"/>
                  <a:ext cx="46" cy="8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latin typeface="Calibri" panose="020F0502020204030204"/>
                  </a:endParaRPr>
                </a:p>
              </p:txBody>
            </p:sp>
            <p:sp>
              <p:nvSpPr>
                <p:cNvPr id="119" name="Rectangle 118">
                  <a:extLst>
                    <a:ext uri="{FF2B5EF4-FFF2-40B4-BE49-F238E27FC236}">
                      <a16:creationId xmlns:a16="http://schemas.microsoft.com/office/drawing/2014/main" id="{1C97090C-649F-4A3C-BB9C-B63D7A1A4237}"/>
                    </a:ext>
                  </a:extLst>
                </p:cNvPr>
                <p:cNvSpPr>
                  <a:spLocks noChangeArrowheads="1"/>
                </p:cNvSpPr>
                <p:nvPr/>
              </p:nvSpPr>
              <p:spPr bwMode="auto">
                <a:xfrm>
                  <a:off x="4164" y="1210"/>
                  <a:ext cx="46" cy="85"/>
                </a:xfrm>
                <a:prstGeom prst="rect">
                  <a:avLst/>
                </a:prstGeom>
                <a:solidFill>
                  <a:srgbClr val="00B0F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latin typeface="Calibri" panose="020F0502020204030204"/>
                  </a:endParaRPr>
                </a:p>
              </p:txBody>
            </p:sp>
            <p:sp>
              <p:nvSpPr>
                <p:cNvPr id="120" name="Rectangle 31">
                  <a:extLst>
                    <a:ext uri="{FF2B5EF4-FFF2-40B4-BE49-F238E27FC236}">
                      <a16:creationId xmlns:a16="http://schemas.microsoft.com/office/drawing/2014/main" id="{CAB5C8E4-2C8D-4FE5-96BD-E50ADA257FF2}"/>
                    </a:ext>
                  </a:extLst>
                </p:cNvPr>
                <p:cNvSpPr>
                  <a:spLocks noChangeArrowheads="1"/>
                </p:cNvSpPr>
                <p:nvPr/>
              </p:nvSpPr>
              <p:spPr bwMode="auto">
                <a:xfrm>
                  <a:off x="4263" y="1210"/>
                  <a:ext cx="46" cy="85"/>
                </a:xfrm>
                <a:prstGeom prst="rect">
                  <a:avLst/>
                </a:prstGeom>
                <a:solidFill>
                  <a:srgbClr val="00B0F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latin typeface="Calibri" panose="020F0502020204030204"/>
                  </a:endParaRPr>
                </a:p>
              </p:txBody>
            </p:sp>
            <p:sp>
              <p:nvSpPr>
                <p:cNvPr id="121" name="Rectangle 32">
                  <a:extLst>
                    <a:ext uri="{FF2B5EF4-FFF2-40B4-BE49-F238E27FC236}">
                      <a16:creationId xmlns:a16="http://schemas.microsoft.com/office/drawing/2014/main" id="{E1296782-B047-4199-AAA6-0F9F139B5A85}"/>
                    </a:ext>
                  </a:extLst>
                </p:cNvPr>
                <p:cNvSpPr>
                  <a:spLocks noChangeArrowheads="1"/>
                </p:cNvSpPr>
                <p:nvPr/>
              </p:nvSpPr>
              <p:spPr bwMode="auto">
                <a:xfrm>
                  <a:off x="3967" y="1337"/>
                  <a:ext cx="46" cy="85"/>
                </a:xfrm>
                <a:prstGeom prst="rect">
                  <a:avLst/>
                </a:prstGeom>
                <a:solidFill>
                  <a:srgbClr val="00B0F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latin typeface="Calibri" panose="020F0502020204030204"/>
                  </a:endParaRPr>
                </a:p>
              </p:txBody>
            </p:sp>
            <p:sp>
              <p:nvSpPr>
                <p:cNvPr id="122" name="Rectangle 33">
                  <a:extLst>
                    <a:ext uri="{FF2B5EF4-FFF2-40B4-BE49-F238E27FC236}">
                      <a16:creationId xmlns:a16="http://schemas.microsoft.com/office/drawing/2014/main" id="{44312614-0805-450C-BF30-C51ADEB69F1E}"/>
                    </a:ext>
                  </a:extLst>
                </p:cNvPr>
                <p:cNvSpPr>
                  <a:spLocks noChangeArrowheads="1"/>
                </p:cNvSpPr>
                <p:nvPr/>
              </p:nvSpPr>
              <p:spPr bwMode="auto">
                <a:xfrm>
                  <a:off x="4066" y="1337"/>
                  <a:ext cx="46" cy="85"/>
                </a:xfrm>
                <a:prstGeom prst="rect">
                  <a:avLst/>
                </a:prstGeom>
                <a:solidFill>
                  <a:srgbClr val="00B0F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latin typeface="Calibri" panose="020F0502020204030204"/>
                  </a:endParaRPr>
                </a:p>
              </p:txBody>
            </p:sp>
            <p:sp>
              <p:nvSpPr>
                <p:cNvPr id="123" name="Rectangle 34">
                  <a:extLst>
                    <a:ext uri="{FF2B5EF4-FFF2-40B4-BE49-F238E27FC236}">
                      <a16:creationId xmlns:a16="http://schemas.microsoft.com/office/drawing/2014/main" id="{99AB26CB-817B-4AED-AC2A-5A35D98939E7}"/>
                    </a:ext>
                  </a:extLst>
                </p:cNvPr>
                <p:cNvSpPr>
                  <a:spLocks noChangeArrowheads="1"/>
                </p:cNvSpPr>
                <p:nvPr/>
              </p:nvSpPr>
              <p:spPr bwMode="auto">
                <a:xfrm>
                  <a:off x="4164" y="1337"/>
                  <a:ext cx="46" cy="8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latin typeface="Calibri" panose="020F0502020204030204"/>
                  </a:endParaRPr>
                </a:p>
              </p:txBody>
            </p:sp>
            <p:sp>
              <p:nvSpPr>
                <p:cNvPr id="124" name="Rectangle 35">
                  <a:extLst>
                    <a:ext uri="{FF2B5EF4-FFF2-40B4-BE49-F238E27FC236}">
                      <a16:creationId xmlns:a16="http://schemas.microsoft.com/office/drawing/2014/main" id="{9AA2BFD8-1B95-4F11-B515-6E08EF13C6E6}"/>
                    </a:ext>
                  </a:extLst>
                </p:cNvPr>
                <p:cNvSpPr>
                  <a:spLocks noChangeArrowheads="1"/>
                </p:cNvSpPr>
                <p:nvPr/>
              </p:nvSpPr>
              <p:spPr bwMode="auto">
                <a:xfrm>
                  <a:off x="4263" y="1337"/>
                  <a:ext cx="46" cy="8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latin typeface="Calibri" panose="020F0502020204030204"/>
                  </a:endParaRPr>
                </a:p>
              </p:txBody>
            </p:sp>
            <p:sp>
              <p:nvSpPr>
                <p:cNvPr id="125" name="Rectangle 36">
                  <a:extLst>
                    <a:ext uri="{FF2B5EF4-FFF2-40B4-BE49-F238E27FC236}">
                      <a16:creationId xmlns:a16="http://schemas.microsoft.com/office/drawing/2014/main" id="{F1E6B3BA-AC81-445C-BC8E-3AB88FAAD54F}"/>
                    </a:ext>
                  </a:extLst>
                </p:cNvPr>
                <p:cNvSpPr>
                  <a:spLocks noChangeArrowheads="1"/>
                </p:cNvSpPr>
                <p:nvPr/>
              </p:nvSpPr>
              <p:spPr bwMode="auto">
                <a:xfrm>
                  <a:off x="3967" y="1468"/>
                  <a:ext cx="46" cy="84"/>
                </a:xfrm>
                <a:prstGeom prst="rect">
                  <a:avLst/>
                </a:prstGeom>
                <a:solidFill>
                  <a:srgbClr val="00B0F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latin typeface="Calibri" panose="020F0502020204030204"/>
                  </a:endParaRPr>
                </a:p>
              </p:txBody>
            </p:sp>
            <p:sp>
              <p:nvSpPr>
                <p:cNvPr id="126" name="Rectangle 37">
                  <a:extLst>
                    <a:ext uri="{FF2B5EF4-FFF2-40B4-BE49-F238E27FC236}">
                      <a16:creationId xmlns:a16="http://schemas.microsoft.com/office/drawing/2014/main" id="{16385391-3F0C-4FA5-AEC6-3DB0A3974C67}"/>
                    </a:ext>
                  </a:extLst>
                </p:cNvPr>
                <p:cNvSpPr>
                  <a:spLocks noChangeArrowheads="1"/>
                </p:cNvSpPr>
                <p:nvPr/>
              </p:nvSpPr>
              <p:spPr bwMode="auto">
                <a:xfrm>
                  <a:off x="4066" y="1468"/>
                  <a:ext cx="46" cy="84"/>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latin typeface="Calibri" panose="020F0502020204030204"/>
                  </a:endParaRPr>
                </a:p>
              </p:txBody>
            </p:sp>
            <p:sp>
              <p:nvSpPr>
                <p:cNvPr id="127" name="Rectangle 38">
                  <a:extLst>
                    <a:ext uri="{FF2B5EF4-FFF2-40B4-BE49-F238E27FC236}">
                      <a16:creationId xmlns:a16="http://schemas.microsoft.com/office/drawing/2014/main" id="{4FD2184E-A8DF-4352-A0F0-1F30A486B171}"/>
                    </a:ext>
                  </a:extLst>
                </p:cNvPr>
                <p:cNvSpPr>
                  <a:spLocks noChangeArrowheads="1"/>
                </p:cNvSpPr>
                <p:nvPr/>
              </p:nvSpPr>
              <p:spPr bwMode="auto">
                <a:xfrm>
                  <a:off x="4164" y="1468"/>
                  <a:ext cx="46" cy="84"/>
                </a:xfrm>
                <a:prstGeom prst="rect">
                  <a:avLst/>
                </a:prstGeom>
                <a:solidFill>
                  <a:srgbClr val="00B0F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latin typeface="Calibri" panose="020F0502020204030204"/>
                  </a:endParaRPr>
                </a:p>
              </p:txBody>
            </p:sp>
            <p:sp>
              <p:nvSpPr>
                <p:cNvPr id="128" name="Rectangle 39">
                  <a:extLst>
                    <a:ext uri="{FF2B5EF4-FFF2-40B4-BE49-F238E27FC236}">
                      <a16:creationId xmlns:a16="http://schemas.microsoft.com/office/drawing/2014/main" id="{CAA91116-D14A-4011-817E-A85475BEA491}"/>
                    </a:ext>
                  </a:extLst>
                </p:cNvPr>
                <p:cNvSpPr>
                  <a:spLocks noChangeArrowheads="1"/>
                </p:cNvSpPr>
                <p:nvPr/>
              </p:nvSpPr>
              <p:spPr bwMode="auto">
                <a:xfrm>
                  <a:off x="4263" y="1468"/>
                  <a:ext cx="46" cy="84"/>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latin typeface="Calibri" panose="020F0502020204030204"/>
                  </a:endParaRPr>
                </a:p>
              </p:txBody>
            </p:sp>
            <p:sp>
              <p:nvSpPr>
                <p:cNvPr id="129" name="Rectangle 40">
                  <a:extLst>
                    <a:ext uri="{FF2B5EF4-FFF2-40B4-BE49-F238E27FC236}">
                      <a16:creationId xmlns:a16="http://schemas.microsoft.com/office/drawing/2014/main" id="{744570C5-D817-4F61-B7FD-3F2808E00517}"/>
                    </a:ext>
                  </a:extLst>
                </p:cNvPr>
                <p:cNvSpPr>
                  <a:spLocks noChangeArrowheads="1"/>
                </p:cNvSpPr>
                <p:nvPr/>
              </p:nvSpPr>
              <p:spPr bwMode="auto">
                <a:xfrm>
                  <a:off x="3630" y="1468"/>
                  <a:ext cx="45" cy="84"/>
                </a:xfrm>
                <a:prstGeom prst="rect">
                  <a:avLst/>
                </a:prstGeom>
                <a:solidFill>
                  <a:srgbClr val="00B0F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latin typeface="Calibri" panose="020F0502020204030204"/>
                  </a:endParaRPr>
                </a:p>
              </p:txBody>
            </p:sp>
            <p:sp>
              <p:nvSpPr>
                <p:cNvPr id="130" name="Rectangle 41">
                  <a:extLst>
                    <a:ext uri="{FF2B5EF4-FFF2-40B4-BE49-F238E27FC236}">
                      <a16:creationId xmlns:a16="http://schemas.microsoft.com/office/drawing/2014/main" id="{7666BCBD-69E2-40DA-9530-2753295104B9}"/>
                    </a:ext>
                  </a:extLst>
                </p:cNvPr>
                <p:cNvSpPr>
                  <a:spLocks noChangeArrowheads="1"/>
                </p:cNvSpPr>
                <p:nvPr/>
              </p:nvSpPr>
              <p:spPr bwMode="auto">
                <a:xfrm>
                  <a:off x="3728" y="1468"/>
                  <a:ext cx="46" cy="84"/>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latin typeface="Calibri" panose="020F0502020204030204"/>
                  </a:endParaRPr>
                </a:p>
              </p:txBody>
            </p:sp>
            <p:sp>
              <p:nvSpPr>
                <p:cNvPr id="131" name="Rectangle 42">
                  <a:extLst>
                    <a:ext uri="{FF2B5EF4-FFF2-40B4-BE49-F238E27FC236}">
                      <a16:creationId xmlns:a16="http://schemas.microsoft.com/office/drawing/2014/main" id="{220D9718-5027-4B64-BC0E-E275CAE78D55}"/>
                    </a:ext>
                  </a:extLst>
                </p:cNvPr>
                <p:cNvSpPr>
                  <a:spLocks noChangeArrowheads="1"/>
                </p:cNvSpPr>
                <p:nvPr/>
              </p:nvSpPr>
              <p:spPr bwMode="auto">
                <a:xfrm>
                  <a:off x="3830" y="1468"/>
                  <a:ext cx="46" cy="84"/>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latin typeface="Calibri" panose="020F0502020204030204"/>
                  </a:endParaRPr>
                </a:p>
              </p:txBody>
            </p:sp>
            <p:sp>
              <p:nvSpPr>
                <p:cNvPr id="132" name="Rectangle 43">
                  <a:extLst>
                    <a:ext uri="{FF2B5EF4-FFF2-40B4-BE49-F238E27FC236}">
                      <a16:creationId xmlns:a16="http://schemas.microsoft.com/office/drawing/2014/main" id="{F80D5322-4763-46E0-92E6-F391A467111D}"/>
                    </a:ext>
                  </a:extLst>
                </p:cNvPr>
                <p:cNvSpPr>
                  <a:spLocks noChangeArrowheads="1"/>
                </p:cNvSpPr>
                <p:nvPr/>
              </p:nvSpPr>
              <p:spPr bwMode="auto">
                <a:xfrm>
                  <a:off x="3630" y="1595"/>
                  <a:ext cx="45" cy="8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latin typeface="Calibri" panose="020F0502020204030204"/>
                  </a:endParaRPr>
                </a:p>
              </p:txBody>
            </p:sp>
            <p:sp>
              <p:nvSpPr>
                <p:cNvPr id="133" name="Rectangle 44">
                  <a:extLst>
                    <a:ext uri="{FF2B5EF4-FFF2-40B4-BE49-F238E27FC236}">
                      <a16:creationId xmlns:a16="http://schemas.microsoft.com/office/drawing/2014/main" id="{B03CE041-4568-4D7D-AE08-71D15A713B3F}"/>
                    </a:ext>
                  </a:extLst>
                </p:cNvPr>
                <p:cNvSpPr>
                  <a:spLocks noChangeArrowheads="1"/>
                </p:cNvSpPr>
                <p:nvPr/>
              </p:nvSpPr>
              <p:spPr bwMode="auto">
                <a:xfrm>
                  <a:off x="3728" y="1595"/>
                  <a:ext cx="46" cy="85"/>
                </a:xfrm>
                <a:prstGeom prst="rect">
                  <a:avLst/>
                </a:prstGeom>
                <a:solidFill>
                  <a:srgbClr val="00B0F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latin typeface="Calibri" panose="020F0502020204030204"/>
                  </a:endParaRPr>
                </a:p>
              </p:txBody>
            </p:sp>
            <p:sp>
              <p:nvSpPr>
                <p:cNvPr id="134" name="Rectangle 45">
                  <a:extLst>
                    <a:ext uri="{FF2B5EF4-FFF2-40B4-BE49-F238E27FC236}">
                      <a16:creationId xmlns:a16="http://schemas.microsoft.com/office/drawing/2014/main" id="{48BACCAF-4BE6-4065-8A0A-7D0B04CBDEC4}"/>
                    </a:ext>
                  </a:extLst>
                </p:cNvPr>
                <p:cNvSpPr>
                  <a:spLocks noChangeArrowheads="1"/>
                </p:cNvSpPr>
                <p:nvPr/>
              </p:nvSpPr>
              <p:spPr bwMode="auto">
                <a:xfrm>
                  <a:off x="3830" y="1595"/>
                  <a:ext cx="46" cy="8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latin typeface="Calibri" panose="020F0502020204030204"/>
                  </a:endParaRPr>
                </a:p>
              </p:txBody>
            </p:sp>
            <p:sp>
              <p:nvSpPr>
                <p:cNvPr id="135" name="Rectangle 46">
                  <a:extLst>
                    <a:ext uri="{FF2B5EF4-FFF2-40B4-BE49-F238E27FC236}">
                      <a16:creationId xmlns:a16="http://schemas.microsoft.com/office/drawing/2014/main" id="{DA7F5927-D609-45C4-9035-75826865C7C7}"/>
                    </a:ext>
                  </a:extLst>
                </p:cNvPr>
                <p:cNvSpPr>
                  <a:spLocks noChangeArrowheads="1"/>
                </p:cNvSpPr>
                <p:nvPr/>
              </p:nvSpPr>
              <p:spPr bwMode="auto">
                <a:xfrm>
                  <a:off x="3967" y="1595"/>
                  <a:ext cx="46" cy="8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latin typeface="Calibri" panose="020F0502020204030204"/>
                  </a:endParaRPr>
                </a:p>
              </p:txBody>
            </p:sp>
            <p:sp>
              <p:nvSpPr>
                <p:cNvPr id="136" name="Rectangle 47">
                  <a:extLst>
                    <a:ext uri="{FF2B5EF4-FFF2-40B4-BE49-F238E27FC236}">
                      <a16:creationId xmlns:a16="http://schemas.microsoft.com/office/drawing/2014/main" id="{D1EE42CF-711C-4F2D-B357-2B1B4285EEDE}"/>
                    </a:ext>
                  </a:extLst>
                </p:cNvPr>
                <p:cNvSpPr>
                  <a:spLocks noChangeArrowheads="1"/>
                </p:cNvSpPr>
                <p:nvPr/>
              </p:nvSpPr>
              <p:spPr bwMode="auto">
                <a:xfrm>
                  <a:off x="4066" y="1595"/>
                  <a:ext cx="46" cy="85"/>
                </a:xfrm>
                <a:prstGeom prst="rect">
                  <a:avLst/>
                </a:prstGeom>
                <a:solidFill>
                  <a:srgbClr val="00B0F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latin typeface="Calibri" panose="020F0502020204030204"/>
                  </a:endParaRPr>
                </a:p>
              </p:txBody>
            </p:sp>
            <p:sp>
              <p:nvSpPr>
                <p:cNvPr id="137" name="Rectangle 48">
                  <a:extLst>
                    <a:ext uri="{FF2B5EF4-FFF2-40B4-BE49-F238E27FC236}">
                      <a16:creationId xmlns:a16="http://schemas.microsoft.com/office/drawing/2014/main" id="{8B9227AB-D4E2-48D2-A766-D0CA9F82BF26}"/>
                    </a:ext>
                  </a:extLst>
                </p:cNvPr>
                <p:cNvSpPr>
                  <a:spLocks noChangeArrowheads="1"/>
                </p:cNvSpPr>
                <p:nvPr/>
              </p:nvSpPr>
              <p:spPr bwMode="auto">
                <a:xfrm>
                  <a:off x="4164" y="1595"/>
                  <a:ext cx="46" cy="8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latin typeface="Calibri" panose="020F0502020204030204"/>
                  </a:endParaRPr>
                </a:p>
              </p:txBody>
            </p:sp>
            <p:sp>
              <p:nvSpPr>
                <p:cNvPr id="138" name="Rectangle 49">
                  <a:extLst>
                    <a:ext uri="{FF2B5EF4-FFF2-40B4-BE49-F238E27FC236}">
                      <a16:creationId xmlns:a16="http://schemas.microsoft.com/office/drawing/2014/main" id="{82B3210A-40F8-4099-AA0B-4675DB9FA311}"/>
                    </a:ext>
                  </a:extLst>
                </p:cNvPr>
                <p:cNvSpPr>
                  <a:spLocks noChangeArrowheads="1"/>
                </p:cNvSpPr>
                <p:nvPr/>
              </p:nvSpPr>
              <p:spPr bwMode="auto">
                <a:xfrm>
                  <a:off x="4263" y="1595"/>
                  <a:ext cx="46" cy="85"/>
                </a:xfrm>
                <a:prstGeom prst="rect">
                  <a:avLst/>
                </a:prstGeom>
                <a:solidFill>
                  <a:srgbClr val="00B0F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latin typeface="Calibri" panose="020F0502020204030204"/>
                  </a:endParaRPr>
                </a:p>
              </p:txBody>
            </p:sp>
            <p:sp>
              <p:nvSpPr>
                <p:cNvPr id="139" name="Rectangle 50">
                  <a:extLst>
                    <a:ext uri="{FF2B5EF4-FFF2-40B4-BE49-F238E27FC236}">
                      <a16:creationId xmlns:a16="http://schemas.microsoft.com/office/drawing/2014/main" id="{01C50267-4AA7-46A1-82BE-B0B63917D059}"/>
                    </a:ext>
                  </a:extLst>
                </p:cNvPr>
                <p:cNvSpPr>
                  <a:spLocks noChangeArrowheads="1"/>
                </p:cNvSpPr>
                <p:nvPr/>
              </p:nvSpPr>
              <p:spPr bwMode="auto">
                <a:xfrm>
                  <a:off x="4164" y="521"/>
                  <a:ext cx="145" cy="85"/>
                </a:xfrm>
                <a:prstGeom prst="rect">
                  <a:avLst/>
                </a:prstGeom>
                <a:solidFill>
                  <a:srgbClr val="64646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latin typeface="Calibri" panose="020F0502020204030204"/>
                  </a:endParaRPr>
                </a:p>
              </p:txBody>
            </p:sp>
            <p:sp>
              <p:nvSpPr>
                <p:cNvPr id="140" name="Rectangle 51">
                  <a:extLst>
                    <a:ext uri="{FF2B5EF4-FFF2-40B4-BE49-F238E27FC236}">
                      <a16:creationId xmlns:a16="http://schemas.microsoft.com/office/drawing/2014/main" id="{23B1B35E-F17B-43BE-806A-424FCDF90E04}"/>
                    </a:ext>
                  </a:extLst>
                </p:cNvPr>
                <p:cNvSpPr>
                  <a:spLocks noChangeArrowheads="1"/>
                </p:cNvSpPr>
                <p:nvPr/>
              </p:nvSpPr>
              <p:spPr bwMode="auto">
                <a:xfrm>
                  <a:off x="4013" y="466"/>
                  <a:ext cx="27" cy="140"/>
                </a:xfrm>
                <a:prstGeom prst="rect">
                  <a:avLst/>
                </a:prstGeom>
                <a:solidFill>
                  <a:srgbClr val="00B0F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latin typeface="Calibri" panose="020F0502020204030204"/>
                  </a:endParaRPr>
                </a:p>
              </p:txBody>
            </p:sp>
          </p:grpSp>
        </p:grpSp>
        <p:sp>
          <p:nvSpPr>
            <p:cNvPr id="141" name="Rectangle 140">
              <a:extLst>
                <a:ext uri="{FF2B5EF4-FFF2-40B4-BE49-F238E27FC236}">
                  <a16:creationId xmlns:a16="http://schemas.microsoft.com/office/drawing/2014/main" id="{65F62736-A1CF-411F-961D-AE90AD5EC244}"/>
                </a:ext>
              </a:extLst>
            </p:cNvPr>
            <p:cNvSpPr/>
            <p:nvPr/>
          </p:nvSpPr>
          <p:spPr>
            <a:xfrm>
              <a:off x="6164494" y="5410807"/>
              <a:ext cx="1253448" cy="846155"/>
            </a:xfrm>
            <a:prstGeom prst="rect">
              <a:avLst/>
            </a:prstGeom>
            <a:solidFill>
              <a:srgbClr val="44546A">
                <a:lumMod val="20000"/>
                <a:lumOff val="80000"/>
              </a:srgbClr>
            </a:solidFill>
            <a:ln w="6350" cap="flat" cmpd="sng" algn="ctr">
              <a:solidFill>
                <a:sysClr val="windowText" lastClr="000000"/>
              </a:solidFill>
              <a:prstDash val="sysDash"/>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Virtual Network(s)</a:t>
              </a:r>
            </a:p>
          </p:txBody>
        </p:sp>
        <p:cxnSp>
          <p:nvCxnSpPr>
            <p:cNvPr id="142" name="Connector: Elbow 141">
              <a:extLst>
                <a:ext uri="{FF2B5EF4-FFF2-40B4-BE49-F238E27FC236}">
                  <a16:creationId xmlns:a16="http://schemas.microsoft.com/office/drawing/2014/main" id="{C214CD69-73BE-412A-9102-B1FB20939C18}"/>
                </a:ext>
              </a:extLst>
            </p:cNvPr>
            <p:cNvCxnSpPr>
              <a:stCxn id="11" idx="3"/>
              <a:endCxn id="97" idx="1"/>
            </p:cNvCxnSpPr>
            <p:nvPr/>
          </p:nvCxnSpPr>
          <p:spPr>
            <a:xfrm flipV="1">
              <a:off x="5274629" y="4398605"/>
              <a:ext cx="893109" cy="727219"/>
            </a:xfrm>
            <a:prstGeom prst="bentConnector3">
              <a:avLst/>
            </a:prstGeom>
            <a:noFill/>
            <a:ln w="6350" cap="flat" cmpd="sng" algn="ctr">
              <a:solidFill>
                <a:sysClr val="windowText" lastClr="000000"/>
              </a:solidFill>
              <a:prstDash val="sysDash"/>
              <a:miter lim="800000"/>
              <a:tailEnd type="triangle"/>
            </a:ln>
            <a:effectLst/>
          </p:spPr>
        </p:cxnSp>
        <p:cxnSp>
          <p:nvCxnSpPr>
            <p:cNvPr id="143" name="Connector: Elbow 142">
              <a:extLst>
                <a:ext uri="{FF2B5EF4-FFF2-40B4-BE49-F238E27FC236}">
                  <a16:creationId xmlns:a16="http://schemas.microsoft.com/office/drawing/2014/main" id="{65AB0913-538B-4FC6-ADAD-25B3F216A35A}"/>
                </a:ext>
              </a:extLst>
            </p:cNvPr>
            <p:cNvCxnSpPr>
              <a:cxnSpLocks/>
              <a:stCxn id="11" idx="3"/>
              <a:endCxn id="141" idx="1"/>
            </p:cNvCxnSpPr>
            <p:nvPr/>
          </p:nvCxnSpPr>
          <p:spPr>
            <a:xfrm>
              <a:off x="5274629" y="5125824"/>
              <a:ext cx="889865" cy="708061"/>
            </a:xfrm>
            <a:prstGeom prst="bentConnector3">
              <a:avLst/>
            </a:prstGeom>
            <a:noFill/>
            <a:ln w="6350" cap="flat" cmpd="sng" algn="ctr">
              <a:solidFill>
                <a:sysClr val="windowText" lastClr="000000"/>
              </a:solidFill>
              <a:prstDash val="sysDash"/>
              <a:miter lim="800000"/>
              <a:tailEnd type="triangle"/>
            </a:ln>
            <a:effectLst/>
          </p:spPr>
        </p:cxnSp>
      </p:grpSp>
      <p:sp>
        <p:nvSpPr>
          <p:cNvPr id="8" name="Rectangle 7">
            <a:extLst>
              <a:ext uri="{FF2B5EF4-FFF2-40B4-BE49-F238E27FC236}">
                <a16:creationId xmlns:a16="http://schemas.microsoft.com/office/drawing/2014/main" id="{2FE2D89F-3864-4D98-9432-9AA601C6370A}"/>
              </a:ext>
            </a:extLst>
          </p:cNvPr>
          <p:cNvSpPr/>
          <p:nvPr/>
        </p:nvSpPr>
        <p:spPr>
          <a:xfrm>
            <a:off x="427038" y="4638706"/>
            <a:ext cx="2829469" cy="1195295"/>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7160" tIns="91440" rIns="137160" bIns="91440" numCol="1" spcCol="1270" anchor="ctr" anchorCtr="0">
            <a:noAutofit/>
          </a:bodyPr>
          <a:lstStyle/>
          <a:p>
            <a:pPr algn="ctr"/>
            <a:r>
              <a:rPr lang="en-US" sz="2000" dirty="0">
                <a:solidFill>
                  <a:schemeClr val="tx1"/>
                </a:solidFill>
              </a:rPr>
              <a:t>Logical representation of your own network</a:t>
            </a:r>
          </a:p>
        </p:txBody>
      </p:sp>
      <p:sp>
        <p:nvSpPr>
          <p:cNvPr id="9" name="Rectangle 8">
            <a:extLst>
              <a:ext uri="{FF2B5EF4-FFF2-40B4-BE49-F238E27FC236}">
                <a16:creationId xmlns:a16="http://schemas.microsoft.com/office/drawing/2014/main" id="{A0A3D8C3-FB8D-435F-B975-864FBE05C79C}"/>
              </a:ext>
            </a:extLst>
          </p:cNvPr>
          <p:cNvSpPr/>
          <p:nvPr/>
        </p:nvSpPr>
        <p:spPr>
          <a:xfrm>
            <a:off x="3357381" y="4638706"/>
            <a:ext cx="2829469" cy="1195295"/>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7160" tIns="91440" rIns="137160" bIns="91440" numCol="1" spcCol="1270" anchor="ctr" anchorCtr="0">
            <a:noAutofit/>
          </a:bodyPr>
          <a:lstStyle/>
          <a:p>
            <a:pPr algn="ctr"/>
            <a:r>
              <a:rPr lang="en-US" sz="2000" dirty="0">
                <a:solidFill>
                  <a:schemeClr val="tx1"/>
                </a:solidFill>
              </a:rPr>
              <a:t>Create a dedicated private cloud-only virtual network</a:t>
            </a:r>
          </a:p>
        </p:txBody>
      </p:sp>
      <p:sp>
        <p:nvSpPr>
          <p:cNvPr id="10" name="Rectangle 9">
            <a:extLst>
              <a:ext uri="{FF2B5EF4-FFF2-40B4-BE49-F238E27FC236}">
                <a16:creationId xmlns:a16="http://schemas.microsoft.com/office/drawing/2014/main" id="{127523E7-5480-4D13-886A-877F5511F3FE}"/>
              </a:ext>
            </a:extLst>
          </p:cNvPr>
          <p:cNvSpPr/>
          <p:nvPr/>
        </p:nvSpPr>
        <p:spPr>
          <a:xfrm>
            <a:off x="6249626" y="4638706"/>
            <a:ext cx="2829469" cy="1195295"/>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7160" tIns="91440" rIns="137160" bIns="91440" numCol="1" spcCol="1270" anchor="ctr" anchorCtr="0">
            <a:noAutofit/>
          </a:bodyPr>
          <a:lstStyle/>
          <a:p>
            <a:pPr algn="ctr"/>
            <a:r>
              <a:rPr lang="en-US" sz="2000" dirty="0">
                <a:solidFill>
                  <a:schemeClr val="tx1"/>
                </a:solidFill>
              </a:rPr>
              <a:t>Securely extend</a:t>
            </a:r>
            <a:br>
              <a:rPr lang="en-US" sz="2000" dirty="0">
                <a:solidFill>
                  <a:schemeClr val="tx1"/>
                </a:solidFill>
              </a:rPr>
            </a:br>
            <a:r>
              <a:rPr lang="en-US" sz="2000" dirty="0">
                <a:solidFill>
                  <a:schemeClr val="tx1"/>
                </a:solidFill>
              </a:rPr>
              <a:t>your datacenter with virtual networks</a:t>
            </a:r>
          </a:p>
        </p:txBody>
      </p:sp>
      <p:sp>
        <p:nvSpPr>
          <p:cNvPr id="12" name="Rectangle 11">
            <a:extLst>
              <a:ext uri="{FF2B5EF4-FFF2-40B4-BE49-F238E27FC236}">
                <a16:creationId xmlns:a16="http://schemas.microsoft.com/office/drawing/2014/main" id="{A24A0C60-02F3-4501-968C-0E106BDEF086}"/>
              </a:ext>
            </a:extLst>
          </p:cNvPr>
          <p:cNvSpPr/>
          <p:nvPr/>
        </p:nvSpPr>
        <p:spPr>
          <a:xfrm>
            <a:off x="9179969" y="4638706"/>
            <a:ext cx="2829469" cy="1195295"/>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7160" tIns="91440" rIns="137160" bIns="91440" numCol="1" spcCol="1270" anchor="ctr" anchorCtr="0">
            <a:noAutofit/>
          </a:bodyPr>
          <a:lstStyle/>
          <a:p>
            <a:pPr algn="ctr"/>
            <a:r>
              <a:rPr lang="en-US" sz="2000" dirty="0">
                <a:solidFill>
                  <a:schemeClr val="tx1"/>
                </a:solidFill>
              </a:rPr>
              <a:t>Enable hybrid</a:t>
            </a:r>
            <a:br>
              <a:rPr lang="en-US" sz="2000" dirty="0">
                <a:solidFill>
                  <a:schemeClr val="tx1"/>
                </a:solidFill>
              </a:rPr>
            </a:br>
            <a:r>
              <a:rPr lang="en-US" sz="2000" dirty="0">
                <a:solidFill>
                  <a:schemeClr val="tx1"/>
                </a:solidFill>
              </a:rPr>
              <a:t>cloud scenarios</a:t>
            </a:r>
          </a:p>
        </p:txBody>
      </p:sp>
    </p:spTree>
    <p:extLst>
      <p:ext uri="{BB962C8B-B14F-4D97-AF65-F5344CB8AC3E}">
        <p14:creationId xmlns:p14="http://schemas.microsoft.com/office/powerpoint/2010/main" val="12641068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p:txBody>
          <a:bodyPr/>
          <a:lstStyle/>
          <a:p>
            <a:r>
              <a:rPr lang="en-US" dirty="0"/>
              <a:t>Create Virtual Networks</a:t>
            </a:r>
          </a:p>
        </p:txBody>
      </p:sp>
      <p:sp>
        <p:nvSpPr>
          <p:cNvPr id="5" name="Rectangle 4">
            <a:extLst>
              <a:ext uri="{FF2B5EF4-FFF2-40B4-BE49-F238E27FC236}">
                <a16:creationId xmlns:a16="http://schemas.microsoft.com/office/drawing/2014/main" id="{8B366F71-125D-42AF-BC52-5B7E07E5ACB0}"/>
              </a:ext>
            </a:extLst>
          </p:cNvPr>
          <p:cNvSpPr/>
          <p:nvPr/>
        </p:nvSpPr>
        <p:spPr>
          <a:xfrm>
            <a:off x="324168" y="1647031"/>
            <a:ext cx="4348163" cy="4057332"/>
          </a:xfrm>
          <a:prstGeom prst="rect">
            <a:avLst/>
          </a:prstGeom>
          <a:noFill/>
          <a:ln w="6350">
            <a:noFill/>
          </a:ln>
        </p:spPr>
        <p:style>
          <a:lnRef idx="0">
            <a:scrgbClr r="0" g="0" b="0"/>
          </a:lnRef>
          <a:fillRef idx="0">
            <a:scrgbClr r="0" g="0" b="0"/>
          </a:fillRef>
          <a:effectRef idx="0">
            <a:scrgbClr r="0" g="0" b="0"/>
          </a:effectRef>
          <a:fontRef idx="minor">
            <a:schemeClr val="lt1"/>
          </a:fontRef>
        </p:style>
        <p:txBody>
          <a:bodyPr spcFirstLastPara="0" vert="horz" wrap="square" lIns="137160" tIns="91440" rIns="137160" bIns="91440" numCol="1" spcCol="1270" anchor="ctr" anchorCtr="0">
            <a:noAutofit/>
          </a:bodyPr>
          <a:lstStyle/>
          <a:p>
            <a:pPr marL="342900" indent="-342900">
              <a:spcAft>
                <a:spcPts val="600"/>
              </a:spcAft>
              <a:buFont typeface="Arial" panose="020B0604020202020204" pitchFamily="34" charset="0"/>
              <a:buChar char="•"/>
            </a:pPr>
            <a:r>
              <a:rPr lang="en-US" sz="2200" dirty="0">
                <a:solidFill>
                  <a:schemeClr val="tx1"/>
                </a:solidFill>
              </a:rPr>
              <a:t>Create new virtual networks</a:t>
            </a:r>
            <a:br>
              <a:rPr lang="en-US" sz="2200" dirty="0">
                <a:solidFill>
                  <a:schemeClr val="tx1"/>
                </a:solidFill>
              </a:rPr>
            </a:br>
            <a:r>
              <a:rPr lang="en-US" sz="2200" dirty="0">
                <a:solidFill>
                  <a:schemeClr val="tx1"/>
                </a:solidFill>
              </a:rPr>
              <a:t>at any time</a:t>
            </a:r>
          </a:p>
          <a:p>
            <a:pPr marL="342900" indent="-342900">
              <a:spcAft>
                <a:spcPts val="600"/>
              </a:spcAft>
              <a:buFont typeface="Arial" panose="020B0604020202020204" pitchFamily="34" charset="0"/>
              <a:buChar char="•"/>
            </a:pPr>
            <a:r>
              <a:rPr lang="en-US" sz="2200" dirty="0">
                <a:solidFill>
                  <a:schemeClr val="tx1"/>
                </a:solidFill>
              </a:rPr>
              <a:t>Add virtual networks when you create a virtual machine</a:t>
            </a:r>
          </a:p>
          <a:p>
            <a:pPr marL="342900" indent="-342900">
              <a:spcAft>
                <a:spcPts val="600"/>
              </a:spcAft>
              <a:buFont typeface="Arial" panose="020B0604020202020204" pitchFamily="34" charset="0"/>
              <a:buChar char="•"/>
            </a:pPr>
            <a:r>
              <a:rPr lang="en-US" sz="2200" dirty="0">
                <a:solidFill>
                  <a:schemeClr val="tx1"/>
                </a:solidFill>
              </a:rPr>
              <a:t>Define the address space, and at least one subnet</a:t>
            </a:r>
          </a:p>
          <a:p>
            <a:pPr marL="342900" indent="-342900">
              <a:spcAft>
                <a:spcPts val="600"/>
              </a:spcAft>
              <a:buFont typeface="Arial" panose="020B0604020202020204" pitchFamily="34" charset="0"/>
              <a:buChar char="•"/>
            </a:pPr>
            <a:r>
              <a:rPr lang="en-US" sz="2200" dirty="0">
                <a:solidFill>
                  <a:schemeClr val="tx1"/>
                </a:solidFill>
              </a:rPr>
              <a:t>Check for overlapping address spaces</a:t>
            </a:r>
          </a:p>
        </p:txBody>
      </p:sp>
      <p:pic>
        <p:nvPicPr>
          <p:cNvPr id="14" name="Picture 4" descr="Screenshot of a webpage on creating a virtual network">
            <a:extLst>
              <a:ext uri="{FF2B5EF4-FFF2-40B4-BE49-F238E27FC236}">
                <a16:creationId xmlns:a16="http://schemas.microsoft.com/office/drawing/2014/main" id="{657580F7-90E5-49BC-B813-1983949A4BCE}"/>
              </a:ext>
            </a:extLst>
          </p:cNvPr>
          <p:cNvPicPr>
            <a:picLocks noChangeAspect="1"/>
          </p:cNvPicPr>
          <p:nvPr/>
        </p:nvPicPr>
        <p:blipFill rotWithShape="1">
          <a:blip r:embed="rId3"/>
          <a:srcRect l="506" t="506" r="506" b="506"/>
          <a:stretch/>
        </p:blipFill>
        <p:spPr>
          <a:xfrm>
            <a:off x="5181600" y="1302637"/>
            <a:ext cx="6561136" cy="4746120"/>
          </a:xfrm>
          <a:prstGeom prst="rect">
            <a:avLst/>
          </a:prstGeom>
          <a:ln>
            <a:noFill/>
          </a:ln>
        </p:spPr>
      </p:pic>
    </p:spTree>
    <p:extLst>
      <p:ext uri="{BB962C8B-B14F-4D97-AF65-F5344CB8AC3E}">
        <p14:creationId xmlns:p14="http://schemas.microsoft.com/office/powerpoint/2010/main" val="2852811729"/>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p:txBody>
          <a:bodyPr/>
          <a:lstStyle/>
          <a:p>
            <a:r>
              <a:rPr lang="en-US" dirty="0"/>
              <a:t>Create Subnets</a:t>
            </a:r>
          </a:p>
        </p:txBody>
      </p:sp>
      <p:sp>
        <p:nvSpPr>
          <p:cNvPr id="21" name="Rectangle 20">
            <a:extLst>
              <a:ext uri="{FF2B5EF4-FFF2-40B4-BE49-F238E27FC236}">
                <a16:creationId xmlns:a16="http://schemas.microsoft.com/office/drawing/2014/main" id="{7F7B7EDA-562D-4590-AE2F-F97A7E8A1378}"/>
              </a:ext>
            </a:extLst>
          </p:cNvPr>
          <p:cNvSpPr/>
          <p:nvPr/>
        </p:nvSpPr>
        <p:spPr>
          <a:xfrm>
            <a:off x="413323" y="4269580"/>
            <a:ext cx="2791368" cy="1713545"/>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7160" tIns="91440" rIns="137160" bIns="91440" numCol="1" spcCol="1270" anchor="ctr" anchorCtr="0">
            <a:noAutofit/>
          </a:bodyPr>
          <a:lstStyle/>
          <a:p>
            <a:pPr algn="ctr"/>
            <a:r>
              <a:rPr lang="en-US" dirty="0">
                <a:solidFill>
                  <a:schemeClr val="tx1"/>
                </a:solidFill>
              </a:rPr>
              <a:t>A virtual network can be segmented into one or more subnets</a:t>
            </a:r>
          </a:p>
        </p:txBody>
      </p:sp>
      <p:sp>
        <p:nvSpPr>
          <p:cNvPr id="22" name="Rectangle 21">
            <a:extLst>
              <a:ext uri="{FF2B5EF4-FFF2-40B4-BE49-F238E27FC236}">
                <a16:creationId xmlns:a16="http://schemas.microsoft.com/office/drawing/2014/main" id="{FDD26C2C-9F20-43BD-8385-F040055D6A56}"/>
              </a:ext>
            </a:extLst>
          </p:cNvPr>
          <p:cNvSpPr/>
          <p:nvPr/>
        </p:nvSpPr>
        <p:spPr>
          <a:xfrm>
            <a:off x="3343667" y="4269580"/>
            <a:ext cx="2791368" cy="1713545"/>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7160" tIns="91440" rIns="137160" bIns="91440" numCol="1" spcCol="1270" anchor="ctr" anchorCtr="0">
            <a:noAutofit/>
          </a:bodyPr>
          <a:lstStyle/>
          <a:p>
            <a:pPr algn="ctr"/>
            <a:r>
              <a:rPr lang="en-US" dirty="0">
                <a:solidFill>
                  <a:schemeClr val="tx1"/>
                </a:solidFill>
              </a:rPr>
              <a:t>Subnets provide logical divisions within your network</a:t>
            </a:r>
          </a:p>
        </p:txBody>
      </p:sp>
      <p:sp>
        <p:nvSpPr>
          <p:cNvPr id="23" name="Rectangle 22">
            <a:extLst>
              <a:ext uri="{FF2B5EF4-FFF2-40B4-BE49-F238E27FC236}">
                <a16:creationId xmlns:a16="http://schemas.microsoft.com/office/drawing/2014/main" id="{53A55359-2EC7-44DA-B0D4-793E9D40B4FE}"/>
              </a:ext>
            </a:extLst>
          </p:cNvPr>
          <p:cNvSpPr/>
          <p:nvPr/>
        </p:nvSpPr>
        <p:spPr>
          <a:xfrm>
            <a:off x="6274011" y="4269580"/>
            <a:ext cx="2791368" cy="1713545"/>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7160" tIns="91440" rIns="137160" bIns="91440" numCol="1" spcCol="1270" anchor="ctr" anchorCtr="0">
            <a:noAutofit/>
          </a:bodyPr>
          <a:lstStyle/>
          <a:p>
            <a:pPr algn="ctr"/>
            <a:r>
              <a:rPr lang="en-US" dirty="0">
                <a:solidFill>
                  <a:schemeClr val="tx1"/>
                </a:solidFill>
              </a:rPr>
              <a:t>Subnets can help improve security, increase performance, and make it easier to manage the network</a:t>
            </a:r>
          </a:p>
        </p:txBody>
      </p:sp>
      <p:sp>
        <p:nvSpPr>
          <p:cNvPr id="24" name="Rectangle 23">
            <a:extLst>
              <a:ext uri="{FF2B5EF4-FFF2-40B4-BE49-F238E27FC236}">
                <a16:creationId xmlns:a16="http://schemas.microsoft.com/office/drawing/2014/main" id="{09083D68-4C7B-43F3-926F-83A8CAC417AD}"/>
              </a:ext>
            </a:extLst>
          </p:cNvPr>
          <p:cNvSpPr/>
          <p:nvPr/>
        </p:nvSpPr>
        <p:spPr>
          <a:xfrm>
            <a:off x="9204354" y="4269580"/>
            <a:ext cx="2791368" cy="1713545"/>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7160" tIns="91440" rIns="137160" bIns="91440" numCol="1" spcCol="1270" anchor="ctr" anchorCtr="0">
            <a:noAutofit/>
          </a:bodyPr>
          <a:lstStyle/>
          <a:p>
            <a:pPr algn="ctr"/>
            <a:r>
              <a:rPr lang="en-US" dirty="0">
                <a:solidFill>
                  <a:schemeClr val="tx1"/>
                </a:solidFill>
              </a:rPr>
              <a:t>Each subnet must have a unique address range – cannot overlap with other subnets in the vnet in the subscription </a:t>
            </a:r>
          </a:p>
        </p:txBody>
      </p:sp>
      <p:pic>
        <p:nvPicPr>
          <p:cNvPr id="3" name="Picture 2" descr="Screenshot of adding a subnet page. Several subnets are listed including the AzureBastionSubnet and GatewaySubne">
            <a:extLst>
              <a:ext uri="{FF2B5EF4-FFF2-40B4-BE49-F238E27FC236}">
                <a16:creationId xmlns:a16="http://schemas.microsoft.com/office/drawing/2014/main" id="{4A9707D9-5E1C-E95E-7CC5-5C2B547A382B}"/>
              </a:ext>
            </a:extLst>
          </p:cNvPr>
          <p:cNvPicPr>
            <a:picLocks noChangeAspect="1"/>
          </p:cNvPicPr>
          <p:nvPr/>
        </p:nvPicPr>
        <p:blipFill>
          <a:blip r:embed="rId3"/>
          <a:stretch>
            <a:fillRect/>
          </a:stretch>
        </p:blipFill>
        <p:spPr>
          <a:xfrm>
            <a:off x="1693862" y="1315640"/>
            <a:ext cx="9048750" cy="2781300"/>
          </a:xfrm>
          <a:prstGeom prst="rect">
            <a:avLst/>
          </a:prstGeom>
        </p:spPr>
      </p:pic>
    </p:spTree>
    <p:extLst>
      <p:ext uri="{BB962C8B-B14F-4D97-AF65-F5344CB8AC3E}">
        <p14:creationId xmlns:p14="http://schemas.microsoft.com/office/powerpoint/2010/main" val="20454934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p:txBody>
          <a:bodyPr/>
          <a:lstStyle/>
          <a:p>
            <a:r>
              <a:rPr lang="en-US" dirty="0"/>
              <a:t>Plan IP Addressing</a:t>
            </a:r>
          </a:p>
        </p:txBody>
      </p:sp>
      <p:sp>
        <p:nvSpPr>
          <p:cNvPr id="8" name="Rectangle 7">
            <a:extLst>
              <a:ext uri="{FF2B5EF4-FFF2-40B4-BE49-F238E27FC236}">
                <a16:creationId xmlns:a16="http://schemas.microsoft.com/office/drawing/2014/main" id="{13BA1415-396C-42D8-A9F9-1C449E74C8F7}"/>
              </a:ext>
            </a:extLst>
          </p:cNvPr>
          <p:cNvSpPr/>
          <p:nvPr/>
        </p:nvSpPr>
        <p:spPr>
          <a:xfrm>
            <a:off x="428037" y="3902636"/>
            <a:ext cx="5713981" cy="1900976"/>
          </a:xfrm>
          <a:prstGeom prst="rect">
            <a:avLst/>
          </a:prstGeom>
          <a:noFill/>
          <a:ln w="6350">
            <a:noFill/>
          </a:ln>
        </p:spPr>
        <p:style>
          <a:lnRef idx="0">
            <a:scrgbClr r="0" g="0" b="0"/>
          </a:lnRef>
          <a:fillRef idx="0">
            <a:scrgbClr r="0" g="0" b="0"/>
          </a:fillRef>
          <a:effectRef idx="0">
            <a:scrgbClr r="0" g="0" b="0"/>
          </a:effectRef>
          <a:fontRef idx="minor">
            <a:schemeClr val="lt1"/>
          </a:fontRef>
        </p:style>
        <p:txBody>
          <a:bodyPr spcFirstLastPara="0" vert="horz" wrap="square" lIns="137160" tIns="91440" rIns="137160" bIns="91440" numCol="1" spcCol="1270" anchor="t" anchorCtr="0">
            <a:noAutofit/>
          </a:bodyPr>
          <a:lstStyle/>
          <a:p>
            <a:r>
              <a:rPr lang="en-US" sz="2000" b="1" dirty="0">
                <a:solidFill>
                  <a:schemeClr val="tx2">
                    <a:lumMod val="50000"/>
                  </a:schemeClr>
                </a:solidFill>
              </a:rPr>
              <a:t>Private IP addresses </a:t>
            </a:r>
            <a:r>
              <a:rPr lang="en-US" sz="2000" dirty="0">
                <a:solidFill>
                  <a:schemeClr val="tx1"/>
                </a:solidFill>
              </a:rPr>
              <a:t>- used within an</a:t>
            </a:r>
            <a:br>
              <a:rPr lang="en-US" sz="2000" dirty="0">
                <a:solidFill>
                  <a:schemeClr val="tx1"/>
                </a:solidFill>
              </a:rPr>
            </a:br>
            <a:r>
              <a:rPr lang="en-US" sz="2000" dirty="0">
                <a:solidFill>
                  <a:schemeClr val="tx1"/>
                </a:solidFill>
              </a:rPr>
              <a:t>Azure virtual network (VNet), and your</a:t>
            </a:r>
            <a:br>
              <a:rPr lang="en-US" sz="2000" dirty="0">
                <a:solidFill>
                  <a:schemeClr val="tx1"/>
                </a:solidFill>
              </a:rPr>
            </a:br>
            <a:r>
              <a:rPr lang="en-US" sz="2000" dirty="0">
                <a:solidFill>
                  <a:schemeClr val="tx1"/>
                </a:solidFill>
              </a:rPr>
              <a:t>on-premises network, when you use a VPN gateway or ExpressRoute circuit to extend your network to Azure</a:t>
            </a:r>
          </a:p>
        </p:txBody>
      </p:sp>
      <p:sp>
        <p:nvSpPr>
          <p:cNvPr id="9" name="Rectangle 8">
            <a:extLst>
              <a:ext uri="{FF2B5EF4-FFF2-40B4-BE49-F238E27FC236}">
                <a16:creationId xmlns:a16="http://schemas.microsoft.com/office/drawing/2014/main" id="{45C429F2-E078-4A30-9DC5-3C91A29B3384}"/>
              </a:ext>
            </a:extLst>
          </p:cNvPr>
          <p:cNvSpPr/>
          <p:nvPr/>
        </p:nvSpPr>
        <p:spPr>
          <a:xfrm>
            <a:off x="6401800" y="3902636"/>
            <a:ext cx="5608637" cy="1900976"/>
          </a:xfrm>
          <a:prstGeom prst="rect">
            <a:avLst/>
          </a:prstGeom>
          <a:noFill/>
          <a:ln w="6350">
            <a:noFill/>
          </a:ln>
        </p:spPr>
        <p:style>
          <a:lnRef idx="0">
            <a:scrgbClr r="0" g="0" b="0"/>
          </a:lnRef>
          <a:fillRef idx="0">
            <a:scrgbClr r="0" g="0" b="0"/>
          </a:fillRef>
          <a:effectRef idx="0">
            <a:scrgbClr r="0" g="0" b="0"/>
          </a:effectRef>
          <a:fontRef idx="minor">
            <a:schemeClr val="lt1"/>
          </a:fontRef>
        </p:style>
        <p:txBody>
          <a:bodyPr spcFirstLastPara="0" vert="horz" wrap="square" lIns="137160" tIns="91440" rIns="137160" bIns="91440" numCol="1" spcCol="1270" anchor="t" anchorCtr="0">
            <a:noAutofit/>
          </a:bodyPr>
          <a:lstStyle/>
          <a:p>
            <a:r>
              <a:rPr lang="en-US" sz="2000" b="1" dirty="0">
                <a:solidFill>
                  <a:schemeClr val="tx2">
                    <a:lumMod val="50000"/>
                  </a:schemeClr>
                </a:solidFill>
              </a:rPr>
              <a:t>Public IP addresses </a:t>
            </a:r>
            <a:r>
              <a:rPr lang="en-US" sz="2000" dirty="0">
                <a:solidFill>
                  <a:schemeClr val="tx1"/>
                </a:solidFill>
              </a:rPr>
              <a:t>- used for communication with the Internet, including Azure public-facing services</a:t>
            </a:r>
          </a:p>
        </p:txBody>
      </p:sp>
      <p:grpSp>
        <p:nvGrpSpPr>
          <p:cNvPr id="38" name="Group 37" descr="Private IP addresses and public IP addresses. ">
            <a:extLst>
              <a:ext uri="{FF2B5EF4-FFF2-40B4-BE49-F238E27FC236}">
                <a16:creationId xmlns:a16="http://schemas.microsoft.com/office/drawing/2014/main" id="{B3418864-369E-415E-8334-3A888E61B78D}"/>
              </a:ext>
            </a:extLst>
          </p:cNvPr>
          <p:cNvGrpSpPr/>
          <p:nvPr/>
        </p:nvGrpSpPr>
        <p:grpSpPr>
          <a:xfrm>
            <a:off x="427038" y="1536999"/>
            <a:ext cx="10464173" cy="1971638"/>
            <a:chOff x="1191799" y="4011435"/>
            <a:chExt cx="8662157" cy="1172095"/>
          </a:xfrm>
        </p:grpSpPr>
        <p:sp>
          <p:nvSpPr>
            <p:cNvPr id="39" name="Rectangle 38">
              <a:extLst>
                <a:ext uri="{FF2B5EF4-FFF2-40B4-BE49-F238E27FC236}">
                  <a16:creationId xmlns:a16="http://schemas.microsoft.com/office/drawing/2014/main" id="{7B43DA87-7594-4956-8088-4578E751D85E}"/>
                </a:ext>
              </a:extLst>
            </p:cNvPr>
            <p:cNvSpPr/>
            <p:nvPr/>
          </p:nvSpPr>
          <p:spPr>
            <a:xfrm>
              <a:off x="5513522" y="4011435"/>
              <a:ext cx="990789" cy="1172095"/>
            </a:xfrm>
            <a:prstGeom prst="rect">
              <a:avLst/>
            </a:prstGeom>
            <a:solidFill>
              <a:schemeClr val="tx2">
                <a:lumMod val="50000"/>
              </a:schemeClr>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prstClr val="white"/>
                  </a:solidFill>
                  <a:effectLst/>
                  <a:uLnTx/>
                  <a:uFillTx/>
                  <a:latin typeface="Calibri" panose="020F0502020204030204"/>
                  <a:ea typeface="+mn-ea"/>
                  <a:cs typeface="Segoe UI" panose="020B0502040204020203" pitchFamily="34" charset="0"/>
                </a:rPr>
                <a:t>Azure</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prstClr val="white"/>
                  </a:solidFill>
                  <a:effectLst/>
                  <a:uLnTx/>
                  <a:uFillTx/>
                  <a:latin typeface="Calibri" panose="020F0502020204030204"/>
                  <a:ea typeface="+mn-ea"/>
                  <a:cs typeface="Segoe UI" panose="020B0502040204020203" pitchFamily="34" charset="0"/>
                </a:rPr>
                <a:t>Resource</a:t>
              </a:r>
            </a:p>
          </p:txBody>
        </p:sp>
        <p:sp>
          <p:nvSpPr>
            <p:cNvPr id="40" name="Rectangle 39">
              <a:extLst>
                <a:ext uri="{FF2B5EF4-FFF2-40B4-BE49-F238E27FC236}">
                  <a16:creationId xmlns:a16="http://schemas.microsoft.com/office/drawing/2014/main" id="{2C78D58E-4751-4D4F-B185-7F1ADE5A9844}"/>
                </a:ext>
              </a:extLst>
            </p:cNvPr>
            <p:cNvSpPr/>
            <p:nvPr/>
          </p:nvSpPr>
          <p:spPr>
            <a:xfrm>
              <a:off x="6438537" y="4391302"/>
              <a:ext cx="1472333" cy="420823"/>
            </a:xfrm>
            <a:prstGeom prst="rect">
              <a:avLst/>
            </a:prstGeom>
          </p:spPr>
          <p:txBody>
            <a:bodyPr wrap="squar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prstClr val="black"/>
                  </a:solidFill>
                  <a:effectLst/>
                  <a:uLnTx/>
                  <a:uFillTx/>
                  <a:ea typeface="Times New Roman" panose="02020603050405020304" pitchFamily="18" charset="0"/>
                  <a:cs typeface="Segoe UI" panose="020B0502040204020203" pitchFamily="34" charset="0"/>
                </a:rPr>
                <a:t>Public IP address</a:t>
              </a:r>
              <a:endParaRPr kumimoji="0" lang="en-US" sz="2000" b="0" i="0" u="none" strike="noStrike" kern="0" cap="none" spc="0" normalizeH="0" baseline="0" noProof="0" dirty="0">
                <a:ln>
                  <a:noFill/>
                </a:ln>
                <a:solidFill>
                  <a:prstClr val="black"/>
                </a:solidFill>
                <a:effectLst/>
                <a:uLnTx/>
                <a:uFillTx/>
                <a:cs typeface="Segoe UI" panose="020B0502040204020203" pitchFamily="34" charset="0"/>
              </a:endParaRPr>
            </a:p>
          </p:txBody>
        </p:sp>
        <p:sp>
          <p:nvSpPr>
            <p:cNvPr id="41" name="Rectangle 40">
              <a:extLst>
                <a:ext uri="{FF2B5EF4-FFF2-40B4-BE49-F238E27FC236}">
                  <a16:creationId xmlns:a16="http://schemas.microsoft.com/office/drawing/2014/main" id="{7669C83F-6889-49ED-9A16-D3B559AF1C0E}"/>
                </a:ext>
              </a:extLst>
            </p:cNvPr>
            <p:cNvSpPr/>
            <p:nvPr/>
          </p:nvSpPr>
          <p:spPr>
            <a:xfrm>
              <a:off x="3958122" y="4385054"/>
              <a:ext cx="1555399" cy="420823"/>
            </a:xfrm>
            <a:prstGeom prst="rect">
              <a:avLst/>
            </a:prstGeom>
          </p:spPr>
          <p:txBody>
            <a:bodyPr wrap="squar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prstClr val="black"/>
                  </a:solidFill>
                  <a:effectLst/>
                  <a:uLnTx/>
                  <a:uFillTx/>
                  <a:ea typeface="Times New Roman" panose="02020603050405020304" pitchFamily="18" charset="0"/>
                  <a:cs typeface="Segoe UI" panose="020B0502040204020203" pitchFamily="34" charset="0"/>
                </a:rPr>
                <a:t>Private IP address</a:t>
              </a:r>
              <a:endParaRPr kumimoji="0" lang="en-US" sz="2000" b="0" i="0" u="none" strike="noStrike" kern="0" cap="none" spc="0" normalizeH="0" baseline="0" noProof="0" dirty="0">
                <a:ln>
                  <a:noFill/>
                </a:ln>
                <a:solidFill>
                  <a:prstClr val="black"/>
                </a:solidFill>
                <a:effectLst/>
                <a:uLnTx/>
                <a:uFillTx/>
                <a:cs typeface="Segoe UI" panose="020B0502040204020203" pitchFamily="34" charset="0"/>
              </a:endParaRPr>
            </a:p>
          </p:txBody>
        </p:sp>
        <p:sp>
          <p:nvSpPr>
            <p:cNvPr id="42" name="Rectangle 41">
              <a:extLst>
                <a:ext uri="{FF2B5EF4-FFF2-40B4-BE49-F238E27FC236}">
                  <a16:creationId xmlns:a16="http://schemas.microsoft.com/office/drawing/2014/main" id="{80A60CE2-99AB-4A5C-82CD-257D0D60BBB6}"/>
                </a:ext>
              </a:extLst>
            </p:cNvPr>
            <p:cNvSpPr/>
            <p:nvPr/>
          </p:nvSpPr>
          <p:spPr>
            <a:xfrm>
              <a:off x="1191799" y="4111998"/>
              <a:ext cx="2815120" cy="965771"/>
            </a:xfrm>
            <a:prstGeom prst="rect">
              <a:avLst/>
            </a:prstGeom>
            <a:solidFill>
              <a:sysClr val="window" lastClr="FFFFFF">
                <a:lumMod val="95000"/>
              </a:sysClr>
            </a:solidFill>
            <a:ln w="63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prstClr val="black"/>
                  </a:solidFill>
                  <a:effectLst/>
                  <a:uLnTx/>
                  <a:uFillTx/>
                  <a:ea typeface="+mn-ea"/>
                  <a:cs typeface="Segoe UI" panose="020B0502040204020203" pitchFamily="34" charset="0"/>
                </a:rPr>
                <a:t>VNets, on-premises networks, VPN gateways, ExpressRoute</a:t>
              </a:r>
            </a:p>
          </p:txBody>
        </p:sp>
        <p:cxnSp>
          <p:nvCxnSpPr>
            <p:cNvPr id="43" name="Connector: Elbow 42">
              <a:extLst>
                <a:ext uri="{FF2B5EF4-FFF2-40B4-BE49-F238E27FC236}">
                  <a16:creationId xmlns:a16="http://schemas.microsoft.com/office/drawing/2014/main" id="{CF15CAAB-43AF-4A75-8B1F-1A0DE895E0B3}"/>
                </a:ext>
              </a:extLst>
            </p:cNvPr>
            <p:cNvCxnSpPr>
              <a:cxnSpLocks/>
              <a:stCxn id="39" idx="1"/>
              <a:endCxn id="42" idx="3"/>
            </p:cNvCxnSpPr>
            <p:nvPr/>
          </p:nvCxnSpPr>
          <p:spPr>
            <a:xfrm rot="10800000">
              <a:off x="4006920" y="4594883"/>
              <a:ext cx="1506603" cy="2599"/>
            </a:xfrm>
            <a:prstGeom prst="bentConnector3">
              <a:avLst/>
            </a:prstGeom>
            <a:noFill/>
            <a:ln w="12700" cap="flat" cmpd="sng" algn="ctr">
              <a:solidFill>
                <a:sysClr val="windowText" lastClr="000000"/>
              </a:solidFill>
              <a:prstDash val="dash"/>
              <a:miter lim="800000"/>
              <a:headEnd type="triangle"/>
              <a:tailEnd type="triangle"/>
            </a:ln>
            <a:effectLst/>
          </p:spPr>
        </p:cxnSp>
        <p:cxnSp>
          <p:nvCxnSpPr>
            <p:cNvPr id="44" name="Connector: Elbow 43">
              <a:extLst>
                <a:ext uri="{FF2B5EF4-FFF2-40B4-BE49-F238E27FC236}">
                  <a16:creationId xmlns:a16="http://schemas.microsoft.com/office/drawing/2014/main" id="{709CE6EB-7D51-4237-8664-6D048A695FF6}"/>
                </a:ext>
              </a:extLst>
            </p:cNvPr>
            <p:cNvCxnSpPr>
              <a:cxnSpLocks/>
              <a:stCxn id="39" idx="3"/>
              <a:endCxn id="45" idx="1"/>
            </p:cNvCxnSpPr>
            <p:nvPr/>
          </p:nvCxnSpPr>
          <p:spPr>
            <a:xfrm>
              <a:off x="6504311" y="4597483"/>
              <a:ext cx="1340787" cy="1525"/>
            </a:xfrm>
            <a:prstGeom prst="bentConnector3">
              <a:avLst/>
            </a:prstGeom>
            <a:noFill/>
            <a:ln w="12700" cap="flat" cmpd="sng" algn="ctr">
              <a:solidFill>
                <a:sysClr val="windowText" lastClr="000000"/>
              </a:solidFill>
              <a:prstDash val="dash"/>
              <a:miter lim="800000"/>
              <a:headEnd type="triangle"/>
              <a:tailEnd type="triangle"/>
            </a:ln>
            <a:effectLst/>
          </p:spPr>
        </p:cxnSp>
        <p:sp>
          <p:nvSpPr>
            <p:cNvPr id="45" name="Rectangle 44">
              <a:extLst>
                <a:ext uri="{FF2B5EF4-FFF2-40B4-BE49-F238E27FC236}">
                  <a16:creationId xmlns:a16="http://schemas.microsoft.com/office/drawing/2014/main" id="{F4D1C9B6-775F-47AE-B2AC-550D36DE96BB}"/>
                </a:ext>
              </a:extLst>
            </p:cNvPr>
            <p:cNvSpPr/>
            <p:nvPr/>
          </p:nvSpPr>
          <p:spPr>
            <a:xfrm>
              <a:off x="7845098" y="4081336"/>
              <a:ext cx="2008858" cy="1035343"/>
            </a:xfrm>
            <a:prstGeom prst="rect">
              <a:avLst/>
            </a:prstGeom>
            <a:solidFill>
              <a:sysClr val="window" lastClr="FFFFFF">
                <a:lumMod val="95000"/>
              </a:sysClr>
            </a:solidFill>
          </p:spPr>
          <p:txBody>
            <a:bodyPr wrap="square"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prstClr val="black"/>
                  </a:solidFill>
                  <a:effectLst/>
                  <a:uLnTx/>
                  <a:uFillTx/>
                  <a:cs typeface="Segoe UI" panose="020B0502040204020203" pitchFamily="34" charset="0"/>
                </a:rPr>
                <a:t>Internet, public-facing services</a:t>
              </a:r>
            </a:p>
          </p:txBody>
        </p:sp>
      </p:grpSp>
    </p:spTree>
    <p:extLst>
      <p:ext uri="{BB962C8B-B14F-4D97-AF65-F5344CB8AC3E}">
        <p14:creationId xmlns:p14="http://schemas.microsoft.com/office/powerpoint/2010/main" val="31291763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2366E9-0060-45DA-BCD8-B002315BCFBD}"/>
              </a:ext>
            </a:extLst>
          </p:cNvPr>
          <p:cNvSpPr>
            <a:spLocks noGrp="1"/>
          </p:cNvSpPr>
          <p:nvPr>
            <p:ph type="title"/>
          </p:nvPr>
        </p:nvSpPr>
        <p:spPr/>
        <p:txBody>
          <a:bodyPr/>
          <a:lstStyle/>
          <a:p>
            <a:r>
              <a:rPr lang="en-US" dirty="0">
                <a:cs typeface="Segoe UI"/>
              </a:rPr>
              <a:t>Create Public IP Addresses</a:t>
            </a:r>
          </a:p>
        </p:txBody>
      </p:sp>
      <p:sp>
        <p:nvSpPr>
          <p:cNvPr id="5" name="Rectangle 4">
            <a:extLst>
              <a:ext uri="{FF2B5EF4-FFF2-40B4-BE49-F238E27FC236}">
                <a16:creationId xmlns:a16="http://schemas.microsoft.com/office/drawing/2014/main" id="{B9242DA4-5145-4B62-AABD-206F9B5F2BBF}"/>
              </a:ext>
            </a:extLst>
          </p:cNvPr>
          <p:cNvSpPr/>
          <p:nvPr/>
        </p:nvSpPr>
        <p:spPr>
          <a:xfrm>
            <a:off x="427038" y="1687065"/>
            <a:ext cx="5181284" cy="764707"/>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7160" tIns="91440" rIns="0" bIns="91440" numCol="1" spcCol="1270" anchor="ctr" anchorCtr="0">
            <a:noAutofit/>
          </a:bodyPr>
          <a:lstStyle/>
          <a:p>
            <a:r>
              <a:rPr lang="en-US" sz="2000" dirty="0">
                <a:solidFill>
                  <a:schemeClr val="tx1"/>
                </a:solidFill>
                <a:ea typeface="+mn-lt"/>
                <a:cs typeface="+mn-lt"/>
              </a:rPr>
              <a:t>IPv4 or IPv6</a:t>
            </a:r>
          </a:p>
        </p:txBody>
      </p:sp>
      <p:sp>
        <p:nvSpPr>
          <p:cNvPr id="9" name="Rectangle 8">
            <a:extLst>
              <a:ext uri="{FF2B5EF4-FFF2-40B4-BE49-F238E27FC236}">
                <a16:creationId xmlns:a16="http://schemas.microsoft.com/office/drawing/2014/main" id="{03F5FE44-5611-4304-B74B-4114F1920D46}"/>
              </a:ext>
            </a:extLst>
          </p:cNvPr>
          <p:cNvSpPr/>
          <p:nvPr/>
        </p:nvSpPr>
        <p:spPr>
          <a:xfrm>
            <a:off x="427038" y="2794560"/>
            <a:ext cx="5181284" cy="764707"/>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7160" tIns="91440" rIns="0" bIns="91440" numCol="1" spcCol="1270" anchor="ctr" anchorCtr="0">
            <a:noAutofit/>
          </a:bodyPr>
          <a:lstStyle/>
          <a:p>
            <a:r>
              <a:rPr lang="en-US" sz="2000" dirty="0">
                <a:solidFill>
                  <a:schemeClr val="tx1"/>
                </a:solidFill>
                <a:cs typeface="Segoe UI Semilight"/>
              </a:rPr>
              <a:t>Standard SKU – do you need to upgrade?  </a:t>
            </a:r>
          </a:p>
        </p:txBody>
      </p:sp>
      <p:sp>
        <p:nvSpPr>
          <p:cNvPr id="14" name="Rectangle 13">
            <a:extLst>
              <a:ext uri="{FF2B5EF4-FFF2-40B4-BE49-F238E27FC236}">
                <a16:creationId xmlns:a16="http://schemas.microsoft.com/office/drawing/2014/main" id="{0483A8CF-CAA0-49F6-B0B3-704BAC5FBA68}"/>
              </a:ext>
            </a:extLst>
          </p:cNvPr>
          <p:cNvSpPr/>
          <p:nvPr/>
        </p:nvSpPr>
        <p:spPr>
          <a:xfrm>
            <a:off x="427038" y="3902055"/>
            <a:ext cx="5181284" cy="764707"/>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7160" tIns="91440" rIns="0" bIns="91440" numCol="1" spcCol="1270" anchor="ctr" anchorCtr="0">
            <a:noAutofit/>
          </a:bodyPr>
          <a:lstStyle/>
          <a:p>
            <a:r>
              <a:rPr lang="en-US" sz="2000" dirty="0">
                <a:solidFill>
                  <a:schemeClr val="tx1"/>
                </a:solidFill>
                <a:ea typeface="+mn-lt"/>
                <a:cs typeface="+mn-lt"/>
              </a:rPr>
              <a:t>Regional vs Global</a:t>
            </a:r>
            <a:endParaRPr lang="en-US" sz="2000" dirty="0">
              <a:solidFill>
                <a:schemeClr val="tx1"/>
              </a:solidFill>
            </a:endParaRPr>
          </a:p>
        </p:txBody>
      </p:sp>
      <p:sp>
        <p:nvSpPr>
          <p:cNvPr id="4" name="Rectangle 3">
            <a:extLst>
              <a:ext uri="{FF2B5EF4-FFF2-40B4-BE49-F238E27FC236}">
                <a16:creationId xmlns:a16="http://schemas.microsoft.com/office/drawing/2014/main" id="{76D520F6-6881-4B8F-86F0-B2EADA22A3E2}"/>
              </a:ext>
            </a:extLst>
          </p:cNvPr>
          <p:cNvSpPr/>
          <p:nvPr/>
        </p:nvSpPr>
        <p:spPr>
          <a:xfrm>
            <a:off x="427038" y="4984396"/>
            <a:ext cx="5181284" cy="764707"/>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7160" tIns="91440" rIns="0" bIns="91440" numCol="1" spcCol="1270" anchor="ctr" anchorCtr="0">
            <a:noAutofit/>
          </a:bodyPr>
          <a:lstStyle/>
          <a:p>
            <a:r>
              <a:rPr lang="en-US" sz="2000" dirty="0">
                <a:solidFill>
                  <a:schemeClr val="tx1"/>
                </a:solidFill>
                <a:ea typeface="+mn-lt"/>
                <a:cs typeface="+mn-lt"/>
              </a:rPr>
              <a:t>Microsoft network vs. Internet</a:t>
            </a:r>
          </a:p>
        </p:txBody>
      </p:sp>
      <p:pic>
        <p:nvPicPr>
          <p:cNvPr id="6" name="Picture 5" descr="Screenshot of the create public IP address page in the portal. ">
            <a:extLst>
              <a:ext uri="{FF2B5EF4-FFF2-40B4-BE49-F238E27FC236}">
                <a16:creationId xmlns:a16="http://schemas.microsoft.com/office/drawing/2014/main" id="{5FDBBB31-ED7A-2DE9-7337-21535DB8AC08}"/>
              </a:ext>
            </a:extLst>
          </p:cNvPr>
          <p:cNvPicPr>
            <a:picLocks noChangeAspect="1"/>
          </p:cNvPicPr>
          <p:nvPr/>
        </p:nvPicPr>
        <p:blipFill>
          <a:blip r:embed="rId3"/>
          <a:stretch>
            <a:fillRect/>
          </a:stretch>
        </p:blipFill>
        <p:spPr>
          <a:xfrm>
            <a:off x="6385526" y="1687065"/>
            <a:ext cx="5029902" cy="4086795"/>
          </a:xfrm>
          <a:prstGeom prst="rect">
            <a:avLst/>
          </a:prstGeom>
          <a:ln>
            <a:solidFill>
              <a:schemeClr val="bg2">
                <a:lumMod val="85000"/>
              </a:schemeClr>
            </a:solidFill>
          </a:ln>
        </p:spPr>
      </p:pic>
    </p:spTree>
    <p:extLst>
      <p:ext uri="{BB962C8B-B14F-4D97-AF65-F5344CB8AC3E}">
        <p14:creationId xmlns:p14="http://schemas.microsoft.com/office/powerpoint/2010/main" val="2819383181"/>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p:txBody>
          <a:bodyPr/>
          <a:lstStyle/>
          <a:p>
            <a:r>
              <a:rPr lang="en-US" dirty="0"/>
              <a:t>Associate Public IP Addresses</a:t>
            </a:r>
          </a:p>
        </p:txBody>
      </p:sp>
      <p:graphicFrame>
        <p:nvGraphicFramePr>
          <p:cNvPr id="6" name="Table 5">
            <a:extLst>
              <a:ext uri="{FF2B5EF4-FFF2-40B4-BE49-F238E27FC236}">
                <a16:creationId xmlns:a16="http://schemas.microsoft.com/office/drawing/2014/main" id="{502F9D95-E492-4C4B-AB80-7D143BF9436C}"/>
              </a:ext>
            </a:extLst>
          </p:cNvPr>
          <p:cNvGraphicFramePr>
            <a:graphicFrameLocks noGrp="1"/>
          </p:cNvGraphicFramePr>
          <p:nvPr>
            <p:extLst>
              <p:ext uri="{D42A27DB-BD31-4B8C-83A1-F6EECF244321}">
                <p14:modId xmlns:p14="http://schemas.microsoft.com/office/powerpoint/2010/main" val="694139572"/>
              </p:ext>
            </p:extLst>
          </p:nvPr>
        </p:nvGraphicFramePr>
        <p:xfrm>
          <a:off x="427036" y="1306514"/>
          <a:ext cx="10961400" cy="4000994"/>
        </p:xfrm>
        <a:graphic>
          <a:graphicData uri="http://schemas.openxmlformats.org/drawingml/2006/table">
            <a:tbl>
              <a:tblPr firstRow="1" firstCol="1" bandRow="1">
                <a:tableStyleId>{2D5ABB26-0587-4C30-8999-92F81FD0307C}</a:tableStyleId>
              </a:tblPr>
              <a:tblGrid>
                <a:gridCol w="5480700">
                  <a:extLst>
                    <a:ext uri="{9D8B030D-6E8A-4147-A177-3AD203B41FA5}">
                      <a16:colId xmlns:a16="http://schemas.microsoft.com/office/drawing/2014/main" val="716982396"/>
                    </a:ext>
                  </a:extLst>
                </a:gridCol>
                <a:gridCol w="5480700">
                  <a:extLst>
                    <a:ext uri="{9D8B030D-6E8A-4147-A177-3AD203B41FA5}">
                      <a16:colId xmlns:a16="http://schemas.microsoft.com/office/drawing/2014/main" val="3174192451"/>
                    </a:ext>
                  </a:extLst>
                </a:gridCol>
              </a:tblGrid>
              <a:tr h="603244">
                <a:tc>
                  <a:txBody>
                    <a:bodyPr/>
                    <a:lstStyle/>
                    <a:p>
                      <a:pPr marL="0" marR="156845" algn="ctr">
                        <a:lnSpc>
                          <a:spcPct val="115000"/>
                        </a:lnSpc>
                      </a:pPr>
                      <a:r>
                        <a:rPr lang="en-US" sz="2000" b="1" dirty="0">
                          <a:solidFill>
                            <a:schemeClr val="tx1"/>
                          </a:solidFill>
                          <a:effectLst/>
                          <a:latin typeface="+mn-lt"/>
                          <a:ea typeface="Times New Roman" panose="02020603050405020304" pitchFamily="18" charset="0"/>
                          <a:cs typeface="Segoe UI Semilight"/>
                        </a:rPr>
                        <a:t>Top-level resource</a:t>
                      </a:r>
                    </a:p>
                  </a:txBody>
                  <a:tcPr marL="137160" marR="137160"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A6BBE7"/>
                    </a:solidFill>
                  </a:tcPr>
                </a:tc>
                <a:tc>
                  <a:txBody>
                    <a:bodyPr/>
                    <a:lstStyle/>
                    <a:p>
                      <a:pPr marL="0" marR="156845" algn="ctr">
                        <a:lnSpc>
                          <a:spcPct val="115000"/>
                        </a:lnSpc>
                      </a:pPr>
                      <a:r>
                        <a:rPr lang="en-US" sz="2000" b="1" dirty="0">
                          <a:solidFill>
                            <a:schemeClr val="tx1"/>
                          </a:solidFill>
                          <a:effectLst/>
                          <a:latin typeface="+mn-lt"/>
                        </a:rPr>
                        <a:t>IP address configuration</a:t>
                      </a:r>
                      <a:endParaRPr lang="en-US" sz="2000" b="1" dirty="0">
                        <a:solidFill>
                          <a:schemeClr val="tx1"/>
                        </a:solidFill>
                        <a:effectLst/>
                        <a:latin typeface="+mn-lt"/>
                        <a:ea typeface="Times New Roman" panose="02020603050405020304" pitchFamily="18" charset="0"/>
                        <a:cs typeface="Segoe UI Semilight"/>
                      </a:endParaRPr>
                    </a:p>
                  </a:txBody>
                  <a:tcPr marL="137160" marR="137160"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A6BBE7"/>
                    </a:solidFill>
                  </a:tcPr>
                </a:tc>
                <a:extLst>
                  <a:ext uri="{0D108BD9-81ED-4DB2-BD59-A6C34878D82A}">
                    <a16:rowId xmlns:a16="http://schemas.microsoft.com/office/drawing/2014/main" val="3394654805"/>
                  </a:ext>
                </a:extLst>
              </a:tr>
              <a:tr h="669794">
                <a:tc>
                  <a:txBody>
                    <a:bodyPr/>
                    <a:lstStyle/>
                    <a:p>
                      <a:pPr marL="0" marR="156845">
                        <a:lnSpc>
                          <a:spcPct val="115000"/>
                        </a:lnSpc>
                      </a:pPr>
                      <a:r>
                        <a:rPr lang="en-US" sz="2000" b="0" dirty="0">
                          <a:solidFill>
                            <a:schemeClr val="tx1"/>
                          </a:solidFill>
                          <a:effectLst/>
                          <a:latin typeface="+mn-lt"/>
                          <a:ea typeface="Times New Roman" panose="02020603050405020304" pitchFamily="18" charset="0"/>
                          <a:cs typeface="Segoe UI Semilight"/>
                        </a:rPr>
                        <a:t>Virtual Machine</a:t>
                      </a:r>
                    </a:p>
                  </a:txBody>
                  <a:tcPr marL="137160" marR="137160"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indent="0" algn="l">
                        <a:spcBef>
                          <a:spcPts val="1200"/>
                        </a:spcBef>
                        <a:spcAft>
                          <a:spcPts val="1200"/>
                        </a:spcAft>
                        <a:buFont typeface="Arial" panose="020B0604020202020204" pitchFamily="34" charset="0"/>
                        <a:buNone/>
                      </a:pPr>
                      <a:r>
                        <a:rPr lang="en-US" sz="2000" b="0" i="0" dirty="0">
                          <a:solidFill>
                            <a:srgbClr val="161616"/>
                          </a:solidFill>
                          <a:effectLst/>
                          <a:latin typeface="+mn-lt"/>
                        </a:rPr>
                        <a:t>Network interface</a:t>
                      </a:r>
                    </a:p>
                  </a:txBody>
                  <a:tcPr marL="137160" marR="137160"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441467203"/>
                  </a:ext>
                </a:extLst>
              </a:tr>
              <a:tr h="669794">
                <a:tc>
                  <a:txBody>
                    <a:bodyPr/>
                    <a:lstStyle/>
                    <a:p>
                      <a:pPr marL="0" marR="156845">
                        <a:lnSpc>
                          <a:spcPct val="115000"/>
                        </a:lnSpc>
                      </a:pPr>
                      <a:r>
                        <a:rPr lang="en-US" sz="2000" b="0" i="0" kern="1200" dirty="0">
                          <a:solidFill>
                            <a:schemeClr val="tx1"/>
                          </a:solidFill>
                          <a:effectLst/>
                          <a:latin typeface="+mn-lt"/>
                          <a:ea typeface="+mn-ea"/>
                          <a:cs typeface="+mn-cs"/>
                        </a:rPr>
                        <a:t>Virtual Network Gateway (VPN), Virtual Network Gateway (ER), NAT Gateway</a:t>
                      </a:r>
                      <a:endParaRPr lang="en-US" sz="2000" b="0" dirty="0">
                        <a:solidFill>
                          <a:schemeClr val="tx1"/>
                        </a:solidFill>
                        <a:effectLst/>
                        <a:latin typeface="+mn-lt"/>
                        <a:ea typeface="Times New Roman" panose="02020603050405020304" pitchFamily="18" charset="0"/>
                        <a:cs typeface="Segoe UI Semilight"/>
                      </a:endParaRPr>
                    </a:p>
                  </a:txBody>
                  <a:tcPr marL="137160" marR="137160"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indent="0" algn="l">
                        <a:spcBef>
                          <a:spcPts val="1200"/>
                        </a:spcBef>
                        <a:spcAft>
                          <a:spcPts val="1200"/>
                        </a:spcAft>
                        <a:buFont typeface="Arial" panose="020B0604020202020204" pitchFamily="34" charset="0"/>
                        <a:buNone/>
                      </a:pPr>
                      <a:r>
                        <a:rPr lang="en-US" sz="2000" b="0" i="0" kern="1200" dirty="0">
                          <a:solidFill>
                            <a:schemeClr val="tx1"/>
                          </a:solidFill>
                          <a:effectLst/>
                          <a:latin typeface="+mn-lt"/>
                          <a:ea typeface="+mn-ea"/>
                          <a:cs typeface="+mn-cs"/>
                        </a:rPr>
                        <a:t>Gateway IP configuration</a:t>
                      </a:r>
                      <a:endParaRPr lang="en-US" sz="2000" b="0" i="0" dirty="0">
                        <a:solidFill>
                          <a:srgbClr val="161616"/>
                        </a:solidFill>
                        <a:effectLst/>
                        <a:latin typeface="+mn-lt"/>
                      </a:endParaRPr>
                    </a:p>
                  </a:txBody>
                  <a:tcPr marL="137160" marR="137160"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360287479"/>
                  </a:ext>
                </a:extLst>
              </a:tr>
              <a:tr h="669794">
                <a:tc>
                  <a:txBody>
                    <a:bodyPr/>
                    <a:lstStyle/>
                    <a:p>
                      <a:pPr marL="0" marR="156845">
                        <a:lnSpc>
                          <a:spcPct val="115000"/>
                        </a:lnSpc>
                      </a:pPr>
                      <a:r>
                        <a:rPr lang="en-US" sz="2000" b="0" i="0" kern="1200" dirty="0">
                          <a:solidFill>
                            <a:schemeClr val="tx1"/>
                          </a:solidFill>
                          <a:effectLst/>
                          <a:latin typeface="+mn-lt"/>
                          <a:ea typeface="+mn-ea"/>
                          <a:cs typeface="+mn-cs"/>
                        </a:rPr>
                        <a:t>Public Load Balancer, Application Gateway, Azure Firewall, Route Server, API Management</a:t>
                      </a:r>
                      <a:endParaRPr lang="en-US" sz="2000" b="0" dirty="0">
                        <a:solidFill>
                          <a:schemeClr val="tx1"/>
                        </a:solidFill>
                        <a:effectLst/>
                        <a:latin typeface="+mn-lt"/>
                        <a:ea typeface="Times New Roman" panose="02020603050405020304" pitchFamily="18" charset="0"/>
                        <a:cs typeface="Segoe UI Semilight"/>
                      </a:endParaRPr>
                    </a:p>
                  </a:txBody>
                  <a:tcPr marL="137160" marR="137160"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indent="0" algn="l">
                        <a:spcBef>
                          <a:spcPts val="1200"/>
                        </a:spcBef>
                        <a:spcAft>
                          <a:spcPts val="1200"/>
                        </a:spcAft>
                        <a:buFont typeface="Arial" panose="020B0604020202020204" pitchFamily="34" charset="0"/>
                        <a:buNone/>
                      </a:pPr>
                      <a:r>
                        <a:rPr lang="en-US" sz="2000" b="0" i="0" kern="1200" dirty="0">
                          <a:solidFill>
                            <a:schemeClr val="tx1"/>
                          </a:solidFill>
                          <a:effectLst/>
                          <a:latin typeface="+mn-lt"/>
                          <a:ea typeface="+mn-ea"/>
                          <a:cs typeface="+mn-cs"/>
                        </a:rPr>
                        <a:t>Front-end configuration</a:t>
                      </a:r>
                      <a:endParaRPr lang="en-US" sz="2000" b="0" i="0" dirty="0">
                        <a:solidFill>
                          <a:srgbClr val="161616"/>
                        </a:solidFill>
                        <a:effectLst/>
                        <a:latin typeface="+mn-lt"/>
                      </a:endParaRPr>
                    </a:p>
                  </a:txBody>
                  <a:tcPr marL="137160" marR="137160"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09253912"/>
                  </a:ext>
                </a:extLst>
              </a:tr>
              <a:tr h="669794">
                <a:tc>
                  <a:txBody>
                    <a:bodyPr/>
                    <a:lstStyle/>
                    <a:p>
                      <a:pPr marL="0" marR="156845">
                        <a:lnSpc>
                          <a:spcPct val="115000"/>
                        </a:lnSpc>
                      </a:pPr>
                      <a:r>
                        <a:rPr lang="en-US" sz="2000" b="0" i="0" kern="1200" dirty="0">
                          <a:solidFill>
                            <a:schemeClr val="tx1"/>
                          </a:solidFill>
                          <a:effectLst/>
                          <a:latin typeface="+mn-lt"/>
                          <a:ea typeface="+mn-ea"/>
                          <a:cs typeface="+mn-cs"/>
                        </a:rPr>
                        <a:t>Bastion Host</a:t>
                      </a:r>
                      <a:endParaRPr lang="en-US" sz="2000" b="0" dirty="0">
                        <a:solidFill>
                          <a:schemeClr val="tx1"/>
                        </a:solidFill>
                        <a:effectLst/>
                        <a:latin typeface="+mn-lt"/>
                        <a:ea typeface="Times New Roman" panose="02020603050405020304" pitchFamily="18" charset="0"/>
                        <a:cs typeface="Segoe UI Semilight"/>
                      </a:endParaRPr>
                    </a:p>
                  </a:txBody>
                  <a:tcPr marL="137160" marR="137160"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indent="0" algn="l">
                        <a:spcBef>
                          <a:spcPts val="1200"/>
                        </a:spcBef>
                        <a:spcAft>
                          <a:spcPts val="1200"/>
                        </a:spcAft>
                        <a:buFont typeface="Arial" panose="020B0604020202020204" pitchFamily="34" charset="0"/>
                        <a:buNone/>
                      </a:pPr>
                      <a:r>
                        <a:rPr lang="en-US" sz="2000" b="0" i="0" dirty="0">
                          <a:solidFill>
                            <a:srgbClr val="161616"/>
                          </a:solidFill>
                          <a:effectLst/>
                          <a:latin typeface="+mn-lt"/>
                        </a:rPr>
                        <a:t>Public IP configuration</a:t>
                      </a:r>
                    </a:p>
                  </a:txBody>
                  <a:tcPr marL="137160" marR="137160"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75853336"/>
                  </a:ext>
                </a:extLst>
              </a:tr>
            </a:tbl>
          </a:graphicData>
        </a:graphic>
      </p:graphicFrame>
    </p:spTree>
    <p:extLst>
      <p:ext uri="{BB962C8B-B14F-4D97-AF65-F5344CB8AC3E}">
        <p14:creationId xmlns:p14="http://schemas.microsoft.com/office/powerpoint/2010/main" val="9733055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p:txBody>
          <a:bodyPr/>
          <a:lstStyle/>
          <a:p>
            <a:r>
              <a:rPr lang="en-US" dirty="0"/>
              <a:t>Allocate or Assign Private IP Addresses</a:t>
            </a:r>
          </a:p>
        </p:txBody>
      </p:sp>
      <p:graphicFrame>
        <p:nvGraphicFramePr>
          <p:cNvPr id="6" name="Table 5">
            <a:extLst>
              <a:ext uri="{FF2B5EF4-FFF2-40B4-BE49-F238E27FC236}">
                <a16:creationId xmlns:a16="http://schemas.microsoft.com/office/drawing/2014/main" id="{01F09E08-26E6-4844-B30B-D091C8CA5746}"/>
              </a:ext>
            </a:extLst>
          </p:cNvPr>
          <p:cNvGraphicFramePr>
            <a:graphicFrameLocks noGrp="1"/>
          </p:cNvGraphicFramePr>
          <p:nvPr>
            <p:extLst>
              <p:ext uri="{D42A27DB-BD31-4B8C-83A1-F6EECF244321}">
                <p14:modId xmlns:p14="http://schemas.microsoft.com/office/powerpoint/2010/main" val="2417214837"/>
              </p:ext>
            </p:extLst>
          </p:nvPr>
        </p:nvGraphicFramePr>
        <p:xfrm>
          <a:off x="427038" y="1245554"/>
          <a:ext cx="11582399" cy="2703382"/>
        </p:xfrm>
        <a:graphic>
          <a:graphicData uri="http://schemas.openxmlformats.org/drawingml/2006/table">
            <a:tbl>
              <a:tblPr firstRow="1" firstCol="1" bandRow="1">
                <a:tableStyleId>{2D5ABB26-0587-4C30-8999-92F81FD0307C}</a:tableStyleId>
              </a:tblPr>
              <a:tblGrid>
                <a:gridCol w="3561433">
                  <a:extLst>
                    <a:ext uri="{9D8B030D-6E8A-4147-A177-3AD203B41FA5}">
                      <a16:colId xmlns:a16="http://schemas.microsoft.com/office/drawing/2014/main" val="3174192451"/>
                    </a:ext>
                  </a:extLst>
                </a:gridCol>
                <a:gridCol w="4236555">
                  <a:extLst>
                    <a:ext uri="{9D8B030D-6E8A-4147-A177-3AD203B41FA5}">
                      <a16:colId xmlns:a16="http://schemas.microsoft.com/office/drawing/2014/main" val="2284610204"/>
                    </a:ext>
                  </a:extLst>
                </a:gridCol>
                <a:gridCol w="2006792">
                  <a:extLst>
                    <a:ext uri="{9D8B030D-6E8A-4147-A177-3AD203B41FA5}">
                      <a16:colId xmlns:a16="http://schemas.microsoft.com/office/drawing/2014/main" val="1182798680"/>
                    </a:ext>
                  </a:extLst>
                </a:gridCol>
                <a:gridCol w="1777619">
                  <a:extLst>
                    <a:ext uri="{9D8B030D-6E8A-4147-A177-3AD203B41FA5}">
                      <a16:colId xmlns:a16="http://schemas.microsoft.com/office/drawing/2014/main" val="3457186022"/>
                    </a:ext>
                  </a:extLst>
                </a:gridCol>
              </a:tblGrid>
              <a:tr h="624199">
                <a:tc>
                  <a:txBody>
                    <a:bodyPr/>
                    <a:lstStyle/>
                    <a:p>
                      <a:pPr marL="0" marR="156845" algn="l" defTabSz="932742" rtl="0" eaLnBrk="1" latinLnBrk="0" hangingPunct="1">
                        <a:lnSpc>
                          <a:spcPct val="115000"/>
                        </a:lnSpc>
                      </a:pPr>
                      <a:r>
                        <a:rPr lang="en-US" sz="2200" kern="1200" dirty="0">
                          <a:solidFill>
                            <a:schemeClr val="tx1"/>
                          </a:solidFill>
                          <a:effectLst/>
                          <a:latin typeface="+mj-lt"/>
                        </a:rPr>
                        <a:t>Private IP Addresses</a:t>
                      </a:r>
                      <a:endParaRPr lang="en-US" sz="2200" b="0" kern="1200" dirty="0">
                        <a:solidFill>
                          <a:schemeClr val="tx1"/>
                        </a:solidFill>
                        <a:effectLst/>
                        <a:latin typeface="+mj-lt"/>
                        <a:ea typeface="+mn-ea"/>
                        <a:cs typeface="Segoe UI Semilight"/>
                      </a:endParaRPr>
                    </a:p>
                  </a:txBody>
                  <a:tcPr marL="137160" marR="137160" marT="91440" marB="91440" anchor="ctr">
                    <a:lnL w="6350" cap="flat" cmpd="sng" algn="ctr">
                      <a:solidFill>
                        <a:srgbClr val="243A5E"/>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43A5E"/>
                      </a:solidFill>
                      <a:prstDash val="solid"/>
                      <a:round/>
                      <a:headEnd type="none" w="med" len="med"/>
                      <a:tailEnd type="none" w="med" len="med"/>
                    </a:lnT>
                    <a:lnB w="6350" cap="flat" cmpd="sng" algn="ctr">
                      <a:noFill/>
                      <a:prstDash val="solid"/>
                      <a:round/>
                      <a:headEnd type="none" w="med" len="med"/>
                      <a:tailEnd type="none" w="med" len="med"/>
                    </a:lnB>
                    <a:solidFill>
                      <a:srgbClr val="A6BBE7"/>
                    </a:solidFill>
                  </a:tcPr>
                </a:tc>
                <a:tc>
                  <a:txBody>
                    <a:bodyPr/>
                    <a:lstStyle/>
                    <a:p>
                      <a:pPr marL="0" marR="156845" algn="l" defTabSz="932742" rtl="0" eaLnBrk="1" latinLnBrk="0" hangingPunct="1">
                        <a:lnSpc>
                          <a:spcPct val="115000"/>
                        </a:lnSpc>
                      </a:pPr>
                      <a:r>
                        <a:rPr lang="en-US" sz="2200" kern="1200" dirty="0">
                          <a:solidFill>
                            <a:schemeClr val="tx1"/>
                          </a:solidFill>
                          <a:effectLst/>
                          <a:latin typeface="+mj-lt"/>
                        </a:rPr>
                        <a:t>IP address association</a:t>
                      </a:r>
                      <a:endParaRPr lang="en-US" sz="2200" b="0" kern="1200" dirty="0">
                        <a:solidFill>
                          <a:schemeClr val="tx1"/>
                        </a:solidFill>
                        <a:effectLst/>
                        <a:latin typeface="+mj-lt"/>
                        <a:ea typeface="+mn-ea"/>
                        <a:cs typeface="Segoe UI Semilight"/>
                      </a:endParaRPr>
                    </a:p>
                  </a:txBody>
                  <a:tcPr marL="137160" marR="137160" marT="91440" marB="9144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43A5E"/>
                      </a:solidFill>
                      <a:prstDash val="solid"/>
                      <a:round/>
                      <a:headEnd type="none" w="med" len="med"/>
                      <a:tailEnd type="none" w="med" len="med"/>
                    </a:lnT>
                    <a:lnB w="6350" cap="flat" cmpd="sng" algn="ctr">
                      <a:noFill/>
                      <a:prstDash val="solid"/>
                      <a:round/>
                      <a:headEnd type="none" w="med" len="med"/>
                      <a:tailEnd type="none" w="med" len="med"/>
                    </a:lnB>
                    <a:solidFill>
                      <a:srgbClr val="A6BBE7"/>
                    </a:solidFill>
                  </a:tcPr>
                </a:tc>
                <a:tc>
                  <a:txBody>
                    <a:bodyPr/>
                    <a:lstStyle/>
                    <a:p>
                      <a:pPr marL="0" marR="156845" algn="l" defTabSz="932742" rtl="0" eaLnBrk="1" latinLnBrk="0" hangingPunct="1">
                        <a:lnSpc>
                          <a:spcPct val="115000"/>
                        </a:lnSpc>
                      </a:pPr>
                      <a:r>
                        <a:rPr lang="en-US" sz="2200" kern="1200" dirty="0">
                          <a:solidFill>
                            <a:schemeClr val="tx1"/>
                          </a:solidFill>
                          <a:effectLst/>
                          <a:latin typeface="+mj-lt"/>
                        </a:rPr>
                        <a:t>Dynamic</a:t>
                      </a:r>
                      <a:endParaRPr lang="en-US" sz="2200" b="0" kern="1200" dirty="0">
                        <a:solidFill>
                          <a:schemeClr val="tx1"/>
                        </a:solidFill>
                        <a:effectLst/>
                        <a:latin typeface="+mj-lt"/>
                        <a:ea typeface="+mn-ea"/>
                        <a:cs typeface="Segoe UI Semilight"/>
                      </a:endParaRPr>
                    </a:p>
                  </a:txBody>
                  <a:tcPr marL="137160" marR="137160" marT="91440" marB="9144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43A5E"/>
                      </a:solidFill>
                      <a:prstDash val="solid"/>
                      <a:round/>
                      <a:headEnd type="none" w="med" len="med"/>
                      <a:tailEnd type="none" w="med" len="med"/>
                    </a:lnT>
                    <a:lnB w="6350" cap="flat" cmpd="sng" algn="ctr">
                      <a:noFill/>
                      <a:prstDash val="solid"/>
                      <a:round/>
                      <a:headEnd type="none" w="med" len="med"/>
                      <a:tailEnd type="none" w="med" len="med"/>
                    </a:lnB>
                    <a:solidFill>
                      <a:srgbClr val="A6BBE7"/>
                    </a:solidFill>
                  </a:tcPr>
                </a:tc>
                <a:tc>
                  <a:txBody>
                    <a:bodyPr/>
                    <a:lstStyle/>
                    <a:p>
                      <a:pPr marL="0" marR="156845" algn="l" defTabSz="932742" rtl="0" eaLnBrk="1" latinLnBrk="0" hangingPunct="1">
                        <a:lnSpc>
                          <a:spcPct val="115000"/>
                        </a:lnSpc>
                      </a:pPr>
                      <a:r>
                        <a:rPr lang="en-US" sz="2200" kern="1200" dirty="0">
                          <a:solidFill>
                            <a:schemeClr val="tx1"/>
                          </a:solidFill>
                          <a:effectLst/>
                          <a:latin typeface="+mj-lt"/>
                        </a:rPr>
                        <a:t>Static</a:t>
                      </a:r>
                      <a:endParaRPr lang="en-US" sz="2200" b="0" kern="1200" dirty="0">
                        <a:solidFill>
                          <a:schemeClr val="tx1"/>
                        </a:solidFill>
                        <a:effectLst/>
                        <a:latin typeface="+mj-lt"/>
                        <a:ea typeface="+mn-ea"/>
                        <a:cs typeface="Segoe UI Semilight"/>
                      </a:endParaRPr>
                    </a:p>
                  </a:txBody>
                  <a:tcPr marL="137160" marR="137160" marT="91440" marB="91440" anchor="ctr">
                    <a:lnL w="6350" cap="flat" cmpd="sng" algn="ctr">
                      <a:solidFill>
                        <a:schemeClr val="bg1"/>
                      </a:solidFill>
                      <a:prstDash val="solid"/>
                      <a:round/>
                      <a:headEnd type="none" w="med" len="med"/>
                      <a:tailEnd type="none" w="med" len="med"/>
                    </a:lnL>
                    <a:lnR w="6350" cap="flat" cmpd="sng" algn="ctr">
                      <a:solidFill>
                        <a:srgbClr val="243A5E"/>
                      </a:solidFill>
                      <a:prstDash val="solid"/>
                      <a:round/>
                      <a:headEnd type="none" w="med" len="med"/>
                      <a:tailEnd type="none" w="med" len="med"/>
                    </a:lnR>
                    <a:lnT w="6350" cap="flat" cmpd="sng" algn="ctr">
                      <a:solidFill>
                        <a:srgbClr val="243A5E"/>
                      </a:solidFill>
                      <a:prstDash val="solid"/>
                      <a:round/>
                      <a:headEnd type="none" w="med" len="med"/>
                      <a:tailEnd type="none" w="med" len="med"/>
                    </a:lnT>
                    <a:lnB w="6350" cap="flat" cmpd="sng" algn="ctr">
                      <a:noFill/>
                      <a:prstDash val="solid"/>
                      <a:round/>
                      <a:headEnd type="none" w="med" len="med"/>
                      <a:tailEnd type="none" w="med" len="med"/>
                    </a:lnB>
                    <a:solidFill>
                      <a:srgbClr val="A6BBE7"/>
                    </a:solidFill>
                  </a:tcPr>
                </a:tc>
                <a:extLst>
                  <a:ext uri="{0D108BD9-81ED-4DB2-BD59-A6C34878D82A}">
                    <a16:rowId xmlns:a16="http://schemas.microsoft.com/office/drawing/2014/main" val="3394654805"/>
                  </a:ext>
                </a:extLst>
              </a:tr>
              <a:tr h="693061">
                <a:tc>
                  <a:txBody>
                    <a:bodyPr/>
                    <a:lstStyle/>
                    <a:p>
                      <a:pPr marL="0" marR="156845" algn="l" defTabSz="932742" rtl="0" eaLnBrk="1" latinLnBrk="0" hangingPunct="1">
                        <a:lnSpc>
                          <a:spcPct val="115000"/>
                        </a:lnSpc>
                      </a:pPr>
                      <a:r>
                        <a:rPr lang="en-US" sz="2200" kern="1200" dirty="0">
                          <a:effectLst/>
                          <a:latin typeface="+mj-lt"/>
                        </a:rPr>
                        <a:t>Virtual Machine</a:t>
                      </a:r>
                      <a:endParaRPr lang="en-US" sz="2200" b="0" kern="1200" dirty="0">
                        <a:solidFill>
                          <a:schemeClr val="tx1"/>
                        </a:solidFill>
                        <a:effectLst/>
                        <a:latin typeface="+mj-lt"/>
                        <a:ea typeface="+mn-ea"/>
                        <a:cs typeface="Segoe UI Semilight"/>
                      </a:endParaRPr>
                    </a:p>
                  </a:txBody>
                  <a:tcPr marL="137160" marR="137160" marT="91440" marB="91440"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0" marR="156845" algn="l" defTabSz="932742" rtl="0" eaLnBrk="1" latinLnBrk="0" hangingPunct="1">
                        <a:lnSpc>
                          <a:spcPct val="115000"/>
                        </a:lnSpc>
                      </a:pPr>
                      <a:r>
                        <a:rPr lang="en-US" sz="2200" kern="1200" dirty="0">
                          <a:effectLst/>
                        </a:rPr>
                        <a:t>NIC</a:t>
                      </a:r>
                      <a:endParaRPr lang="en-US" sz="2200" b="0" kern="1200" dirty="0">
                        <a:solidFill>
                          <a:schemeClr val="tx1"/>
                        </a:solidFill>
                        <a:effectLst/>
                        <a:latin typeface="+mn-lt"/>
                        <a:ea typeface="+mn-ea"/>
                        <a:cs typeface="Segoe UI Semilight"/>
                      </a:endParaRPr>
                    </a:p>
                  </a:txBody>
                  <a:tcPr marL="137160" marR="137160" marT="91440" marB="91440"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pPr marL="0" marR="156845" algn="l" defTabSz="932742" rtl="0" eaLnBrk="1" latinLnBrk="0" hangingPunct="1">
                        <a:lnSpc>
                          <a:spcPct val="115000"/>
                        </a:lnSpc>
                      </a:pPr>
                      <a:r>
                        <a:rPr lang="en-US" sz="2200" kern="1200" dirty="0">
                          <a:effectLst/>
                        </a:rPr>
                        <a:t>Yes</a:t>
                      </a:r>
                      <a:endParaRPr lang="en-US" sz="2200" b="0" kern="1200" dirty="0">
                        <a:solidFill>
                          <a:schemeClr val="tx1"/>
                        </a:solidFill>
                        <a:effectLst/>
                        <a:latin typeface="+mn-lt"/>
                        <a:ea typeface="+mn-ea"/>
                        <a:cs typeface="Segoe UI Semilight"/>
                      </a:endParaRPr>
                    </a:p>
                  </a:txBody>
                  <a:tcPr marL="137160" marR="137160" marT="91440" marB="9144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pPr marL="0" marR="156845" algn="l" defTabSz="932742" rtl="0" eaLnBrk="1" latinLnBrk="0" hangingPunct="1">
                        <a:lnSpc>
                          <a:spcPct val="115000"/>
                        </a:lnSpc>
                      </a:pPr>
                      <a:r>
                        <a:rPr lang="en-US" sz="2200" kern="1200" dirty="0">
                          <a:effectLst/>
                        </a:rPr>
                        <a:t>Yes</a:t>
                      </a:r>
                      <a:endParaRPr lang="en-US" sz="2200" b="0" kern="1200" dirty="0">
                        <a:solidFill>
                          <a:schemeClr val="tx1"/>
                        </a:solidFill>
                        <a:effectLst/>
                        <a:latin typeface="+mn-lt"/>
                        <a:ea typeface="+mn-ea"/>
                        <a:cs typeface="Segoe UI Semilight"/>
                      </a:endParaRPr>
                    </a:p>
                  </a:txBody>
                  <a:tcPr marL="137160" marR="137160" marT="91440" marB="9144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531043496"/>
                  </a:ext>
                </a:extLst>
              </a:tr>
              <a:tr h="693061">
                <a:tc>
                  <a:txBody>
                    <a:bodyPr/>
                    <a:lstStyle/>
                    <a:p>
                      <a:pPr marL="0" marR="156845" algn="l" defTabSz="932742" rtl="0" eaLnBrk="1" latinLnBrk="0" hangingPunct="1">
                        <a:lnSpc>
                          <a:spcPct val="115000"/>
                        </a:lnSpc>
                      </a:pPr>
                      <a:r>
                        <a:rPr lang="en-US" sz="2200" kern="1200" dirty="0">
                          <a:effectLst/>
                          <a:latin typeface="+mj-lt"/>
                        </a:rPr>
                        <a:t>Internal Load Balancer</a:t>
                      </a:r>
                      <a:endParaRPr lang="en-US" sz="2200" b="0" kern="1200" dirty="0">
                        <a:solidFill>
                          <a:schemeClr val="tx1"/>
                        </a:solidFill>
                        <a:effectLst/>
                        <a:latin typeface="+mj-lt"/>
                        <a:ea typeface="+mn-ea"/>
                        <a:cs typeface="Segoe UI Semilight"/>
                      </a:endParaRPr>
                    </a:p>
                  </a:txBody>
                  <a:tcPr marL="137160" marR="137160" marT="91440" marB="91440"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0" marR="156845" algn="l" defTabSz="932742" rtl="0" eaLnBrk="1" latinLnBrk="0" hangingPunct="1">
                        <a:lnSpc>
                          <a:spcPct val="115000"/>
                        </a:lnSpc>
                      </a:pPr>
                      <a:r>
                        <a:rPr lang="en-US" sz="2200" kern="1200" dirty="0">
                          <a:effectLst/>
                        </a:rPr>
                        <a:t>Front-end configuration</a:t>
                      </a:r>
                      <a:endParaRPr lang="en-US" sz="2200" b="0" kern="1200" dirty="0">
                        <a:solidFill>
                          <a:schemeClr val="tx1"/>
                        </a:solidFill>
                        <a:effectLst/>
                        <a:latin typeface="+mn-lt"/>
                        <a:ea typeface="+mn-ea"/>
                        <a:cs typeface="Segoe UI Semilight"/>
                      </a:endParaRPr>
                    </a:p>
                  </a:txBody>
                  <a:tcPr marL="137160" marR="137160" marT="91440" marB="91440"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pPr marL="0" marR="156845" algn="l" defTabSz="932742" rtl="0" eaLnBrk="1" latinLnBrk="0" hangingPunct="1">
                        <a:lnSpc>
                          <a:spcPct val="115000"/>
                        </a:lnSpc>
                      </a:pPr>
                      <a:r>
                        <a:rPr lang="en-US" sz="2200" kern="1200" dirty="0">
                          <a:effectLst/>
                        </a:rPr>
                        <a:t>Yes</a:t>
                      </a:r>
                      <a:endParaRPr lang="en-US" sz="2200" b="0" kern="1200" dirty="0">
                        <a:solidFill>
                          <a:schemeClr val="tx1"/>
                        </a:solidFill>
                        <a:effectLst/>
                        <a:latin typeface="+mn-lt"/>
                        <a:ea typeface="+mn-ea"/>
                        <a:cs typeface="Segoe UI Semilight"/>
                      </a:endParaRPr>
                    </a:p>
                  </a:txBody>
                  <a:tcPr marL="137160" marR="137160" marT="91440" marB="9144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pPr marL="0" marR="156845" algn="l" defTabSz="932742" rtl="0" eaLnBrk="1" latinLnBrk="0" hangingPunct="1">
                        <a:lnSpc>
                          <a:spcPct val="115000"/>
                        </a:lnSpc>
                      </a:pPr>
                      <a:r>
                        <a:rPr lang="en-US" sz="2200" kern="1200" dirty="0">
                          <a:effectLst/>
                        </a:rPr>
                        <a:t>Yes</a:t>
                      </a:r>
                      <a:endParaRPr lang="en-US" sz="2200" b="0" kern="1200" dirty="0">
                        <a:solidFill>
                          <a:schemeClr val="tx1"/>
                        </a:solidFill>
                        <a:effectLst/>
                        <a:latin typeface="+mn-lt"/>
                        <a:ea typeface="+mn-ea"/>
                        <a:cs typeface="Segoe UI Semilight"/>
                      </a:endParaRPr>
                    </a:p>
                  </a:txBody>
                  <a:tcPr marL="137160" marR="137160" marT="91440" marB="9144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549406885"/>
                  </a:ext>
                </a:extLst>
              </a:tr>
              <a:tr h="693061">
                <a:tc>
                  <a:txBody>
                    <a:bodyPr/>
                    <a:lstStyle/>
                    <a:p>
                      <a:pPr marL="0" marR="156845" algn="l" defTabSz="932742" rtl="0" eaLnBrk="1" latinLnBrk="0" hangingPunct="1">
                        <a:lnSpc>
                          <a:spcPct val="115000"/>
                        </a:lnSpc>
                      </a:pPr>
                      <a:r>
                        <a:rPr lang="en-US" sz="2200" kern="1200" dirty="0">
                          <a:effectLst/>
                          <a:latin typeface="+mj-lt"/>
                        </a:rPr>
                        <a:t>Application Gateway</a:t>
                      </a:r>
                      <a:endParaRPr lang="en-US" sz="2200" b="0" kern="1200" dirty="0">
                        <a:solidFill>
                          <a:schemeClr val="tx1"/>
                        </a:solidFill>
                        <a:effectLst/>
                        <a:latin typeface="+mj-lt"/>
                        <a:ea typeface="+mn-ea"/>
                        <a:cs typeface="Segoe UI Semilight"/>
                      </a:endParaRPr>
                    </a:p>
                  </a:txBody>
                  <a:tcPr marL="137160" marR="137160" marT="91440" marB="91440"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0" marR="156845" algn="l" defTabSz="932742" rtl="0" eaLnBrk="1" latinLnBrk="0" hangingPunct="1">
                        <a:lnSpc>
                          <a:spcPct val="115000"/>
                        </a:lnSpc>
                      </a:pPr>
                      <a:r>
                        <a:rPr lang="en-US" sz="2200" kern="1200" dirty="0">
                          <a:effectLst/>
                        </a:rPr>
                        <a:t>Front-end configuration</a:t>
                      </a:r>
                      <a:endParaRPr lang="en-US" sz="2200" b="0" kern="1200" dirty="0">
                        <a:solidFill>
                          <a:schemeClr val="tx1"/>
                        </a:solidFill>
                        <a:effectLst/>
                        <a:latin typeface="+mn-lt"/>
                        <a:ea typeface="+mn-ea"/>
                        <a:cs typeface="Segoe UI Semilight"/>
                      </a:endParaRPr>
                    </a:p>
                  </a:txBody>
                  <a:tcPr marL="137160" marR="137160" marT="91440" marB="91440"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pPr marL="0" marR="156845" algn="l" defTabSz="932742" rtl="0" eaLnBrk="1" latinLnBrk="0" hangingPunct="1">
                        <a:lnSpc>
                          <a:spcPct val="115000"/>
                        </a:lnSpc>
                      </a:pPr>
                      <a:r>
                        <a:rPr lang="en-US" sz="2200" kern="1200" dirty="0">
                          <a:effectLst/>
                        </a:rPr>
                        <a:t>Yes</a:t>
                      </a:r>
                      <a:endParaRPr lang="en-US" sz="2200" b="0" kern="1200" dirty="0">
                        <a:solidFill>
                          <a:schemeClr val="tx1"/>
                        </a:solidFill>
                        <a:effectLst/>
                        <a:latin typeface="+mn-lt"/>
                        <a:ea typeface="+mn-ea"/>
                        <a:cs typeface="Segoe UI Semilight"/>
                      </a:endParaRPr>
                    </a:p>
                  </a:txBody>
                  <a:tcPr marL="137160" marR="137160" marT="91440" marB="9144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pPr marL="0" marR="156845" algn="l" defTabSz="932742" rtl="0" eaLnBrk="1" latinLnBrk="0" hangingPunct="1">
                        <a:lnSpc>
                          <a:spcPct val="115000"/>
                        </a:lnSpc>
                      </a:pPr>
                      <a:r>
                        <a:rPr lang="en-US" sz="2200" kern="1200" dirty="0">
                          <a:effectLst/>
                        </a:rPr>
                        <a:t>Yes</a:t>
                      </a:r>
                      <a:endParaRPr lang="en-US" sz="2200" b="0" kern="1200" dirty="0">
                        <a:solidFill>
                          <a:schemeClr val="tx1"/>
                        </a:solidFill>
                        <a:effectLst/>
                        <a:latin typeface="+mn-lt"/>
                        <a:ea typeface="+mn-ea"/>
                        <a:cs typeface="Segoe UI Semilight"/>
                      </a:endParaRPr>
                    </a:p>
                  </a:txBody>
                  <a:tcPr marL="137160" marR="137160" marT="91440" marB="9144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585675026"/>
                  </a:ext>
                </a:extLst>
              </a:tr>
            </a:tbl>
          </a:graphicData>
        </a:graphic>
      </p:graphicFrame>
      <p:sp>
        <p:nvSpPr>
          <p:cNvPr id="11" name="Text Placeholder 2">
            <a:extLst>
              <a:ext uri="{FF2B5EF4-FFF2-40B4-BE49-F238E27FC236}">
                <a16:creationId xmlns:a16="http://schemas.microsoft.com/office/drawing/2014/main" id="{EC3544F5-E71F-41E9-85BB-F6BC6E8DE988}"/>
              </a:ext>
            </a:extLst>
          </p:cNvPr>
          <p:cNvSpPr txBox="1">
            <a:spLocks/>
          </p:cNvSpPr>
          <p:nvPr/>
        </p:nvSpPr>
        <p:spPr>
          <a:xfrm>
            <a:off x="427038" y="4087387"/>
            <a:ext cx="11582400" cy="977669"/>
          </a:xfrm>
          <a:prstGeom prst="rect">
            <a:avLst/>
          </a:prstGeom>
          <a:solidFill>
            <a:schemeClr val="bg1">
              <a:lumMod val="95000"/>
            </a:schemeClr>
          </a:solidFill>
          <a:ln w="6350">
            <a:noFill/>
          </a:ln>
        </p:spPr>
        <p:txBody>
          <a:bodyPr vert="horz" wrap="square" lIns="137160" tIns="91440" rIns="137160" bIns="91440" rtlCol="0" anchor="ctr">
            <a:noAutofit/>
          </a:bodyPr>
          <a:lstStyle>
            <a:lvl1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2400" kern="1200" spc="-50" baseline="0">
                <a:solidFill>
                  <a:srgbClr val="000000"/>
                </a:solidFill>
                <a:latin typeface="+mj-lt"/>
                <a:ea typeface="+mn-ea"/>
                <a:cs typeface="+mn-cs"/>
              </a:defRPr>
            </a:lvl1pPr>
            <a:lvl2pPr marL="0" marR="0" indent="0" algn="l" defTabSz="932742" rtl="0" eaLnBrk="1" fontAlgn="auto" latinLnBrk="0" hangingPunct="1">
              <a:lnSpc>
                <a:spcPct val="100000"/>
              </a:lnSpc>
              <a:spcBef>
                <a:spcPts val="0"/>
              </a:spcBef>
              <a:spcAft>
                <a:spcPts val="0"/>
              </a:spcAft>
              <a:buClrTx/>
              <a:buSzPct val="90000"/>
              <a:buFontTx/>
              <a:buNone/>
              <a:tabLst/>
              <a:defRPr sz="2000" kern="1200" spc="0" baseline="0">
                <a:solidFill>
                  <a:srgbClr val="000000"/>
                </a:solidFill>
                <a:latin typeface="+mn-lt"/>
                <a:ea typeface="+mn-ea"/>
                <a:cs typeface="+mn-cs"/>
              </a:defRPr>
            </a:lvl2pPr>
            <a:lvl3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400" kern="1200" spc="0" baseline="0">
                <a:solidFill>
                  <a:schemeClr val="tx2"/>
                </a:solidFill>
                <a:latin typeface="+mj-lt"/>
                <a:ea typeface="+mn-ea"/>
                <a:cs typeface="+mn-cs"/>
              </a:defRPr>
            </a:lvl3pPr>
            <a:lvl4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400" kern="1200" spc="0" baseline="0">
                <a:solidFill>
                  <a:srgbClr val="000000"/>
                </a:solidFill>
                <a:latin typeface="+mn-lt"/>
                <a:ea typeface="+mn-ea"/>
                <a:cs typeface="+mn-cs"/>
              </a:defRPr>
            </a:lvl4pPr>
            <a:lvl5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000" b="1" kern="1200" spc="0" baseline="0">
                <a:solidFill>
                  <a:srgbClr val="000000"/>
                </a:solidFill>
                <a:latin typeface="+mn-lt"/>
                <a:ea typeface="+mn-ea"/>
                <a:cs typeface="+mn-cs"/>
              </a:defRPr>
            </a:lvl5pPr>
            <a:lvl6pPr marL="2331854" indent="0" algn="l" defTabSz="932742" rtl="0" eaLnBrk="1" latinLnBrk="0" hangingPunct="1">
              <a:spcBef>
                <a:spcPct val="20000"/>
              </a:spcBef>
              <a:buFont typeface="Arial" pitchFamily="34" charset="0"/>
              <a:buNone/>
              <a:defRPr sz="2000" kern="1200">
                <a:solidFill>
                  <a:schemeClr val="tx1"/>
                </a:solidFill>
                <a:latin typeface="+mn-lt"/>
                <a:ea typeface="+mn-ea"/>
                <a:cs typeface="+mn-cs"/>
              </a:defRPr>
            </a:lvl6pPr>
            <a:lvl7pPr marL="0" indent="0" algn="l" defTabSz="932742" rtl="0" eaLnBrk="1" latinLnBrk="0" hangingPunct="1">
              <a:lnSpc>
                <a:spcPct val="100000"/>
              </a:lnSpc>
              <a:spcBef>
                <a:spcPts val="0"/>
              </a:spcBef>
              <a:spcAft>
                <a:spcPts val="0"/>
              </a:spcAft>
              <a:buFont typeface="Arial" pitchFamily="34" charset="0"/>
              <a:buNone/>
              <a:defRPr sz="1000" kern="1200">
                <a:solidFill>
                  <a:srgbClr val="000000"/>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lvl="0"/>
            <a:r>
              <a:rPr lang="en-US" sz="2200" spc="0" dirty="0">
                <a:solidFill>
                  <a:schemeClr val="tx2">
                    <a:lumMod val="50000"/>
                  </a:schemeClr>
                </a:solidFill>
                <a:cs typeface="Segoe UI Semilight"/>
              </a:rPr>
              <a:t>Dynamic (default).</a:t>
            </a:r>
            <a:r>
              <a:rPr lang="en-US" sz="2200" spc="0" dirty="0">
                <a:solidFill>
                  <a:schemeClr val="tx2">
                    <a:lumMod val="50000"/>
                  </a:schemeClr>
                </a:solidFill>
                <a:latin typeface="+mn-lt"/>
                <a:cs typeface="Segoe UI Semilight"/>
              </a:rPr>
              <a:t> </a:t>
            </a:r>
            <a:r>
              <a:rPr lang="en-US" sz="2200" spc="0" dirty="0">
                <a:latin typeface="+mn-lt"/>
                <a:cs typeface="Segoe UI Semilight"/>
              </a:rPr>
              <a:t>Azure assigns the next available unassigned or unreserved IP address in the subnet’s address range </a:t>
            </a:r>
          </a:p>
        </p:txBody>
      </p:sp>
      <p:sp>
        <p:nvSpPr>
          <p:cNvPr id="5" name="Text Placeholder 2">
            <a:extLst>
              <a:ext uri="{FF2B5EF4-FFF2-40B4-BE49-F238E27FC236}">
                <a16:creationId xmlns:a16="http://schemas.microsoft.com/office/drawing/2014/main" id="{188DE04B-0ABB-4FE1-BAC8-6E3AB0E24B5C}"/>
              </a:ext>
            </a:extLst>
          </p:cNvPr>
          <p:cNvSpPr txBox="1">
            <a:spLocks/>
          </p:cNvSpPr>
          <p:nvPr/>
        </p:nvSpPr>
        <p:spPr>
          <a:xfrm>
            <a:off x="427038" y="5203507"/>
            <a:ext cx="11582400" cy="977669"/>
          </a:xfrm>
          <a:prstGeom prst="rect">
            <a:avLst/>
          </a:prstGeom>
          <a:solidFill>
            <a:schemeClr val="bg1">
              <a:lumMod val="95000"/>
            </a:schemeClr>
          </a:solidFill>
          <a:ln w="6350">
            <a:noFill/>
          </a:ln>
        </p:spPr>
        <p:txBody>
          <a:bodyPr vert="horz" wrap="square" lIns="137160" tIns="91440" rIns="137160" bIns="91440" rtlCol="0" anchor="ctr">
            <a:noAutofit/>
          </a:bodyPr>
          <a:lstStyle>
            <a:lvl1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2400" kern="1200" spc="-50" baseline="0">
                <a:solidFill>
                  <a:srgbClr val="000000"/>
                </a:solidFill>
                <a:latin typeface="+mj-lt"/>
                <a:ea typeface="+mn-ea"/>
                <a:cs typeface="+mn-cs"/>
              </a:defRPr>
            </a:lvl1pPr>
            <a:lvl2pPr marL="0" marR="0" indent="0" algn="l" defTabSz="932742" rtl="0" eaLnBrk="1" fontAlgn="auto" latinLnBrk="0" hangingPunct="1">
              <a:lnSpc>
                <a:spcPct val="100000"/>
              </a:lnSpc>
              <a:spcBef>
                <a:spcPts val="0"/>
              </a:spcBef>
              <a:spcAft>
                <a:spcPts val="0"/>
              </a:spcAft>
              <a:buClrTx/>
              <a:buSzPct val="90000"/>
              <a:buFontTx/>
              <a:buNone/>
              <a:tabLst/>
              <a:defRPr sz="2000" kern="1200" spc="0" baseline="0">
                <a:solidFill>
                  <a:srgbClr val="000000"/>
                </a:solidFill>
                <a:latin typeface="+mn-lt"/>
                <a:ea typeface="+mn-ea"/>
                <a:cs typeface="+mn-cs"/>
              </a:defRPr>
            </a:lvl2pPr>
            <a:lvl3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400" kern="1200" spc="0" baseline="0">
                <a:solidFill>
                  <a:schemeClr val="tx2"/>
                </a:solidFill>
                <a:latin typeface="+mj-lt"/>
                <a:ea typeface="+mn-ea"/>
                <a:cs typeface="+mn-cs"/>
              </a:defRPr>
            </a:lvl3pPr>
            <a:lvl4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400" kern="1200" spc="0" baseline="0">
                <a:solidFill>
                  <a:srgbClr val="000000"/>
                </a:solidFill>
                <a:latin typeface="+mn-lt"/>
                <a:ea typeface="+mn-ea"/>
                <a:cs typeface="+mn-cs"/>
              </a:defRPr>
            </a:lvl4pPr>
            <a:lvl5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000" b="1" kern="1200" spc="0" baseline="0">
                <a:solidFill>
                  <a:srgbClr val="000000"/>
                </a:solidFill>
                <a:latin typeface="+mn-lt"/>
                <a:ea typeface="+mn-ea"/>
                <a:cs typeface="+mn-cs"/>
              </a:defRPr>
            </a:lvl5pPr>
            <a:lvl6pPr marL="2331854" indent="0" algn="l" defTabSz="932742" rtl="0" eaLnBrk="1" latinLnBrk="0" hangingPunct="1">
              <a:spcBef>
                <a:spcPct val="20000"/>
              </a:spcBef>
              <a:buFont typeface="Arial" pitchFamily="34" charset="0"/>
              <a:buNone/>
              <a:defRPr sz="2000" kern="1200">
                <a:solidFill>
                  <a:schemeClr val="tx1"/>
                </a:solidFill>
                <a:latin typeface="+mn-lt"/>
                <a:ea typeface="+mn-ea"/>
                <a:cs typeface="+mn-cs"/>
              </a:defRPr>
            </a:lvl6pPr>
            <a:lvl7pPr marL="0" indent="0" algn="l" defTabSz="932742" rtl="0" eaLnBrk="1" latinLnBrk="0" hangingPunct="1">
              <a:lnSpc>
                <a:spcPct val="100000"/>
              </a:lnSpc>
              <a:spcBef>
                <a:spcPts val="0"/>
              </a:spcBef>
              <a:spcAft>
                <a:spcPts val="0"/>
              </a:spcAft>
              <a:buFont typeface="Arial" pitchFamily="34" charset="0"/>
              <a:buNone/>
              <a:defRPr sz="1000" kern="1200">
                <a:solidFill>
                  <a:srgbClr val="000000"/>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lvl="0"/>
            <a:r>
              <a:rPr lang="en-US" sz="2200" spc="0" dirty="0">
                <a:solidFill>
                  <a:schemeClr val="tx2">
                    <a:lumMod val="50000"/>
                  </a:schemeClr>
                </a:solidFill>
                <a:cs typeface="Segoe UI Semilight"/>
              </a:rPr>
              <a:t>Static</a:t>
            </a:r>
            <a:r>
              <a:rPr lang="en-US" sz="2200" spc="0" dirty="0">
                <a:solidFill>
                  <a:schemeClr val="tx2"/>
                </a:solidFill>
                <a:cs typeface="Segoe UI Semilight"/>
              </a:rPr>
              <a:t>. </a:t>
            </a:r>
            <a:r>
              <a:rPr lang="en-US" sz="2200" spc="0" dirty="0">
                <a:latin typeface="+mn-lt"/>
                <a:cs typeface="Segoe UI Semilight"/>
              </a:rPr>
              <a:t>You select and assign any unassigned or unreserved IP address in the subnet's address range </a:t>
            </a:r>
          </a:p>
        </p:txBody>
      </p:sp>
    </p:spTree>
    <p:extLst>
      <p:ext uri="{BB962C8B-B14F-4D97-AF65-F5344CB8AC3E}">
        <p14:creationId xmlns:p14="http://schemas.microsoft.com/office/powerpoint/2010/main" val="32324836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E01A9B-4884-43FC-B882-32050A4E731A}"/>
              </a:ext>
            </a:extLst>
          </p:cNvPr>
          <p:cNvSpPr>
            <a:spLocks noGrp="1"/>
          </p:cNvSpPr>
          <p:nvPr>
            <p:ph type="title"/>
          </p:nvPr>
        </p:nvSpPr>
        <p:spPr/>
        <p:txBody>
          <a:bodyPr/>
          <a:lstStyle/>
          <a:p>
            <a:r>
              <a:rPr lang="en-US" dirty="0"/>
              <a:t>Demonstration – Virtual Networks</a:t>
            </a:r>
          </a:p>
        </p:txBody>
      </p:sp>
      <p:sp>
        <p:nvSpPr>
          <p:cNvPr id="3" name="TextBox 2">
            <a:extLst>
              <a:ext uri="{FF2B5EF4-FFF2-40B4-BE49-F238E27FC236}">
                <a16:creationId xmlns:a16="http://schemas.microsoft.com/office/drawing/2014/main" id="{609059C6-8286-5F90-E16A-80CF35A42FF9}"/>
              </a:ext>
            </a:extLst>
          </p:cNvPr>
          <p:cNvSpPr txBox="1"/>
          <p:nvPr/>
        </p:nvSpPr>
        <p:spPr>
          <a:xfrm>
            <a:off x="701040" y="1706880"/>
            <a:ext cx="6574428" cy="1446550"/>
          </a:xfrm>
          <a:prstGeom prst="rect">
            <a:avLst/>
          </a:prstGeom>
          <a:noFill/>
        </p:spPr>
        <p:txBody>
          <a:bodyPr wrap="none" lIns="182880" tIns="146304" rIns="182880" bIns="146304" rtlCol="0">
            <a:spAutoFit/>
          </a:bodyPr>
          <a:lstStyle/>
          <a:p>
            <a:pPr marL="342900" indent="-342900">
              <a:lnSpc>
                <a:spcPct val="90000"/>
              </a:lnSpc>
              <a:spcAft>
                <a:spcPts val="600"/>
              </a:spcAft>
              <a:buFont typeface="Arial" panose="020B0604020202020204" pitchFamily="34" charset="0"/>
              <a:buChar char="•"/>
            </a:pPr>
            <a:r>
              <a:rPr lang="en-US" sz="2400" dirty="0">
                <a:gradFill>
                  <a:gsLst>
                    <a:gs pos="2917">
                      <a:schemeClr val="tx1"/>
                    </a:gs>
                    <a:gs pos="30000">
                      <a:schemeClr val="tx1"/>
                    </a:gs>
                  </a:gsLst>
                  <a:lin ang="5400000" scaled="0"/>
                </a:gradFill>
              </a:rPr>
              <a:t>Create a virtual network in the Azure portal</a:t>
            </a:r>
          </a:p>
          <a:p>
            <a:pPr marL="342900" indent="-342900">
              <a:lnSpc>
                <a:spcPct val="90000"/>
              </a:lnSpc>
              <a:spcAft>
                <a:spcPts val="600"/>
              </a:spcAft>
              <a:buFont typeface="Arial" panose="020B0604020202020204" pitchFamily="34" charset="0"/>
              <a:buChar char="•"/>
            </a:pPr>
            <a:r>
              <a:rPr lang="en-US" sz="2400" dirty="0">
                <a:gradFill>
                  <a:gsLst>
                    <a:gs pos="2917">
                      <a:schemeClr val="tx1"/>
                    </a:gs>
                    <a:gs pos="30000">
                      <a:schemeClr val="tx1"/>
                    </a:gs>
                  </a:gsLst>
                  <a:lin ang="5400000" scaled="0"/>
                </a:gradFill>
              </a:rPr>
              <a:t>Configure subnets</a:t>
            </a:r>
          </a:p>
          <a:p>
            <a:pPr marL="342900" indent="-342900">
              <a:lnSpc>
                <a:spcPct val="90000"/>
              </a:lnSpc>
              <a:spcAft>
                <a:spcPts val="600"/>
              </a:spcAft>
              <a:buFont typeface="Arial" panose="020B0604020202020204" pitchFamily="34" charset="0"/>
              <a:buChar char="•"/>
            </a:pPr>
            <a:r>
              <a:rPr lang="en-US" sz="2400" dirty="0">
                <a:gradFill>
                  <a:gsLst>
                    <a:gs pos="2917">
                      <a:schemeClr val="tx1"/>
                    </a:gs>
                    <a:gs pos="30000">
                      <a:schemeClr val="tx1"/>
                    </a:gs>
                  </a:gsLst>
                  <a:lin ang="5400000" scaled="0"/>
                </a:gradFill>
              </a:rPr>
              <a:t>Create a public IP address</a:t>
            </a:r>
          </a:p>
        </p:txBody>
      </p:sp>
    </p:spTree>
    <p:extLst>
      <p:ext uri="{BB962C8B-B14F-4D97-AF65-F5344CB8AC3E}">
        <p14:creationId xmlns:p14="http://schemas.microsoft.com/office/powerpoint/2010/main" val="2665455472"/>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9AEBD2-4AD6-4182-BF38-A3DE71D14CCF}"/>
              </a:ext>
            </a:extLst>
          </p:cNvPr>
          <p:cNvSpPr>
            <a:spLocks noGrp="1"/>
          </p:cNvSpPr>
          <p:nvPr>
            <p:ph type="title"/>
          </p:nvPr>
        </p:nvSpPr>
        <p:spPr/>
        <p:txBody>
          <a:bodyPr/>
          <a:lstStyle/>
          <a:p>
            <a:r>
              <a:rPr lang="en-US" dirty="0">
                <a:solidFill>
                  <a:schemeClr val="tx1"/>
                </a:solidFill>
              </a:rPr>
              <a:t>Learning Recap – Virtual Networks</a:t>
            </a:r>
          </a:p>
        </p:txBody>
      </p:sp>
      <p:sp>
        <p:nvSpPr>
          <p:cNvPr id="8" name="Rectangle 7">
            <a:extLst>
              <a:ext uri="{FF2B5EF4-FFF2-40B4-BE49-F238E27FC236}">
                <a16:creationId xmlns:a16="http://schemas.microsoft.com/office/drawing/2014/main" id="{74FB8EB5-9373-4BF7-A4F4-0EBE905EA0D8}"/>
              </a:ext>
            </a:extLst>
          </p:cNvPr>
          <p:cNvSpPr/>
          <p:nvPr/>
        </p:nvSpPr>
        <p:spPr>
          <a:xfrm>
            <a:off x="3832053" y="2186380"/>
            <a:ext cx="7132144" cy="2429256"/>
          </a:xfrm>
          <a:prstGeom prst="rect">
            <a:avLst/>
          </a:prstGeom>
          <a:no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06040" tIns="106040" rIns="106040" bIns="106040" numCol="1" spcCol="1270" anchor="t" anchorCtr="0">
            <a:noAutofit/>
          </a:bodyPr>
          <a:lstStyle/>
          <a:p>
            <a:pPr marL="342900" indent="-342900" defTabSz="800100">
              <a:spcBef>
                <a:spcPct val="0"/>
              </a:spcBef>
              <a:spcAft>
                <a:spcPts val="600"/>
              </a:spcAft>
              <a:buClr>
                <a:schemeClr val="tx1"/>
              </a:buClr>
              <a:buFont typeface="Arial" panose="020B0604020202020204" pitchFamily="34" charset="0"/>
              <a:buChar char="•"/>
            </a:pPr>
            <a:r>
              <a:rPr lang="en-US" sz="2000" dirty="0">
                <a:hlinkClick r:id="rId3"/>
              </a:rPr>
              <a:t>Introduction to Azure Virtual Networks</a:t>
            </a:r>
            <a:endParaRPr lang="en-US" sz="2000" dirty="0"/>
          </a:p>
          <a:p>
            <a:pPr marL="342900" indent="-342900" defTabSz="800100">
              <a:spcBef>
                <a:spcPct val="0"/>
              </a:spcBef>
              <a:spcAft>
                <a:spcPts val="600"/>
              </a:spcAft>
              <a:buClr>
                <a:schemeClr val="tx1"/>
              </a:buClr>
              <a:buFont typeface="Arial" panose="020B0604020202020204" pitchFamily="34" charset="0"/>
              <a:buChar char="•"/>
            </a:pPr>
            <a:r>
              <a:rPr lang="en-US" sz="2000" dirty="0">
                <a:solidFill>
                  <a:schemeClr val="tx1"/>
                </a:solidFill>
                <a:hlinkClick r:id="rId4"/>
              </a:rPr>
              <a:t>Design an IP addressing schema for your Azure deployment</a:t>
            </a:r>
            <a:endParaRPr lang="en-US" sz="2000" dirty="0">
              <a:solidFill>
                <a:schemeClr val="tx1"/>
              </a:solidFill>
            </a:endParaRPr>
          </a:p>
          <a:p>
            <a:pPr marL="342900" indent="-342900" defTabSz="800100">
              <a:spcBef>
                <a:spcPct val="0"/>
              </a:spcBef>
              <a:spcAft>
                <a:spcPts val="600"/>
              </a:spcAft>
              <a:buClr>
                <a:schemeClr val="tx1"/>
              </a:buClr>
              <a:buFont typeface="Arial" panose="020B0604020202020204" pitchFamily="34" charset="0"/>
              <a:buChar char="•"/>
            </a:pPr>
            <a:r>
              <a:rPr lang="en-US" sz="2000" dirty="0">
                <a:hlinkClick r:id="rId5"/>
              </a:rPr>
              <a:t>Implement Windows Server IaaS VM IP addressing and routing</a:t>
            </a:r>
            <a:endParaRPr lang="en-US" sz="2000" dirty="0"/>
          </a:p>
          <a:p>
            <a:pPr marL="342900" indent="-342900" defTabSz="800100">
              <a:lnSpc>
                <a:spcPct val="90000"/>
              </a:lnSpc>
              <a:spcBef>
                <a:spcPct val="0"/>
              </a:spcBef>
              <a:spcAft>
                <a:spcPct val="35000"/>
              </a:spcAft>
              <a:buClr>
                <a:schemeClr val="tx1"/>
              </a:buClr>
              <a:buFont typeface="Arial" panose="020B0604020202020204" pitchFamily="34" charset="0"/>
              <a:buChar char="•"/>
            </a:pPr>
            <a:endParaRPr lang="en-US" sz="2000" dirty="0">
              <a:solidFill>
                <a:schemeClr val="tx1"/>
              </a:solidFill>
            </a:endParaRPr>
          </a:p>
        </p:txBody>
      </p:sp>
      <p:sp>
        <p:nvSpPr>
          <p:cNvPr id="3" name="TextBox 7">
            <a:extLst>
              <a:ext uri="{FF2B5EF4-FFF2-40B4-BE49-F238E27FC236}">
                <a16:creationId xmlns:a16="http://schemas.microsoft.com/office/drawing/2014/main" id="{DDA4873A-24C5-D64D-5298-4B071246CA3B}"/>
              </a:ext>
            </a:extLst>
          </p:cNvPr>
          <p:cNvSpPr txBox="1"/>
          <p:nvPr/>
        </p:nvSpPr>
        <p:spPr>
          <a:xfrm>
            <a:off x="3832053" y="1786270"/>
            <a:ext cx="6216160" cy="400110"/>
          </a:xfrm>
          <a:prstGeom prst="rect">
            <a:avLst/>
          </a:prstGeom>
          <a:noFill/>
        </p:spPr>
        <p:txBody>
          <a:bodyPr wrap="square">
            <a:spAutoFit/>
          </a:bodyPr>
          <a:lst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a:lstStyle>
          <a:p>
            <a:r>
              <a:rPr lang="en-US" sz="2000" b="1" dirty="0"/>
              <a:t>Reference modules</a:t>
            </a:r>
          </a:p>
        </p:txBody>
      </p:sp>
    </p:spTree>
    <p:extLst>
      <p:ext uri="{BB962C8B-B14F-4D97-AF65-F5344CB8AC3E}">
        <p14:creationId xmlns:p14="http://schemas.microsoft.com/office/powerpoint/2010/main" val="4228905362"/>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CD8665D-5A50-4F07-9D33-48CCD3FD74C7}"/>
              </a:ext>
            </a:extLst>
          </p:cNvPr>
          <p:cNvSpPr>
            <a:spLocks noGrp="1"/>
          </p:cNvSpPr>
          <p:nvPr>
            <p:ph type="title"/>
          </p:nvPr>
        </p:nvSpPr>
        <p:spPr>
          <a:xfrm>
            <a:off x="581340" y="2949615"/>
            <a:ext cx="6472474" cy="1130181"/>
          </a:xfrm>
        </p:spPr>
        <p:txBody>
          <a:bodyPr/>
          <a:lstStyle/>
          <a:p>
            <a:r>
              <a:rPr lang="en-US" dirty="0"/>
              <a:t>Configure </a:t>
            </a:r>
            <a:r>
              <a:rPr lang="en-US" dirty="0">
                <a:cs typeface="Segoe UI"/>
              </a:rPr>
              <a:t>Network Security Groups (NSGs)</a:t>
            </a:r>
          </a:p>
        </p:txBody>
      </p:sp>
    </p:spTree>
    <p:extLst>
      <p:ext uri="{BB962C8B-B14F-4D97-AF65-F5344CB8AC3E}">
        <p14:creationId xmlns:p14="http://schemas.microsoft.com/office/powerpoint/2010/main" val="17892389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F59A6A-B20B-45F5-A780-AC3D243BA88E}"/>
              </a:ext>
            </a:extLst>
          </p:cNvPr>
          <p:cNvSpPr>
            <a:spLocks noGrp="1"/>
          </p:cNvSpPr>
          <p:nvPr>
            <p:ph type="title"/>
          </p:nvPr>
        </p:nvSpPr>
        <p:spPr/>
        <p:txBody>
          <a:bodyPr/>
          <a:lstStyle/>
          <a:p>
            <a:r>
              <a:rPr lang="en-US" dirty="0"/>
              <a:t>Learning Objectives – Network Security Groups </a:t>
            </a:r>
          </a:p>
        </p:txBody>
      </p:sp>
      <p:sp>
        <p:nvSpPr>
          <p:cNvPr id="4" name="Rectangle 3">
            <a:extLst>
              <a:ext uri="{FF2B5EF4-FFF2-40B4-BE49-F238E27FC236}">
                <a16:creationId xmlns:a16="http://schemas.microsoft.com/office/drawing/2014/main" id="{02E3D4CF-6F7F-4ECB-80C3-219912F3C803}"/>
              </a:ext>
            </a:extLst>
          </p:cNvPr>
          <p:cNvSpPr/>
          <p:nvPr/>
        </p:nvSpPr>
        <p:spPr>
          <a:xfrm>
            <a:off x="595674" y="1288774"/>
            <a:ext cx="5615706" cy="4623497"/>
          </a:xfrm>
          <a:prstGeom prst="rect">
            <a:avLst/>
          </a:prstGeom>
          <a:no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0" tIns="0" rIns="0" bIns="0" numCol="1" spcCol="1270" anchor="ctr" anchorCtr="0">
            <a:noAutofit/>
          </a:bodyPr>
          <a:lstStyle/>
          <a:p>
            <a:pPr marL="342900" indent="-342900" defTabSz="1022350">
              <a:lnSpc>
                <a:spcPct val="150000"/>
              </a:lnSpc>
              <a:spcBef>
                <a:spcPct val="0"/>
              </a:spcBef>
              <a:spcAft>
                <a:spcPct val="35000"/>
              </a:spcAft>
              <a:buFont typeface="Arial" panose="020B0604020202020204" pitchFamily="34" charset="0"/>
              <a:buChar char="•"/>
            </a:pPr>
            <a:r>
              <a:rPr lang="en-US" sz="2000" dirty="0">
                <a:solidFill>
                  <a:schemeClr val="tx1"/>
                </a:solidFill>
              </a:rPr>
              <a:t>Implement Network Security Groups</a:t>
            </a:r>
          </a:p>
          <a:p>
            <a:pPr marL="342900" indent="-342900" defTabSz="1022350">
              <a:lnSpc>
                <a:spcPct val="150000"/>
              </a:lnSpc>
              <a:spcBef>
                <a:spcPct val="0"/>
              </a:spcBef>
              <a:spcAft>
                <a:spcPct val="35000"/>
              </a:spcAft>
              <a:buFont typeface="Arial" panose="020B0604020202020204" pitchFamily="34" charset="0"/>
              <a:buChar char="•"/>
            </a:pPr>
            <a:r>
              <a:rPr lang="en-US" sz="2000" dirty="0">
                <a:solidFill>
                  <a:schemeClr val="tx1"/>
                </a:solidFill>
              </a:rPr>
              <a:t>Determine NSG Rules</a:t>
            </a:r>
          </a:p>
          <a:p>
            <a:pPr marL="342900" indent="-342900" defTabSz="1022350">
              <a:lnSpc>
                <a:spcPct val="150000"/>
              </a:lnSpc>
              <a:spcBef>
                <a:spcPct val="0"/>
              </a:spcBef>
              <a:spcAft>
                <a:spcPct val="35000"/>
              </a:spcAft>
              <a:buFont typeface="Arial" panose="020B0604020202020204" pitchFamily="34" charset="0"/>
              <a:buChar char="•"/>
            </a:pPr>
            <a:r>
              <a:rPr lang="en-US" sz="2000" dirty="0">
                <a:solidFill>
                  <a:schemeClr val="tx1"/>
                </a:solidFill>
              </a:rPr>
              <a:t>Determine NSG Effective Rules</a:t>
            </a:r>
          </a:p>
          <a:p>
            <a:pPr marL="342900" indent="-342900" defTabSz="1022350">
              <a:lnSpc>
                <a:spcPct val="150000"/>
              </a:lnSpc>
              <a:spcBef>
                <a:spcPct val="0"/>
              </a:spcBef>
              <a:spcAft>
                <a:spcPct val="35000"/>
              </a:spcAft>
              <a:buFont typeface="Arial" panose="020B0604020202020204" pitchFamily="34" charset="0"/>
              <a:buChar char="•"/>
            </a:pPr>
            <a:r>
              <a:rPr lang="en-US" sz="2000" dirty="0">
                <a:solidFill>
                  <a:schemeClr val="tx1"/>
                </a:solidFill>
              </a:rPr>
              <a:t>Create NSG Rules</a:t>
            </a:r>
          </a:p>
          <a:p>
            <a:pPr marL="342900" indent="-342900" defTabSz="1022350">
              <a:lnSpc>
                <a:spcPct val="150000"/>
              </a:lnSpc>
              <a:spcBef>
                <a:spcPct val="0"/>
              </a:spcBef>
              <a:spcAft>
                <a:spcPct val="35000"/>
              </a:spcAft>
              <a:buFont typeface="Arial" panose="020B0604020202020204" pitchFamily="34" charset="0"/>
              <a:buChar char="•"/>
            </a:pPr>
            <a:r>
              <a:rPr lang="en-US" sz="2000" dirty="0">
                <a:solidFill>
                  <a:schemeClr val="tx1"/>
                </a:solidFill>
              </a:rPr>
              <a:t>Implement Application Security Groups</a:t>
            </a:r>
          </a:p>
          <a:p>
            <a:pPr marL="342900" indent="-342900" defTabSz="1022350">
              <a:lnSpc>
                <a:spcPct val="150000"/>
              </a:lnSpc>
              <a:spcBef>
                <a:spcPct val="0"/>
              </a:spcBef>
              <a:spcAft>
                <a:spcPct val="35000"/>
              </a:spcAft>
              <a:buFont typeface="Arial" panose="020B0604020202020204" pitchFamily="34" charset="0"/>
              <a:buChar char="•"/>
            </a:pPr>
            <a:r>
              <a:rPr lang="en-US" sz="2000" dirty="0">
                <a:solidFill>
                  <a:schemeClr val="tx1"/>
                </a:solidFill>
              </a:rPr>
              <a:t>Demonstration – NSGs</a:t>
            </a:r>
          </a:p>
          <a:p>
            <a:pPr marL="342900" indent="-342900" defTabSz="1022350">
              <a:lnSpc>
                <a:spcPct val="150000"/>
              </a:lnSpc>
              <a:spcBef>
                <a:spcPct val="0"/>
              </a:spcBef>
              <a:spcAft>
                <a:spcPct val="35000"/>
              </a:spcAft>
              <a:buFont typeface="Arial" panose="020B0604020202020204" pitchFamily="34" charset="0"/>
              <a:buChar char="•"/>
            </a:pPr>
            <a:r>
              <a:rPr lang="en-US" sz="2000" dirty="0">
                <a:solidFill>
                  <a:schemeClr val="tx1"/>
                </a:solidFill>
              </a:rPr>
              <a:t>Learning Recap</a:t>
            </a:r>
          </a:p>
          <a:p>
            <a:pPr marL="342900" indent="-342900" defTabSz="1022350">
              <a:lnSpc>
                <a:spcPct val="150000"/>
              </a:lnSpc>
              <a:spcBef>
                <a:spcPct val="0"/>
              </a:spcBef>
              <a:spcAft>
                <a:spcPct val="35000"/>
              </a:spcAft>
              <a:buFont typeface="Arial" panose="020B0604020202020204" pitchFamily="34" charset="0"/>
              <a:buChar char="•"/>
            </a:pPr>
            <a:endParaRPr lang="en-US" sz="2000" dirty="0">
              <a:solidFill>
                <a:schemeClr val="tx1"/>
              </a:solidFill>
            </a:endParaRPr>
          </a:p>
        </p:txBody>
      </p:sp>
      <p:sp>
        <p:nvSpPr>
          <p:cNvPr id="9" name="TextBox 8">
            <a:extLst>
              <a:ext uri="{FF2B5EF4-FFF2-40B4-BE49-F238E27FC236}">
                <a16:creationId xmlns:a16="http://schemas.microsoft.com/office/drawing/2014/main" id="{4D65D070-F70F-F120-5A2C-19BC85D4D971}"/>
              </a:ext>
            </a:extLst>
          </p:cNvPr>
          <p:cNvSpPr txBox="1"/>
          <p:nvPr/>
        </p:nvSpPr>
        <p:spPr>
          <a:xfrm>
            <a:off x="6592957" y="1760008"/>
            <a:ext cx="4605129" cy="2631490"/>
          </a:xfrm>
          <a:prstGeom prst="rect">
            <a:avLst/>
          </a:prstGeom>
          <a:noFill/>
        </p:spPr>
        <p:txBody>
          <a:bodyPr wrap="square">
            <a:spAutoFit/>
          </a:bodyPr>
          <a:lstStyle/>
          <a:p>
            <a:pPr algn="l">
              <a:spcAft>
                <a:spcPts val="600"/>
              </a:spcAft>
            </a:pPr>
            <a:r>
              <a:rPr lang="en-US" sz="2000" dirty="0">
                <a:solidFill>
                  <a:schemeClr val="accent1"/>
                </a:solidFill>
              </a:rPr>
              <a:t>Implement and manage virtual networking (15–20%): Configure secure access to virtual networks</a:t>
            </a:r>
          </a:p>
          <a:p>
            <a:pPr marL="173038" indent="-173038" algn="l">
              <a:buFont typeface="Arial" panose="020B0604020202020204" pitchFamily="34" charset="0"/>
              <a:buChar char="•"/>
            </a:pPr>
            <a:r>
              <a:rPr lang="en-US" sz="2000" dirty="0"/>
              <a:t>Create and configure network security groups (NSGs) and application security groups</a:t>
            </a:r>
          </a:p>
          <a:p>
            <a:pPr marL="173038" indent="-173038" algn="l">
              <a:buFont typeface="Arial" panose="020B0604020202020204" pitchFamily="34" charset="0"/>
              <a:buChar char="•"/>
            </a:pPr>
            <a:r>
              <a:rPr lang="en-US" sz="2000" dirty="0"/>
              <a:t>Evaluate effective security rules in NSGs</a:t>
            </a:r>
          </a:p>
        </p:txBody>
      </p:sp>
    </p:spTree>
    <p:extLst>
      <p:ext uri="{BB962C8B-B14F-4D97-AF65-F5344CB8AC3E}">
        <p14:creationId xmlns:p14="http://schemas.microsoft.com/office/powerpoint/2010/main" val="941996512"/>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p:txBody>
          <a:bodyPr/>
          <a:lstStyle/>
          <a:p>
            <a:r>
              <a:rPr lang="en-US" dirty="0"/>
              <a:t>Implement Network Security Groups </a:t>
            </a:r>
          </a:p>
        </p:txBody>
      </p:sp>
      <p:pic>
        <p:nvPicPr>
          <p:cNvPr id="12" name="Picture 3" descr="Screenshot of the network security group overview blade. One subnet and one custom security rule are shown.">
            <a:extLst>
              <a:ext uri="{FF2B5EF4-FFF2-40B4-BE49-F238E27FC236}">
                <a16:creationId xmlns:a16="http://schemas.microsoft.com/office/drawing/2014/main" id="{0B3F2393-AC17-4B81-B046-9BE53495409B}"/>
              </a:ext>
            </a:extLst>
          </p:cNvPr>
          <p:cNvPicPr>
            <a:picLocks noChangeAspect="1"/>
          </p:cNvPicPr>
          <p:nvPr/>
        </p:nvPicPr>
        <p:blipFill>
          <a:blip r:embed="rId3"/>
          <a:stretch>
            <a:fillRect/>
          </a:stretch>
        </p:blipFill>
        <p:spPr>
          <a:xfrm>
            <a:off x="625306" y="1426510"/>
            <a:ext cx="11185861" cy="2485198"/>
          </a:xfrm>
          <a:prstGeom prst="rect">
            <a:avLst/>
          </a:prstGeom>
          <a:ln>
            <a:noFill/>
          </a:ln>
        </p:spPr>
      </p:pic>
      <p:sp>
        <p:nvSpPr>
          <p:cNvPr id="6" name="Rectangle 5">
            <a:extLst>
              <a:ext uri="{FF2B5EF4-FFF2-40B4-BE49-F238E27FC236}">
                <a16:creationId xmlns:a16="http://schemas.microsoft.com/office/drawing/2014/main" id="{F5A0D721-822E-4869-80A9-C0BD7205C4AE}"/>
              </a:ext>
            </a:extLst>
          </p:cNvPr>
          <p:cNvSpPr/>
          <p:nvPr/>
        </p:nvSpPr>
        <p:spPr>
          <a:xfrm>
            <a:off x="465136" y="4355550"/>
            <a:ext cx="2830816" cy="1293128"/>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7160" tIns="91440" rIns="137160" bIns="91440" numCol="1" spcCol="1270" anchor="ctr" anchorCtr="0">
            <a:noAutofit/>
          </a:bodyPr>
          <a:lstStyle/>
          <a:p>
            <a:pPr algn="ctr"/>
            <a:r>
              <a:rPr lang="en-US" sz="2000" dirty="0">
                <a:solidFill>
                  <a:schemeClr val="tx1"/>
                </a:solidFill>
              </a:rPr>
              <a:t>Limits network traffic</a:t>
            </a:r>
            <a:br>
              <a:rPr lang="en-US" sz="2000" dirty="0">
                <a:solidFill>
                  <a:schemeClr val="tx1"/>
                </a:solidFill>
              </a:rPr>
            </a:br>
            <a:r>
              <a:rPr lang="en-US" sz="2000" dirty="0">
                <a:solidFill>
                  <a:schemeClr val="tx1"/>
                </a:solidFill>
              </a:rPr>
              <a:t>to resources in a</a:t>
            </a:r>
            <a:br>
              <a:rPr lang="en-US" sz="2000" dirty="0">
                <a:solidFill>
                  <a:schemeClr val="tx1"/>
                </a:solidFill>
              </a:rPr>
            </a:br>
            <a:r>
              <a:rPr lang="en-US" sz="2000" dirty="0">
                <a:solidFill>
                  <a:schemeClr val="tx1"/>
                </a:solidFill>
              </a:rPr>
              <a:t>virtual network</a:t>
            </a:r>
            <a:endParaRPr lang="bs-Latn-BA" sz="2000" dirty="0">
              <a:solidFill>
                <a:schemeClr val="tx1"/>
              </a:solidFill>
            </a:endParaRPr>
          </a:p>
        </p:txBody>
      </p:sp>
      <p:sp>
        <p:nvSpPr>
          <p:cNvPr id="7" name="Rectangle 6">
            <a:extLst>
              <a:ext uri="{FF2B5EF4-FFF2-40B4-BE49-F238E27FC236}">
                <a16:creationId xmlns:a16="http://schemas.microsoft.com/office/drawing/2014/main" id="{91E12727-CB70-4E89-A2F5-5BD1FD70667A}"/>
              </a:ext>
            </a:extLst>
          </p:cNvPr>
          <p:cNvSpPr/>
          <p:nvPr/>
        </p:nvSpPr>
        <p:spPr>
          <a:xfrm>
            <a:off x="3411335" y="4347287"/>
            <a:ext cx="2830816" cy="1293128"/>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7160" tIns="91440" rIns="137160" bIns="91440" numCol="1" spcCol="1270" anchor="ctr" anchorCtr="0">
            <a:noAutofit/>
          </a:bodyPr>
          <a:lstStyle/>
          <a:p>
            <a:pPr algn="ctr"/>
            <a:r>
              <a:rPr lang="en-US" sz="2000" dirty="0">
                <a:solidFill>
                  <a:schemeClr val="tx1"/>
                </a:solidFill>
              </a:rPr>
              <a:t>Lists the security rules that allow or deny inbound or outbound network traffic </a:t>
            </a:r>
          </a:p>
        </p:txBody>
      </p:sp>
      <p:sp>
        <p:nvSpPr>
          <p:cNvPr id="9" name="Rectangle 8">
            <a:extLst>
              <a:ext uri="{FF2B5EF4-FFF2-40B4-BE49-F238E27FC236}">
                <a16:creationId xmlns:a16="http://schemas.microsoft.com/office/drawing/2014/main" id="{E630B86D-632D-4D17-810D-5D831273F4F2}"/>
              </a:ext>
            </a:extLst>
          </p:cNvPr>
          <p:cNvSpPr/>
          <p:nvPr/>
        </p:nvSpPr>
        <p:spPr>
          <a:xfrm>
            <a:off x="6357534" y="4355550"/>
            <a:ext cx="2830816" cy="1293128"/>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7160" tIns="91440" rIns="137160" bIns="91440" numCol="1" spcCol="1270" anchor="ctr" anchorCtr="0">
            <a:noAutofit/>
          </a:bodyPr>
          <a:lstStyle/>
          <a:p>
            <a:pPr algn="ctr"/>
            <a:r>
              <a:rPr lang="en-US" sz="2000" dirty="0">
                <a:solidFill>
                  <a:schemeClr val="tx1"/>
                </a:solidFill>
              </a:rPr>
              <a:t>Associated</a:t>
            </a:r>
            <a:br>
              <a:rPr lang="en-US" sz="2000" dirty="0">
                <a:solidFill>
                  <a:schemeClr val="tx1"/>
                </a:solidFill>
              </a:rPr>
            </a:br>
            <a:r>
              <a:rPr lang="en-US" sz="2000" dirty="0">
                <a:solidFill>
                  <a:schemeClr val="tx1"/>
                </a:solidFill>
              </a:rPr>
              <a:t>to a subnet or a</a:t>
            </a:r>
            <a:br>
              <a:rPr lang="en-US" sz="2000" dirty="0">
                <a:solidFill>
                  <a:schemeClr val="tx1"/>
                </a:solidFill>
              </a:rPr>
            </a:br>
            <a:r>
              <a:rPr lang="en-US" sz="2000" dirty="0">
                <a:solidFill>
                  <a:schemeClr val="tx1"/>
                </a:solidFill>
              </a:rPr>
              <a:t>network interface </a:t>
            </a:r>
          </a:p>
        </p:txBody>
      </p:sp>
      <p:sp>
        <p:nvSpPr>
          <p:cNvPr id="2" name="Rectangle 1">
            <a:extLst>
              <a:ext uri="{FF2B5EF4-FFF2-40B4-BE49-F238E27FC236}">
                <a16:creationId xmlns:a16="http://schemas.microsoft.com/office/drawing/2014/main" id="{A1EEB9FA-4900-4D65-8AB4-4132B469E75D}"/>
              </a:ext>
            </a:extLst>
          </p:cNvPr>
          <p:cNvSpPr/>
          <p:nvPr/>
        </p:nvSpPr>
        <p:spPr>
          <a:xfrm>
            <a:off x="9303733" y="4325795"/>
            <a:ext cx="2830816" cy="1293128"/>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7160" tIns="91440" rIns="137160" bIns="91440" numCol="1" spcCol="1270" anchor="ctr" anchorCtr="0">
            <a:noAutofit/>
          </a:bodyPr>
          <a:lstStyle/>
          <a:p>
            <a:pPr algn="ctr"/>
            <a:r>
              <a:rPr lang="en-US" sz="2000" b="0" i="0" dirty="0">
                <a:solidFill>
                  <a:schemeClr val="tx1"/>
                </a:solidFill>
                <a:effectLst/>
                <a:latin typeface="Segoe UI VSS (Regular)"/>
              </a:rPr>
              <a:t>Can be associated multiple times</a:t>
            </a:r>
            <a:endParaRPr lang="en-US" sz="2000" dirty="0">
              <a:solidFill>
                <a:schemeClr val="tx1"/>
              </a:solidFill>
            </a:endParaRPr>
          </a:p>
        </p:txBody>
      </p:sp>
    </p:spTree>
    <p:extLst>
      <p:ext uri="{BB962C8B-B14F-4D97-AF65-F5344CB8AC3E}">
        <p14:creationId xmlns:p14="http://schemas.microsoft.com/office/powerpoint/2010/main" val="7698720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p:txBody>
          <a:bodyPr/>
          <a:lstStyle/>
          <a:p>
            <a:r>
              <a:rPr lang="en-US" dirty="0"/>
              <a:t>Determine NSG Rules</a:t>
            </a:r>
          </a:p>
        </p:txBody>
      </p:sp>
      <p:pic>
        <p:nvPicPr>
          <p:cNvPr id="16" name="Picture 3" descr="Screenshot of the inbound and outbound NSG rules page">
            <a:extLst>
              <a:ext uri="{FF2B5EF4-FFF2-40B4-BE49-F238E27FC236}">
                <a16:creationId xmlns:a16="http://schemas.microsoft.com/office/drawing/2014/main" id="{1AF15E94-89BD-483F-9F0E-AAB63D062E58}"/>
              </a:ext>
            </a:extLst>
          </p:cNvPr>
          <p:cNvPicPr>
            <a:picLocks noChangeAspect="1"/>
          </p:cNvPicPr>
          <p:nvPr/>
        </p:nvPicPr>
        <p:blipFill>
          <a:blip r:embed="rId3"/>
          <a:stretch>
            <a:fillRect/>
          </a:stretch>
        </p:blipFill>
        <p:spPr>
          <a:xfrm>
            <a:off x="1624511" y="1299203"/>
            <a:ext cx="9187454" cy="3110872"/>
          </a:xfrm>
          <a:prstGeom prst="rect">
            <a:avLst/>
          </a:prstGeom>
          <a:ln>
            <a:noFill/>
          </a:ln>
        </p:spPr>
      </p:pic>
      <p:sp>
        <p:nvSpPr>
          <p:cNvPr id="13" name="Rectangle 12">
            <a:extLst>
              <a:ext uri="{FF2B5EF4-FFF2-40B4-BE49-F238E27FC236}">
                <a16:creationId xmlns:a16="http://schemas.microsoft.com/office/drawing/2014/main" id="{2A3603C3-7082-4BB7-A358-918DDD80E7FE}"/>
              </a:ext>
            </a:extLst>
          </p:cNvPr>
          <p:cNvSpPr/>
          <p:nvPr/>
        </p:nvSpPr>
        <p:spPr>
          <a:xfrm>
            <a:off x="427036" y="4566279"/>
            <a:ext cx="5715000" cy="1251426"/>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7160" tIns="91440" rIns="137160" bIns="91440" numCol="1" spcCol="1270" anchor="ctr" anchorCtr="0">
            <a:noAutofit/>
          </a:bodyPr>
          <a:lstStyle/>
          <a:p>
            <a:pPr algn="ctr"/>
            <a:r>
              <a:rPr lang="en-US" sz="2000" dirty="0">
                <a:solidFill>
                  <a:schemeClr val="tx1"/>
                </a:solidFill>
              </a:rPr>
              <a:t>Security rules in NSGs enable you</a:t>
            </a:r>
            <a:br>
              <a:rPr lang="en-US" sz="2000" dirty="0">
                <a:solidFill>
                  <a:schemeClr val="tx1"/>
                </a:solidFill>
              </a:rPr>
            </a:br>
            <a:r>
              <a:rPr lang="en-US" sz="2000" dirty="0">
                <a:solidFill>
                  <a:schemeClr val="tx1"/>
                </a:solidFill>
              </a:rPr>
              <a:t>to filter network traffic that can flow</a:t>
            </a:r>
            <a:br>
              <a:rPr lang="en-US" sz="2000" dirty="0">
                <a:solidFill>
                  <a:schemeClr val="tx1"/>
                </a:solidFill>
              </a:rPr>
            </a:br>
            <a:r>
              <a:rPr lang="en-US" sz="2000" dirty="0">
                <a:solidFill>
                  <a:schemeClr val="tx1"/>
                </a:solidFill>
              </a:rPr>
              <a:t>in and out of virtual network subnets and network interfaces</a:t>
            </a:r>
          </a:p>
        </p:txBody>
      </p:sp>
      <p:sp>
        <p:nvSpPr>
          <p:cNvPr id="14" name="Rectangle 13">
            <a:extLst>
              <a:ext uri="{FF2B5EF4-FFF2-40B4-BE49-F238E27FC236}">
                <a16:creationId xmlns:a16="http://schemas.microsoft.com/office/drawing/2014/main" id="{8EB88D31-6547-42D5-9903-02A447B49D70}"/>
              </a:ext>
            </a:extLst>
          </p:cNvPr>
          <p:cNvSpPr/>
          <p:nvPr/>
        </p:nvSpPr>
        <p:spPr>
          <a:xfrm>
            <a:off x="6294437" y="4566279"/>
            <a:ext cx="5715000" cy="1251426"/>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7160" tIns="91440" rIns="137160" bIns="91440" numCol="1" spcCol="1270" anchor="ctr" anchorCtr="0">
            <a:noAutofit/>
          </a:bodyPr>
          <a:lstStyle/>
          <a:p>
            <a:pPr algn="ctr"/>
            <a:r>
              <a:rPr lang="en-US" sz="2000" dirty="0">
                <a:solidFill>
                  <a:schemeClr val="tx1"/>
                </a:solidFill>
              </a:rPr>
              <a:t>There are default security rules.</a:t>
            </a:r>
            <a:br>
              <a:rPr lang="en-US" sz="2000" dirty="0">
                <a:solidFill>
                  <a:schemeClr val="tx1"/>
                </a:solidFill>
              </a:rPr>
            </a:br>
            <a:r>
              <a:rPr lang="en-US" sz="2000" dirty="0">
                <a:solidFill>
                  <a:schemeClr val="tx1"/>
                </a:solidFill>
              </a:rPr>
              <a:t>You cannot delete the default rules,</a:t>
            </a:r>
            <a:br>
              <a:rPr lang="en-US" sz="2000" dirty="0">
                <a:solidFill>
                  <a:schemeClr val="tx1"/>
                </a:solidFill>
              </a:rPr>
            </a:br>
            <a:r>
              <a:rPr lang="en-US" sz="2000" dirty="0">
                <a:solidFill>
                  <a:schemeClr val="tx1"/>
                </a:solidFill>
              </a:rPr>
              <a:t>but you can add other rules with</a:t>
            </a:r>
            <a:br>
              <a:rPr lang="en-US" sz="2000" dirty="0">
                <a:solidFill>
                  <a:schemeClr val="tx1"/>
                </a:solidFill>
              </a:rPr>
            </a:br>
            <a:r>
              <a:rPr lang="en-US" sz="2000" dirty="0">
                <a:solidFill>
                  <a:schemeClr val="tx1"/>
                </a:solidFill>
              </a:rPr>
              <a:t>a higher priority</a:t>
            </a:r>
          </a:p>
        </p:txBody>
      </p:sp>
    </p:spTree>
    <p:extLst>
      <p:ext uri="{BB962C8B-B14F-4D97-AF65-F5344CB8AC3E}">
        <p14:creationId xmlns:p14="http://schemas.microsoft.com/office/powerpoint/2010/main" val="7593026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p:txBody>
          <a:bodyPr/>
          <a:lstStyle/>
          <a:p>
            <a:r>
              <a:rPr lang="en-US" dirty="0"/>
              <a:t>Determine NSG Effective Rules</a:t>
            </a:r>
          </a:p>
        </p:txBody>
      </p:sp>
      <p:sp>
        <p:nvSpPr>
          <p:cNvPr id="6" name="Rectangle 5">
            <a:extLst>
              <a:ext uri="{FF2B5EF4-FFF2-40B4-BE49-F238E27FC236}">
                <a16:creationId xmlns:a16="http://schemas.microsoft.com/office/drawing/2014/main" id="{2453C5A8-FD59-472C-B6E7-5FF127804305}"/>
              </a:ext>
            </a:extLst>
          </p:cNvPr>
          <p:cNvSpPr/>
          <p:nvPr/>
        </p:nvSpPr>
        <p:spPr>
          <a:xfrm>
            <a:off x="528595" y="1479861"/>
            <a:ext cx="4475163" cy="1208936"/>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7160" tIns="91440" rIns="137160" bIns="91440" numCol="1" spcCol="1270" anchor="ctr" anchorCtr="0">
            <a:noAutofit/>
          </a:bodyPr>
          <a:lstStyle/>
          <a:p>
            <a:r>
              <a:rPr lang="en-US" sz="2400" dirty="0">
                <a:solidFill>
                  <a:schemeClr val="tx1"/>
                </a:solidFill>
                <a:cs typeface="Segoe UI Semilight"/>
              </a:rPr>
              <a:t>NSGs are evaluated independently for the</a:t>
            </a:r>
            <a:br>
              <a:rPr lang="en-US" sz="2400" dirty="0">
                <a:solidFill>
                  <a:schemeClr val="tx1"/>
                </a:solidFill>
                <a:cs typeface="Segoe UI Semilight"/>
              </a:rPr>
            </a:br>
            <a:r>
              <a:rPr lang="en-US" sz="2400" dirty="0">
                <a:solidFill>
                  <a:schemeClr val="tx1"/>
                </a:solidFill>
                <a:cs typeface="Segoe UI Semilight"/>
              </a:rPr>
              <a:t>subnet and NIC </a:t>
            </a:r>
          </a:p>
        </p:txBody>
      </p:sp>
      <p:sp>
        <p:nvSpPr>
          <p:cNvPr id="9" name="Rectangle 8">
            <a:extLst>
              <a:ext uri="{FF2B5EF4-FFF2-40B4-BE49-F238E27FC236}">
                <a16:creationId xmlns:a16="http://schemas.microsoft.com/office/drawing/2014/main" id="{4C8F27F7-BD48-469A-96C9-9F66182114FC}"/>
              </a:ext>
            </a:extLst>
          </p:cNvPr>
          <p:cNvSpPr/>
          <p:nvPr/>
        </p:nvSpPr>
        <p:spPr>
          <a:xfrm>
            <a:off x="528594" y="2959234"/>
            <a:ext cx="4475163" cy="1208936"/>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7160" tIns="91440" rIns="137160" bIns="91440" numCol="1" spcCol="1270" anchor="ctr" anchorCtr="0">
            <a:noAutofit/>
          </a:bodyPr>
          <a:lstStyle/>
          <a:p>
            <a:r>
              <a:rPr lang="en-US" sz="2400" dirty="0">
                <a:solidFill>
                  <a:schemeClr val="tx1"/>
                </a:solidFill>
                <a:cs typeface="Segoe UI Semilight"/>
              </a:rPr>
              <a:t>An “allow” rule must exist</a:t>
            </a:r>
            <a:br>
              <a:rPr lang="en-US" sz="2400" dirty="0">
                <a:solidFill>
                  <a:schemeClr val="tx1"/>
                </a:solidFill>
                <a:cs typeface="Segoe UI Semilight"/>
              </a:rPr>
            </a:br>
            <a:r>
              <a:rPr lang="en-US" sz="2400" dirty="0">
                <a:solidFill>
                  <a:schemeClr val="tx1"/>
                </a:solidFill>
                <a:cs typeface="Segoe UI Semilight"/>
              </a:rPr>
              <a:t>at both levels for traffic to</a:t>
            </a:r>
            <a:br>
              <a:rPr lang="en-US" sz="2400" dirty="0">
                <a:solidFill>
                  <a:schemeClr val="tx1"/>
                </a:solidFill>
                <a:cs typeface="Segoe UI Semilight"/>
              </a:rPr>
            </a:br>
            <a:r>
              <a:rPr lang="en-US" sz="2400" dirty="0">
                <a:solidFill>
                  <a:schemeClr val="tx1"/>
                </a:solidFill>
                <a:cs typeface="Segoe UI Semilight"/>
              </a:rPr>
              <a:t>be admitted </a:t>
            </a:r>
          </a:p>
        </p:txBody>
      </p:sp>
      <p:sp>
        <p:nvSpPr>
          <p:cNvPr id="10" name="Rectangle 9">
            <a:extLst>
              <a:ext uri="{FF2B5EF4-FFF2-40B4-BE49-F238E27FC236}">
                <a16:creationId xmlns:a16="http://schemas.microsoft.com/office/drawing/2014/main" id="{264DF3BC-4EE0-4CE8-9503-C9321D663C67}"/>
              </a:ext>
            </a:extLst>
          </p:cNvPr>
          <p:cNvSpPr/>
          <p:nvPr/>
        </p:nvSpPr>
        <p:spPr>
          <a:xfrm>
            <a:off x="528594" y="4438607"/>
            <a:ext cx="4475163" cy="1208936"/>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7160" tIns="91440" rIns="137160" bIns="91440" numCol="1" spcCol="1270" anchor="ctr" anchorCtr="0">
            <a:noAutofit/>
          </a:bodyPr>
          <a:lstStyle/>
          <a:p>
            <a:r>
              <a:rPr lang="en-US" sz="2400" dirty="0">
                <a:solidFill>
                  <a:schemeClr val="tx1"/>
                </a:solidFill>
                <a:cs typeface="Segoe UI Semilight"/>
              </a:rPr>
              <a:t>Use the Effective Rules link if you are not sure which security rules are being applied</a:t>
            </a:r>
          </a:p>
        </p:txBody>
      </p:sp>
      <p:pic>
        <p:nvPicPr>
          <p:cNvPr id="14" name="Picture 13" descr="A NSG is shown controlling traffic to a subnet. Inside the subnet another NSG is shown controlling traffic to a virtual machine NIC">
            <a:extLst>
              <a:ext uri="{FF2B5EF4-FFF2-40B4-BE49-F238E27FC236}">
                <a16:creationId xmlns:a16="http://schemas.microsoft.com/office/drawing/2014/main" id="{8271843B-1240-41EA-87E2-C59E35624A86}"/>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5339745" y="1479861"/>
            <a:ext cx="6441130" cy="4070484"/>
          </a:xfrm>
          <a:prstGeom prst="rect">
            <a:avLst/>
          </a:prstGeom>
          <a:noFill/>
        </p:spPr>
      </p:pic>
      <p:pic>
        <p:nvPicPr>
          <p:cNvPr id="15" name="Picture 2" descr="Screenshot showing the status of a network interface">
            <a:extLst>
              <a:ext uri="{FF2B5EF4-FFF2-40B4-BE49-F238E27FC236}">
                <a16:creationId xmlns:a16="http://schemas.microsoft.com/office/drawing/2014/main" id="{6B310F93-8FAB-4475-A5A6-4BE13FBC31B5}"/>
              </a:ext>
            </a:extLst>
          </p:cNvPr>
          <p:cNvPicPr>
            <a:picLocks noChangeAspect="1"/>
          </p:cNvPicPr>
          <p:nvPr/>
        </p:nvPicPr>
        <p:blipFill>
          <a:blip r:embed="rId4"/>
          <a:stretch>
            <a:fillRect/>
          </a:stretch>
        </p:blipFill>
        <p:spPr>
          <a:xfrm>
            <a:off x="5328011" y="5748947"/>
            <a:ext cx="6464597" cy="487359"/>
          </a:xfrm>
          <a:prstGeom prst="rect">
            <a:avLst/>
          </a:prstGeom>
        </p:spPr>
      </p:pic>
    </p:spTree>
    <p:extLst>
      <p:ext uri="{BB962C8B-B14F-4D97-AF65-F5344CB8AC3E}">
        <p14:creationId xmlns:p14="http://schemas.microsoft.com/office/powerpoint/2010/main" val="9079978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p:txBody>
          <a:bodyPr/>
          <a:lstStyle/>
          <a:p>
            <a:r>
              <a:rPr lang="en-US" dirty="0"/>
              <a:t>Create NSG rules</a:t>
            </a:r>
          </a:p>
        </p:txBody>
      </p:sp>
      <p:sp>
        <p:nvSpPr>
          <p:cNvPr id="5" name="Rectangle 4">
            <a:extLst>
              <a:ext uri="{FF2B5EF4-FFF2-40B4-BE49-F238E27FC236}">
                <a16:creationId xmlns:a16="http://schemas.microsoft.com/office/drawing/2014/main" id="{649CF10E-F859-4E7B-81D5-2229F6F205B7}"/>
              </a:ext>
            </a:extLst>
          </p:cNvPr>
          <p:cNvSpPr/>
          <p:nvPr/>
        </p:nvSpPr>
        <p:spPr>
          <a:xfrm>
            <a:off x="427038" y="1577505"/>
            <a:ext cx="7358357" cy="796927"/>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7160" tIns="91440" rIns="137160" bIns="91440" numCol="1" spcCol="1270" anchor="ctr" anchorCtr="0">
            <a:noAutofit/>
          </a:bodyPr>
          <a:lstStyle/>
          <a:p>
            <a:r>
              <a:rPr lang="en-US" sz="2400" b="1" dirty="0">
                <a:solidFill>
                  <a:schemeClr val="tx1"/>
                </a:solidFill>
              </a:rPr>
              <a:t>Source</a:t>
            </a:r>
            <a:r>
              <a:rPr lang="en-US" sz="2400" dirty="0">
                <a:solidFill>
                  <a:schemeClr val="tx1"/>
                </a:solidFill>
              </a:rPr>
              <a:t> (Any, IP addresses, My IP address, service tags, and application security group)</a:t>
            </a:r>
          </a:p>
        </p:txBody>
      </p:sp>
      <p:sp>
        <p:nvSpPr>
          <p:cNvPr id="9" name="Rectangle 8">
            <a:extLst>
              <a:ext uri="{FF2B5EF4-FFF2-40B4-BE49-F238E27FC236}">
                <a16:creationId xmlns:a16="http://schemas.microsoft.com/office/drawing/2014/main" id="{D974E248-5E4C-4A3E-BBEF-A6B27DD507CB}"/>
              </a:ext>
            </a:extLst>
          </p:cNvPr>
          <p:cNvSpPr/>
          <p:nvPr/>
        </p:nvSpPr>
        <p:spPr>
          <a:xfrm>
            <a:off x="427038" y="2685637"/>
            <a:ext cx="7358357" cy="796927"/>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7160" tIns="91440" rIns="137160" bIns="91440" numCol="1" spcCol="1270" anchor="ctr" anchorCtr="0">
            <a:noAutofit/>
          </a:bodyPr>
          <a:lstStyle/>
          <a:p>
            <a:r>
              <a:rPr lang="en-US" sz="2400" b="1" dirty="0">
                <a:solidFill>
                  <a:schemeClr val="tx1"/>
                </a:solidFill>
              </a:rPr>
              <a:t>Destination</a:t>
            </a:r>
            <a:r>
              <a:rPr lang="en-US" sz="2400" b="1" dirty="0">
                <a:solidFill>
                  <a:schemeClr val="tx1"/>
                </a:solidFill>
                <a:latin typeface="+mj-lt"/>
              </a:rPr>
              <a:t> </a:t>
            </a:r>
            <a:r>
              <a:rPr lang="en-US" sz="2400" dirty="0">
                <a:solidFill>
                  <a:schemeClr val="tx1"/>
                </a:solidFill>
              </a:rPr>
              <a:t>(Any, IP addresses, service tag, and application security group)</a:t>
            </a:r>
          </a:p>
        </p:txBody>
      </p:sp>
      <p:sp>
        <p:nvSpPr>
          <p:cNvPr id="10" name="Rectangle 9">
            <a:extLst>
              <a:ext uri="{FF2B5EF4-FFF2-40B4-BE49-F238E27FC236}">
                <a16:creationId xmlns:a16="http://schemas.microsoft.com/office/drawing/2014/main" id="{C5F2F7F3-F16D-4E8E-A69F-33B4D7D188D2}"/>
              </a:ext>
            </a:extLst>
          </p:cNvPr>
          <p:cNvSpPr/>
          <p:nvPr/>
        </p:nvSpPr>
        <p:spPr>
          <a:xfrm>
            <a:off x="410719" y="3802197"/>
            <a:ext cx="7358357" cy="796927"/>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7160" tIns="91440" rIns="137160" bIns="91440" numCol="1" spcCol="1270" anchor="ctr" anchorCtr="0">
            <a:noAutofit/>
          </a:bodyPr>
          <a:lstStyle/>
          <a:p>
            <a:r>
              <a:rPr lang="en-US" sz="2400" b="1" dirty="0">
                <a:solidFill>
                  <a:schemeClr val="tx1"/>
                </a:solidFill>
              </a:rPr>
              <a:t>Service</a:t>
            </a:r>
            <a:r>
              <a:rPr lang="en-US" sz="2400" b="1" dirty="0">
                <a:solidFill>
                  <a:schemeClr val="tx1"/>
                </a:solidFill>
                <a:latin typeface="+mj-lt"/>
              </a:rPr>
              <a:t> </a:t>
            </a:r>
            <a:r>
              <a:rPr lang="en-US" sz="2400" dirty="0">
                <a:solidFill>
                  <a:schemeClr val="tx1"/>
                </a:solidFill>
              </a:rPr>
              <a:t>(HTTPS, SSH, RDP, DNS, POP3, custom, …)</a:t>
            </a:r>
          </a:p>
        </p:txBody>
      </p:sp>
      <p:sp>
        <p:nvSpPr>
          <p:cNvPr id="11" name="Rectangle 10">
            <a:extLst>
              <a:ext uri="{FF2B5EF4-FFF2-40B4-BE49-F238E27FC236}">
                <a16:creationId xmlns:a16="http://schemas.microsoft.com/office/drawing/2014/main" id="{602D810D-0503-4CFF-A099-64CB0EF0B7FE}"/>
              </a:ext>
            </a:extLst>
          </p:cNvPr>
          <p:cNvSpPr/>
          <p:nvPr/>
        </p:nvSpPr>
        <p:spPr>
          <a:xfrm>
            <a:off x="410718" y="4910329"/>
            <a:ext cx="7358357" cy="796927"/>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7160" tIns="91440" rIns="137160" bIns="91440" numCol="1" spcCol="1270" anchor="ctr" anchorCtr="0">
            <a:noAutofit/>
          </a:bodyPr>
          <a:lstStyle/>
          <a:p>
            <a:r>
              <a:rPr lang="en-US" sz="2400" b="1" dirty="0">
                <a:solidFill>
                  <a:schemeClr val="tx1"/>
                </a:solidFill>
              </a:rPr>
              <a:t>Priority </a:t>
            </a:r>
            <a:r>
              <a:rPr lang="en-US" sz="2400" dirty="0">
                <a:solidFill>
                  <a:schemeClr val="tx1"/>
                </a:solidFill>
                <a:latin typeface="+mj-lt"/>
              </a:rPr>
              <a:t>– </a:t>
            </a:r>
            <a:r>
              <a:rPr lang="en-US" sz="2400" dirty="0">
                <a:solidFill>
                  <a:schemeClr val="tx1"/>
                </a:solidFill>
              </a:rPr>
              <a:t>The lower the number, the higher</a:t>
            </a:r>
            <a:br>
              <a:rPr lang="en-US" sz="2400" dirty="0">
                <a:solidFill>
                  <a:schemeClr val="tx1"/>
                </a:solidFill>
              </a:rPr>
            </a:br>
            <a:r>
              <a:rPr lang="en-US" sz="2400" dirty="0">
                <a:solidFill>
                  <a:schemeClr val="tx1"/>
                </a:solidFill>
              </a:rPr>
              <a:t>the priority</a:t>
            </a:r>
          </a:p>
        </p:txBody>
      </p:sp>
      <p:pic>
        <p:nvPicPr>
          <p:cNvPr id="4" name="Picture 3" descr="Screenshot of the inbound security rule page in the Azure portal. ">
            <a:extLst>
              <a:ext uri="{FF2B5EF4-FFF2-40B4-BE49-F238E27FC236}">
                <a16:creationId xmlns:a16="http://schemas.microsoft.com/office/drawing/2014/main" id="{4D064941-FD04-098C-01CD-3FDE64C18C54}"/>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8350826" y="1143000"/>
            <a:ext cx="3103030" cy="4743450"/>
          </a:xfrm>
          <a:prstGeom prst="rect">
            <a:avLst/>
          </a:prstGeom>
        </p:spPr>
      </p:pic>
    </p:spTree>
    <p:extLst>
      <p:ext uri="{BB962C8B-B14F-4D97-AF65-F5344CB8AC3E}">
        <p14:creationId xmlns:p14="http://schemas.microsoft.com/office/powerpoint/2010/main" val="41425146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6165AC-FD77-4800-997D-4DF0A839897A}"/>
              </a:ext>
            </a:extLst>
          </p:cNvPr>
          <p:cNvSpPr>
            <a:spLocks noGrp="1"/>
          </p:cNvSpPr>
          <p:nvPr>
            <p:ph type="title"/>
          </p:nvPr>
        </p:nvSpPr>
        <p:spPr/>
        <p:txBody>
          <a:bodyPr/>
          <a:lstStyle/>
          <a:p>
            <a:r>
              <a:rPr lang="en-US" dirty="0"/>
              <a:t>Implement Application Security Groups</a:t>
            </a:r>
          </a:p>
        </p:txBody>
      </p:sp>
      <p:sp>
        <p:nvSpPr>
          <p:cNvPr id="3" name="Rectangle 2">
            <a:extLst>
              <a:ext uri="{FF2B5EF4-FFF2-40B4-BE49-F238E27FC236}">
                <a16:creationId xmlns:a16="http://schemas.microsoft.com/office/drawing/2014/main" id="{A791E2D7-CA67-4DF2-A7CC-21BC3F157224}"/>
              </a:ext>
            </a:extLst>
          </p:cNvPr>
          <p:cNvSpPr/>
          <p:nvPr/>
        </p:nvSpPr>
        <p:spPr>
          <a:xfrm>
            <a:off x="629421" y="1474084"/>
            <a:ext cx="5012152" cy="973957"/>
          </a:xfrm>
          <a:prstGeom prst="rect">
            <a:avLst/>
          </a:prstGeom>
          <a:solidFill>
            <a:schemeClr val="bg1">
              <a:lumMod val="95000"/>
            </a:schemeClr>
          </a:solidFill>
          <a:ln w="6350">
            <a:solidFill>
              <a:schemeClr val="bg1">
                <a:lumMod val="95000"/>
              </a:schemeClr>
            </a:solidFill>
          </a:ln>
          <a:effectLst/>
        </p:spPr>
        <p:style>
          <a:lnRef idx="0">
            <a:scrgbClr r="0" g="0" b="0"/>
          </a:lnRef>
          <a:fillRef idx="0">
            <a:scrgbClr r="0" g="0" b="0"/>
          </a:fillRef>
          <a:effectRef idx="0">
            <a:scrgbClr r="0" g="0" b="0"/>
          </a:effectRef>
          <a:fontRef idx="major"/>
        </p:style>
        <p:txBody>
          <a:bodyPr spcFirstLastPara="0" vert="horz" wrap="square" lIns="186521" tIns="139891" rIns="186521" bIns="139891" numCol="1" spcCol="1270" anchor="ctr" anchorCtr="0">
            <a:noAutofit/>
          </a:bodyPr>
          <a:lstStyle/>
          <a:p>
            <a:pPr defTabSz="1088029">
              <a:spcBef>
                <a:spcPct val="0"/>
              </a:spcBef>
              <a:spcAft>
                <a:spcPct val="35000"/>
              </a:spcAft>
              <a:defRPr/>
            </a:pPr>
            <a:r>
              <a:rPr lang="en-US" sz="2000" kern="0" dirty="0">
                <a:latin typeface="Segoe UI"/>
                <a:ea typeface="+mn-ea"/>
                <a:cs typeface="+mn-cs"/>
              </a:rPr>
              <a:t>Extends your application's structure</a:t>
            </a:r>
          </a:p>
        </p:txBody>
      </p:sp>
      <p:sp>
        <p:nvSpPr>
          <p:cNvPr id="4" name="Rectangle 3">
            <a:extLst>
              <a:ext uri="{FF2B5EF4-FFF2-40B4-BE49-F238E27FC236}">
                <a16:creationId xmlns:a16="http://schemas.microsoft.com/office/drawing/2014/main" id="{9AE5A218-70F7-44C7-9FCF-0ADD902E131D}"/>
              </a:ext>
            </a:extLst>
          </p:cNvPr>
          <p:cNvSpPr/>
          <p:nvPr/>
        </p:nvSpPr>
        <p:spPr>
          <a:xfrm>
            <a:off x="629421" y="2686350"/>
            <a:ext cx="5012152" cy="973957"/>
          </a:xfrm>
          <a:prstGeom prst="rect">
            <a:avLst/>
          </a:prstGeom>
          <a:solidFill>
            <a:schemeClr val="bg1">
              <a:lumMod val="95000"/>
            </a:schemeClr>
          </a:solidFill>
          <a:ln w="6350">
            <a:solidFill>
              <a:schemeClr val="bg1">
                <a:lumMod val="95000"/>
              </a:schemeClr>
            </a:solidFill>
          </a:ln>
          <a:effectLst/>
        </p:spPr>
        <p:style>
          <a:lnRef idx="0">
            <a:scrgbClr r="0" g="0" b="0"/>
          </a:lnRef>
          <a:fillRef idx="0">
            <a:scrgbClr r="0" g="0" b="0"/>
          </a:fillRef>
          <a:effectRef idx="0">
            <a:scrgbClr r="0" g="0" b="0"/>
          </a:effectRef>
          <a:fontRef idx="major"/>
        </p:style>
        <p:txBody>
          <a:bodyPr spcFirstLastPara="0" vert="horz" wrap="square" lIns="186521" tIns="139891" rIns="186521" bIns="139891" numCol="1" spcCol="1270" anchor="ctr" anchorCtr="0">
            <a:noAutofit/>
          </a:bodyPr>
          <a:lstStyle/>
          <a:p>
            <a:pPr defTabSz="1088029">
              <a:spcBef>
                <a:spcPct val="0"/>
              </a:spcBef>
              <a:spcAft>
                <a:spcPct val="35000"/>
              </a:spcAft>
              <a:defRPr/>
            </a:pPr>
            <a:r>
              <a:rPr lang="en-US" sz="2000" kern="0" dirty="0">
                <a:latin typeface="Segoe UI"/>
                <a:ea typeface="+mn-ea"/>
                <a:cs typeface="+mn-cs"/>
              </a:rPr>
              <a:t>ASGs logically group virtual machines – web servers, application servers</a:t>
            </a:r>
          </a:p>
        </p:txBody>
      </p:sp>
      <p:sp>
        <p:nvSpPr>
          <p:cNvPr id="6" name="Rectangle 5">
            <a:extLst>
              <a:ext uri="{FF2B5EF4-FFF2-40B4-BE49-F238E27FC236}">
                <a16:creationId xmlns:a16="http://schemas.microsoft.com/office/drawing/2014/main" id="{815673AA-AE84-43C3-A4CF-A90CDA3528EA}"/>
              </a:ext>
            </a:extLst>
          </p:cNvPr>
          <p:cNvSpPr/>
          <p:nvPr/>
        </p:nvSpPr>
        <p:spPr>
          <a:xfrm>
            <a:off x="629421" y="3918011"/>
            <a:ext cx="5012152" cy="973957"/>
          </a:xfrm>
          <a:prstGeom prst="rect">
            <a:avLst/>
          </a:prstGeom>
          <a:solidFill>
            <a:schemeClr val="bg1">
              <a:lumMod val="95000"/>
            </a:schemeClr>
          </a:solidFill>
          <a:ln w="6350">
            <a:solidFill>
              <a:schemeClr val="bg1">
                <a:lumMod val="95000"/>
              </a:schemeClr>
            </a:solidFill>
          </a:ln>
          <a:effectLst/>
        </p:spPr>
        <p:style>
          <a:lnRef idx="0">
            <a:scrgbClr r="0" g="0" b="0"/>
          </a:lnRef>
          <a:fillRef idx="0">
            <a:scrgbClr r="0" g="0" b="0"/>
          </a:fillRef>
          <a:effectRef idx="0">
            <a:scrgbClr r="0" g="0" b="0"/>
          </a:effectRef>
          <a:fontRef idx="major"/>
        </p:style>
        <p:txBody>
          <a:bodyPr spcFirstLastPara="0" vert="horz" wrap="square" lIns="186521" tIns="139891" rIns="186521" bIns="139891" numCol="1" spcCol="1270" anchor="ctr" anchorCtr="0">
            <a:noAutofit/>
          </a:bodyPr>
          <a:lstStyle/>
          <a:p>
            <a:pPr defTabSz="1088029">
              <a:spcBef>
                <a:spcPct val="0"/>
              </a:spcBef>
              <a:spcAft>
                <a:spcPct val="35000"/>
              </a:spcAft>
              <a:defRPr/>
            </a:pPr>
            <a:r>
              <a:rPr lang="en-US" sz="2000" kern="0" dirty="0">
                <a:latin typeface="Segoe UI"/>
                <a:ea typeface="+mn-ea"/>
                <a:cs typeface="+mn-cs"/>
              </a:rPr>
              <a:t>Define rules to control the traffic flow</a:t>
            </a:r>
          </a:p>
        </p:txBody>
      </p:sp>
      <p:sp>
        <p:nvSpPr>
          <p:cNvPr id="8" name="Rectangle 7">
            <a:extLst>
              <a:ext uri="{FF2B5EF4-FFF2-40B4-BE49-F238E27FC236}">
                <a16:creationId xmlns:a16="http://schemas.microsoft.com/office/drawing/2014/main" id="{4623793E-634B-4430-A8D2-27C10D5F9AAB}"/>
              </a:ext>
            </a:extLst>
          </p:cNvPr>
          <p:cNvSpPr/>
          <p:nvPr/>
        </p:nvSpPr>
        <p:spPr>
          <a:xfrm>
            <a:off x="629421" y="5215332"/>
            <a:ext cx="5012152" cy="973957"/>
          </a:xfrm>
          <a:prstGeom prst="rect">
            <a:avLst/>
          </a:prstGeom>
          <a:solidFill>
            <a:schemeClr val="bg1">
              <a:lumMod val="95000"/>
            </a:schemeClr>
          </a:solidFill>
          <a:ln w="6350">
            <a:solidFill>
              <a:schemeClr val="bg1">
                <a:lumMod val="95000"/>
              </a:schemeClr>
            </a:solidFill>
          </a:ln>
          <a:effectLst/>
        </p:spPr>
        <p:style>
          <a:lnRef idx="0">
            <a:scrgbClr r="0" g="0" b="0"/>
          </a:lnRef>
          <a:fillRef idx="0">
            <a:scrgbClr r="0" g="0" b="0"/>
          </a:fillRef>
          <a:effectRef idx="0">
            <a:scrgbClr r="0" g="0" b="0"/>
          </a:effectRef>
          <a:fontRef idx="major"/>
        </p:style>
        <p:txBody>
          <a:bodyPr spcFirstLastPara="0" vert="horz" wrap="square" lIns="186521" tIns="139891" rIns="186521" bIns="139891" numCol="1" spcCol="1270" anchor="ctr" anchorCtr="0">
            <a:noAutofit/>
          </a:bodyPr>
          <a:lstStyle/>
          <a:p>
            <a:pPr defTabSz="1088029">
              <a:spcBef>
                <a:spcPct val="0"/>
              </a:spcBef>
              <a:spcAft>
                <a:spcPct val="35000"/>
              </a:spcAft>
              <a:defRPr/>
            </a:pPr>
            <a:r>
              <a:rPr lang="en-US" sz="2000" kern="0" dirty="0">
                <a:latin typeface="Segoe UI"/>
                <a:ea typeface="+mn-ea"/>
                <a:cs typeface="+mn-cs"/>
              </a:rPr>
              <a:t>Wrap the ASG with an NSG for added security</a:t>
            </a:r>
          </a:p>
        </p:txBody>
      </p:sp>
      <p:grpSp>
        <p:nvGrpSpPr>
          <p:cNvPr id="46" name="Group 45" descr="An ASG is applied to two subnets. An NSG includes both ASGs.">
            <a:extLst>
              <a:ext uri="{FF2B5EF4-FFF2-40B4-BE49-F238E27FC236}">
                <a16:creationId xmlns:a16="http://schemas.microsoft.com/office/drawing/2014/main" id="{60AEB722-FAC3-4367-B6A1-55580FF0DFB1}"/>
              </a:ext>
            </a:extLst>
          </p:cNvPr>
          <p:cNvGrpSpPr/>
          <p:nvPr/>
        </p:nvGrpSpPr>
        <p:grpSpPr>
          <a:xfrm>
            <a:off x="6097578" y="1382183"/>
            <a:ext cx="5169509" cy="3552380"/>
            <a:chOff x="6097578" y="1382183"/>
            <a:chExt cx="5169509" cy="3552380"/>
          </a:xfrm>
        </p:grpSpPr>
        <p:sp>
          <p:nvSpPr>
            <p:cNvPr id="10" name="Rectangle: Rounded Corners 9">
              <a:extLst>
                <a:ext uri="{FF2B5EF4-FFF2-40B4-BE49-F238E27FC236}">
                  <a16:creationId xmlns:a16="http://schemas.microsoft.com/office/drawing/2014/main" id="{C9D02B9F-B391-4266-9872-EE8D72F579E2}"/>
                </a:ext>
              </a:extLst>
            </p:cNvPr>
            <p:cNvSpPr/>
            <p:nvPr/>
          </p:nvSpPr>
          <p:spPr bwMode="auto">
            <a:xfrm>
              <a:off x="7507520" y="1814289"/>
              <a:ext cx="1523041" cy="2317531"/>
            </a:xfrm>
            <a:prstGeom prst="roundRect">
              <a:avLst/>
            </a:prstGeom>
            <a:solidFill>
              <a:schemeClr val="bg1"/>
            </a:solidFill>
            <a:ln>
              <a:solidFill>
                <a:schemeClr val="tx1"/>
              </a:solidFill>
              <a:prstDash val="sys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12" name="Rectangle: Rounded Corners 11">
              <a:extLst>
                <a:ext uri="{FF2B5EF4-FFF2-40B4-BE49-F238E27FC236}">
                  <a16:creationId xmlns:a16="http://schemas.microsoft.com/office/drawing/2014/main" id="{1C327E2F-64DC-4CA4-B0F0-8F1233370C3A}"/>
                </a:ext>
              </a:extLst>
            </p:cNvPr>
            <p:cNvSpPr/>
            <p:nvPr/>
          </p:nvSpPr>
          <p:spPr bwMode="auto">
            <a:xfrm>
              <a:off x="9520993" y="1814288"/>
              <a:ext cx="1596976" cy="2317531"/>
            </a:xfrm>
            <a:prstGeom prst="roundRect">
              <a:avLst/>
            </a:prstGeom>
            <a:solidFill>
              <a:schemeClr val="bg1"/>
            </a:solidFill>
            <a:ln>
              <a:solidFill>
                <a:schemeClr val="tx1"/>
              </a:solidFill>
              <a:prstDash val="sys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14" name="Rectangle: Rounded Corners 13">
              <a:extLst>
                <a:ext uri="{FF2B5EF4-FFF2-40B4-BE49-F238E27FC236}">
                  <a16:creationId xmlns:a16="http://schemas.microsoft.com/office/drawing/2014/main" id="{73AF6301-A30C-492D-A8AD-6BE13495FEF2}"/>
                </a:ext>
              </a:extLst>
            </p:cNvPr>
            <p:cNvSpPr/>
            <p:nvPr/>
          </p:nvSpPr>
          <p:spPr bwMode="auto">
            <a:xfrm>
              <a:off x="7294177" y="1594809"/>
              <a:ext cx="3972910" cy="2953407"/>
            </a:xfrm>
            <a:prstGeom prst="roundRect">
              <a:avLst/>
            </a:prstGeom>
            <a:noFill/>
            <a:ln>
              <a:solidFill>
                <a:schemeClr val="tx1"/>
              </a:solidFill>
              <a:prstDash val="sys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pic>
          <p:nvPicPr>
            <p:cNvPr id="16" name="Graphic 15">
              <a:extLst>
                <a:ext uri="{FF2B5EF4-FFF2-40B4-BE49-F238E27FC236}">
                  <a16:creationId xmlns:a16="http://schemas.microsoft.com/office/drawing/2014/main" id="{1ED60E56-4956-4EDE-9DA1-416B16E1518B}"/>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016487" y="2197506"/>
              <a:ext cx="625675" cy="437279"/>
            </a:xfrm>
            <a:prstGeom prst="rect">
              <a:avLst/>
            </a:prstGeom>
          </p:spPr>
        </p:pic>
        <p:pic>
          <p:nvPicPr>
            <p:cNvPr id="18" name="Graphic 17">
              <a:extLst>
                <a:ext uri="{FF2B5EF4-FFF2-40B4-BE49-F238E27FC236}">
                  <a16:creationId xmlns:a16="http://schemas.microsoft.com/office/drawing/2014/main" id="{E0974212-0D96-4006-8D92-1F21E7AC62C6}"/>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980444" y="4391128"/>
              <a:ext cx="634040" cy="543435"/>
            </a:xfrm>
            <a:prstGeom prst="rect">
              <a:avLst/>
            </a:prstGeom>
          </p:spPr>
        </p:pic>
        <p:pic>
          <p:nvPicPr>
            <p:cNvPr id="20" name="Graphic 19">
              <a:extLst>
                <a:ext uri="{FF2B5EF4-FFF2-40B4-BE49-F238E27FC236}">
                  <a16:creationId xmlns:a16="http://schemas.microsoft.com/office/drawing/2014/main" id="{4F02A779-35C8-4CD4-BC95-09CB041D1DB4}"/>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8145402" y="3849273"/>
              <a:ext cx="485054" cy="458517"/>
            </a:xfrm>
            <a:prstGeom prst="rect">
              <a:avLst/>
            </a:prstGeom>
          </p:spPr>
        </p:pic>
        <p:pic>
          <p:nvPicPr>
            <p:cNvPr id="22" name="Graphic 21">
              <a:extLst>
                <a:ext uri="{FF2B5EF4-FFF2-40B4-BE49-F238E27FC236}">
                  <a16:creationId xmlns:a16="http://schemas.microsoft.com/office/drawing/2014/main" id="{2D0DFF9B-5083-4315-B3DC-CFBCB13344D4}"/>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005963" y="3228551"/>
              <a:ext cx="625675" cy="437279"/>
            </a:xfrm>
            <a:prstGeom prst="rect">
              <a:avLst/>
            </a:prstGeom>
          </p:spPr>
        </p:pic>
        <p:pic>
          <p:nvPicPr>
            <p:cNvPr id="24" name="Graphic 23">
              <a:extLst>
                <a:ext uri="{FF2B5EF4-FFF2-40B4-BE49-F238E27FC236}">
                  <a16:creationId xmlns:a16="http://schemas.microsoft.com/office/drawing/2014/main" id="{D8A2F8C7-0099-4B5E-BBD6-F1C28CE2F00E}"/>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001862" y="2197506"/>
              <a:ext cx="625675" cy="437279"/>
            </a:xfrm>
            <a:prstGeom prst="rect">
              <a:avLst/>
            </a:prstGeom>
          </p:spPr>
        </p:pic>
        <p:pic>
          <p:nvPicPr>
            <p:cNvPr id="26" name="Graphic 25">
              <a:extLst>
                <a:ext uri="{FF2B5EF4-FFF2-40B4-BE49-F238E27FC236}">
                  <a16:creationId xmlns:a16="http://schemas.microsoft.com/office/drawing/2014/main" id="{0DD89914-1BC9-4CCA-9AA0-CE2EBF2EC399}"/>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991338" y="3249748"/>
              <a:ext cx="625675" cy="437279"/>
            </a:xfrm>
            <a:prstGeom prst="rect">
              <a:avLst/>
            </a:prstGeom>
          </p:spPr>
        </p:pic>
        <p:pic>
          <p:nvPicPr>
            <p:cNvPr id="28" name="Graphic 27">
              <a:extLst>
                <a:ext uri="{FF2B5EF4-FFF2-40B4-BE49-F238E27FC236}">
                  <a16:creationId xmlns:a16="http://schemas.microsoft.com/office/drawing/2014/main" id="{0E1A45C8-E3EB-426B-B7ED-278436B256C4}"/>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0114547" y="3892781"/>
              <a:ext cx="485054" cy="458517"/>
            </a:xfrm>
            <a:prstGeom prst="rect">
              <a:avLst/>
            </a:prstGeom>
          </p:spPr>
        </p:pic>
        <p:pic>
          <p:nvPicPr>
            <p:cNvPr id="32" name="Picture 31">
              <a:extLst>
                <a:ext uri="{FF2B5EF4-FFF2-40B4-BE49-F238E27FC236}">
                  <a16:creationId xmlns:a16="http://schemas.microsoft.com/office/drawing/2014/main" id="{8395299B-1870-4A59-BA7B-788E80D39053}"/>
                </a:ext>
              </a:extLst>
            </p:cNvPr>
            <p:cNvPicPr>
              <a:picLocks noChangeAspect="1"/>
            </p:cNvPicPr>
            <p:nvPr/>
          </p:nvPicPr>
          <p:blipFill>
            <a:blip r:embed="rId9"/>
            <a:stretch>
              <a:fillRect/>
            </a:stretch>
          </p:blipFill>
          <p:spPr>
            <a:xfrm>
              <a:off x="8980444" y="1382183"/>
              <a:ext cx="634039" cy="445047"/>
            </a:xfrm>
            <a:prstGeom prst="rect">
              <a:avLst/>
            </a:prstGeom>
          </p:spPr>
        </p:pic>
        <p:sp>
          <p:nvSpPr>
            <p:cNvPr id="34" name="TextBox 33">
              <a:extLst>
                <a:ext uri="{FF2B5EF4-FFF2-40B4-BE49-F238E27FC236}">
                  <a16:creationId xmlns:a16="http://schemas.microsoft.com/office/drawing/2014/main" id="{CCFC4D71-3883-4E80-9775-B498124914FF}"/>
                </a:ext>
              </a:extLst>
            </p:cNvPr>
            <p:cNvSpPr txBox="1"/>
            <p:nvPr/>
          </p:nvSpPr>
          <p:spPr>
            <a:xfrm>
              <a:off x="7651900" y="2762009"/>
              <a:ext cx="1474329" cy="369332"/>
            </a:xfrm>
            <a:prstGeom prst="rect">
              <a:avLst/>
            </a:prstGeom>
            <a:noFill/>
          </p:spPr>
          <p:txBody>
            <a:bodyPr wrap="square">
              <a:spAutoFit/>
            </a:bodyPr>
            <a:lstStyle/>
            <a:p>
              <a:r>
                <a:rPr lang="en-US" dirty="0"/>
                <a:t>WebServers</a:t>
              </a:r>
            </a:p>
          </p:txBody>
        </p:sp>
        <p:sp>
          <p:nvSpPr>
            <p:cNvPr id="36" name="TextBox 35">
              <a:extLst>
                <a:ext uri="{FF2B5EF4-FFF2-40B4-BE49-F238E27FC236}">
                  <a16:creationId xmlns:a16="http://schemas.microsoft.com/office/drawing/2014/main" id="{65278A6E-ECA6-4A2A-8F9E-F87C65BEA114}"/>
                </a:ext>
              </a:extLst>
            </p:cNvPr>
            <p:cNvSpPr txBox="1"/>
            <p:nvPr/>
          </p:nvSpPr>
          <p:spPr>
            <a:xfrm>
              <a:off x="9649324" y="2750302"/>
              <a:ext cx="1474329" cy="369332"/>
            </a:xfrm>
            <a:prstGeom prst="rect">
              <a:avLst/>
            </a:prstGeom>
            <a:noFill/>
          </p:spPr>
          <p:txBody>
            <a:bodyPr wrap="square">
              <a:spAutoFit/>
            </a:bodyPr>
            <a:lstStyle/>
            <a:p>
              <a:r>
                <a:rPr lang="en-US" dirty="0"/>
                <a:t>AppLServers</a:t>
              </a:r>
            </a:p>
          </p:txBody>
        </p:sp>
        <p:pic>
          <p:nvPicPr>
            <p:cNvPr id="38" name="Graphic 37" descr="World outline">
              <a:extLst>
                <a:ext uri="{FF2B5EF4-FFF2-40B4-BE49-F238E27FC236}">
                  <a16:creationId xmlns:a16="http://schemas.microsoft.com/office/drawing/2014/main" id="{BE0B000E-BD49-4C0F-8E9A-C2703173E818}"/>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6097578" y="2597851"/>
              <a:ext cx="770306" cy="770306"/>
            </a:xfrm>
            <a:prstGeom prst="rect">
              <a:avLst/>
            </a:prstGeom>
          </p:spPr>
        </p:pic>
        <p:cxnSp>
          <p:nvCxnSpPr>
            <p:cNvPr id="40" name="Straight Arrow Connector 39">
              <a:extLst>
                <a:ext uri="{FF2B5EF4-FFF2-40B4-BE49-F238E27FC236}">
                  <a16:creationId xmlns:a16="http://schemas.microsoft.com/office/drawing/2014/main" id="{B5FA7D02-E7DE-444C-9E08-3AFCD6F93681}"/>
                </a:ext>
              </a:extLst>
            </p:cNvPr>
            <p:cNvCxnSpPr>
              <a:cxnSpLocks/>
              <a:endCxn id="10" idx="1"/>
            </p:cNvCxnSpPr>
            <p:nvPr/>
          </p:nvCxnSpPr>
          <p:spPr>
            <a:xfrm flipV="1">
              <a:off x="6899413" y="2973055"/>
              <a:ext cx="608107" cy="9949"/>
            </a:xfrm>
            <a:prstGeom prst="straightConnector1">
              <a:avLst/>
            </a:prstGeom>
            <a:ln>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a:extLst>
                <a:ext uri="{FF2B5EF4-FFF2-40B4-BE49-F238E27FC236}">
                  <a16:creationId xmlns:a16="http://schemas.microsoft.com/office/drawing/2014/main" id="{3C76D550-863E-4740-9EDB-BDDC71DAE204}"/>
                </a:ext>
              </a:extLst>
            </p:cNvPr>
            <p:cNvCxnSpPr>
              <a:cxnSpLocks/>
              <a:stCxn id="10" idx="3"/>
              <a:endCxn id="12" idx="1"/>
            </p:cNvCxnSpPr>
            <p:nvPr/>
          </p:nvCxnSpPr>
          <p:spPr>
            <a:xfrm flipV="1">
              <a:off x="9030561" y="2973054"/>
              <a:ext cx="490432" cy="1"/>
            </a:xfrm>
            <a:prstGeom prst="straightConnector1">
              <a:avLst/>
            </a:prstGeom>
            <a:ln>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grpSp>
      <p:graphicFrame>
        <p:nvGraphicFramePr>
          <p:cNvPr id="30" name="Table 28">
            <a:extLst>
              <a:ext uri="{FF2B5EF4-FFF2-40B4-BE49-F238E27FC236}">
                <a16:creationId xmlns:a16="http://schemas.microsoft.com/office/drawing/2014/main" id="{EA20EBAC-A8B0-4E25-BA2A-A01E68904792}"/>
              </a:ext>
            </a:extLst>
          </p:cNvPr>
          <p:cNvGraphicFramePr>
            <a:graphicFrameLocks noGrp="1"/>
          </p:cNvGraphicFramePr>
          <p:nvPr>
            <p:extLst>
              <p:ext uri="{D42A27DB-BD31-4B8C-83A1-F6EECF244321}">
                <p14:modId xmlns:p14="http://schemas.microsoft.com/office/powerpoint/2010/main" val="1519813278"/>
              </p:ext>
            </p:extLst>
          </p:nvPr>
        </p:nvGraphicFramePr>
        <p:xfrm>
          <a:off x="6218238" y="5079682"/>
          <a:ext cx="5637789" cy="1097280"/>
        </p:xfrm>
        <a:graphic>
          <a:graphicData uri="http://schemas.openxmlformats.org/drawingml/2006/table">
            <a:tbl>
              <a:tblPr firstRow="1" bandRow="1">
                <a:tableStyleId>{00A15C55-8517-42AA-B614-E9B94910E393}</a:tableStyleId>
              </a:tblPr>
              <a:tblGrid>
                <a:gridCol w="1851165">
                  <a:extLst>
                    <a:ext uri="{9D8B030D-6E8A-4147-A177-3AD203B41FA5}">
                      <a16:colId xmlns:a16="http://schemas.microsoft.com/office/drawing/2014/main" val="406953343"/>
                    </a:ext>
                  </a:extLst>
                </a:gridCol>
                <a:gridCol w="2321506">
                  <a:extLst>
                    <a:ext uri="{9D8B030D-6E8A-4147-A177-3AD203B41FA5}">
                      <a16:colId xmlns:a16="http://schemas.microsoft.com/office/drawing/2014/main" val="3820428953"/>
                    </a:ext>
                  </a:extLst>
                </a:gridCol>
                <a:gridCol w="1465118">
                  <a:extLst>
                    <a:ext uri="{9D8B030D-6E8A-4147-A177-3AD203B41FA5}">
                      <a16:colId xmlns:a16="http://schemas.microsoft.com/office/drawing/2014/main" val="1650983920"/>
                    </a:ext>
                  </a:extLst>
                </a:gridCol>
              </a:tblGrid>
              <a:tr h="241812">
                <a:tc>
                  <a:txBody>
                    <a:bodyPr/>
                    <a:lstStyle/>
                    <a:p>
                      <a:pPr algn="ctr"/>
                      <a:r>
                        <a:rPr lang="en-US" b="0" dirty="0"/>
                        <a:t>Source</a:t>
                      </a:r>
                    </a:p>
                  </a:txBody>
                  <a:tcPr/>
                </a:tc>
                <a:tc>
                  <a:txBody>
                    <a:bodyPr/>
                    <a:lstStyle/>
                    <a:p>
                      <a:pPr algn="ctr"/>
                      <a:r>
                        <a:rPr lang="en-US" b="0" dirty="0"/>
                        <a:t>Destination</a:t>
                      </a:r>
                    </a:p>
                  </a:txBody>
                  <a:tcPr/>
                </a:tc>
                <a:tc>
                  <a:txBody>
                    <a:bodyPr/>
                    <a:lstStyle/>
                    <a:p>
                      <a:pPr algn="ctr"/>
                      <a:r>
                        <a:rPr lang="en-US" b="0" dirty="0"/>
                        <a:t>Port</a:t>
                      </a:r>
                    </a:p>
                  </a:txBody>
                  <a:tcPr/>
                </a:tc>
                <a:extLst>
                  <a:ext uri="{0D108BD9-81ED-4DB2-BD59-A6C34878D82A}">
                    <a16:rowId xmlns:a16="http://schemas.microsoft.com/office/drawing/2014/main" val="577127248"/>
                  </a:ext>
                </a:extLst>
              </a:tr>
              <a:tr h="254969">
                <a:tc>
                  <a:txBody>
                    <a:bodyPr/>
                    <a:lstStyle/>
                    <a:p>
                      <a:pPr algn="ctr"/>
                      <a:r>
                        <a:rPr lang="en-US" dirty="0"/>
                        <a:t>Internet</a:t>
                      </a:r>
                    </a:p>
                  </a:txBody>
                  <a:tcPr/>
                </a:tc>
                <a:tc>
                  <a:txBody>
                    <a:bodyPr/>
                    <a:lstStyle/>
                    <a:p>
                      <a:pPr algn="ctr"/>
                      <a:r>
                        <a:rPr lang="en-US" dirty="0"/>
                        <a:t>WebServers</a:t>
                      </a:r>
                    </a:p>
                  </a:txBody>
                  <a:tcPr/>
                </a:tc>
                <a:tc>
                  <a:txBody>
                    <a:bodyPr/>
                    <a:lstStyle/>
                    <a:p>
                      <a:pPr algn="ctr"/>
                      <a:r>
                        <a:rPr lang="en-US" dirty="0"/>
                        <a:t>80, 443</a:t>
                      </a:r>
                    </a:p>
                  </a:txBody>
                  <a:tcPr/>
                </a:tc>
                <a:extLst>
                  <a:ext uri="{0D108BD9-81ED-4DB2-BD59-A6C34878D82A}">
                    <a16:rowId xmlns:a16="http://schemas.microsoft.com/office/drawing/2014/main" val="3872507533"/>
                  </a:ext>
                </a:extLst>
              </a:tr>
              <a:tr h="254969">
                <a:tc>
                  <a:txBody>
                    <a:bodyPr/>
                    <a:lstStyle/>
                    <a:p>
                      <a:pPr algn="ctr"/>
                      <a:r>
                        <a:rPr lang="en-US" dirty="0"/>
                        <a:t>WebServers</a:t>
                      </a:r>
                    </a:p>
                  </a:txBody>
                  <a:tcPr/>
                </a:tc>
                <a:tc>
                  <a:txBody>
                    <a:bodyPr/>
                    <a:lstStyle/>
                    <a:p>
                      <a:pPr algn="ctr"/>
                      <a:r>
                        <a:rPr lang="en-US" dirty="0" err="1"/>
                        <a:t>AppLServers</a:t>
                      </a:r>
                      <a:r>
                        <a:rPr lang="en-US" dirty="0"/>
                        <a:t> (SQL)</a:t>
                      </a:r>
                    </a:p>
                  </a:txBody>
                  <a:tcPr/>
                </a:tc>
                <a:tc>
                  <a:txBody>
                    <a:bodyPr/>
                    <a:lstStyle/>
                    <a:p>
                      <a:pPr algn="ctr"/>
                      <a:r>
                        <a:rPr lang="en-US" dirty="0"/>
                        <a:t>1433</a:t>
                      </a:r>
                    </a:p>
                  </a:txBody>
                  <a:tcPr/>
                </a:tc>
                <a:extLst>
                  <a:ext uri="{0D108BD9-81ED-4DB2-BD59-A6C34878D82A}">
                    <a16:rowId xmlns:a16="http://schemas.microsoft.com/office/drawing/2014/main" val="2192936244"/>
                  </a:ext>
                </a:extLst>
              </a:tr>
            </a:tbl>
          </a:graphicData>
        </a:graphic>
      </p:graphicFrame>
      <p:sp>
        <p:nvSpPr>
          <p:cNvPr id="44" name="Rectangle 43">
            <a:extLst>
              <a:ext uri="{FF2B5EF4-FFF2-40B4-BE49-F238E27FC236}">
                <a16:creationId xmlns:a16="http://schemas.microsoft.com/office/drawing/2014/main" id="{C6A077C0-3CD3-4B1A-8F9D-86C3C58D4B8F}"/>
              </a:ext>
              <a:ext uri="{C183D7F6-B498-43B3-948B-1728B52AA6E4}">
                <adec:decorative xmlns:adec="http://schemas.microsoft.com/office/drawing/2017/decorative" val="1"/>
              </a:ext>
            </a:extLst>
          </p:cNvPr>
          <p:cNvSpPr/>
          <p:nvPr/>
        </p:nvSpPr>
        <p:spPr bwMode="auto">
          <a:xfrm>
            <a:off x="5990295" y="1311040"/>
            <a:ext cx="6008030" cy="4994870"/>
          </a:xfrm>
          <a:prstGeom prst="rect">
            <a:avLst/>
          </a:prstGeom>
          <a:noFill/>
          <a:ln w="19050">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spcBef>
                <a:spcPct val="0"/>
              </a:spcBef>
              <a:spcAft>
                <a:spcPct val="0"/>
              </a:spcAft>
            </a:pPr>
            <a:endParaRPr lang="en-IN" sz="2400" dirty="0">
              <a:gradFill>
                <a:gsLst>
                  <a:gs pos="0">
                    <a:srgbClr val="FFFFFF"/>
                  </a:gs>
                  <a:gs pos="100000">
                    <a:srgbClr val="FFFFFF"/>
                  </a:gs>
                </a:gsLst>
                <a:lin ang="5400000" scaled="0"/>
              </a:gradFill>
              <a:cs typeface="Segoe UI" pitchFamily="34" charset="0"/>
            </a:endParaRPr>
          </a:p>
        </p:txBody>
      </p:sp>
    </p:spTree>
    <p:extLst>
      <p:ext uri="{BB962C8B-B14F-4D97-AF65-F5344CB8AC3E}">
        <p14:creationId xmlns:p14="http://schemas.microsoft.com/office/powerpoint/2010/main" val="3201512484"/>
      </p:ext>
    </p:extLst>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E2E84E-1BED-49C3-9537-ACBBFC4FBDF0}"/>
              </a:ext>
            </a:extLst>
          </p:cNvPr>
          <p:cNvSpPr>
            <a:spLocks noGrp="1"/>
          </p:cNvSpPr>
          <p:nvPr>
            <p:ph type="title"/>
          </p:nvPr>
        </p:nvSpPr>
        <p:spPr/>
        <p:txBody>
          <a:bodyPr/>
          <a:lstStyle/>
          <a:p>
            <a:r>
              <a:rPr lang="en-US" dirty="0"/>
              <a:t>Demonstration – Network Security Groups</a:t>
            </a:r>
          </a:p>
        </p:txBody>
      </p:sp>
      <p:sp>
        <p:nvSpPr>
          <p:cNvPr id="5" name="Rectangle 4">
            <a:extLst>
              <a:ext uri="{FF2B5EF4-FFF2-40B4-BE49-F238E27FC236}">
                <a16:creationId xmlns:a16="http://schemas.microsoft.com/office/drawing/2014/main" id="{62BB01EB-CE0D-4BBB-A5E6-7266BD85D142}"/>
              </a:ext>
            </a:extLst>
          </p:cNvPr>
          <p:cNvSpPr/>
          <p:nvPr/>
        </p:nvSpPr>
        <p:spPr>
          <a:xfrm>
            <a:off x="904047" y="1695647"/>
            <a:ext cx="8504998" cy="1143000"/>
          </a:xfrm>
          <a:prstGeom prst="rect">
            <a:avLst/>
          </a:prstGeom>
          <a:no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0" tIns="0" rIns="0" bIns="0" numCol="1" spcCol="1270" anchor="ctr" anchorCtr="0">
            <a:noAutofit/>
          </a:bodyPr>
          <a:lstStyle/>
          <a:p>
            <a:pPr marL="342900" indent="-342900">
              <a:lnSpc>
                <a:spcPct val="150000"/>
              </a:lnSpc>
              <a:buFont typeface="Arial" panose="020B0604020202020204" pitchFamily="34" charset="0"/>
              <a:buChar char="•"/>
            </a:pPr>
            <a:r>
              <a:rPr lang="en-US" sz="2400" dirty="0">
                <a:solidFill>
                  <a:schemeClr val="tx1"/>
                </a:solidFill>
              </a:rPr>
              <a:t>Create a network security group</a:t>
            </a:r>
          </a:p>
          <a:p>
            <a:pPr marL="342900" indent="-342900">
              <a:lnSpc>
                <a:spcPct val="150000"/>
              </a:lnSpc>
              <a:buFont typeface="Arial" panose="020B0604020202020204" pitchFamily="34" charset="0"/>
              <a:buChar char="•"/>
            </a:pPr>
            <a:r>
              <a:rPr lang="en-US" sz="2400" dirty="0">
                <a:solidFill>
                  <a:schemeClr val="tx1"/>
                </a:solidFill>
              </a:rPr>
              <a:t>Explore inbound and outbound rules</a:t>
            </a:r>
          </a:p>
        </p:txBody>
      </p:sp>
    </p:spTree>
    <p:extLst>
      <p:ext uri="{BB962C8B-B14F-4D97-AF65-F5344CB8AC3E}">
        <p14:creationId xmlns:p14="http://schemas.microsoft.com/office/powerpoint/2010/main" val="855113006"/>
      </p:ext>
    </p:extLst>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9AEBD2-4AD6-4182-BF38-A3DE71D14CCF}"/>
              </a:ext>
            </a:extLst>
          </p:cNvPr>
          <p:cNvSpPr>
            <a:spLocks noGrp="1"/>
          </p:cNvSpPr>
          <p:nvPr>
            <p:ph type="title"/>
          </p:nvPr>
        </p:nvSpPr>
        <p:spPr/>
        <p:txBody>
          <a:bodyPr/>
          <a:lstStyle/>
          <a:p>
            <a:r>
              <a:rPr lang="en-US" dirty="0">
                <a:solidFill>
                  <a:schemeClr val="tx1"/>
                </a:solidFill>
              </a:rPr>
              <a:t>Learning Recap – Network Security Groups</a:t>
            </a:r>
          </a:p>
        </p:txBody>
      </p:sp>
      <p:sp>
        <p:nvSpPr>
          <p:cNvPr id="10" name="Rectangle 9">
            <a:extLst>
              <a:ext uri="{FF2B5EF4-FFF2-40B4-BE49-F238E27FC236}">
                <a16:creationId xmlns:a16="http://schemas.microsoft.com/office/drawing/2014/main" id="{C69F1270-547C-46E5-BE5C-44182EA353A1}"/>
              </a:ext>
            </a:extLst>
          </p:cNvPr>
          <p:cNvSpPr/>
          <p:nvPr/>
        </p:nvSpPr>
        <p:spPr>
          <a:xfrm>
            <a:off x="3976432" y="2187958"/>
            <a:ext cx="7132144" cy="2135563"/>
          </a:xfrm>
          <a:prstGeom prst="rect">
            <a:avLst/>
          </a:prstGeom>
          <a:no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06040" tIns="106040" rIns="106040" bIns="106040" numCol="1" spcCol="1270" anchor="ctr" anchorCtr="0">
            <a:noAutofit/>
          </a:bodyPr>
          <a:lstStyle/>
          <a:p>
            <a:pPr marL="342900" indent="-342900" defTabSz="800100">
              <a:lnSpc>
                <a:spcPct val="90000"/>
              </a:lnSpc>
              <a:spcBef>
                <a:spcPct val="0"/>
              </a:spcBef>
              <a:spcAft>
                <a:spcPct val="35000"/>
              </a:spcAft>
              <a:buClr>
                <a:schemeClr val="tx1"/>
              </a:buClr>
              <a:buFont typeface="Arial" panose="020B0604020202020204" pitchFamily="34" charset="0"/>
              <a:buChar char="•"/>
            </a:pPr>
            <a:r>
              <a:rPr lang="en-US" sz="2000" dirty="0">
                <a:hlinkClick r:id="rId3"/>
              </a:rPr>
              <a:t>Configure network security groups</a:t>
            </a:r>
            <a:endParaRPr lang="en-US" sz="2000" dirty="0"/>
          </a:p>
          <a:p>
            <a:pPr marL="342900" indent="-342900" defTabSz="800100">
              <a:lnSpc>
                <a:spcPct val="90000"/>
              </a:lnSpc>
              <a:spcBef>
                <a:spcPct val="0"/>
              </a:spcBef>
              <a:spcAft>
                <a:spcPct val="35000"/>
              </a:spcAft>
              <a:buClr>
                <a:schemeClr val="tx1"/>
              </a:buClr>
              <a:buFont typeface="Arial" panose="020B0604020202020204" pitchFamily="34" charset="0"/>
              <a:buChar char="•"/>
            </a:pPr>
            <a:r>
              <a:rPr lang="en-US" sz="2000" dirty="0">
                <a:hlinkClick r:id="rId4"/>
              </a:rPr>
              <a:t>Filter network traffic with a network security group using the Azure portal</a:t>
            </a:r>
            <a:endParaRPr lang="en-US" sz="2000" dirty="0">
              <a:hlinkClick r:id="rId5"/>
            </a:endParaRPr>
          </a:p>
          <a:p>
            <a:pPr marL="342900" indent="-342900" defTabSz="800100">
              <a:lnSpc>
                <a:spcPct val="90000"/>
              </a:lnSpc>
              <a:spcBef>
                <a:spcPct val="0"/>
              </a:spcBef>
              <a:spcAft>
                <a:spcPct val="35000"/>
              </a:spcAft>
              <a:buClr>
                <a:schemeClr val="tx1"/>
              </a:buClr>
              <a:buFont typeface="Arial" panose="020B0604020202020204" pitchFamily="34" charset="0"/>
              <a:buChar char="•"/>
            </a:pPr>
            <a:r>
              <a:rPr lang="en-US" sz="2000" dirty="0">
                <a:hlinkClick r:id="rId5"/>
              </a:rPr>
              <a:t>Secure and isolate access to Azure resources by using network security groups and service endpoints</a:t>
            </a:r>
            <a:endParaRPr lang="en-US" sz="2000" dirty="0">
              <a:solidFill>
                <a:schemeClr val="tx1"/>
              </a:solidFill>
            </a:endParaRPr>
          </a:p>
        </p:txBody>
      </p:sp>
      <p:sp>
        <p:nvSpPr>
          <p:cNvPr id="3" name="TextBox 7">
            <a:extLst>
              <a:ext uri="{FF2B5EF4-FFF2-40B4-BE49-F238E27FC236}">
                <a16:creationId xmlns:a16="http://schemas.microsoft.com/office/drawing/2014/main" id="{DDA4873A-24C5-D64D-5298-4B071246CA3B}"/>
              </a:ext>
            </a:extLst>
          </p:cNvPr>
          <p:cNvSpPr txBox="1"/>
          <p:nvPr/>
        </p:nvSpPr>
        <p:spPr>
          <a:xfrm>
            <a:off x="3976432" y="1785299"/>
            <a:ext cx="6216160" cy="400110"/>
          </a:xfrm>
          <a:prstGeom prst="rect">
            <a:avLst/>
          </a:prstGeom>
          <a:noFill/>
        </p:spPr>
        <p:txBody>
          <a:bodyPr wrap="square">
            <a:spAutoFit/>
          </a:bodyPr>
          <a:lst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a:lstStyle>
          <a:p>
            <a:r>
              <a:rPr lang="en-US" sz="2000" b="1" dirty="0"/>
              <a:t>Reference modules</a:t>
            </a:r>
          </a:p>
        </p:txBody>
      </p:sp>
    </p:spTree>
    <p:extLst>
      <p:ext uri="{BB962C8B-B14F-4D97-AF65-F5344CB8AC3E}">
        <p14:creationId xmlns:p14="http://schemas.microsoft.com/office/powerpoint/2010/main" val="3905069413"/>
      </p:ext>
    </p:extLst>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CD8665D-5A50-4F07-9D33-48CCD3FD74C7}"/>
              </a:ext>
            </a:extLst>
          </p:cNvPr>
          <p:cNvSpPr>
            <a:spLocks noGrp="1"/>
          </p:cNvSpPr>
          <p:nvPr>
            <p:ph type="title"/>
          </p:nvPr>
        </p:nvSpPr>
        <p:spPr>
          <a:xfrm>
            <a:off x="581340" y="2949615"/>
            <a:ext cx="5975324" cy="1130181"/>
          </a:xfrm>
        </p:spPr>
        <p:txBody>
          <a:bodyPr/>
          <a:lstStyle/>
          <a:p>
            <a:r>
              <a:rPr lang="en-US" dirty="0"/>
              <a:t>Host your domain on </a:t>
            </a:r>
            <a:r>
              <a:rPr lang="en-US" dirty="0">
                <a:cs typeface="Segoe UI"/>
              </a:rPr>
              <a:t>Azure DNS</a:t>
            </a:r>
          </a:p>
        </p:txBody>
      </p:sp>
    </p:spTree>
    <p:extLst>
      <p:ext uri="{BB962C8B-B14F-4D97-AF65-F5344CB8AC3E}">
        <p14:creationId xmlns:p14="http://schemas.microsoft.com/office/powerpoint/2010/main" val="33812336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F59A6A-B20B-45F5-A780-AC3D243BA88E}"/>
              </a:ext>
            </a:extLst>
          </p:cNvPr>
          <p:cNvSpPr>
            <a:spLocks noGrp="1"/>
          </p:cNvSpPr>
          <p:nvPr>
            <p:ph type="title"/>
          </p:nvPr>
        </p:nvSpPr>
        <p:spPr/>
        <p:txBody>
          <a:bodyPr/>
          <a:lstStyle/>
          <a:p>
            <a:r>
              <a:rPr lang="en-US" dirty="0"/>
              <a:t>Learning Objectives - Host your domain on Azure DNS</a:t>
            </a:r>
          </a:p>
        </p:txBody>
      </p:sp>
      <p:sp>
        <p:nvSpPr>
          <p:cNvPr id="6" name="Rectangle 5">
            <a:extLst>
              <a:ext uri="{FF2B5EF4-FFF2-40B4-BE49-F238E27FC236}">
                <a16:creationId xmlns:a16="http://schemas.microsoft.com/office/drawing/2014/main" id="{0978B9AA-DDC9-4826-A1DE-BE73AA0A1DC2}"/>
              </a:ext>
            </a:extLst>
          </p:cNvPr>
          <p:cNvSpPr/>
          <p:nvPr/>
        </p:nvSpPr>
        <p:spPr bwMode="auto">
          <a:xfrm>
            <a:off x="427038" y="1367392"/>
            <a:ext cx="5412652" cy="3757073"/>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marL="342900" indent="-342900">
              <a:spcAft>
                <a:spcPts val="600"/>
              </a:spcAft>
              <a:buFont typeface="Arial" panose="020B0604020202020204" pitchFamily="34" charset="0"/>
              <a:buChar char="•"/>
            </a:pPr>
            <a:r>
              <a:rPr lang="en-US" sz="2200" dirty="0">
                <a:solidFill>
                  <a:schemeClr val="tx1"/>
                </a:solidFill>
              </a:rPr>
              <a:t>What is Azure DNS?</a:t>
            </a:r>
          </a:p>
          <a:p>
            <a:pPr marL="342900" indent="-342900">
              <a:spcAft>
                <a:spcPts val="600"/>
              </a:spcAft>
              <a:buFont typeface="Arial" panose="020B0604020202020204" pitchFamily="34" charset="0"/>
              <a:buChar char="•"/>
            </a:pPr>
            <a:r>
              <a:rPr lang="en-US" sz="2200" dirty="0">
                <a:solidFill>
                  <a:schemeClr val="tx1"/>
                </a:solidFill>
              </a:rPr>
              <a:t>Configure Azure DNS to host your domain</a:t>
            </a:r>
          </a:p>
          <a:p>
            <a:pPr marL="342900" indent="-342900">
              <a:spcAft>
                <a:spcPts val="600"/>
              </a:spcAft>
              <a:buFont typeface="Arial" panose="020B0604020202020204" pitchFamily="34" charset="0"/>
              <a:buChar char="•"/>
            </a:pPr>
            <a:r>
              <a:rPr lang="en-US" sz="2200" dirty="0">
                <a:solidFill>
                  <a:schemeClr val="tx1"/>
                </a:solidFill>
              </a:rPr>
              <a:t>Verify delegation of domain name services</a:t>
            </a:r>
          </a:p>
          <a:p>
            <a:pPr marL="342900" indent="-342900">
              <a:spcAft>
                <a:spcPts val="600"/>
              </a:spcAft>
              <a:buFont typeface="Arial" panose="020B0604020202020204" pitchFamily="34" charset="0"/>
              <a:buChar char="•"/>
            </a:pPr>
            <a:r>
              <a:rPr lang="en-US" sz="2200" dirty="0">
                <a:solidFill>
                  <a:schemeClr val="tx1"/>
                </a:solidFill>
              </a:rPr>
              <a:t>Dynamically resolve resource name by using alias record</a:t>
            </a:r>
          </a:p>
          <a:p>
            <a:pPr marL="342900" indent="-342900">
              <a:spcAft>
                <a:spcPts val="600"/>
              </a:spcAft>
              <a:buFont typeface="Arial" panose="020B0604020202020204" pitchFamily="34" charset="0"/>
              <a:buChar char="•"/>
            </a:pPr>
            <a:r>
              <a:rPr lang="en-US" sz="2200" dirty="0">
                <a:solidFill>
                  <a:schemeClr val="tx1"/>
                </a:solidFill>
              </a:rPr>
              <a:t>Configure a private DNS zone</a:t>
            </a:r>
          </a:p>
          <a:p>
            <a:pPr marL="342900" indent="-342900">
              <a:spcAft>
                <a:spcPts val="600"/>
              </a:spcAft>
              <a:buFont typeface="Arial" panose="020B0604020202020204" pitchFamily="34" charset="0"/>
              <a:buChar char="•"/>
            </a:pPr>
            <a:r>
              <a:rPr lang="en-US" sz="2200" dirty="0">
                <a:solidFill>
                  <a:schemeClr val="tx1"/>
                </a:solidFill>
              </a:rPr>
              <a:t>Demonstration – DNS Name Resolution</a:t>
            </a:r>
          </a:p>
          <a:p>
            <a:pPr marL="342900" indent="-342900">
              <a:spcAft>
                <a:spcPts val="600"/>
              </a:spcAft>
              <a:buFont typeface="Arial" panose="020B0604020202020204" pitchFamily="34" charset="0"/>
              <a:buChar char="•"/>
            </a:pPr>
            <a:r>
              <a:rPr lang="en-US" sz="2200" dirty="0">
                <a:solidFill>
                  <a:schemeClr val="tx1"/>
                </a:solidFill>
              </a:rPr>
              <a:t>Learning Recap</a:t>
            </a:r>
          </a:p>
        </p:txBody>
      </p:sp>
      <p:sp>
        <p:nvSpPr>
          <p:cNvPr id="5" name="TextBox 4">
            <a:extLst>
              <a:ext uri="{FF2B5EF4-FFF2-40B4-BE49-F238E27FC236}">
                <a16:creationId xmlns:a16="http://schemas.microsoft.com/office/drawing/2014/main" id="{B8C1FB7A-6D68-C4E8-661E-DCD07D615362}"/>
              </a:ext>
            </a:extLst>
          </p:cNvPr>
          <p:cNvSpPr txBox="1"/>
          <p:nvPr/>
        </p:nvSpPr>
        <p:spPr>
          <a:xfrm>
            <a:off x="6391276" y="1759578"/>
            <a:ext cx="4794884" cy="2015936"/>
          </a:xfrm>
          <a:prstGeom prst="rect">
            <a:avLst/>
          </a:prstGeom>
          <a:noFill/>
        </p:spPr>
        <p:txBody>
          <a:bodyPr wrap="square">
            <a:spAutoFit/>
          </a:bodyPr>
          <a:lstStyle/>
          <a:p>
            <a:pPr algn="l">
              <a:spcAft>
                <a:spcPts val="600"/>
              </a:spcAft>
            </a:pPr>
            <a:r>
              <a:rPr lang="en-US" sz="2000" dirty="0">
                <a:solidFill>
                  <a:schemeClr val="accent1"/>
                </a:solidFill>
              </a:rPr>
              <a:t>Implement and manage virtual networking (15–20%): Configure name resolution and load balancing</a:t>
            </a:r>
          </a:p>
          <a:p>
            <a:pPr marL="173038" indent="-173038" algn="l">
              <a:buFont typeface="Arial" panose="020B0604020202020204" pitchFamily="34" charset="0"/>
              <a:buChar char="•"/>
            </a:pPr>
            <a:r>
              <a:rPr lang="en-US" sz="2000" dirty="0"/>
              <a:t>Configure Azure DNS</a:t>
            </a:r>
          </a:p>
          <a:p>
            <a:br>
              <a:rPr lang="en-US" sz="2000" dirty="0"/>
            </a:br>
            <a:endParaRPr lang="en-US" sz="2000" dirty="0"/>
          </a:p>
        </p:txBody>
      </p:sp>
    </p:spTree>
    <p:extLst>
      <p:ext uri="{BB962C8B-B14F-4D97-AF65-F5344CB8AC3E}">
        <p14:creationId xmlns:p14="http://schemas.microsoft.com/office/powerpoint/2010/main" val="1432426974"/>
      </p:ext>
    </p:extLst>
  </p:cSld>
  <p:clrMapOvr>
    <a:masterClrMapping/>
  </p:clrMapOvr>
  <p:transition>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4015F5-7E54-4674-9594-975BAF12005A}"/>
              </a:ext>
            </a:extLst>
          </p:cNvPr>
          <p:cNvSpPr>
            <a:spLocks noGrp="1"/>
          </p:cNvSpPr>
          <p:nvPr>
            <p:ph type="title"/>
          </p:nvPr>
        </p:nvSpPr>
        <p:spPr/>
        <p:txBody>
          <a:bodyPr/>
          <a:lstStyle/>
          <a:p>
            <a:r>
              <a:rPr lang="en-US" dirty="0"/>
              <a:t>What is Azure DNS?</a:t>
            </a:r>
          </a:p>
        </p:txBody>
      </p:sp>
      <p:sp>
        <p:nvSpPr>
          <p:cNvPr id="4" name="Rectangle 3">
            <a:extLst>
              <a:ext uri="{FF2B5EF4-FFF2-40B4-BE49-F238E27FC236}">
                <a16:creationId xmlns:a16="http://schemas.microsoft.com/office/drawing/2014/main" id="{8D24B47B-D05D-49B3-B9D7-811CAE24B59A}"/>
              </a:ext>
            </a:extLst>
          </p:cNvPr>
          <p:cNvSpPr/>
          <p:nvPr/>
        </p:nvSpPr>
        <p:spPr>
          <a:xfrm>
            <a:off x="427037" y="1271342"/>
            <a:ext cx="6060849" cy="987493"/>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7160" tIns="91440" rIns="137160" bIns="91440" numCol="1" spcCol="1270" anchor="ctr" anchorCtr="0">
            <a:noAutofit/>
          </a:bodyPr>
          <a:lstStyle/>
          <a:p>
            <a:r>
              <a:rPr lang="en-US" sz="2200" dirty="0">
                <a:solidFill>
                  <a:schemeClr val="tx1"/>
                </a:solidFill>
              </a:rPr>
              <a:t>When you create a </a:t>
            </a:r>
            <a:r>
              <a:rPr lang="en-US" sz="2200">
                <a:solidFill>
                  <a:schemeClr val="tx1"/>
                </a:solidFill>
              </a:rPr>
              <a:t>new tenant</a:t>
            </a:r>
            <a:r>
              <a:rPr lang="en-US" sz="2200" dirty="0">
                <a:solidFill>
                  <a:schemeClr val="tx1"/>
                </a:solidFill>
              </a:rPr>
              <a:t>, a new default domain is created</a:t>
            </a:r>
          </a:p>
        </p:txBody>
      </p:sp>
      <p:sp>
        <p:nvSpPr>
          <p:cNvPr id="5" name="Rectangle 4">
            <a:extLst>
              <a:ext uri="{FF2B5EF4-FFF2-40B4-BE49-F238E27FC236}">
                <a16:creationId xmlns:a16="http://schemas.microsoft.com/office/drawing/2014/main" id="{A7E89D5A-2D2C-4167-8B71-2542E57B430C}"/>
              </a:ext>
            </a:extLst>
          </p:cNvPr>
          <p:cNvSpPr/>
          <p:nvPr/>
        </p:nvSpPr>
        <p:spPr>
          <a:xfrm>
            <a:off x="427037" y="2524822"/>
            <a:ext cx="6060849" cy="987493"/>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7160" tIns="91440" rIns="137160" bIns="91440" numCol="1" spcCol="1270" anchor="ctr" anchorCtr="0">
            <a:noAutofit/>
          </a:bodyPr>
          <a:lstStyle/>
          <a:p>
            <a:r>
              <a:rPr lang="en-US" sz="2200" dirty="0">
                <a:solidFill>
                  <a:schemeClr val="tx1"/>
                </a:solidFill>
              </a:rPr>
              <a:t>The domain has initial domain name in the form </a:t>
            </a:r>
            <a:r>
              <a:rPr lang="en-US" sz="2200" i="1" dirty="0">
                <a:solidFill>
                  <a:schemeClr val="tx1"/>
                </a:solidFill>
              </a:rPr>
              <a:t>domainname.onmicrosoft.com</a:t>
            </a:r>
          </a:p>
        </p:txBody>
      </p:sp>
      <p:sp>
        <p:nvSpPr>
          <p:cNvPr id="6" name="Rectangle 5">
            <a:extLst>
              <a:ext uri="{FF2B5EF4-FFF2-40B4-BE49-F238E27FC236}">
                <a16:creationId xmlns:a16="http://schemas.microsoft.com/office/drawing/2014/main" id="{3FF3AEDE-459F-49CD-8CF1-E45528CCFFDE}"/>
              </a:ext>
            </a:extLst>
          </p:cNvPr>
          <p:cNvSpPr/>
          <p:nvPr/>
        </p:nvSpPr>
        <p:spPr>
          <a:xfrm>
            <a:off x="427036" y="3778302"/>
            <a:ext cx="6060849" cy="839447"/>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7160" tIns="91440" rIns="137160" bIns="91440" numCol="1" spcCol="1270" anchor="ctr" anchorCtr="0">
            <a:noAutofit/>
          </a:bodyPr>
          <a:lstStyle/>
          <a:p>
            <a:r>
              <a:rPr lang="en-US" sz="2200" dirty="0">
                <a:solidFill>
                  <a:schemeClr val="tx1"/>
                </a:solidFill>
              </a:rPr>
              <a:t>You can add a custom domain name</a:t>
            </a:r>
          </a:p>
        </p:txBody>
      </p:sp>
      <p:sp>
        <p:nvSpPr>
          <p:cNvPr id="7" name="Rectangle 6">
            <a:extLst>
              <a:ext uri="{FF2B5EF4-FFF2-40B4-BE49-F238E27FC236}">
                <a16:creationId xmlns:a16="http://schemas.microsoft.com/office/drawing/2014/main" id="{E6CAB7D3-4D51-48C8-8C3B-2E449600B3EE}"/>
              </a:ext>
            </a:extLst>
          </p:cNvPr>
          <p:cNvSpPr/>
          <p:nvPr/>
        </p:nvSpPr>
        <p:spPr>
          <a:xfrm>
            <a:off x="427037" y="4883736"/>
            <a:ext cx="6060849" cy="839447"/>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7160" tIns="91440" rIns="137160" bIns="91440" numCol="1" spcCol="1270" anchor="ctr" anchorCtr="0">
            <a:noAutofit/>
          </a:bodyPr>
          <a:lstStyle/>
          <a:p>
            <a:r>
              <a:rPr lang="en-US" sz="2200" dirty="0">
                <a:solidFill>
                  <a:schemeClr val="tx1"/>
                </a:solidFill>
              </a:rPr>
              <a:t>After the custom name is added it must be verified – this demonstrates ownership of the domain</a:t>
            </a:r>
          </a:p>
        </p:txBody>
      </p:sp>
      <p:pic>
        <p:nvPicPr>
          <p:cNvPr id="10" name="Picture 4" descr="Screenshot of the create a directory configuration tab.">
            <a:extLst>
              <a:ext uri="{FF2B5EF4-FFF2-40B4-BE49-F238E27FC236}">
                <a16:creationId xmlns:a16="http://schemas.microsoft.com/office/drawing/2014/main" id="{AF7BC781-F133-4D55-87FF-B77881B0E30A}"/>
              </a:ext>
            </a:extLst>
          </p:cNvPr>
          <p:cNvPicPr>
            <a:picLocks noChangeAspect="1"/>
          </p:cNvPicPr>
          <p:nvPr/>
        </p:nvPicPr>
        <p:blipFill>
          <a:blip r:embed="rId3"/>
          <a:stretch>
            <a:fillRect/>
          </a:stretch>
        </p:blipFill>
        <p:spPr>
          <a:xfrm>
            <a:off x="7760436" y="1333500"/>
            <a:ext cx="3107516" cy="2537252"/>
          </a:xfrm>
          <a:prstGeom prst="rect">
            <a:avLst/>
          </a:prstGeom>
          <a:ln>
            <a:solidFill>
              <a:schemeClr val="tx1"/>
            </a:solidFill>
          </a:ln>
        </p:spPr>
      </p:pic>
      <p:sp>
        <p:nvSpPr>
          <p:cNvPr id="12" name="Arrow: Down 11" descr="Arrow pointing down">
            <a:extLst>
              <a:ext uri="{FF2B5EF4-FFF2-40B4-BE49-F238E27FC236}">
                <a16:creationId xmlns:a16="http://schemas.microsoft.com/office/drawing/2014/main" id="{E8F3283A-8D17-4790-8A98-EBECBA3785ED}"/>
              </a:ext>
              <a:ext uri="{C183D7F6-B498-43B3-948B-1728B52AA6E4}">
                <adec:decorative xmlns:adec="http://schemas.microsoft.com/office/drawing/2017/decorative" val="0"/>
              </a:ext>
            </a:extLst>
          </p:cNvPr>
          <p:cNvSpPr/>
          <p:nvPr/>
        </p:nvSpPr>
        <p:spPr bwMode="auto">
          <a:xfrm>
            <a:off x="9109937" y="3944860"/>
            <a:ext cx="408513" cy="318031"/>
          </a:xfrm>
          <a:prstGeom prst="downArrow">
            <a:avLst/>
          </a:prstGeom>
          <a:solidFill>
            <a:schemeClr val="bg1">
              <a:lumMod val="6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a:gradFill>
                <a:gsLst>
                  <a:gs pos="0">
                    <a:srgbClr val="FFFFFF"/>
                  </a:gs>
                  <a:gs pos="100000">
                    <a:srgbClr val="FFFFFF"/>
                  </a:gs>
                </a:gsLst>
                <a:lin ang="5400000" scaled="0"/>
              </a:gradFill>
              <a:ea typeface="Segoe UI" pitchFamily="34" charset="0"/>
              <a:cs typeface="Segoe UI" pitchFamily="34" charset="0"/>
            </a:endParaRPr>
          </a:p>
        </p:txBody>
      </p:sp>
      <p:pic>
        <p:nvPicPr>
          <p:cNvPr id="11" name="Picture 10" descr="Screenshot of adding a custom domain name.">
            <a:extLst>
              <a:ext uri="{FF2B5EF4-FFF2-40B4-BE49-F238E27FC236}">
                <a16:creationId xmlns:a16="http://schemas.microsoft.com/office/drawing/2014/main" id="{02A11B91-29FA-4709-A850-9A4DE2922579}"/>
              </a:ext>
            </a:extLst>
          </p:cNvPr>
          <p:cNvPicPr>
            <a:picLocks noChangeAspect="1"/>
          </p:cNvPicPr>
          <p:nvPr/>
        </p:nvPicPr>
        <p:blipFill>
          <a:blip r:embed="rId4"/>
          <a:stretch>
            <a:fillRect/>
          </a:stretch>
        </p:blipFill>
        <p:spPr>
          <a:xfrm>
            <a:off x="7680832" y="4230343"/>
            <a:ext cx="3266722" cy="2131403"/>
          </a:xfrm>
          <a:prstGeom prst="rect">
            <a:avLst/>
          </a:prstGeom>
        </p:spPr>
      </p:pic>
    </p:spTree>
    <p:extLst>
      <p:ext uri="{BB962C8B-B14F-4D97-AF65-F5344CB8AC3E}">
        <p14:creationId xmlns:p14="http://schemas.microsoft.com/office/powerpoint/2010/main" val="797390050"/>
      </p:ext>
    </p:extLst>
  </p:cSld>
  <p:clrMapOvr>
    <a:masterClrMapping/>
  </p:clrMapOvr>
  <p:transition>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p:txBody>
          <a:bodyPr/>
          <a:lstStyle/>
          <a:p>
            <a:r>
              <a:rPr lang="en-US" dirty="0"/>
              <a:t>Configure Azure DNS to host your domain</a:t>
            </a:r>
          </a:p>
        </p:txBody>
      </p:sp>
      <p:sp>
        <p:nvSpPr>
          <p:cNvPr id="6" name="Rectangle 5">
            <a:extLst>
              <a:ext uri="{FF2B5EF4-FFF2-40B4-BE49-F238E27FC236}">
                <a16:creationId xmlns:a16="http://schemas.microsoft.com/office/drawing/2014/main" id="{111D40A4-CDCE-4502-83DD-B2A0C6AF0218}"/>
              </a:ext>
            </a:extLst>
          </p:cNvPr>
          <p:cNvSpPr/>
          <p:nvPr/>
        </p:nvSpPr>
        <p:spPr>
          <a:xfrm>
            <a:off x="427037" y="1512895"/>
            <a:ext cx="6060849" cy="1115440"/>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7160" tIns="91440" rIns="137160" bIns="91440" numCol="1" spcCol="1270" anchor="ctr" anchorCtr="0">
            <a:noAutofit/>
          </a:bodyPr>
          <a:lstStyle/>
          <a:p>
            <a:r>
              <a:rPr lang="en-US" sz="2000" dirty="0">
                <a:solidFill>
                  <a:schemeClr val="tx1"/>
                </a:solidFill>
              </a:rPr>
              <a:t>A DNS zone hosts the DNS records for a domain</a:t>
            </a:r>
          </a:p>
        </p:txBody>
      </p:sp>
      <p:sp>
        <p:nvSpPr>
          <p:cNvPr id="8" name="Rectangle 7">
            <a:extLst>
              <a:ext uri="{FF2B5EF4-FFF2-40B4-BE49-F238E27FC236}">
                <a16:creationId xmlns:a16="http://schemas.microsoft.com/office/drawing/2014/main" id="{27CBD683-860D-44E7-8022-C5652E1541E4}"/>
              </a:ext>
            </a:extLst>
          </p:cNvPr>
          <p:cNvSpPr/>
          <p:nvPr/>
        </p:nvSpPr>
        <p:spPr>
          <a:xfrm>
            <a:off x="421930" y="2885223"/>
            <a:ext cx="6060849" cy="1224078"/>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7160" tIns="91440" rIns="137160" bIns="91440" numCol="1" spcCol="1270" anchor="ctr" anchorCtr="0">
            <a:noAutofit/>
          </a:bodyPr>
          <a:lstStyle/>
          <a:p>
            <a:pPr lvl="0"/>
            <a:r>
              <a:rPr lang="en-US" sz="2000" dirty="0">
                <a:solidFill>
                  <a:schemeClr val="tx1"/>
                </a:solidFill>
              </a:rPr>
              <a:t>Where multiple zones share the same name,</a:t>
            </a:r>
            <a:br>
              <a:rPr lang="en-US" sz="2000" dirty="0">
                <a:solidFill>
                  <a:schemeClr val="tx1"/>
                </a:solidFill>
              </a:rPr>
            </a:br>
            <a:r>
              <a:rPr lang="en-US" sz="2000" dirty="0">
                <a:solidFill>
                  <a:schemeClr val="tx1"/>
                </a:solidFill>
              </a:rPr>
              <a:t>each instance is assigned different name server addresses </a:t>
            </a:r>
          </a:p>
        </p:txBody>
      </p:sp>
      <p:sp>
        <p:nvSpPr>
          <p:cNvPr id="9" name="Rectangle 8">
            <a:extLst>
              <a:ext uri="{FF2B5EF4-FFF2-40B4-BE49-F238E27FC236}">
                <a16:creationId xmlns:a16="http://schemas.microsoft.com/office/drawing/2014/main" id="{D26FFBFD-21F4-4BF6-978E-CF9A4E87B964}"/>
              </a:ext>
            </a:extLst>
          </p:cNvPr>
          <p:cNvSpPr/>
          <p:nvPr/>
        </p:nvSpPr>
        <p:spPr>
          <a:xfrm>
            <a:off x="421930" y="4315865"/>
            <a:ext cx="6060849" cy="1040563"/>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7160" tIns="91440" rIns="137160" bIns="91440" numCol="1" spcCol="1270" anchor="ctr" anchorCtr="0">
            <a:noAutofit/>
          </a:bodyPr>
          <a:lstStyle/>
          <a:p>
            <a:pPr lvl="0"/>
            <a:r>
              <a:rPr lang="en-US" sz="2000" dirty="0">
                <a:solidFill>
                  <a:schemeClr val="tx1"/>
                </a:solidFill>
              </a:rPr>
              <a:t>Root/Parent domain is registered at the registrar and pointed to Azure NS</a:t>
            </a:r>
          </a:p>
        </p:txBody>
      </p:sp>
      <p:pic>
        <p:nvPicPr>
          <p:cNvPr id="12" name="Picture 2" descr="Screenshot of the create a DNS zone page.">
            <a:extLst>
              <a:ext uri="{FF2B5EF4-FFF2-40B4-BE49-F238E27FC236}">
                <a16:creationId xmlns:a16="http://schemas.microsoft.com/office/drawing/2014/main" id="{C7D027B3-950B-4EA2-BBD2-003C038C3C77}"/>
              </a:ext>
            </a:extLst>
          </p:cNvPr>
          <p:cNvPicPr>
            <a:picLocks noChangeAspect="1"/>
          </p:cNvPicPr>
          <p:nvPr/>
        </p:nvPicPr>
        <p:blipFill>
          <a:blip r:embed="rId3"/>
          <a:stretch>
            <a:fillRect/>
          </a:stretch>
        </p:blipFill>
        <p:spPr>
          <a:xfrm>
            <a:off x="6797485" y="1730706"/>
            <a:ext cx="5054600" cy="4276062"/>
          </a:xfrm>
          <a:prstGeom prst="rect">
            <a:avLst/>
          </a:prstGeom>
          <a:ln>
            <a:noFill/>
          </a:ln>
        </p:spPr>
      </p:pic>
    </p:spTree>
    <p:extLst>
      <p:ext uri="{BB962C8B-B14F-4D97-AF65-F5344CB8AC3E}">
        <p14:creationId xmlns:p14="http://schemas.microsoft.com/office/powerpoint/2010/main" val="16469371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p:txBody>
          <a:bodyPr/>
          <a:lstStyle/>
          <a:p>
            <a:r>
              <a:rPr lang="en-US" dirty="0"/>
              <a:t>Verify delegation of domain name services</a:t>
            </a:r>
          </a:p>
        </p:txBody>
      </p:sp>
      <p:sp>
        <p:nvSpPr>
          <p:cNvPr id="5" name="Rectangle 4">
            <a:extLst>
              <a:ext uri="{FF2B5EF4-FFF2-40B4-BE49-F238E27FC236}">
                <a16:creationId xmlns:a16="http://schemas.microsoft.com/office/drawing/2014/main" id="{58BD298F-AB01-4860-8ED6-178A8E01B02E}"/>
              </a:ext>
            </a:extLst>
          </p:cNvPr>
          <p:cNvSpPr/>
          <p:nvPr/>
        </p:nvSpPr>
        <p:spPr>
          <a:xfrm>
            <a:off x="427038" y="1977368"/>
            <a:ext cx="4475163" cy="3211852"/>
          </a:xfrm>
          <a:prstGeom prst="rect">
            <a:avLst/>
          </a:prstGeom>
          <a:solidFill>
            <a:schemeClr val="bg1"/>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7160" tIns="91440" rIns="137160" bIns="91440" numCol="1" spcCol="1270" anchor="ctr" anchorCtr="0">
            <a:noAutofit/>
          </a:bodyPr>
          <a:lstStyle/>
          <a:p>
            <a:pPr marL="342900" indent="-342900">
              <a:spcAft>
                <a:spcPts val="600"/>
              </a:spcAft>
              <a:buFont typeface="Arial" panose="020B0604020202020204" pitchFamily="34" charset="0"/>
              <a:buChar char="•"/>
            </a:pPr>
            <a:r>
              <a:rPr lang="en-US" sz="2200" dirty="0">
                <a:solidFill>
                  <a:schemeClr val="tx1"/>
                </a:solidFill>
              </a:rPr>
              <a:t>When delegating a domain to Azure DNS, you must use the name server names provided by Azure DNS – use all four</a:t>
            </a:r>
          </a:p>
          <a:p>
            <a:pPr marL="342900" indent="-342900">
              <a:spcAft>
                <a:spcPts val="600"/>
              </a:spcAft>
              <a:buFont typeface="Arial" panose="020B0604020202020204" pitchFamily="34" charset="0"/>
              <a:buChar char="•"/>
            </a:pPr>
            <a:r>
              <a:rPr lang="en-US" sz="2200" dirty="0">
                <a:solidFill>
                  <a:schemeClr val="tx1"/>
                </a:solidFill>
              </a:rPr>
              <a:t>Once the DNS zone is created, update the parent registrar</a:t>
            </a:r>
          </a:p>
          <a:p>
            <a:pPr marL="342900" indent="-342900">
              <a:spcAft>
                <a:spcPts val="600"/>
              </a:spcAft>
              <a:buFont typeface="Arial" panose="020B0604020202020204" pitchFamily="34" charset="0"/>
              <a:buChar char="•"/>
            </a:pPr>
            <a:r>
              <a:rPr lang="en-US" sz="2200" dirty="0">
                <a:solidFill>
                  <a:schemeClr val="tx1"/>
                </a:solidFill>
              </a:rPr>
              <a:t>For child zones, register the NS records in the parent domain</a:t>
            </a:r>
          </a:p>
        </p:txBody>
      </p:sp>
      <p:pic>
        <p:nvPicPr>
          <p:cNvPr id="15" name="Picture 4" descr="Screenshot of the DNS delegation page ">
            <a:extLst>
              <a:ext uri="{FF2B5EF4-FFF2-40B4-BE49-F238E27FC236}">
                <a16:creationId xmlns:a16="http://schemas.microsoft.com/office/drawing/2014/main" id="{DB447754-CEC0-408A-8C6A-548FE57BCD13}"/>
              </a:ext>
            </a:extLst>
          </p:cNvPr>
          <p:cNvPicPr>
            <a:picLocks noChangeAspect="1"/>
          </p:cNvPicPr>
          <p:nvPr/>
        </p:nvPicPr>
        <p:blipFill rotWithShape="1">
          <a:blip r:embed="rId3"/>
          <a:srcRect l="689"/>
          <a:stretch/>
        </p:blipFill>
        <p:spPr>
          <a:xfrm>
            <a:off x="5169766" y="1634509"/>
            <a:ext cx="6658972" cy="3462617"/>
          </a:xfrm>
          <a:prstGeom prst="rect">
            <a:avLst/>
          </a:prstGeom>
          <a:ln>
            <a:noFill/>
          </a:ln>
        </p:spPr>
      </p:pic>
    </p:spTree>
    <p:extLst>
      <p:ext uri="{BB962C8B-B14F-4D97-AF65-F5344CB8AC3E}">
        <p14:creationId xmlns:p14="http://schemas.microsoft.com/office/powerpoint/2010/main" val="4138574709"/>
      </p:ext>
    </p:extLst>
  </p:cSld>
  <p:clrMapOvr>
    <a:masterClrMapping/>
  </p:clrMapOvr>
  <p:transition>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FE645B-1F5B-40E4-9CB7-9CFBFB74CC3E}"/>
              </a:ext>
            </a:extLst>
          </p:cNvPr>
          <p:cNvSpPr>
            <a:spLocks noGrp="1"/>
          </p:cNvSpPr>
          <p:nvPr>
            <p:ph type="title"/>
          </p:nvPr>
        </p:nvSpPr>
        <p:spPr/>
        <p:txBody>
          <a:bodyPr/>
          <a:lstStyle/>
          <a:p>
            <a:r>
              <a:rPr lang="en-US" dirty="0"/>
              <a:t>Dynamically resolve resource name by using alias record</a:t>
            </a:r>
          </a:p>
        </p:txBody>
      </p:sp>
      <p:sp>
        <p:nvSpPr>
          <p:cNvPr id="6" name="Rectangle 5">
            <a:extLst>
              <a:ext uri="{FF2B5EF4-FFF2-40B4-BE49-F238E27FC236}">
                <a16:creationId xmlns:a16="http://schemas.microsoft.com/office/drawing/2014/main" id="{3B89F5B3-2EAD-4087-A90C-ACBE16507C36}"/>
              </a:ext>
            </a:extLst>
          </p:cNvPr>
          <p:cNvSpPr/>
          <p:nvPr/>
        </p:nvSpPr>
        <p:spPr>
          <a:xfrm>
            <a:off x="427037" y="1268414"/>
            <a:ext cx="6060849" cy="1224078"/>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7160" tIns="91440" rIns="137160" bIns="91440" numCol="1" spcCol="1270" anchor="ctr" anchorCtr="0">
            <a:noAutofit/>
          </a:bodyPr>
          <a:lstStyle/>
          <a:p>
            <a:r>
              <a:rPr lang="en-US" sz="2000" dirty="0">
                <a:solidFill>
                  <a:schemeClr val="tx1"/>
                </a:solidFill>
              </a:rPr>
              <a:t>A record set is a collection of records in a zone</a:t>
            </a:r>
            <a:br>
              <a:rPr lang="en-US" sz="2000" dirty="0">
                <a:solidFill>
                  <a:schemeClr val="tx1"/>
                </a:solidFill>
              </a:rPr>
            </a:br>
            <a:r>
              <a:rPr lang="en-US" sz="2000" dirty="0">
                <a:solidFill>
                  <a:schemeClr val="tx1"/>
                </a:solidFill>
              </a:rPr>
              <a:t>that have the same name and are the same type</a:t>
            </a:r>
          </a:p>
        </p:txBody>
      </p:sp>
      <p:sp>
        <p:nvSpPr>
          <p:cNvPr id="7" name="Rectangle 6">
            <a:extLst>
              <a:ext uri="{FF2B5EF4-FFF2-40B4-BE49-F238E27FC236}">
                <a16:creationId xmlns:a16="http://schemas.microsoft.com/office/drawing/2014/main" id="{1A8F5EB3-7559-41FD-BE7E-51EAEC5E2347}"/>
              </a:ext>
            </a:extLst>
          </p:cNvPr>
          <p:cNvSpPr/>
          <p:nvPr/>
        </p:nvSpPr>
        <p:spPr>
          <a:xfrm>
            <a:off x="427037" y="2629101"/>
            <a:ext cx="6060849" cy="1224078"/>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7160" tIns="91440" rIns="137160" bIns="91440" numCol="1" spcCol="1270" anchor="ctr" anchorCtr="0">
            <a:noAutofit/>
          </a:bodyPr>
          <a:lstStyle/>
          <a:p>
            <a:r>
              <a:rPr lang="en-US" sz="2000" dirty="0">
                <a:solidFill>
                  <a:schemeClr val="tx1"/>
                </a:solidFill>
              </a:rPr>
              <a:t>You can add up to 20 records to any record set</a:t>
            </a:r>
          </a:p>
        </p:txBody>
      </p:sp>
      <p:sp>
        <p:nvSpPr>
          <p:cNvPr id="8" name="Rectangle 7">
            <a:extLst>
              <a:ext uri="{FF2B5EF4-FFF2-40B4-BE49-F238E27FC236}">
                <a16:creationId xmlns:a16="http://schemas.microsoft.com/office/drawing/2014/main" id="{FBF7CB7B-A00C-4793-9F03-0947683312C7}"/>
              </a:ext>
            </a:extLst>
          </p:cNvPr>
          <p:cNvSpPr/>
          <p:nvPr/>
        </p:nvSpPr>
        <p:spPr>
          <a:xfrm>
            <a:off x="427037" y="4021060"/>
            <a:ext cx="6060849" cy="1040563"/>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7160" tIns="91440" rIns="137160" bIns="91440" numCol="1" spcCol="1270" anchor="ctr" anchorCtr="0">
            <a:noAutofit/>
          </a:bodyPr>
          <a:lstStyle/>
          <a:p>
            <a:r>
              <a:rPr lang="en-US" sz="2000" dirty="0">
                <a:solidFill>
                  <a:schemeClr val="tx1"/>
                </a:solidFill>
              </a:rPr>
              <a:t>A record set cannot contain two identical records</a:t>
            </a:r>
          </a:p>
        </p:txBody>
      </p:sp>
      <p:sp>
        <p:nvSpPr>
          <p:cNvPr id="9" name="Rectangle 8">
            <a:extLst>
              <a:ext uri="{FF2B5EF4-FFF2-40B4-BE49-F238E27FC236}">
                <a16:creationId xmlns:a16="http://schemas.microsoft.com/office/drawing/2014/main" id="{3C547279-6EB0-471D-8394-8DD45F5723F1}"/>
              </a:ext>
            </a:extLst>
          </p:cNvPr>
          <p:cNvSpPr/>
          <p:nvPr/>
        </p:nvSpPr>
        <p:spPr>
          <a:xfrm>
            <a:off x="427036" y="5229504"/>
            <a:ext cx="6060849" cy="1040563"/>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7160" tIns="91440" rIns="137160" bIns="91440" numCol="1" spcCol="1270" anchor="ctr" anchorCtr="0">
            <a:noAutofit/>
          </a:bodyPr>
          <a:lstStyle/>
          <a:p>
            <a:r>
              <a:rPr lang="en-US" sz="2000" dirty="0">
                <a:solidFill>
                  <a:schemeClr val="tx1"/>
                </a:solidFill>
              </a:rPr>
              <a:t>Changing the drop-down Type, changes the information required</a:t>
            </a:r>
          </a:p>
        </p:txBody>
      </p:sp>
      <p:pic>
        <p:nvPicPr>
          <p:cNvPr id="12" name="Picture 5" descr="Screenshot of the DNS add record set page">
            <a:extLst>
              <a:ext uri="{FF2B5EF4-FFF2-40B4-BE49-F238E27FC236}">
                <a16:creationId xmlns:a16="http://schemas.microsoft.com/office/drawing/2014/main" id="{45DA052F-07DE-41A5-80BA-EEE72293D086}"/>
              </a:ext>
            </a:extLst>
          </p:cNvPr>
          <p:cNvPicPr>
            <a:picLocks noChangeAspect="1"/>
          </p:cNvPicPr>
          <p:nvPr/>
        </p:nvPicPr>
        <p:blipFill>
          <a:blip r:embed="rId3"/>
          <a:stretch>
            <a:fillRect/>
          </a:stretch>
        </p:blipFill>
        <p:spPr>
          <a:xfrm>
            <a:off x="6784175" y="1407006"/>
            <a:ext cx="5081220" cy="4739946"/>
          </a:xfrm>
          <a:prstGeom prst="rect">
            <a:avLst/>
          </a:prstGeom>
          <a:ln>
            <a:solidFill>
              <a:schemeClr val="accent1"/>
            </a:solidFill>
          </a:ln>
        </p:spPr>
      </p:pic>
    </p:spTree>
    <p:extLst>
      <p:ext uri="{BB962C8B-B14F-4D97-AF65-F5344CB8AC3E}">
        <p14:creationId xmlns:p14="http://schemas.microsoft.com/office/powerpoint/2010/main" val="833344192"/>
      </p:ext>
    </p:extLst>
  </p:cSld>
  <p:clrMapOvr>
    <a:masterClrMapping/>
  </p:clrMapOvr>
  <p:transition>
    <p:fad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C05605-C6B8-454F-991A-3BC0214DCFD8}"/>
              </a:ext>
            </a:extLst>
          </p:cNvPr>
          <p:cNvSpPr>
            <a:spLocks noGrp="1"/>
          </p:cNvSpPr>
          <p:nvPr>
            <p:ph type="title"/>
          </p:nvPr>
        </p:nvSpPr>
        <p:spPr/>
        <p:txBody>
          <a:bodyPr/>
          <a:lstStyle/>
          <a:p>
            <a:r>
              <a:rPr lang="en-US" dirty="0"/>
              <a:t>Configure a private DNS zone</a:t>
            </a:r>
          </a:p>
        </p:txBody>
      </p:sp>
      <p:sp>
        <p:nvSpPr>
          <p:cNvPr id="6" name="Rectangle 5">
            <a:extLst>
              <a:ext uri="{FF2B5EF4-FFF2-40B4-BE49-F238E27FC236}">
                <a16:creationId xmlns:a16="http://schemas.microsoft.com/office/drawing/2014/main" id="{67D5AC58-F991-4756-8794-CDE81F028AED}"/>
              </a:ext>
            </a:extLst>
          </p:cNvPr>
          <p:cNvSpPr/>
          <p:nvPr/>
        </p:nvSpPr>
        <p:spPr>
          <a:xfrm>
            <a:off x="427037" y="1258887"/>
            <a:ext cx="4779963" cy="575906"/>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7160" tIns="91440" rIns="137160" bIns="91440" numCol="1" spcCol="1270" anchor="ctr" anchorCtr="0">
            <a:noAutofit/>
          </a:bodyPr>
          <a:lstStyle/>
          <a:p>
            <a:r>
              <a:rPr lang="en-US" dirty="0">
                <a:solidFill>
                  <a:schemeClr val="tx1"/>
                </a:solidFill>
              </a:rPr>
              <a:t>Use your own custom domain names</a:t>
            </a:r>
          </a:p>
        </p:txBody>
      </p:sp>
      <p:sp>
        <p:nvSpPr>
          <p:cNvPr id="7" name="Rectangle 6">
            <a:extLst>
              <a:ext uri="{FF2B5EF4-FFF2-40B4-BE49-F238E27FC236}">
                <a16:creationId xmlns:a16="http://schemas.microsoft.com/office/drawing/2014/main" id="{170C0A56-8C2F-4300-B930-33863DBE10F0}"/>
              </a:ext>
            </a:extLst>
          </p:cNvPr>
          <p:cNvSpPr/>
          <p:nvPr/>
        </p:nvSpPr>
        <p:spPr>
          <a:xfrm>
            <a:off x="427037" y="2104805"/>
            <a:ext cx="4779963" cy="575906"/>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7160" tIns="91440" rIns="137160" bIns="91440" numCol="1" spcCol="1270" anchor="ctr" anchorCtr="0">
            <a:noAutofit/>
          </a:bodyPr>
          <a:lstStyle/>
          <a:p>
            <a:r>
              <a:rPr lang="en-US" dirty="0">
                <a:solidFill>
                  <a:schemeClr val="tx1"/>
                </a:solidFill>
              </a:rPr>
              <a:t>Provides name resolution for VMs within a VNet and between VNets</a:t>
            </a:r>
          </a:p>
        </p:txBody>
      </p:sp>
      <p:sp>
        <p:nvSpPr>
          <p:cNvPr id="8" name="Rectangle 7">
            <a:extLst>
              <a:ext uri="{FF2B5EF4-FFF2-40B4-BE49-F238E27FC236}">
                <a16:creationId xmlns:a16="http://schemas.microsoft.com/office/drawing/2014/main" id="{E8B17EA4-0C54-4678-B61D-65C317343D2A}"/>
              </a:ext>
            </a:extLst>
          </p:cNvPr>
          <p:cNvSpPr/>
          <p:nvPr/>
        </p:nvSpPr>
        <p:spPr>
          <a:xfrm>
            <a:off x="427036" y="2950723"/>
            <a:ext cx="4779963" cy="575906"/>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7160" tIns="91440" rIns="137160" bIns="91440" numCol="1" spcCol="1270" anchor="ctr" anchorCtr="0">
            <a:noAutofit/>
          </a:bodyPr>
          <a:lstStyle/>
          <a:p>
            <a:r>
              <a:rPr lang="en-US" dirty="0">
                <a:solidFill>
                  <a:schemeClr val="tx1"/>
                </a:solidFill>
              </a:rPr>
              <a:t>Automatic hostname record management</a:t>
            </a:r>
          </a:p>
        </p:txBody>
      </p:sp>
      <p:sp>
        <p:nvSpPr>
          <p:cNvPr id="9" name="Rectangle 8">
            <a:extLst>
              <a:ext uri="{FF2B5EF4-FFF2-40B4-BE49-F238E27FC236}">
                <a16:creationId xmlns:a16="http://schemas.microsoft.com/office/drawing/2014/main" id="{FB38BDD8-E9B1-4C07-92CE-3277B448388F}"/>
              </a:ext>
            </a:extLst>
          </p:cNvPr>
          <p:cNvSpPr/>
          <p:nvPr/>
        </p:nvSpPr>
        <p:spPr>
          <a:xfrm>
            <a:off x="427035" y="3796641"/>
            <a:ext cx="4779963" cy="575906"/>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7160" tIns="91440" rIns="137160" bIns="91440" numCol="1" spcCol="1270" anchor="ctr" anchorCtr="0">
            <a:noAutofit/>
          </a:bodyPr>
          <a:lstStyle/>
          <a:p>
            <a:r>
              <a:rPr lang="en-US" dirty="0">
                <a:solidFill>
                  <a:schemeClr val="tx1"/>
                </a:solidFill>
              </a:rPr>
              <a:t>Removes the need for custom DNS solutions</a:t>
            </a:r>
          </a:p>
        </p:txBody>
      </p:sp>
      <p:sp>
        <p:nvSpPr>
          <p:cNvPr id="10" name="Rectangle 9">
            <a:extLst>
              <a:ext uri="{FF2B5EF4-FFF2-40B4-BE49-F238E27FC236}">
                <a16:creationId xmlns:a16="http://schemas.microsoft.com/office/drawing/2014/main" id="{5820BD39-A552-4685-BBF0-15F6427064BE}"/>
              </a:ext>
            </a:extLst>
          </p:cNvPr>
          <p:cNvSpPr/>
          <p:nvPr/>
        </p:nvSpPr>
        <p:spPr>
          <a:xfrm>
            <a:off x="427034" y="4642559"/>
            <a:ext cx="4779963" cy="575906"/>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7160" tIns="91440" rIns="137160" bIns="91440" numCol="1" spcCol="1270" anchor="ctr" anchorCtr="0">
            <a:noAutofit/>
          </a:bodyPr>
          <a:lstStyle/>
          <a:p>
            <a:r>
              <a:rPr lang="en-US" dirty="0">
                <a:solidFill>
                  <a:schemeClr val="tx1"/>
                </a:solidFill>
              </a:rPr>
              <a:t>Use all common DNS records types</a:t>
            </a:r>
          </a:p>
        </p:txBody>
      </p:sp>
      <p:sp>
        <p:nvSpPr>
          <p:cNvPr id="11" name="Rectangle 10">
            <a:extLst>
              <a:ext uri="{FF2B5EF4-FFF2-40B4-BE49-F238E27FC236}">
                <a16:creationId xmlns:a16="http://schemas.microsoft.com/office/drawing/2014/main" id="{67147CD7-AA56-469B-A01E-4F084552EBED}"/>
              </a:ext>
            </a:extLst>
          </p:cNvPr>
          <p:cNvSpPr/>
          <p:nvPr/>
        </p:nvSpPr>
        <p:spPr>
          <a:xfrm>
            <a:off x="427033" y="5488476"/>
            <a:ext cx="4779963" cy="575906"/>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7160" tIns="91440" rIns="137160" bIns="91440" numCol="1" spcCol="1270" anchor="ctr" anchorCtr="0">
            <a:noAutofit/>
          </a:bodyPr>
          <a:lstStyle/>
          <a:p>
            <a:r>
              <a:rPr lang="en-US" dirty="0">
                <a:solidFill>
                  <a:schemeClr val="tx1"/>
                </a:solidFill>
              </a:rPr>
              <a:t>Available in all Azure regions</a:t>
            </a:r>
          </a:p>
        </p:txBody>
      </p:sp>
      <p:sp>
        <p:nvSpPr>
          <p:cNvPr id="3" name="TextBox 2">
            <a:extLst>
              <a:ext uri="{FF2B5EF4-FFF2-40B4-BE49-F238E27FC236}">
                <a16:creationId xmlns:a16="http://schemas.microsoft.com/office/drawing/2014/main" id="{4ECCB4F4-ED96-422F-891F-A5BD1F09A920}"/>
              </a:ext>
            </a:extLst>
          </p:cNvPr>
          <p:cNvSpPr txBox="1"/>
          <p:nvPr/>
        </p:nvSpPr>
        <p:spPr>
          <a:xfrm>
            <a:off x="8174515" y="2483176"/>
            <a:ext cx="1872867" cy="397032"/>
          </a:xfrm>
          <a:prstGeom prst="rect">
            <a:avLst/>
          </a:prstGeom>
          <a:solidFill>
            <a:schemeClr val="bg1"/>
          </a:solidFill>
        </p:spPr>
        <p:txBody>
          <a:bodyPr wrap="square" lIns="182880" tIns="146304" rIns="182880" bIns="0" rtlCol="0" anchor="t">
            <a:spAutoFit/>
          </a:bodyPr>
          <a:lstStyle/>
          <a:p>
            <a:pPr>
              <a:lnSpc>
                <a:spcPct val="90000"/>
              </a:lnSpc>
            </a:pPr>
            <a:r>
              <a:rPr lang="en-US" dirty="0">
                <a:gradFill>
                  <a:gsLst>
                    <a:gs pos="2917">
                      <a:schemeClr val="tx1"/>
                    </a:gs>
                    <a:gs pos="30000">
                      <a:schemeClr val="tx1"/>
                    </a:gs>
                  </a:gsLst>
                  <a:lin ang="5400000" scaled="0"/>
                </a:gradFill>
              </a:rPr>
              <a:t>db.contoso.lab</a:t>
            </a:r>
          </a:p>
        </p:txBody>
      </p:sp>
      <p:pic>
        <p:nvPicPr>
          <p:cNvPr id="4" name="Picture 3" descr="Diagram of a VM requesting and receiving a local IP address from Azure DNS. The IP address is used to communicate with another VM in the same virtual network.">
            <a:extLst>
              <a:ext uri="{FF2B5EF4-FFF2-40B4-BE49-F238E27FC236}">
                <a16:creationId xmlns:a16="http://schemas.microsoft.com/office/drawing/2014/main" id="{430AD78C-F756-7339-7099-020DEF765238}"/>
              </a:ext>
            </a:extLst>
          </p:cNvPr>
          <p:cNvPicPr>
            <a:picLocks noChangeAspect="1"/>
          </p:cNvPicPr>
          <p:nvPr/>
        </p:nvPicPr>
        <p:blipFill>
          <a:blip r:embed="rId3"/>
          <a:stretch>
            <a:fillRect/>
          </a:stretch>
        </p:blipFill>
        <p:spPr>
          <a:xfrm>
            <a:off x="5535855" y="1617399"/>
            <a:ext cx="6459867" cy="4586888"/>
          </a:xfrm>
          <a:prstGeom prst="rect">
            <a:avLst/>
          </a:prstGeom>
        </p:spPr>
      </p:pic>
    </p:spTree>
    <p:extLst>
      <p:ext uri="{BB962C8B-B14F-4D97-AF65-F5344CB8AC3E}">
        <p14:creationId xmlns:p14="http://schemas.microsoft.com/office/powerpoint/2010/main" val="844532542"/>
      </p:ext>
    </p:extLst>
  </p:cSld>
  <p:clrMapOvr>
    <a:masterClrMapping/>
  </p:clrMapOvr>
  <p:transition>
    <p:fad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EA1961-EF07-4B34-A4F5-A97D1136528C}"/>
              </a:ext>
            </a:extLst>
          </p:cNvPr>
          <p:cNvSpPr>
            <a:spLocks noGrp="1"/>
          </p:cNvSpPr>
          <p:nvPr>
            <p:ph type="title"/>
          </p:nvPr>
        </p:nvSpPr>
        <p:spPr/>
        <p:txBody>
          <a:bodyPr/>
          <a:lstStyle/>
          <a:p>
            <a:r>
              <a:rPr lang="en-US" dirty="0"/>
              <a:t>Demonstration - DNS</a:t>
            </a:r>
          </a:p>
        </p:txBody>
      </p:sp>
      <p:sp>
        <p:nvSpPr>
          <p:cNvPr id="4" name="Rectangle 3">
            <a:extLst>
              <a:ext uri="{FF2B5EF4-FFF2-40B4-BE49-F238E27FC236}">
                <a16:creationId xmlns:a16="http://schemas.microsoft.com/office/drawing/2014/main" id="{FD8F5AEC-22B3-4DBE-98F3-D9571EB06369}"/>
              </a:ext>
            </a:extLst>
          </p:cNvPr>
          <p:cNvSpPr/>
          <p:nvPr/>
        </p:nvSpPr>
        <p:spPr>
          <a:xfrm>
            <a:off x="922337" y="1514061"/>
            <a:ext cx="7492793" cy="1631331"/>
          </a:xfrm>
          <a:prstGeom prst="rect">
            <a:avLst/>
          </a:prstGeom>
          <a:no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0" tIns="0" rIns="0" bIns="0" numCol="1" spcCol="1270" anchor="ctr" anchorCtr="0">
            <a:noAutofit/>
          </a:bodyPr>
          <a:lstStyle/>
          <a:p>
            <a:pPr marL="342900" indent="-342900" defTabSz="1022350">
              <a:lnSpc>
                <a:spcPct val="150000"/>
              </a:lnSpc>
              <a:spcBef>
                <a:spcPct val="0"/>
              </a:spcBef>
              <a:spcAft>
                <a:spcPct val="35000"/>
              </a:spcAft>
              <a:buFont typeface="Arial" panose="020B0604020202020204" pitchFamily="34" charset="0"/>
              <a:buChar char="•"/>
            </a:pPr>
            <a:r>
              <a:rPr lang="en-US" sz="2300" dirty="0">
                <a:solidFill>
                  <a:schemeClr val="tx1"/>
                </a:solidFill>
              </a:rPr>
              <a:t>Create a DNS zone</a:t>
            </a:r>
          </a:p>
          <a:p>
            <a:pPr marL="342900" indent="-342900" defTabSz="1022350">
              <a:lnSpc>
                <a:spcPct val="150000"/>
              </a:lnSpc>
              <a:spcBef>
                <a:spcPct val="0"/>
              </a:spcBef>
              <a:spcAft>
                <a:spcPct val="35000"/>
              </a:spcAft>
              <a:buFont typeface="Arial" panose="020B0604020202020204" pitchFamily="34" charset="0"/>
              <a:buChar char="•"/>
            </a:pPr>
            <a:r>
              <a:rPr lang="en-US" sz="2300" dirty="0">
                <a:solidFill>
                  <a:schemeClr val="tx1"/>
                </a:solidFill>
              </a:rPr>
              <a:t>Add a DNS record set</a:t>
            </a:r>
          </a:p>
          <a:p>
            <a:pPr marL="342900" indent="-342900" defTabSz="1022350">
              <a:lnSpc>
                <a:spcPct val="150000"/>
              </a:lnSpc>
              <a:spcBef>
                <a:spcPct val="0"/>
              </a:spcBef>
              <a:spcAft>
                <a:spcPct val="35000"/>
              </a:spcAft>
              <a:buFont typeface="Arial" panose="020B0604020202020204" pitchFamily="34" charset="0"/>
              <a:buChar char="•"/>
            </a:pPr>
            <a:r>
              <a:rPr lang="en-US" sz="2300" dirty="0">
                <a:solidFill>
                  <a:schemeClr val="tx1"/>
                </a:solidFill>
              </a:rPr>
              <a:t>View the name servers</a:t>
            </a:r>
          </a:p>
        </p:txBody>
      </p:sp>
    </p:spTree>
    <p:extLst>
      <p:ext uri="{BB962C8B-B14F-4D97-AF65-F5344CB8AC3E}">
        <p14:creationId xmlns:p14="http://schemas.microsoft.com/office/powerpoint/2010/main" val="2289464969"/>
      </p:ext>
    </p:extLst>
  </p:cSld>
  <p:clrMapOvr>
    <a:masterClrMapping/>
  </p:clrMapOvr>
  <p:transition>
    <p:fad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9AEBD2-4AD6-4182-BF38-A3DE71D14CCF}"/>
              </a:ext>
            </a:extLst>
          </p:cNvPr>
          <p:cNvSpPr>
            <a:spLocks noGrp="1"/>
          </p:cNvSpPr>
          <p:nvPr>
            <p:ph type="title"/>
          </p:nvPr>
        </p:nvSpPr>
        <p:spPr/>
        <p:txBody>
          <a:bodyPr/>
          <a:lstStyle/>
          <a:p>
            <a:r>
              <a:rPr lang="en-US" dirty="0">
                <a:solidFill>
                  <a:schemeClr val="tx1"/>
                </a:solidFill>
              </a:rPr>
              <a:t>Learning Recap – Host your domain on Azure DNS</a:t>
            </a:r>
          </a:p>
        </p:txBody>
      </p:sp>
      <p:sp>
        <p:nvSpPr>
          <p:cNvPr id="4" name="TextBox 3">
            <a:extLst>
              <a:ext uri="{FF2B5EF4-FFF2-40B4-BE49-F238E27FC236}">
                <a16:creationId xmlns:a16="http://schemas.microsoft.com/office/drawing/2014/main" id="{8F486056-1BCE-8398-DB38-5A20CDCEB8CD}"/>
              </a:ext>
            </a:extLst>
          </p:cNvPr>
          <p:cNvSpPr txBox="1"/>
          <p:nvPr/>
        </p:nvSpPr>
        <p:spPr>
          <a:xfrm>
            <a:off x="3805671" y="1948070"/>
            <a:ext cx="3582265" cy="369332"/>
          </a:xfrm>
          <a:prstGeom prst="rect">
            <a:avLst/>
          </a:prstGeom>
          <a:noFill/>
        </p:spPr>
        <p:txBody>
          <a:bodyPr wrap="square">
            <a:spAutoFit/>
          </a:bodyPr>
          <a:lstStyle/>
          <a:p>
            <a:r>
              <a:rPr lang="en-US" b="1" dirty="0">
                <a:solidFill>
                  <a:schemeClr val="tx1"/>
                </a:solidFill>
              </a:rPr>
              <a:t>Reference modules</a:t>
            </a:r>
            <a:endParaRPr lang="en-US" b="1" dirty="0"/>
          </a:p>
        </p:txBody>
      </p:sp>
      <p:sp>
        <p:nvSpPr>
          <p:cNvPr id="6" name="Rectangle 5">
            <a:extLst>
              <a:ext uri="{FF2B5EF4-FFF2-40B4-BE49-F238E27FC236}">
                <a16:creationId xmlns:a16="http://schemas.microsoft.com/office/drawing/2014/main" id="{CAC358CA-46B9-4711-B1E2-32C8BA478474}"/>
              </a:ext>
            </a:extLst>
          </p:cNvPr>
          <p:cNvSpPr/>
          <p:nvPr/>
        </p:nvSpPr>
        <p:spPr>
          <a:xfrm>
            <a:off x="4026838" y="2330373"/>
            <a:ext cx="7132144" cy="1888336"/>
          </a:xfrm>
          <a:prstGeom prst="rect">
            <a:avLst/>
          </a:prstGeom>
          <a:no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06040" tIns="106040" rIns="106040" bIns="106040" numCol="1" spcCol="1270" anchor="t" anchorCtr="0">
            <a:noAutofit/>
          </a:bodyPr>
          <a:lstStyle/>
          <a:p>
            <a:pPr marL="342900" indent="-342900" defTabSz="800100">
              <a:spcBef>
                <a:spcPct val="0"/>
              </a:spcBef>
              <a:spcAft>
                <a:spcPct val="35000"/>
              </a:spcAft>
              <a:buClr>
                <a:schemeClr val="tx1"/>
              </a:buClr>
              <a:buFont typeface="Arial" panose="020B0604020202020204" pitchFamily="34" charset="0"/>
              <a:buChar char="•"/>
            </a:pPr>
            <a:r>
              <a:rPr lang="en-US" sz="2000" dirty="0">
                <a:hlinkClick r:id="rId3"/>
              </a:rPr>
              <a:t>Introduction to Azure DNS</a:t>
            </a:r>
          </a:p>
          <a:p>
            <a:pPr marL="342900" indent="-342900" defTabSz="800100">
              <a:spcBef>
                <a:spcPct val="0"/>
              </a:spcBef>
              <a:spcAft>
                <a:spcPct val="35000"/>
              </a:spcAft>
              <a:buClr>
                <a:schemeClr val="tx1"/>
              </a:buClr>
              <a:buFont typeface="Arial" panose="020B0604020202020204" pitchFamily="34" charset="0"/>
              <a:buChar char="•"/>
            </a:pPr>
            <a:r>
              <a:rPr lang="en-US" sz="2000" dirty="0">
                <a:hlinkClick r:id="rId4"/>
              </a:rPr>
              <a:t>Host your domain on Azure DNS</a:t>
            </a:r>
            <a:endParaRPr lang="en-US" sz="2000" dirty="0"/>
          </a:p>
          <a:p>
            <a:pPr defTabSz="800100">
              <a:lnSpc>
                <a:spcPct val="150000"/>
              </a:lnSpc>
              <a:spcBef>
                <a:spcPct val="0"/>
              </a:spcBef>
              <a:spcAft>
                <a:spcPct val="35000"/>
              </a:spcAft>
              <a:buClr>
                <a:schemeClr val="tx1"/>
              </a:buClr>
            </a:pPr>
            <a:endParaRPr lang="en-US" sz="2000" dirty="0">
              <a:solidFill>
                <a:schemeClr val="tx1"/>
              </a:solidFill>
            </a:endParaRPr>
          </a:p>
        </p:txBody>
      </p:sp>
    </p:spTree>
    <p:extLst>
      <p:ext uri="{BB962C8B-B14F-4D97-AF65-F5344CB8AC3E}">
        <p14:creationId xmlns:p14="http://schemas.microsoft.com/office/powerpoint/2010/main" val="2540666556"/>
      </p:ext>
    </p:extLst>
  </p:cSld>
  <p:clrMapOvr>
    <a:masterClrMapping/>
  </p:clrMapOvr>
  <p:transition>
    <p:fad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CD8665D-5A50-4F07-9D33-48CCD3FD74C7}"/>
              </a:ext>
            </a:extLst>
          </p:cNvPr>
          <p:cNvSpPr>
            <a:spLocks noGrp="1"/>
          </p:cNvSpPr>
          <p:nvPr>
            <p:ph type="title"/>
          </p:nvPr>
        </p:nvSpPr>
        <p:spPr>
          <a:xfrm>
            <a:off x="581340" y="2949615"/>
            <a:ext cx="6472474" cy="1130181"/>
          </a:xfrm>
        </p:spPr>
        <p:txBody>
          <a:bodyPr/>
          <a:lstStyle/>
          <a:p>
            <a:r>
              <a:rPr lang="en-US" dirty="0">
                <a:latin typeface="Segoe UI"/>
                <a:cs typeface="Segoe UI"/>
              </a:rPr>
              <a:t>Lab – Implement Virtual Networks</a:t>
            </a:r>
            <a:endParaRPr lang="en-US" dirty="0">
              <a:ea typeface="+mj-lt"/>
              <a:cs typeface="+mj-lt"/>
            </a:endParaRPr>
          </a:p>
        </p:txBody>
      </p:sp>
    </p:spTree>
    <p:extLst>
      <p:ext uri="{BB962C8B-B14F-4D97-AF65-F5344CB8AC3E}">
        <p14:creationId xmlns:p14="http://schemas.microsoft.com/office/powerpoint/2010/main" val="31947273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7D2504-CD52-4530-95A0-64324BCD7B4B}"/>
              </a:ext>
            </a:extLst>
          </p:cNvPr>
          <p:cNvSpPr>
            <a:spLocks noGrp="1"/>
          </p:cNvSpPr>
          <p:nvPr>
            <p:ph type="title"/>
          </p:nvPr>
        </p:nvSpPr>
        <p:spPr/>
        <p:txBody>
          <a:bodyPr>
            <a:noAutofit/>
          </a:bodyPr>
          <a:lstStyle/>
          <a:p>
            <a:r>
              <a:rPr lang="en-US" sz="3329" spc="-51" dirty="0">
                <a:latin typeface="Segoe UI Semibold" panose="020B0702040204020203" pitchFamily="34" charset="0"/>
                <a:ea typeface="+mj-lt"/>
                <a:cs typeface="Segoe UI Semibold" panose="020B0702040204020203" pitchFamily="34" charset="0"/>
              </a:rPr>
              <a:t>Lab 04 – Implement Virtual Networking</a:t>
            </a:r>
          </a:p>
        </p:txBody>
      </p:sp>
      <p:sp>
        <p:nvSpPr>
          <p:cNvPr id="5" name="Text Placeholder 2">
            <a:extLst>
              <a:ext uri="{FF2B5EF4-FFF2-40B4-BE49-F238E27FC236}">
                <a16:creationId xmlns:a16="http://schemas.microsoft.com/office/drawing/2014/main" id="{9A085E54-B7DB-4480-872D-1F7E42EA007A}"/>
              </a:ext>
            </a:extLst>
          </p:cNvPr>
          <p:cNvSpPr txBox="1">
            <a:spLocks/>
          </p:cNvSpPr>
          <p:nvPr/>
        </p:nvSpPr>
        <p:spPr>
          <a:xfrm>
            <a:off x="336433" y="2230458"/>
            <a:ext cx="3558037" cy="3055965"/>
          </a:xfrm>
          <a:prstGeom prst="rect">
            <a:avLst/>
          </a:prstGeom>
        </p:spPr>
        <p:txBody>
          <a:bodyPr vert="horz" wrap="square" lIns="0" tIns="0" rIns="0" bIns="0" rtlCol="0" anchor="t">
            <a:spAutoFit/>
          </a:bodyPr>
          <a:lstStyle>
            <a:lvl1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2400" kern="1200" spc="-50" baseline="0">
                <a:solidFill>
                  <a:srgbClr val="000000"/>
                </a:solidFill>
                <a:latin typeface="+mj-lt"/>
                <a:ea typeface="+mn-ea"/>
                <a:cs typeface="+mn-cs"/>
              </a:defRPr>
            </a:lvl1pPr>
            <a:lvl2pPr marL="0" marR="0" indent="0" algn="l" defTabSz="932742" rtl="0" eaLnBrk="1" fontAlgn="auto" latinLnBrk="0" hangingPunct="1">
              <a:lnSpc>
                <a:spcPct val="100000"/>
              </a:lnSpc>
              <a:spcBef>
                <a:spcPts val="0"/>
              </a:spcBef>
              <a:spcAft>
                <a:spcPts val="0"/>
              </a:spcAft>
              <a:buClrTx/>
              <a:buSzPct val="90000"/>
              <a:buFontTx/>
              <a:buNone/>
              <a:tabLst/>
              <a:defRPr sz="2000" kern="1200" spc="0" baseline="0">
                <a:solidFill>
                  <a:srgbClr val="000000"/>
                </a:solidFill>
                <a:latin typeface="+mn-lt"/>
                <a:ea typeface="+mn-ea"/>
                <a:cs typeface="+mn-cs"/>
              </a:defRPr>
            </a:lvl2pPr>
            <a:lvl3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400" kern="1200" spc="0" baseline="0">
                <a:solidFill>
                  <a:schemeClr val="tx2"/>
                </a:solidFill>
                <a:latin typeface="+mj-lt"/>
                <a:ea typeface="+mn-ea"/>
                <a:cs typeface="+mn-cs"/>
              </a:defRPr>
            </a:lvl3pPr>
            <a:lvl4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400" kern="1200" spc="0" baseline="0">
                <a:solidFill>
                  <a:srgbClr val="000000"/>
                </a:solidFill>
                <a:latin typeface="+mn-lt"/>
                <a:ea typeface="+mn-ea"/>
                <a:cs typeface="+mn-cs"/>
              </a:defRPr>
            </a:lvl4pPr>
            <a:lvl5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000" b="1" kern="1200" spc="0" baseline="0">
                <a:solidFill>
                  <a:srgbClr val="000000"/>
                </a:solidFill>
                <a:latin typeface="+mn-lt"/>
                <a:ea typeface="+mn-ea"/>
                <a:cs typeface="+mn-cs"/>
              </a:defRPr>
            </a:lvl5pPr>
            <a:lvl6pPr marL="2331854" indent="0" algn="l" defTabSz="932742" rtl="0" eaLnBrk="1" latinLnBrk="0" hangingPunct="1">
              <a:spcBef>
                <a:spcPct val="20000"/>
              </a:spcBef>
              <a:buFont typeface="Arial" pitchFamily="34" charset="0"/>
              <a:buNone/>
              <a:defRPr sz="2000" kern="1200">
                <a:solidFill>
                  <a:schemeClr val="tx1"/>
                </a:solidFill>
                <a:latin typeface="+mn-lt"/>
                <a:ea typeface="+mn-ea"/>
                <a:cs typeface="+mn-cs"/>
              </a:defRPr>
            </a:lvl6pPr>
            <a:lvl7pPr marL="0" indent="0" algn="l" defTabSz="932742" rtl="0" eaLnBrk="1" latinLnBrk="0" hangingPunct="1">
              <a:lnSpc>
                <a:spcPct val="100000"/>
              </a:lnSpc>
              <a:spcBef>
                <a:spcPts val="0"/>
              </a:spcBef>
              <a:spcAft>
                <a:spcPts val="0"/>
              </a:spcAft>
              <a:buFont typeface="Arial" pitchFamily="34" charset="0"/>
              <a:buNone/>
              <a:defRPr sz="1000" kern="1200">
                <a:solidFill>
                  <a:srgbClr val="000000"/>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spcAft>
                <a:spcPts val="612"/>
              </a:spcAft>
            </a:pPr>
            <a:r>
              <a:rPr lang="en-US" sz="1836" spc="0" dirty="0">
                <a:solidFill>
                  <a:schemeClr val="tx1"/>
                </a:solidFill>
                <a:latin typeface="+mn-lt"/>
                <a:cs typeface="Segoe UI Semilight"/>
              </a:rPr>
              <a:t>This lab is the first of three labs that focus on virtual networking.</a:t>
            </a:r>
          </a:p>
          <a:p>
            <a:pPr>
              <a:spcAft>
                <a:spcPts val="612"/>
              </a:spcAft>
            </a:pPr>
            <a:r>
              <a:rPr lang="en-US" sz="1836" spc="0" dirty="0">
                <a:solidFill>
                  <a:schemeClr val="tx1"/>
                </a:solidFill>
                <a:latin typeface="+mn-lt"/>
                <a:cs typeface="Segoe UI Semilight"/>
              </a:rPr>
              <a:t>In this lab, you learn the basics of virtual networking and subnetting.</a:t>
            </a:r>
          </a:p>
          <a:p>
            <a:pPr>
              <a:spcAft>
                <a:spcPts val="612"/>
              </a:spcAft>
            </a:pPr>
            <a:r>
              <a:rPr lang="en-US" sz="1836" spc="0" dirty="0">
                <a:solidFill>
                  <a:schemeClr val="tx1"/>
                </a:solidFill>
                <a:latin typeface="+mn-lt"/>
                <a:cs typeface="Segoe UI Semilight"/>
              </a:rPr>
              <a:t>You learn how to protect your network with Network Security Groups and Application Security Groups. </a:t>
            </a:r>
          </a:p>
          <a:p>
            <a:pPr>
              <a:spcAft>
                <a:spcPts val="612"/>
              </a:spcAft>
            </a:pPr>
            <a:r>
              <a:rPr lang="en-US" sz="1836" spc="0" dirty="0">
                <a:solidFill>
                  <a:schemeClr val="tx1"/>
                </a:solidFill>
                <a:latin typeface="+mn-lt"/>
                <a:cs typeface="Segoe UI Semilight"/>
              </a:rPr>
              <a:t>You learn how to configure Azure DNS. </a:t>
            </a:r>
          </a:p>
        </p:txBody>
      </p:sp>
      <p:sp>
        <p:nvSpPr>
          <p:cNvPr id="7" name="Rectangle 6">
            <a:extLst>
              <a:ext uri="{FF2B5EF4-FFF2-40B4-BE49-F238E27FC236}">
                <a16:creationId xmlns:a16="http://schemas.microsoft.com/office/drawing/2014/main" id="{D4D6810E-9169-417A-8E79-F0AE4DD689F1}"/>
              </a:ext>
            </a:extLst>
          </p:cNvPr>
          <p:cNvSpPr/>
          <p:nvPr/>
        </p:nvSpPr>
        <p:spPr bwMode="auto">
          <a:xfrm>
            <a:off x="5052063" y="2103034"/>
            <a:ext cx="7047978" cy="3158587"/>
          </a:xfrm>
          <a:prstGeom prst="rect">
            <a:avLst/>
          </a:prstGeom>
          <a:solidFill>
            <a:schemeClr val="bg1"/>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82854" tIns="137141" rIns="182854" bIns="137141" numCol="1" spcCol="1270" anchor="t" anchorCtr="0">
            <a:noAutofit/>
          </a:bodyPr>
          <a:lstStyle/>
          <a:p>
            <a:pPr>
              <a:spcAft>
                <a:spcPts val="612"/>
              </a:spcAft>
            </a:pPr>
            <a:r>
              <a:rPr lang="en-US" sz="2040" dirty="0">
                <a:solidFill>
                  <a:schemeClr val="tx1"/>
                </a:solidFill>
                <a:latin typeface="Segoe UI Semibold" panose="020B0702040204020203" pitchFamily="34" charset="0"/>
                <a:cs typeface="Segoe UI Semibold" panose="020B0702040204020203" pitchFamily="34" charset="0"/>
              </a:rPr>
              <a:t>Task 1</a:t>
            </a:r>
            <a:r>
              <a:rPr lang="en-US" sz="2040" dirty="0">
                <a:solidFill>
                  <a:srgbClr val="1F2328"/>
                </a:solidFill>
                <a:latin typeface="-apple-system"/>
              </a:rPr>
              <a:t>: </a:t>
            </a:r>
            <a:r>
              <a:rPr lang="en-US" sz="2040" dirty="0">
                <a:solidFill>
                  <a:schemeClr val="tx1"/>
                </a:solidFill>
                <a:latin typeface="Segoe UI" panose="020B0502040204020203" pitchFamily="34" charset="0"/>
                <a:cs typeface="Segoe UI" panose="020B0502040204020203" pitchFamily="34" charset="0"/>
              </a:rPr>
              <a:t>Create a virtual network with subnets using the portal.</a:t>
            </a:r>
          </a:p>
          <a:p>
            <a:pPr>
              <a:spcAft>
                <a:spcPts val="612"/>
              </a:spcAft>
            </a:pPr>
            <a:r>
              <a:rPr lang="en-US" sz="2040" dirty="0">
                <a:solidFill>
                  <a:schemeClr val="tx1"/>
                </a:solidFill>
                <a:latin typeface="Segoe UI Semibold" panose="020B0702040204020203" pitchFamily="34" charset="0"/>
                <a:cs typeface="Segoe UI Semibold" panose="020B0702040204020203" pitchFamily="34" charset="0"/>
              </a:rPr>
              <a:t>Task 2</a:t>
            </a:r>
            <a:r>
              <a:rPr lang="en-US" sz="2040" dirty="0">
                <a:solidFill>
                  <a:srgbClr val="1F2328"/>
                </a:solidFill>
                <a:latin typeface="-apple-system"/>
              </a:rPr>
              <a:t>: </a:t>
            </a:r>
            <a:r>
              <a:rPr lang="en-US" sz="2040" dirty="0">
                <a:solidFill>
                  <a:schemeClr val="tx1"/>
                </a:solidFill>
                <a:latin typeface="Segoe UI" panose="020B0502040204020203" pitchFamily="34" charset="0"/>
                <a:cs typeface="Segoe UI" panose="020B0502040204020203" pitchFamily="34" charset="0"/>
              </a:rPr>
              <a:t>Create a virtual network and subnets using a template. </a:t>
            </a:r>
          </a:p>
          <a:p>
            <a:pPr>
              <a:spcAft>
                <a:spcPts val="612"/>
              </a:spcAft>
            </a:pPr>
            <a:r>
              <a:rPr lang="en-US" sz="2040" dirty="0">
                <a:solidFill>
                  <a:schemeClr val="tx1"/>
                </a:solidFill>
                <a:latin typeface="Segoe UI Semibold" panose="020B0702040204020203" pitchFamily="34" charset="0"/>
                <a:cs typeface="Segoe UI Semibold" panose="020B0702040204020203" pitchFamily="34" charset="0"/>
              </a:rPr>
              <a:t>Task 3</a:t>
            </a:r>
            <a:r>
              <a:rPr lang="en-US" sz="2040" dirty="0">
                <a:solidFill>
                  <a:srgbClr val="1F2328"/>
                </a:solidFill>
                <a:latin typeface="-apple-system"/>
              </a:rPr>
              <a:t>: </a:t>
            </a:r>
            <a:r>
              <a:rPr lang="en-US" sz="2040" dirty="0">
                <a:solidFill>
                  <a:schemeClr val="tx1"/>
                </a:solidFill>
                <a:latin typeface="Segoe UI" panose="020B0502040204020203" pitchFamily="34" charset="0"/>
                <a:cs typeface="Segoe UI" panose="020B0502040204020203" pitchFamily="34" charset="0"/>
              </a:rPr>
              <a:t>Create and configure communication between an Application Security Group and a Network Security Group.</a:t>
            </a:r>
          </a:p>
          <a:p>
            <a:pPr>
              <a:spcAft>
                <a:spcPts val="612"/>
              </a:spcAft>
            </a:pPr>
            <a:r>
              <a:rPr lang="en-US" sz="2040" dirty="0">
                <a:solidFill>
                  <a:schemeClr val="tx1"/>
                </a:solidFill>
                <a:latin typeface="Segoe UI Semibold" panose="020B0702040204020203" pitchFamily="34" charset="0"/>
                <a:cs typeface="Segoe UI Semibold" panose="020B0702040204020203" pitchFamily="34" charset="0"/>
              </a:rPr>
              <a:t>Task 4</a:t>
            </a:r>
            <a:r>
              <a:rPr lang="en-US" sz="2040" dirty="0">
                <a:solidFill>
                  <a:schemeClr val="tx1"/>
                </a:solidFill>
                <a:latin typeface="Segoe UI" panose="020B0502040204020203" pitchFamily="34" charset="0"/>
                <a:cs typeface="Segoe UI" panose="020B0502040204020203" pitchFamily="34" charset="0"/>
              </a:rPr>
              <a:t>: Configure public and private Azure DNS zones.</a:t>
            </a:r>
            <a:endParaRPr lang="en-US" sz="2000" dirty="0">
              <a:solidFill>
                <a:schemeClr val="tx1"/>
              </a:solidFill>
            </a:endParaRPr>
          </a:p>
          <a:p>
            <a:pPr>
              <a:spcAft>
                <a:spcPts val="612"/>
              </a:spcAft>
            </a:pPr>
            <a:endParaRPr lang="en-US" sz="2000" dirty="0">
              <a:solidFill>
                <a:schemeClr val="tx1"/>
              </a:solidFill>
            </a:endParaRPr>
          </a:p>
          <a:p>
            <a:pPr>
              <a:spcAft>
                <a:spcPts val="612"/>
              </a:spcAft>
            </a:pPr>
            <a:endParaRPr lang="en-US" sz="2000" dirty="0">
              <a:solidFill>
                <a:schemeClr val="tx1"/>
              </a:solidFill>
            </a:endParaRPr>
          </a:p>
          <a:p>
            <a:pPr>
              <a:spcAft>
                <a:spcPts val="612"/>
              </a:spcAft>
            </a:pPr>
            <a:endParaRPr lang="en-US" sz="2000" dirty="0">
              <a:solidFill>
                <a:schemeClr val="tx1"/>
              </a:solidFill>
            </a:endParaRPr>
          </a:p>
          <a:p>
            <a:pPr>
              <a:spcAft>
                <a:spcPts val="612"/>
              </a:spcAft>
            </a:pPr>
            <a:endParaRPr lang="en-US" sz="2000" dirty="0">
              <a:solidFill>
                <a:schemeClr val="tx1"/>
              </a:solidFill>
            </a:endParaRPr>
          </a:p>
        </p:txBody>
      </p:sp>
      <p:sp>
        <p:nvSpPr>
          <p:cNvPr id="21" name="Text Placeholder 2">
            <a:extLst>
              <a:ext uri="{FF2B5EF4-FFF2-40B4-BE49-F238E27FC236}">
                <a16:creationId xmlns:a16="http://schemas.microsoft.com/office/drawing/2014/main" id="{27612CF1-317E-4249-BC4C-2662B896B73C}"/>
              </a:ext>
              <a:ext uri="{C183D7F6-B498-43B3-948B-1728B52AA6E4}">
                <adec:decorative xmlns:adec="http://schemas.microsoft.com/office/drawing/2017/decorative" val="1"/>
              </a:ext>
            </a:extLst>
          </p:cNvPr>
          <p:cNvSpPr txBox="1">
            <a:spLocks/>
          </p:cNvSpPr>
          <p:nvPr/>
        </p:nvSpPr>
        <p:spPr>
          <a:xfrm>
            <a:off x="8240020" y="6115155"/>
            <a:ext cx="3531585" cy="256159"/>
          </a:xfrm>
          <a:prstGeom prst="rect">
            <a:avLst/>
          </a:prstGeom>
        </p:spPr>
        <p:txBody>
          <a:bodyPr vert="horz" wrap="square" lIns="0" tIns="0" rIns="0" bIns="0" rtlCol="0" anchor="t">
            <a:spAutoFit/>
          </a:bodyPr>
          <a:lstStyle>
            <a:lvl1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2400" kern="1200" spc="-50" baseline="0">
                <a:solidFill>
                  <a:srgbClr val="000000"/>
                </a:solidFill>
                <a:latin typeface="+mj-lt"/>
                <a:ea typeface="+mn-ea"/>
                <a:cs typeface="+mn-cs"/>
              </a:defRPr>
            </a:lvl1pPr>
            <a:lvl2pPr marL="0" marR="0" indent="0" algn="l" defTabSz="932742" rtl="0" eaLnBrk="1" fontAlgn="auto" latinLnBrk="0" hangingPunct="1">
              <a:lnSpc>
                <a:spcPct val="100000"/>
              </a:lnSpc>
              <a:spcBef>
                <a:spcPts val="0"/>
              </a:spcBef>
              <a:spcAft>
                <a:spcPts val="0"/>
              </a:spcAft>
              <a:buClrTx/>
              <a:buSzPct val="90000"/>
              <a:buFontTx/>
              <a:buNone/>
              <a:tabLst/>
              <a:defRPr sz="2000" kern="1200" spc="0" baseline="0">
                <a:solidFill>
                  <a:srgbClr val="000000"/>
                </a:solidFill>
                <a:latin typeface="+mn-lt"/>
                <a:ea typeface="+mn-ea"/>
                <a:cs typeface="+mn-cs"/>
              </a:defRPr>
            </a:lvl2pPr>
            <a:lvl3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400" kern="1200" spc="0" baseline="0">
                <a:solidFill>
                  <a:schemeClr val="tx2"/>
                </a:solidFill>
                <a:latin typeface="+mj-lt"/>
                <a:ea typeface="+mn-ea"/>
                <a:cs typeface="+mn-cs"/>
              </a:defRPr>
            </a:lvl3pPr>
            <a:lvl4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400" kern="1200" spc="0" baseline="0">
                <a:solidFill>
                  <a:srgbClr val="000000"/>
                </a:solidFill>
                <a:latin typeface="+mn-lt"/>
                <a:ea typeface="+mn-ea"/>
                <a:cs typeface="+mn-cs"/>
              </a:defRPr>
            </a:lvl4pPr>
            <a:lvl5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000" b="1" kern="1200" spc="0" baseline="0">
                <a:solidFill>
                  <a:srgbClr val="000000"/>
                </a:solidFill>
                <a:latin typeface="+mn-lt"/>
                <a:ea typeface="+mn-ea"/>
                <a:cs typeface="+mn-cs"/>
              </a:defRPr>
            </a:lvl5pPr>
            <a:lvl6pPr marL="2331854" indent="0" algn="l" defTabSz="932742" rtl="0" eaLnBrk="1" latinLnBrk="0" hangingPunct="1">
              <a:spcBef>
                <a:spcPct val="20000"/>
              </a:spcBef>
              <a:buFont typeface="Arial" pitchFamily="34" charset="0"/>
              <a:buNone/>
              <a:defRPr sz="2000" kern="1200">
                <a:solidFill>
                  <a:schemeClr val="tx1"/>
                </a:solidFill>
                <a:latin typeface="+mn-lt"/>
                <a:ea typeface="+mn-ea"/>
                <a:cs typeface="+mn-cs"/>
              </a:defRPr>
            </a:lvl6pPr>
            <a:lvl7pPr marL="0" indent="0" algn="l" defTabSz="932742" rtl="0" eaLnBrk="1" latinLnBrk="0" hangingPunct="1">
              <a:lnSpc>
                <a:spcPct val="100000"/>
              </a:lnSpc>
              <a:spcBef>
                <a:spcPts val="0"/>
              </a:spcBef>
              <a:spcAft>
                <a:spcPts val="0"/>
              </a:spcAft>
              <a:buFont typeface="Arial" pitchFamily="34" charset="0"/>
              <a:buNone/>
              <a:defRPr sz="1000" kern="1200">
                <a:solidFill>
                  <a:srgbClr val="000000"/>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632" spc="0" dirty="0">
                <a:solidFill>
                  <a:schemeClr val="tx1"/>
                </a:solidFill>
                <a:latin typeface="Segoe UI" panose="020B0502040204020203" pitchFamily="34" charset="0"/>
                <a:cs typeface="Segoe UI" panose="020B0502040204020203" pitchFamily="34" charset="0"/>
              </a:rPr>
              <a:t>Next slide for an architecture diagram </a:t>
            </a:r>
          </a:p>
        </p:txBody>
      </p:sp>
      <p:sp>
        <p:nvSpPr>
          <p:cNvPr id="22" name="arrow_15">
            <a:extLst>
              <a:ext uri="{FF2B5EF4-FFF2-40B4-BE49-F238E27FC236}">
                <a16:creationId xmlns:a16="http://schemas.microsoft.com/office/drawing/2014/main" id="{DEDC40DE-1ECF-409A-B2F8-E1BBF36437BE}"/>
              </a:ext>
              <a:ext uri="{C183D7F6-B498-43B3-948B-1728B52AA6E4}">
                <adec:decorative xmlns:adec="http://schemas.microsoft.com/office/drawing/2017/decorative" val="1"/>
              </a:ext>
            </a:extLst>
          </p:cNvPr>
          <p:cNvSpPr>
            <a:spLocks noChangeAspect="1" noEditPoints="1"/>
          </p:cNvSpPr>
          <p:nvPr/>
        </p:nvSpPr>
        <p:spPr bwMode="auto">
          <a:xfrm>
            <a:off x="11771606" y="6125809"/>
            <a:ext cx="225900" cy="224873"/>
          </a:xfrm>
          <a:custGeom>
            <a:avLst/>
            <a:gdLst>
              <a:gd name="T0" fmla="*/ 0 w 304"/>
              <a:gd name="T1" fmla="*/ 151 h 303"/>
              <a:gd name="T2" fmla="*/ 152 w 304"/>
              <a:gd name="T3" fmla="*/ 0 h 303"/>
              <a:gd name="T4" fmla="*/ 304 w 304"/>
              <a:gd name="T5" fmla="*/ 151 h 303"/>
              <a:gd name="T6" fmla="*/ 152 w 304"/>
              <a:gd name="T7" fmla="*/ 303 h 303"/>
              <a:gd name="T8" fmla="*/ 0 w 304"/>
              <a:gd name="T9" fmla="*/ 151 h 303"/>
              <a:gd name="T10" fmla="*/ 151 w 304"/>
              <a:gd name="T11" fmla="*/ 223 h 303"/>
              <a:gd name="T12" fmla="*/ 223 w 304"/>
              <a:gd name="T13" fmla="*/ 151 h 303"/>
              <a:gd name="T14" fmla="*/ 151 w 304"/>
              <a:gd name="T15" fmla="*/ 79 h 303"/>
              <a:gd name="T16" fmla="*/ 223 w 304"/>
              <a:gd name="T17" fmla="*/ 151 h 303"/>
              <a:gd name="T18" fmla="*/ 73 w 304"/>
              <a:gd name="T19" fmla="*/ 151 h 3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04" h="303">
                <a:moveTo>
                  <a:pt x="0" y="151"/>
                </a:moveTo>
                <a:cubicBezTo>
                  <a:pt x="0" y="68"/>
                  <a:pt x="68" y="0"/>
                  <a:pt x="152" y="0"/>
                </a:cubicBezTo>
                <a:cubicBezTo>
                  <a:pt x="236" y="0"/>
                  <a:pt x="304" y="68"/>
                  <a:pt x="304" y="151"/>
                </a:cubicBezTo>
                <a:cubicBezTo>
                  <a:pt x="304" y="235"/>
                  <a:pt x="236" y="303"/>
                  <a:pt x="152" y="303"/>
                </a:cubicBezTo>
                <a:cubicBezTo>
                  <a:pt x="68" y="303"/>
                  <a:pt x="0" y="235"/>
                  <a:pt x="0" y="151"/>
                </a:cubicBezTo>
                <a:close/>
                <a:moveTo>
                  <a:pt x="151" y="223"/>
                </a:moveTo>
                <a:cubicBezTo>
                  <a:pt x="223" y="151"/>
                  <a:pt x="223" y="151"/>
                  <a:pt x="223" y="151"/>
                </a:cubicBezTo>
                <a:cubicBezTo>
                  <a:pt x="151" y="79"/>
                  <a:pt x="151" y="79"/>
                  <a:pt x="151" y="79"/>
                </a:cubicBezTo>
                <a:moveTo>
                  <a:pt x="223" y="151"/>
                </a:moveTo>
                <a:cubicBezTo>
                  <a:pt x="73" y="151"/>
                  <a:pt x="73" y="151"/>
                  <a:pt x="73" y="151"/>
                </a:cubicBezTo>
              </a:path>
            </a:pathLst>
          </a:custGeom>
          <a:solidFill>
            <a:srgbClr val="FFFF00"/>
          </a:solidFill>
          <a:ln w="15875" cap="sq">
            <a:solidFill>
              <a:schemeClr val="tx1"/>
            </a:solidFill>
            <a:prstDash val="solid"/>
            <a:miter lim="800000"/>
            <a:headEnd/>
            <a:tailEnd/>
          </a:ln>
        </p:spPr>
        <p:txBody>
          <a:bodyPr vert="horz" wrap="square" lIns="91427" tIns="45713" rIns="91427" bIns="45713" numCol="1" anchor="t" anchorCtr="0" compatLnSpc="1">
            <a:prstTxWarp prst="textNoShape">
              <a:avLst/>
            </a:prstTxWarp>
          </a:bodyPr>
          <a:lstStyle/>
          <a:p>
            <a:endParaRPr lang="en-US" sz="900" dirty="0">
              <a:gradFill>
                <a:gsLst>
                  <a:gs pos="0">
                    <a:srgbClr val="505050"/>
                  </a:gs>
                  <a:gs pos="100000">
                    <a:srgbClr val="505050"/>
                  </a:gs>
                </a:gsLst>
                <a:lin ang="5400000" scaled="1"/>
              </a:gradFill>
            </a:endParaRPr>
          </a:p>
        </p:txBody>
      </p:sp>
      <p:sp>
        <p:nvSpPr>
          <p:cNvPr id="3" name="TextBox 2">
            <a:extLst>
              <a:ext uri="{FF2B5EF4-FFF2-40B4-BE49-F238E27FC236}">
                <a16:creationId xmlns:a16="http://schemas.microsoft.com/office/drawing/2014/main" id="{7F6CF54F-E27B-8E9B-8070-E338D8BCA8CE}"/>
              </a:ext>
              <a:ext uri="{C183D7F6-B498-43B3-948B-1728B52AA6E4}">
                <adec:decorative xmlns:adec="http://schemas.microsoft.com/office/drawing/2017/decorative" val="1"/>
              </a:ext>
            </a:extLst>
          </p:cNvPr>
          <p:cNvSpPr txBox="1"/>
          <p:nvPr/>
        </p:nvSpPr>
        <p:spPr>
          <a:xfrm>
            <a:off x="5035246" y="1738886"/>
            <a:ext cx="6215646" cy="414353"/>
          </a:xfrm>
          <a:prstGeom prst="rect">
            <a:avLst/>
          </a:prstGeom>
          <a:noFill/>
        </p:spPr>
        <p:txBody>
          <a:bodyPr wrap="square">
            <a:spAutoFit/>
          </a:bodyPr>
          <a:lstStyle/>
          <a:p>
            <a:r>
              <a:rPr lang="en-US" sz="2040" dirty="0">
                <a:latin typeface="Segoe UI Semibold" panose="020B0702040204020203" pitchFamily="34" charset="0"/>
                <a:cs typeface="Segoe UI Semibold" panose="020B0702040204020203" pitchFamily="34" charset="0"/>
              </a:rPr>
              <a:t>Job Skills</a:t>
            </a:r>
            <a:endParaRPr lang="en-US" sz="2040" dirty="0"/>
          </a:p>
        </p:txBody>
      </p:sp>
    </p:spTree>
    <p:extLst>
      <p:ext uri="{BB962C8B-B14F-4D97-AF65-F5344CB8AC3E}">
        <p14:creationId xmlns:p14="http://schemas.microsoft.com/office/powerpoint/2010/main" val="3440913230"/>
      </p:ext>
    </p:extLst>
  </p:cSld>
  <p:clrMapOvr>
    <a:masterClrMapping/>
  </p:clrMapOvr>
  <p:transition>
    <p:fad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F202B1-5CB4-4E61-93D2-CD8FFBD5512A}"/>
              </a:ext>
            </a:extLst>
          </p:cNvPr>
          <p:cNvSpPr>
            <a:spLocks noGrp="1"/>
          </p:cNvSpPr>
          <p:nvPr>
            <p:ph type="title"/>
          </p:nvPr>
        </p:nvSpPr>
        <p:spPr/>
        <p:txBody>
          <a:bodyPr/>
          <a:lstStyle/>
          <a:p>
            <a:r>
              <a:rPr lang="en-US" dirty="0">
                <a:cs typeface="Segoe UI"/>
              </a:rPr>
              <a:t>Lab 04 – Architecture diagram</a:t>
            </a:r>
            <a:endParaRPr lang="en-US" dirty="0"/>
          </a:p>
        </p:txBody>
      </p:sp>
      <p:grpSp>
        <p:nvGrpSpPr>
          <p:cNvPr id="16" name="Group 15" descr="Architecture diagram for virtual networks. ">
            <a:extLst>
              <a:ext uri="{FF2B5EF4-FFF2-40B4-BE49-F238E27FC236}">
                <a16:creationId xmlns:a16="http://schemas.microsoft.com/office/drawing/2014/main" id="{805ED701-56E5-ECF2-41CD-D3247DF3CF9B}"/>
              </a:ext>
            </a:extLst>
          </p:cNvPr>
          <p:cNvGrpSpPr/>
          <p:nvPr/>
        </p:nvGrpSpPr>
        <p:grpSpPr>
          <a:xfrm>
            <a:off x="1591792" y="1375893"/>
            <a:ext cx="9252890" cy="4717821"/>
            <a:chOff x="1559858" y="1349037"/>
            <a:chExt cx="9072284" cy="4625735"/>
          </a:xfrm>
        </p:grpSpPr>
        <p:sp>
          <p:nvSpPr>
            <p:cNvPr id="3" name="Rectangle 2">
              <a:extLst>
                <a:ext uri="{FF2B5EF4-FFF2-40B4-BE49-F238E27FC236}">
                  <a16:creationId xmlns:a16="http://schemas.microsoft.com/office/drawing/2014/main" id="{EFA5B6CD-9998-C7E1-B324-3B1F59CD6E96}"/>
                </a:ext>
              </a:extLst>
            </p:cNvPr>
            <p:cNvSpPr/>
            <p:nvPr/>
          </p:nvSpPr>
          <p:spPr>
            <a:xfrm>
              <a:off x="1559858" y="1546331"/>
              <a:ext cx="9072284" cy="4428441"/>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36">
                <a:latin typeface="Segoe UI" panose="020B0502040204020203" pitchFamily="34" charset="0"/>
                <a:cs typeface="Segoe UI" panose="020B0502040204020203" pitchFamily="34" charset="0"/>
              </a:endParaRPr>
            </a:p>
          </p:txBody>
        </p:sp>
        <p:sp>
          <p:nvSpPr>
            <p:cNvPr id="4" name="矩形 9">
              <a:extLst>
                <a:ext uri="{FF2B5EF4-FFF2-40B4-BE49-F238E27FC236}">
                  <a16:creationId xmlns:a16="http://schemas.microsoft.com/office/drawing/2014/main" id="{84A23C5F-4DB3-BB26-E308-25A243F9D34F}"/>
                </a:ext>
              </a:extLst>
            </p:cNvPr>
            <p:cNvSpPr/>
            <p:nvPr/>
          </p:nvSpPr>
          <p:spPr>
            <a:xfrm>
              <a:off x="2032203" y="1897661"/>
              <a:ext cx="3938968" cy="3441753"/>
            </a:xfrm>
            <a:prstGeom prst="rect">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36" dirty="0">
                <a:solidFill>
                  <a:schemeClr val="tx1"/>
                </a:solidFill>
                <a:latin typeface="Segoe UI" panose="020B0502040204020203" pitchFamily="34" charset="0"/>
                <a:cs typeface="Segoe UI" panose="020B0502040204020203" pitchFamily="34" charset="0"/>
              </a:endParaRPr>
            </a:p>
          </p:txBody>
        </p:sp>
        <p:sp>
          <p:nvSpPr>
            <p:cNvPr id="6" name="矩形: 圆角 10">
              <a:extLst>
                <a:ext uri="{FF2B5EF4-FFF2-40B4-BE49-F238E27FC236}">
                  <a16:creationId xmlns:a16="http://schemas.microsoft.com/office/drawing/2014/main" id="{EC662E6C-3A29-E656-0A67-676ABA0F03AC}"/>
                </a:ext>
              </a:extLst>
            </p:cNvPr>
            <p:cNvSpPr/>
            <p:nvPr/>
          </p:nvSpPr>
          <p:spPr>
            <a:xfrm>
              <a:off x="2313516" y="2183191"/>
              <a:ext cx="3376340" cy="2872885"/>
            </a:xfrm>
            <a:prstGeom prst="roundRect">
              <a:avLst>
                <a:gd name="adj" fmla="val 3049"/>
              </a:avLst>
            </a:prstGeom>
            <a:solidFill>
              <a:schemeClr val="bg1"/>
            </a:solidFill>
            <a:ln w="15875">
              <a:solidFill>
                <a:schemeClr val="bg1">
                  <a:lumMod val="5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bIns="73433" rtlCol="0" anchor="b" anchorCtr="0"/>
            <a:lstStyle/>
            <a:p>
              <a:pPr algn="ctr"/>
              <a:r>
                <a:rPr lang="en-US" sz="1836" dirty="0" err="1">
                  <a:solidFill>
                    <a:schemeClr val="tx1"/>
                  </a:solidFill>
                  <a:latin typeface="Segoe UI" panose="020B0502040204020203" pitchFamily="34" charset="0"/>
                  <a:cs typeface="Segoe UI" panose="020B0502040204020203" pitchFamily="34" charset="0"/>
                </a:rPr>
                <a:t>CoreServicesVnet</a:t>
              </a:r>
              <a:endParaRPr lang="en-US" sz="1836" dirty="0">
                <a:solidFill>
                  <a:schemeClr val="tx1"/>
                </a:solidFill>
                <a:latin typeface="Segoe UI" panose="020B0502040204020203" pitchFamily="34" charset="0"/>
                <a:cs typeface="Segoe UI" panose="020B0502040204020203" pitchFamily="34" charset="0"/>
              </a:endParaRPr>
            </a:p>
            <a:p>
              <a:pPr algn="ctr"/>
              <a:r>
                <a:rPr lang="en-US" sz="1836" dirty="0">
                  <a:solidFill>
                    <a:schemeClr val="tx1"/>
                  </a:solidFill>
                  <a:latin typeface="Segoe UI" panose="020B0502040204020203" pitchFamily="34" charset="0"/>
                  <a:cs typeface="Segoe UI" panose="020B0502040204020203" pitchFamily="34" charset="0"/>
                </a:rPr>
                <a:t>(10.20.0.0/16)</a:t>
              </a:r>
            </a:p>
          </p:txBody>
        </p:sp>
        <p:sp>
          <p:nvSpPr>
            <p:cNvPr id="52" name="矩形 13">
              <a:extLst>
                <a:ext uri="{FF2B5EF4-FFF2-40B4-BE49-F238E27FC236}">
                  <a16:creationId xmlns:a16="http://schemas.microsoft.com/office/drawing/2014/main" id="{80493F07-5915-1B1D-CCDA-8AC7D0D87EE2}"/>
                </a:ext>
              </a:extLst>
            </p:cNvPr>
            <p:cNvSpPr/>
            <p:nvPr/>
          </p:nvSpPr>
          <p:spPr>
            <a:xfrm>
              <a:off x="6570919" y="1897661"/>
              <a:ext cx="3938968" cy="3441753"/>
            </a:xfrm>
            <a:prstGeom prst="rect">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36" dirty="0">
                <a:solidFill>
                  <a:schemeClr val="tx1"/>
                </a:solidFill>
                <a:latin typeface="Segoe UI" panose="020B0502040204020203" pitchFamily="34" charset="0"/>
                <a:cs typeface="Segoe UI" panose="020B0502040204020203" pitchFamily="34" charset="0"/>
              </a:endParaRPr>
            </a:p>
          </p:txBody>
        </p:sp>
        <p:sp>
          <p:nvSpPr>
            <p:cNvPr id="53" name="矩形: 圆角 14">
              <a:extLst>
                <a:ext uri="{FF2B5EF4-FFF2-40B4-BE49-F238E27FC236}">
                  <a16:creationId xmlns:a16="http://schemas.microsoft.com/office/drawing/2014/main" id="{FA5C7C9B-B0B7-5D9C-B8BA-E41A5826DB51}"/>
                </a:ext>
              </a:extLst>
            </p:cNvPr>
            <p:cNvSpPr/>
            <p:nvPr/>
          </p:nvSpPr>
          <p:spPr>
            <a:xfrm>
              <a:off x="6852233" y="2183191"/>
              <a:ext cx="3376340" cy="2872885"/>
            </a:xfrm>
            <a:prstGeom prst="roundRect">
              <a:avLst>
                <a:gd name="adj" fmla="val 3049"/>
              </a:avLst>
            </a:prstGeom>
            <a:solidFill>
              <a:schemeClr val="bg1"/>
            </a:solidFill>
            <a:ln w="15875">
              <a:solidFill>
                <a:schemeClr val="bg1">
                  <a:lumMod val="5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bIns="73433" rtlCol="0" anchor="b" anchorCtr="0"/>
            <a:lstStyle/>
            <a:p>
              <a:pPr algn="ctr"/>
              <a:r>
                <a:rPr lang="en-US" sz="1836" dirty="0">
                  <a:solidFill>
                    <a:schemeClr val="tx1"/>
                  </a:solidFill>
                  <a:latin typeface="Segoe UI" panose="020B0502040204020203" pitchFamily="34" charset="0"/>
                  <a:cs typeface="Segoe UI" panose="020B0502040204020203" pitchFamily="34" charset="0"/>
                </a:rPr>
                <a:t>ManufacturingVnet</a:t>
              </a:r>
            </a:p>
            <a:p>
              <a:pPr algn="ctr"/>
              <a:r>
                <a:rPr lang="en-US" sz="1836" dirty="0">
                  <a:solidFill>
                    <a:schemeClr val="tx1"/>
                  </a:solidFill>
                  <a:latin typeface="Segoe UI" panose="020B0502040204020203" pitchFamily="34" charset="0"/>
                  <a:cs typeface="Segoe UI" panose="020B0502040204020203" pitchFamily="34" charset="0"/>
                </a:rPr>
                <a:t>(10.30.0.0/16)</a:t>
              </a:r>
            </a:p>
          </p:txBody>
        </p:sp>
        <p:sp>
          <p:nvSpPr>
            <p:cNvPr id="55" name="矩形: 圆角 20">
              <a:extLst>
                <a:ext uri="{FF2B5EF4-FFF2-40B4-BE49-F238E27FC236}">
                  <a16:creationId xmlns:a16="http://schemas.microsoft.com/office/drawing/2014/main" id="{B7D92579-AEBE-0974-F07C-0C212F86FFA7}"/>
                </a:ext>
              </a:extLst>
            </p:cNvPr>
            <p:cNvSpPr/>
            <p:nvPr/>
          </p:nvSpPr>
          <p:spPr>
            <a:xfrm>
              <a:off x="7139216" y="2488160"/>
              <a:ext cx="2837109" cy="774645"/>
            </a:xfrm>
            <a:prstGeom prst="roundRect">
              <a:avLst>
                <a:gd name="adj" fmla="val 0"/>
              </a:avLst>
            </a:prstGeom>
            <a:solidFill>
              <a:schemeClr val="bg2"/>
            </a:solidFill>
            <a:ln w="12700">
              <a:solidFill>
                <a:schemeClr val="tx1">
                  <a:lumMod val="50000"/>
                  <a:lumOff val="50000"/>
                  <a:alpha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tIns="73433" bIns="73433" rtlCol="0" anchor="ctr" anchorCtr="0"/>
            <a:lstStyle/>
            <a:p>
              <a:pPr algn="ctr"/>
              <a:r>
                <a:rPr lang="en-US" sz="1836" dirty="0">
                  <a:solidFill>
                    <a:schemeClr val="tx1"/>
                  </a:solidFill>
                  <a:latin typeface="Segoe UI" panose="020B0502040204020203" pitchFamily="34" charset="0"/>
                  <a:cs typeface="Segoe UI" panose="020B0502040204020203" pitchFamily="34" charset="0"/>
                </a:rPr>
                <a:t>SensorSubnet1</a:t>
              </a:r>
            </a:p>
            <a:p>
              <a:pPr algn="ctr"/>
              <a:r>
                <a:rPr lang="en-US" sz="1836" dirty="0">
                  <a:solidFill>
                    <a:schemeClr val="tx1"/>
                  </a:solidFill>
                  <a:latin typeface="Segoe UI" panose="020B0502040204020203" pitchFamily="34" charset="0"/>
                  <a:cs typeface="Segoe UI" panose="020B0502040204020203" pitchFamily="34" charset="0"/>
                </a:rPr>
                <a:t>(10.30.20.0/24)</a:t>
              </a:r>
              <a:endParaRPr lang="en-US" sz="1836" dirty="0">
                <a:latin typeface="Segoe UI" panose="020B0502040204020203" pitchFamily="34" charset="0"/>
                <a:cs typeface="Segoe UI" panose="020B0502040204020203" pitchFamily="34" charset="0"/>
              </a:endParaRPr>
            </a:p>
          </p:txBody>
        </p:sp>
        <p:sp>
          <p:nvSpPr>
            <p:cNvPr id="56" name="矩形: 圆角 21">
              <a:extLst>
                <a:ext uri="{FF2B5EF4-FFF2-40B4-BE49-F238E27FC236}">
                  <a16:creationId xmlns:a16="http://schemas.microsoft.com/office/drawing/2014/main" id="{9303CD77-FCA9-38AC-5514-92CDF9D43C88}"/>
                </a:ext>
              </a:extLst>
            </p:cNvPr>
            <p:cNvSpPr/>
            <p:nvPr/>
          </p:nvSpPr>
          <p:spPr>
            <a:xfrm>
              <a:off x="7139216" y="3404955"/>
              <a:ext cx="2837109" cy="759626"/>
            </a:xfrm>
            <a:prstGeom prst="roundRect">
              <a:avLst>
                <a:gd name="adj" fmla="val 0"/>
              </a:avLst>
            </a:prstGeom>
            <a:solidFill>
              <a:schemeClr val="bg2"/>
            </a:solidFill>
            <a:ln w="12700">
              <a:solidFill>
                <a:schemeClr val="tx1">
                  <a:lumMod val="50000"/>
                  <a:lumOff val="50000"/>
                  <a:alpha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tIns="73433" bIns="73433" rtlCol="0" anchor="ctr" anchorCtr="0"/>
            <a:lstStyle/>
            <a:p>
              <a:pPr algn="ctr"/>
              <a:r>
                <a:rPr lang="en-US" sz="1836" dirty="0">
                  <a:solidFill>
                    <a:schemeClr val="tx1"/>
                  </a:solidFill>
                  <a:latin typeface="Segoe UI" panose="020B0502040204020203" pitchFamily="34" charset="0"/>
                  <a:cs typeface="Segoe UI" panose="020B0502040204020203" pitchFamily="34" charset="0"/>
                </a:rPr>
                <a:t>SensorSubnet2</a:t>
              </a:r>
            </a:p>
            <a:p>
              <a:pPr algn="ctr"/>
              <a:r>
                <a:rPr lang="en-US" sz="1836" dirty="0">
                  <a:solidFill>
                    <a:schemeClr val="tx1"/>
                  </a:solidFill>
                  <a:latin typeface="Segoe UI" panose="020B0502040204020203" pitchFamily="34" charset="0"/>
                  <a:cs typeface="Segoe UI" panose="020B0502040204020203" pitchFamily="34" charset="0"/>
                </a:rPr>
                <a:t>(10.30.21.0/24)</a:t>
              </a:r>
              <a:endParaRPr lang="en-US" sz="1836" dirty="0">
                <a:latin typeface="Segoe UI" panose="020B0502040204020203" pitchFamily="34" charset="0"/>
                <a:cs typeface="Segoe UI" panose="020B0502040204020203" pitchFamily="34" charset="0"/>
              </a:endParaRPr>
            </a:p>
          </p:txBody>
        </p:sp>
        <p:grpSp>
          <p:nvGrpSpPr>
            <p:cNvPr id="57" name="Group 56">
              <a:extLst>
                <a:ext uri="{FF2B5EF4-FFF2-40B4-BE49-F238E27FC236}">
                  <a16:creationId xmlns:a16="http://schemas.microsoft.com/office/drawing/2014/main" id="{B2F6707A-222C-6E8A-80A8-EA221BDCAAFA}"/>
                </a:ext>
              </a:extLst>
            </p:cNvPr>
            <p:cNvGrpSpPr/>
            <p:nvPr/>
          </p:nvGrpSpPr>
          <p:grpSpPr>
            <a:xfrm>
              <a:off x="1663455" y="1349037"/>
              <a:ext cx="1702039" cy="386066"/>
              <a:chOff x="4721801" y="1150135"/>
              <a:chExt cx="1175161" cy="293159"/>
            </a:xfrm>
          </p:grpSpPr>
          <p:sp>
            <p:nvSpPr>
              <p:cNvPr id="58" name="文本框 24">
                <a:extLst>
                  <a:ext uri="{FF2B5EF4-FFF2-40B4-BE49-F238E27FC236}">
                    <a16:creationId xmlns:a16="http://schemas.microsoft.com/office/drawing/2014/main" id="{213BC2FD-C8E5-5069-D73C-470986E8D371}"/>
                  </a:ext>
                </a:extLst>
              </p:cNvPr>
              <p:cNvSpPr txBox="1"/>
              <p:nvPr/>
            </p:nvSpPr>
            <p:spPr>
              <a:xfrm>
                <a:off x="4721801" y="1158655"/>
                <a:ext cx="1175161" cy="284639"/>
              </a:xfrm>
              <a:prstGeom prst="rect">
                <a:avLst/>
              </a:prstGeom>
              <a:solidFill>
                <a:schemeClr val="bg1"/>
              </a:solidFill>
            </p:spPr>
            <p:txBody>
              <a:bodyPr wrap="square" rtlCol="0">
                <a:spAutoFit/>
              </a:bodyPr>
              <a:lstStyle/>
              <a:p>
                <a:pPr algn="r"/>
                <a:r>
                  <a:rPr lang="en-US" sz="1836" dirty="0">
                    <a:latin typeface="Segoe UI" panose="020B0502040204020203" pitchFamily="34" charset="0"/>
                    <a:cs typeface="Segoe UI" panose="020B0502040204020203" pitchFamily="34" charset="0"/>
                  </a:rPr>
                  <a:t>az104-rg4</a:t>
                </a:r>
              </a:p>
            </p:txBody>
          </p:sp>
          <p:pic>
            <p:nvPicPr>
              <p:cNvPr id="59" name="图形 25">
                <a:extLst>
                  <a:ext uri="{FF2B5EF4-FFF2-40B4-BE49-F238E27FC236}">
                    <a16:creationId xmlns:a16="http://schemas.microsoft.com/office/drawing/2014/main" id="{061C1A94-E5AF-093D-8486-B355084EAEF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829545" y="1150135"/>
                <a:ext cx="288000" cy="288000"/>
              </a:xfrm>
              <a:prstGeom prst="rect">
                <a:avLst/>
              </a:prstGeom>
            </p:spPr>
          </p:pic>
        </p:grpSp>
        <p:pic>
          <p:nvPicPr>
            <p:cNvPr id="63" name="图形 75">
              <a:extLst>
                <a:ext uri="{FF2B5EF4-FFF2-40B4-BE49-F238E27FC236}">
                  <a16:creationId xmlns:a16="http://schemas.microsoft.com/office/drawing/2014/main" id="{B45D1112-5B4B-3CFD-3365-58185F856E3D}"/>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729745" y="4848183"/>
              <a:ext cx="417123" cy="379272"/>
            </a:xfrm>
            <a:prstGeom prst="rect">
              <a:avLst/>
            </a:prstGeom>
          </p:spPr>
        </p:pic>
        <p:sp>
          <p:nvSpPr>
            <p:cNvPr id="72" name="矩形: 圆角 17">
              <a:extLst>
                <a:ext uri="{FF2B5EF4-FFF2-40B4-BE49-F238E27FC236}">
                  <a16:creationId xmlns:a16="http://schemas.microsoft.com/office/drawing/2014/main" id="{9F438CE8-832D-56B7-BEB7-2A32AF513E48}"/>
                </a:ext>
              </a:extLst>
            </p:cNvPr>
            <p:cNvSpPr/>
            <p:nvPr/>
          </p:nvSpPr>
          <p:spPr>
            <a:xfrm>
              <a:off x="2556641" y="3406037"/>
              <a:ext cx="2837109" cy="758544"/>
            </a:xfrm>
            <a:prstGeom prst="roundRect">
              <a:avLst>
                <a:gd name="adj" fmla="val 0"/>
              </a:avLst>
            </a:prstGeom>
            <a:solidFill>
              <a:schemeClr val="bg2"/>
            </a:solidFill>
            <a:ln w="12700">
              <a:solidFill>
                <a:schemeClr val="tx1">
                  <a:lumMod val="50000"/>
                  <a:lumOff val="50000"/>
                  <a:alpha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tIns="73433" bIns="73433" rtlCol="0" anchor="ctr" anchorCtr="0"/>
            <a:lstStyle/>
            <a:p>
              <a:pPr algn="ctr"/>
              <a:r>
                <a:rPr lang="en-US" sz="1836" dirty="0">
                  <a:solidFill>
                    <a:schemeClr val="tx1"/>
                  </a:solidFill>
                  <a:latin typeface="Segoe UI" panose="020B0502040204020203" pitchFamily="34" charset="0"/>
                  <a:cs typeface="Segoe UI" panose="020B0502040204020203" pitchFamily="34" charset="0"/>
                </a:rPr>
                <a:t>DatabaseSubnet</a:t>
              </a:r>
            </a:p>
            <a:p>
              <a:pPr algn="ctr"/>
              <a:r>
                <a:rPr lang="en-US" sz="1836" dirty="0">
                  <a:solidFill>
                    <a:schemeClr val="tx1"/>
                  </a:solidFill>
                  <a:latin typeface="Segoe UI" panose="020B0502040204020203" pitchFamily="34" charset="0"/>
                  <a:cs typeface="Segoe UI" panose="020B0502040204020203" pitchFamily="34" charset="0"/>
                </a:rPr>
                <a:t>(10.20.20.0/24)</a:t>
              </a:r>
              <a:endParaRPr lang="en-US" sz="1836" dirty="0">
                <a:latin typeface="Segoe UI" panose="020B0502040204020203" pitchFamily="34" charset="0"/>
                <a:cs typeface="Segoe UI" panose="020B0502040204020203" pitchFamily="34" charset="0"/>
              </a:endParaRPr>
            </a:p>
          </p:txBody>
        </p:sp>
        <p:sp>
          <p:nvSpPr>
            <p:cNvPr id="73" name="矩形: 圆角 18">
              <a:extLst>
                <a:ext uri="{FF2B5EF4-FFF2-40B4-BE49-F238E27FC236}">
                  <a16:creationId xmlns:a16="http://schemas.microsoft.com/office/drawing/2014/main" id="{247A1BF5-7FAB-C429-BC3B-38B6A72F812A}"/>
                </a:ext>
              </a:extLst>
            </p:cNvPr>
            <p:cNvSpPr/>
            <p:nvPr/>
          </p:nvSpPr>
          <p:spPr>
            <a:xfrm>
              <a:off x="2550441" y="2488160"/>
              <a:ext cx="2837109" cy="758544"/>
            </a:xfrm>
            <a:prstGeom prst="roundRect">
              <a:avLst>
                <a:gd name="adj" fmla="val 0"/>
              </a:avLst>
            </a:prstGeom>
            <a:solidFill>
              <a:schemeClr val="bg2"/>
            </a:solidFill>
            <a:ln w="12700">
              <a:solidFill>
                <a:schemeClr val="tx1">
                  <a:lumMod val="50000"/>
                  <a:lumOff val="50000"/>
                  <a:alpha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tIns="73433" bIns="73433" rtlCol="0" anchor="ctr" anchorCtr="0"/>
            <a:lstStyle/>
            <a:p>
              <a:pPr algn="ctr"/>
              <a:r>
                <a:rPr lang="en-US" sz="1836" dirty="0" err="1">
                  <a:solidFill>
                    <a:schemeClr val="tx1"/>
                  </a:solidFill>
                  <a:latin typeface="Segoe UI" panose="020B0502040204020203" pitchFamily="34" charset="0"/>
                  <a:cs typeface="Segoe UI" panose="020B0502040204020203" pitchFamily="34" charset="0"/>
                </a:rPr>
                <a:t>SharedServicesSubnet</a:t>
              </a:r>
              <a:endParaRPr lang="en-US" sz="1836" dirty="0">
                <a:solidFill>
                  <a:schemeClr val="tx1"/>
                </a:solidFill>
                <a:latin typeface="Segoe UI" panose="020B0502040204020203" pitchFamily="34" charset="0"/>
                <a:cs typeface="Segoe UI" panose="020B0502040204020203" pitchFamily="34" charset="0"/>
              </a:endParaRPr>
            </a:p>
            <a:p>
              <a:pPr algn="ctr"/>
              <a:r>
                <a:rPr lang="en-US" sz="1836" dirty="0">
                  <a:solidFill>
                    <a:schemeClr val="tx1"/>
                  </a:solidFill>
                  <a:latin typeface="Segoe UI" panose="020B0502040204020203" pitchFamily="34" charset="0"/>
                  <a:cs typeface="Segoe UI" panose="020B0502040204020203" pitchFamily="34" charset="0"/>
                </a:rPr>
                <a:t>(10.20.10.0/24)</a:t>
              </a:r>
              <a:endParaRPr lang="en-US" sz="1836" dirty="0">
                <a:latin typeface="Segoe UI" panose="020B0502040204020203" pitchFamily="34" charset="0"/>
                <a:cs typeface="Segoe UI" panose="020B0502040204020203" pitchFamily="34" charset="0"/>
              </a:endParaRPr>
            </a:p>
          </p:txBody>
        </p:sp>
        <p:pic>
          <p:nvPicPr>
            <p:cNvPr id="83" name="图形 50">
              <a:extLst>
                <a:ext uri="{FF2B5EF4-FFF2-40B4-BE49-F238E27FC236}">
                  <a16:creationId xmlns:a16="http://schemas.microsoft.com/office/drawing/2014/main" id="{03DA1427-6761-F7BB-2C56-FF9EA9AE5494}"/>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158307" y="4836136"/>
              <a:ext cx="417123" cy="379272"/>
            </a:xfrm>
            <a:prstGeom prst="rect">
              <a:avLst/>
            </a:prstGeom>
          </p:spPr>
        </p:pic>
        <p:pic>
          <p:nvPicPr>
            <p:cNvPr id="86" name="图形 22">
              <a:extLst>
                <a:ext uri="{FF2B5EF4-FFF2-40B4-BE49-F238E27FC236}">
                  <a16:creationId xmlns:a16="http://schemas.microsoft.com/office/drawing/2014/main" id="{E3726471-9230-FA74-7B6A-F69F5485F2AE}"/>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5096550" y="2316780"/>
              <a:ext cx="417123" cy="379272"/>
            </a:xfrm>
            <a:prstGeom prst="rect">
              <a:avLst/>
            </a:prstGeom>
          </p:spPr>
        </p:pic>
        <p:pic>
          <p:nvPicPr>
            <p:cNvPr id="87" name="Graphic 86">
              <a:extLst>
                <a:ext uri="{FF2B5EF4-FFF2-40B4-BE49-F238E27FC236}">
                  <a16:creationId xmlns:a16="http://schemas.microsoft.com/office/drawing/2014/main" id="{8B69E007-32C2-1CD5-1094-85A66DDF74C7}"/>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6987824" y="2280922"/>
              <a:ext cx="469313" cy="426726"/>
            </a:xfrm>
            <a:prstGeom prst="rect">
              <a:avLst/>
            </a:prstGeom>
          </p:spPr>
        </p:pic>
        <p:cxnSp>
          <p:nvCxnSpPr>
            <p:cNvPr id="88" name="Straight Arrow Connector 87">
              <a:extLst>
                <a:ext uri="{FF2B5EF4-FFF2-40B4-BE49-F238E27FC236}">
                  <a16:creationId xmlns:a16="http://schemas.microsoft.com/office/drawing/2014/main" id="{4230914A-7676-6CCC-05A6-A44B7CB335CE}"/>
                </a:ext>
              </a:extLst>
            </p:cNvPr>
            <p:cNvCxnSpPr>
              <a:cxnSpLocks/>
              <a:stCxn id="87" idx="1"/>
            </p:cNvCxnSpPr>
            <p:nvPr/>
          </p:nvCxnSpPr>
          <p:spPr>
            <a:xfrm flipH="1" flipV="1">
              <a:off x="5512541" y="2479194"/>
              <a:ext cx="1475285" cy="15091"/>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sp>
          <p:nvSpPr>
            <p:cNvPr id="9" name="TextBox 8">
              <a:extLst>
                <a:ext uri="{FF2B5EF4-FFF2-40B4-BE49-F238E27FC236}">
                  <a16:creationId xmlns:a16="http://schemas.microsoft.com/office/drawing/2014/main" id="{3DB993AF-83A7-22E5-C852-F36F8921AF95}"/>
                </a:ext>
              </a:extLst>
            </p:cNvPr>
            <p:cNvSpPr txBox="1"/>
            <p:nvPr/>
          </p:nvSpPr>
          <p:spPr>
            <a:xfrm>
              <a:off x="2028068" y="1854581"/>
              <a:ext cx="1272221" cy="374846"/>
            </a:xfrm>
            <a:prstGeom prst="rect">
              <a:avLst/>
            </a:prstGeom>
            <a:noFill/>
          </p:spPr>
          <p:txBody>
            <a:bodyPr wrap="square">
              <a:spAutoFit/>
            </a:bodyPr>
            <a:lstStyle/>
            <a:p>
              <a:pPr defTabSz="914191"/>
              <a:r>
                <a:rPr lang="en-US" sz="1836" b="1" dirty="0">
                  <a:solidFill>
                    <a:schemeClr val="tx2">
                      <a:lumMod val="50000"/>
                    </a:schemeClr>
                  </a:solidFill>
                  <a:latin typeface="Segoe UI"/>
                </a:rPr>
                <a:t>Task 1</a:t>
              </a:r>
            </a:p>
          </p:txBody>
        </p:sp>
        <p:sp>
          <p:nvSpPr>
            <p:cNvPr id="10" name="TextBox 9">
              <a:extLst>
                <a:ext uri="{FF2B5EF4-FFF2-40B4-BE49-F238E27FC236}">
                  <a16:creationId xmlns:a16="http://schemas.microsoft.com/office/drawing/2014/main" id="{E702853B-5EEA-CE6F-40AB-65A3E0DA98D4}"/>
                </a:ext>
              </a:extLst>
            </p:cNvPr>
            <p:cNvSpPr txBox="1"/>
            <p:nvPr/>
          </p:nvSpPr>
          <p:spPr>
            <a:xfrm>
              <a:off x="9592462" y="1866265"/>
              <a:ext cx="917425" cy="374846"/>
            </a:xfrm>
            <a:prstGeom prst="rect">
              <a:avLst/>
            </a:prstGeom>
            <a:noFill/>
          </p:spPr>
          <p:txBody>
            <a:bodyPr wrap="square">
              <a:spAutoFit/>
            </a:bodyPr>
            <a:lstStyle/>
            <a:p>
              <a:pPr defTabSz="914191"/>
              <a:r>
                <a:rPr lang="en-US" sz="1836" b="1" dirty="0">
                  <a:solidFill>
                    <a:schemeClr val="tx2">
                      <a:lumMod val="50000"/>
                    </a:schemeClr>
                  </a:solidFill>
                  <a:latin typeface="Segoe UI"/>
                </a:rPr>
                <a:t>Task 2</a:t>
              </a:r>
            </a:p>
          </p:txBody>
        </p:sp>
        <p:sp>
          <p:nvSpPr>
            <p:cNvPr id="11" name="TextBox 10">
              <a:extLst>
                <a:ext uri="{FF2B5EF4-FFF2-40B4-BE49-F238E27FC236}">
                  <a16:creationId xmlns:a16="http://schemas.microsoft.com/office/drawing/2014/main" id="{1585EA01-545E-8189-E908-1C9CA991B0D8}"/>
                </a:ext>
              </a:extLst>
            </p:cNvPr>
            <p:cNvSpPr txBox="1"/>
            <p:nvPr/>
          </p:nvSpPr>
          <p:spPr>
            <a:xfrm>
              <a:off x="5840596" y="2147862"/>
              <a:ext cx="860247" cy="374846"/>
            </a:xfrm>
            <a:prstGeom prst="rect">
              <a:avLst/>
            </a:prstGeom>
            <a:noFill/>
          </p:spPr>
          <p:txBody>
            <a:bodyPr wrap="square">
              <a:spAutoFit/>
            </a:bodyPr>
            <a:lstStyle/>
            <a:p>
              <a:pPr defTabSz="914191"/>
              <a:r>
                <a:rPr lang="en-US" sz="1836" b="1" dirty="0">
                  <a:solidFill>
                    <a:schemeClr val="tx2">
                      <a:lumMod val="50000"/>
                    </a:schemeClr>
                  </a:solidFill>
                  <a:latin typeface="Segoe UI"/>
                </a:rPr>
                <a:t>Task 3</a:t>
              </a:r>
            </a:p>
          </p:txBody>
        </p:sp>
        <p:sp>
          <p:nvSpPr>
            <p:cNvPr id="7" name="TextBox 6">
              <a:extLst>
                <a:ext uri="{FF2B5EF4-FFF2-40B4-BE49-F238E27FC236}">
                  <a16:creationId xmlns:a16="http://schemas.microsoft.com/office/drawing/2014/main" id="{DFA0AEE4-D27F-A48C-19BB-AE6B8D86B3C0}"/>
                </a:ext>
              </a:extLst>
            </p:cNvPr>
            <p:cNvSpPr txBox="1"/>
            <p:nvPr/>
          </p:nvSpPr>
          <p:spPr>
            <a:xfrm>
              <a:off x="5840595" y="5431218"/>
              <a:ext cx="902697" cy="374846"/>
            </a:xfrm>
            <a:prstGeom prst="rect">
              <a:avLst/>
            </a:prstGeom>
            <a:noFill/>
          </p:spPr>
          <p:txBody>
            <a:bodyPr wrap="square">
              <a:spAutoFit/>
            </a:bodyPr>
            <a:lstStyle/>
            <a:p>
              <a:pPr defTabSz="914191"/>
              <a:r>
                <a:rPr lang="en-US" sz="1836" b="1" dirty="0">
                  <a:solidFill>
                    <a:schemeClr val="tx2">
                      <a:lumMod val="50000"/>
                    </a:schemeClr>
                  </a:solidFill>
                  <a:latin typeface="Segoe UI"/>
                </a:rPr>
                <a:t>Task 4</a:t>
              </a:r>
            </a:p>
          </p:txBody>
        </p:sp>
        <p:sp>
          <p:nvSpPr>
            <p:cNvPr id="12" name="TextBox 11">
              <a:extLst>
                <a:ext uri="{FF2B5EF4-FFF2-40B4-BE49-F238E27FC236}">
                  <a16:creationId xmlns:a16="http://schemas.microsoft.com/office/drawing/2014/main" id="{4FED5B11-DF2B-BF04-853C-A05C0813F639}"/>
                </a:ext>
              </a:extLst>
            </p:cNvPr>
            <p:cNvSpPr txBox="1"/>
            <p:nvPr/>
          </p:nvSpPr>
          <p:spPr>
            <a:xfrm>
              <a:off x="3227652" y="5415829"/>
              <a:ext cx="2221057" cy="406265"/>
            </a:xfrm>
            <a:prstGeom prst="rect">
              <a:avLst/>
            </a:prstGeom>
            <a:noFill/>
          </p:spPr>
          <p:txBody>
            <a:bodyPr wrap="square">
              <a:spAutoFit/>
            </a:bodyPr>
            <a:lstStyle/>
            <a:p>
              <a:r>
                <a:rPr lang="en-US" sz="2040" dirty="0">
                  <a:latin typeface="Segoe UI" panose="020B0502040204020203" pitchFamily="34" charset="0"/>
                  <a:cs typeface="Segoe UI" panose="020B0502040204020203" pitchFamily="34" charset="0"/>
                </a:rPr>
                <a:t>contoso.com</a:t>
              </a:r>
              <a:endParaRPr lang="en-US" sz="2040" dirty="0"/>
            </a:p>
          </p:txBody>
        </p:sp>
        <p:sp>
          <p:nvSpPr>
            <p:cNvPr id="13" name="TextBox 12">
              <a:extLst>
                <a:ext uri="{FF2B5EF4-FFF2-40B4-BE49-F238E27FC236}">
                  <a16:creationId xmlns:a16="http://schemas.microsoft.com/office/drawing/2014/main" id="{B75EF400-C55A-778B-9484-BE807DBB19A8}"/>
                </a:ext>
              </a:extLst>
            </p:cNvPr>
            <p:cNvSpPr txBox="1"/>
            <p:nvPr/>
          </p:nvSpPr>
          <p:spPr>
            <a:xfrm>
              <a:off x="7538160" y="5415829"/>
              <a:ext cx="2608708" cy="406265"/>
            </a:xfrm>
            <a:prstGeom prst="rect">
              <a:avLst/>
            </a:prstGeom>
            <a:noFill/>
          </p:spPr>
          <p:txBody>
            <a:bodyPr wrap="square">
              <a:spAutoFit/>
            </a:bodyPr>
            <a:lstStyle/>
            <a:p>
              <a:r>
                <a:rPr lang="en-US" sz="2040" dirty="0">
                  <a:latin typeface="Segoe UI" panose="020B0502040204020203" pitchFamily="34" charset="0"/>
                  <a:cs typeface="Segoe UI" panose="020B0502040204020203" pitchFamily="34" charset="0"/>
                </a:rPr>
                <a:t>private.contoso.com</a:t>
              </a:r>
              <a:endParaRPr lang="en-US" sz="2040" dirty="0"/>
            </a:p>
          </p:txBody>
        </p:sp>
        <p:sp>
          <p:nvSpPr>
            <p:cNvPr id="14" name="Arrow: Up 13">
              <a:extLst>
                <a:ext uri="{FF2B5EF4-FFF2-40B4-BE49-F238E27FC236}">
                  <a16:creationId xmlns:a16="http://schemas.microsoft.com/office/drawing/2014/main" id="{382FF327-25FE-E659-35A2-30E212BE7936}"/>
                </a:ext>
              </a:extLst>
            </p:cNvPr>
            <p:cNvSpPr/>
            <p:nvPr/>
          </p:nvSpPr>
          <p:spPr bwMode="auto">
            <a:xfrm>
              <a:off x="3782291" y="5227455"/>
              <a:ext cx="332509" cy="291876"/>
            </a:xfrm>
            <a:prstGeom prst="upArrow">
              <a:avLst/>
            </a:prstGeom>
            <a:solidFill>
              <a:srgbClr val="559CEC"/>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6521" tIns="149217" rIns="186521" bIns="149217" numCol="1" spcCol="0" rtlCol="0" fromWordArt="0" anchor="t" anchorCtr="0" forceAA="0" compatLnSpc="1">
              <a:prstTxWarp prst="textNoShape">
                <a:avLst/>
              </a:prstTxWarp>
              <a:noAutofit/>
            </a:bodyPr>
            <a:lstStyle/>
            <a:p>
              <a:pPr algn="ctr" defTabSz="951028" fontAlgn="base">
                <a:lnSpc>
                  <a:spcPct val="90000"/>
                </a:lnSpc>
                <a:spcBef>
                  <a:spcPct val="0"/>
                </a:spcBef>
                <a:spcAft>
                  <a:spcPct val="0"/>
                </a:spcAft>
              </a:pPr>
              <a:endParaRPr lang="en-US" sz="2856" dirty="0" err="1">
                <a:gradFill>
                  <a:gsLst>
                    <a:gs pos="0">
                      <a:srgbClr val="FFFFFF"/>
                    </a:gs>
                    <a:gs pos="100000">
                      <a:srgbClr val="FFFFFF"/>
                    </a:gs>
                  </a:gsLst>
                  <a:lin ang="5400000" scaled="0"/>
                </a:gradFill>
                <a:ea typeface="Segoe UI" pitchFamily="34" charset="0"/>
                <a:cs typeface="Segoe UI" pitchFamily="34" charset="0"/>
              </a:endParaRPr>
            </a:p>
          </p:txBody>
        </p:sp>
        <p:sp>
          <p:nvSpPr>
            <p:cNvPr id="15" name="Arrow: Up 14">
              <a:extLst>
                <a:ext uri="{FF2B5EF4-FFF2-40B4-BE49-F238E27FC236}">
                  <a16:creationId xmlns:a16="http://schemas.microsoft.com/office/drawing/2014/main" id="{A5A0486B-B0A7-0D2E-0A9E-DF3F4ACAE8C2}"/>
                </a:ext>
              </a:extLst>
            </p:cNvPr>
            <p:cNvSpPr/>
            <p:nvPr/>
          </p:nvSpPr>
          <p:spPr bwMode="auto">
            <a:xfrm>
              <a:off x="8516174" y="5194395"/>
              <a:ext cx="332509" cy="291876"/>
            </a:xfrm>
            <a:prstGeom prst="upArrow">
              <a:avLst/>
            </a:prstGeom>
            <a:solidFill>
              <a:srgbClr val="559CEC"/>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6521" tIns="149217" rIns="186521" bIns="149217" numCol="1" spcCol="0" rtlCol="0" fromWordArt="0" anchor="t" anchorCtr="0" forceAA="0" compatLnSpc="1">
              <a:prstTxWarp prst="textNoShape">
                <a:avLst/>
              </a:prstTxWarp>
              <a:noAutofit/>
            </a:bodyPr>
            <a:lstStyle/>
            <a:p>
              <a:pPr algn="ctr" defTabSz="951028" fontAlgn="base">
                <a:lnSpc>
                  <a:spcPct val="90000"/>
                </a:lnSpc>
                <a:spcBef>
                  <a:spcPct val="0"/>
                </a:spcBef>
                <a:spcAft>
                  <a:spcPct val="0"/>
                </a:spcAft>
              </a:pPr>
              <a:endParaRPr lang="en-US" sz="2856" dirty="0" err="1">
                <a:gradFill>
                  <a:gsLst>
                    <a:gs pos="0">
                      <a:srgbClr val="FFFFFF"/>
                    </a:gs>
                    <a:gs pos="100000">
                      <a:srgbClr val="FFFFFF"/>
                    </a:gs>
                  </a:gsLst>
                  <a:lin ang="5400000" scaled="0"/>
                </a:gradFill>
                <a:ea typeface="Segoe UI" pitchFamily="34" charset="0"/>
                <a:cs typeface="Segoe UI" pitchFamily="34" charset="0"/>
              </a:endParaRPr>
            </a:p>
          </p:txBody>
        </p:sp>
      </p:grpSp>
    </p:spTree>
    <p:extLst>
      <p:ext uri="{BB962C8B-B14F-4D97-AF65-F5344CB8AC3E}">
        <p14:creationId xmlns:p14="http://schemas.microsoft.com/office/powerpoint/2010/main" val="4074980751"/>
      </p:ext>
    </p:extLst>
  </p:cSld>
  <p:clrMapOvr>
    <a:masterClrMapping/>
  </p:clrMapOvr>
  <p:transition>
    <p:fad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37278F1-6266-4E4D-8CB8-53E91317A710}"/>
              </a:ext>
            </a:extLst>
          </p:cNvPr>
          <p:cNvSpPr>
            <a:spLocks noGrp="1"/>
          </p:cNvSpPr>
          <p:nvPr>
            <p:ph type="title"/>
          </p:nvPr>
        </p:nvSpPr>
        <p:spPr/>
        <p:txBody>
          <a:bodyPr/>
          <a:lstStyle/>
          <a:p>
            <a:r>
              <a:rPr lang="en-US" dirty="0"/>
              <a:t>End of presentation</a:t>
            </a:r>
          </a:p>
        </p:txBody>
      </p:sp>
    </p:spTree>
    <p:extLst>
      <p:ext uri="{BB962C8B-B14F-4D97-AF65-F5344CB8AC3E}">
        <p14:creationId xmlns:p14="http://schemas.microsoft.com/office/powerpoint/2010/main" val="19430256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4A3137-CCDE-4D5D-AAB3-7D5EC85AF276}"/>
              </a:ext>
            </a:extLst>
          </p:cNvPr>
          <p:cNvSpPr>
            <a:spLocks noGrp="1"/>
          </p:cNvSpPr>
          <p:nvPr>
            <p:ph type="title"/>
          </p:nvPr>
        </p:nvSpPr>
        <p:spPr/>
        <p:txBody>
          <a:bodyPr/>
          <a:lstStyle/>
          <a:p>
            <a:r>
              <a:rPr lang="en-US" dirty="0"/>
              <a:t>Verify Custom Domain Names</a:t>
            </a:r>
          </a:p>
        </p:txBody>
      </p:sp>
      <p:sp>
        <p:nvSpPr>
          <p:cNvPr id="5" name="Rectangle 4">
            <a:extLst>
              <a:ext uri="{FF2B5EF4-FFF2-40B4-BE49-F238E27FC236}">
                <a16:creationId xmlns:a16="http://schemas.microsoft.com/office/drawing/2014/main" id="{BE859702-786A-47AA-93E5-B3913D947DE7}"/>
              </a:ext>
            </a:extLst>
          </p:cNvPr>
          <p:cNvSpPr/>
          <p:nvPr/>
        </p:nvSpPr>
        <p:spPr>
          <a:xfrm>
            <a:off x="465138" y="1404249"/>
            <a:ext cx="6060849" cy="976129"/>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7160" tIns="91440" rIns="137160" bIns="91440" numCol="1" spcCol="1270" anchor="ctr" anchorCtr="0">
            <a:noAutofit/>
          </a:bodyPr>
          <a:lstStyle/>
          <a:p>
            <a:r>
              <a:rPr lang="en-US" sz="2200" dirty="0">
                <a:solidFill>
                  <a:schemeClr val="tx1"/>
                </a:solidFill>
              </a:rPr>
              <a:t>Verification demonstrates ownership of the domain name</a:t>
            </a:r>
          </a:p>
        </p:txBody>
      </p:sp>
      <p:sp>
        <p:nvSpPr>
          <p:cNvPr id="6" name="Rectangle 5">
            <a:extLst>
              <a:ext uri="{FF2B5EF4-FFF2-40B4-BE49-F238E27FC236}">
                <a16:creationId xmlns:a16="http://schemas.microsoft.com/office/drawing/2014/main" id="{E9BE5AD1-F9EC-4AE1-A01C-1B7D667B61B2}"/>
              </a:ext>
            </a:extLst>
          </p:cNvPr>
          <p:cNvSpPr/>
          <p:nvPr/>
        </p:nvSpPr>
        <p:spPr>
          <a:xfrm>
            <a:off x="465138" y="2709894"/>
            <a:ext cx="6060849" cy="976129"/>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7160" tIns="91440" rIns="137160" bIns="91440" numCol="1" spcCol="1270" anchor="ctr" anchorCtr="0">
            <a:noAutofit/>
          </a:bodyPr>
          <a:lstStyle/>
          <a:p>
            <a:r>
              <a:rPr lang="en-US" sz="2200" dirty="0">
                <a:solidFill>
                  <a:schemeClr val="tx1"/>
                </a:solidFill>
              </a:rPr>
              <a:t>Add a DNS record (MX or TXT) that is provided by Azure into your company’s DNS zone</a:t>
            </a:r>
          </a:p>
        </p:txBody>
      </p:sp>
      <p:sp>
        <p:nvSpPr>
          <p:cNvPr id="7" name="Rectangle 6">
            <a:extLst>
              <a:ext uri="{FF2B5EF4-FFF2-40B4-BE49-F238E27FC236}">
                <a16:creationId xmlns:a16="http://schemas.microsoft.com/office/drawing/2014/main" id="{F1A9DB47-D9D1-48DE-9B61-12F0F9C653C7}"/>
              </a:ext>
            </a:extLst>
          </p:cNvPr>
          <p:cNvSpPr/>
          <p:nvPr/>
        </p:nvSpPr>
        <p:spPr>
          <a:xfrm>
            <a:off x="465138" y="4015539"/>
            <a:ext cx="6060849" cy="976129"/>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7160" tIns="91440" rIns="137160" bIns="91440" numCol="1" spcCol="1270" anchor="ctr" anchorCtr="0">
            <a:noAutofit/>
          </a:bodyPr>
          <a:lstStyle/>
          <a:p>
            <a:r>
              <a:rPr lang="en-US" sz="2200" dirty="0">
                <a:solidFill>
                  <a:schemeClr val="tx1"/>
                </a:solidFill>
              </a:rPr>
              <a:t>Azure will query the DNS domain for the presence of the record</a:t>
            </a:r>
          </a:p>
        </p:txBody>
      </p:sp>
      <p:sp>
        <p:nvSpPr>
          <p:cNvPr id="8" name="Rectangle 7">
            <a:extLst>
              <a:ext uri="{FF2B5EF4-FFF2-40B4-BE49-F238E27FC236}">
                <a16:creationId xmlns:a16="http://schemas.microsoft.com/office/drawing/2014/main" id="{426FD7F0-4F14-4549-AAB8-4D5F1DBA477D}"/>
              </a:ext>
            </a:extLst>
          </p:cNvPr>
          <p:cNvSpPr/>
          <p:nvPr/>
        </p:nvSpPr>
        <p:spPr>
          <a:xfrm>
            <a:off x="465138" y="5321183"/>
            <a:ext cx="6060849" cy="829787"/>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7160" tIns="91440" rIns="137160" bIns="91440" numCol="1" spcCol="1270" anchor="ctr" anchorCtr="0">
            <a:noAutofit/>
          </a:bodyPr>
          <a:lstStyle/>
          <a:p>
            <a:r>
              <a:rPr lang="en-US" sz="2200" dirty="0">
                <a:solidFill>
                  <a:schemeClr val="tx1"/>
                </a:solidFill>
              </a:rPr>
              <a:t>This could take several minutes or several hours</a:t>
            </a:r>
          </a:p>
        </p:txBody>
      </p:sp>
      <p:pic>
        <p:nvPicPr>
          <p:cNvPr id="12" name="Picture 5" descr="Screenshot of the add a DNS text record page.">
            <a:extLst>
              <a:ext uri="{FF2B5EF4-FFF2-40B4-BE49-F238E27FC236}">
                <a16:creationId xmlns:a16="http://schemas.microsoft.com/office/drawing/2014/main" id="{4E4A35C8-6552-44ED-9212-5F910C5AC73E}"/>
              </a:ext>
            </a:extLst>
          </p:cNvPr>
          <p:cNvPicPr>
            <a:picLocks noChangeAspect="1"/>
          </p:cNvPicPr>
          <p:nvPr/>
        </p:nvPicPr>
        <p:blipFill>
          <a:blip r:embed="rId3"/>
          <a:stretch>
            <a:fillRect/>
          </a:stretch>
        </p:blipFill>
        <p:spPr>
          <a:xfrm>
            <a:off x="6815137" y="1404249"/>
            <a:ext cx="5156200" cy="4564466"/>
          </a:xfrm>
          <a:prstGeom prst="rect">
            <a:avLst/>
          </a:prstGeom>
          <a:ln>
            <a:noFill/>
          </a:ln>
        </p:spPr>
      </p:pic>
    </p:spTree>
    <p:extLst>
      <p:ext uri="{BB962C8B-B14F-4D97-AF65-F5344CB8AC3E}">
        <p14:creationId xmlns:p14="http://schemas.microsoft.com/office/powerpoint/2010/main" val="825895319"/>
      </p:ext>
    </p:extLst>
  </p:cSld>
  <p:clrMapOvr>
    <a:masterClrMapping/>
  </p:clrMapOvr>
  <p:transition>
    <p:fade/>
  </p:transition>
</p:sld>
</file>

<file path=ppt/slides/slide3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7" name="Title 16"/>
          <p:cNvSpPr>
            <a:spLocks noGrp="1"/>
          </p:cNvSpPr>
          <p:nvPr>
            <p:ph type="title"/>
          </p:nvPr>
        </p:nvSpPr>
        <p:spPr/>
        <p:txBody>
          <a:bodyPr/>
          <a:lstStyle/>
          <a:p>
            <a:r>
              <a:rPr lang="en-US" dirty="0"/>
              <a:t>Determine Private Zone Scenarios</a:t>
            </a:r>
          </a:p>
        </p:txBody>
      </p:sp>
      <p:sp>
        <p:nvSpPr>
          <p:cNvPr id="10" name="Rectangle 9">
            <a:extLst>
              <a:ext uri="{FF2B5EF4-FFF2-40B4-BE49-F238E27FC236}">
                <a16:creationId xmlns:a16="http://schemas.microsoft.com/office/drawing/2014/main" id="{BDBC60E2-3A4A-447B-A89E-7071B31A46BF}"/>
              </a:ext>
            </a:extLst>
          </p:cNvPr>
          <p:cNvSpPr/>
          <p:nvPr/>
        </p:nvSpPr>
        <p:spPr>
          <a:xfrm>
            <a:off x="427037" y="5181600"/>
            <a:ext cx="3753661" cy="1180146"/>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7160" tIns="91440" rIns="137160" bIns="91440" numCol="1" spcCol="1270" anchor="t" anchorCtr="0">
            <a:noAutofit/>
          </a:bodyPr>
          <a:lstStyle/>
          <a:p>
            <a:r>
              <a:rPr lang="en-US" sz="2200" dirty="0">
                <a:solidFill>
                  <a:schemeClr val="tx1"/>
                </a:solidFill>
              </a:rPr>
              <a:t>DNS resolution in VNet1 is private and not accessible from the Internet</a:t>
            </a:r>
          </a:p>
        </p:txBody>
      </p:sp>
      <p:sp>
        <p:nvSpPr>
          <p:cNvPr id="11" name="Rectangle 10">
            <a:extLst>
              <a:ext uri="{FF2B5EF4-FFF2-40B4-BE49-F238E27FC236}">
                <a16:creationId xmlns:a16="http://schemas.microsoft.com/office/drawing/2014/main" id="{3D61C7A2-DF9B-4989-B89D-E0C693E86E99}"/>
              </a:ext>
            </a:extLst>
          </p:cNvPr>
          <p:cNvSpPr/>
          <p:nvPr/>
        </p:nvSpPr>
        <p:spPr>
          <a:xfrm>
            <a:off x="4341406" y="5181600"/>
            <a:ext cx="3753661" cy="1180146"/>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7160" tIns="91440" rIns="137160" bIns="91440" numCol="1" spcCol="1270" anchor="t" anchorCtr="0">
            <a:noAutofit/>
          </a:bodyPr>
          <a:lstStyle/>
          <a:p>
            <a:r>
              <a:rPr lang="en-US" sz="2200" dirty="0">
                <a:solidFill>
                  <a:schemeClr val="tx1"/>
                </a:solidFill>
              </a:rPr>
              <a:t>DNS queries across</a:t>
            </a:r>
            <a:br>
              <a:rPr lang="en-US" sz="2200" dirty="0">
                <a:solidFill>
                  <a:schemeClr val="tx1"/>
                </a:solidFill>
              </a:rPr>
            </a:br>
            <a:r>
              <a:rPr lang="en-US" sz="2200" dirty="0">
                <a:solidFill>
                  <a:schemeClr val="tx1"/>
                </a:solidFill>
              </a:rPr>
              <a:t>the virtual networks</a:t>
            </a:r>
            <a:br>
              <a:rPr lang="en-US" sz="2200" dirty="0">
                <a:solidFill>
                  <a:schemeClr val="tx1"/>
                </a:solidFill>
              </a:rPr>
            </a:br>
            <a:r>
              <a:rPr lang="en-US" sz="2200" dirty="0">
                <a:solidFill>
                  <a:schemeClr val="tx1"/>
                </a:solidFill>
              </a:rPr>
              <a:t>are resolved</a:t>
            </a:r>
          </a:p>
        </p:txBody>
      </p:sp>
      <p:sp>
        <p:nvSpPr>
          <p:cNvPr id="12" name="Rectangle 11">
            <a:extLst>
              <a:ext uri="{FF2B5EF4-FFF2-40B4-BE49-F238E27FC236}">
                <a16:creationId xmlns:a16="http://schemas.microsoft.com/office/drawing/2014/main" id="{5B6EE075-51E1-4ADA-98B7-C35BD342F6C7}"/>
              </a:ext>
            </a:extLst>
          </p:cNvPr>
          <p:cNvSpPr/>
          <p:nvPr/>
        </p:nvSpPr>
        <p:spPr>
          <a:xfrm>
            <a:off x="8255776" y="5181600"/>
            <a:ext cx="3753661" cy="1180146"/>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7160" tIns="91440" rIns="137160" bIns="91440" numCol="1" spcCol="1270" anchor="t" anchorCtr="0">
            <a:noAutofit/>
          </a:bodyPr>
          <a:lstStyle/>
          <a:p>
            <a:r>
              <a:rPr lang="en-US" sz="2200" dirty="0">
                <a:solidFill>
                  <a:schemeClr val="tx1"/>
                </a:solidFill>
              </a:rPr>
              <a:t>Reverse DNS queries are scoped to the same virtual network</a:t>
            </a:r>
          </a:p>
        </p:txBody>
      </p:sp>
      <p:pic>
        <p:nvPicPr>
          <p:cNvPr id="4" name="Picture 3" descr="Diagram showing VNet1 as the registration VNet and VNet1 as the resolution VNet. Azure DNS is providing private zone records for the two VNets">
            <a:extLst>
              <a:ext uri="{FF2B5EF4-FFF2-40B4-BE49-F238E27FC236}">
                <a16:creationId xmlns:a16="http://schemas.microsoft.com/office/drawing/2014/main" id="{935BAE4E-AA1C-468A-B45C-8A506CCA7A32}"/>
              </a:ext>
            </a:extLst>
          </p:cNvPr>
          <p:cNvPicPr>
            <a:picLocks noChangeAspect="1"/>
          </p:cNvPicPr>
          <p:nvPr/>
        </p:nvPicPr>
        <p:blipFill>
          <a:blip r:embed="rId3"/>
          <a:stretch>
            <a:fillRect/>
          </a:stretch>
        </p:blipFill>
        <p:spPr>
          <a:xfrm>
            <a:off x="1555750" y="1497012"/>
            <a:ext cx="8943975" cy="3390900"/>
          </a:xfrm>
          <a:prstGeom prst="rect">
            <a:avLst/>
          </a:prstGeom>
        </p:spPr>
      </p:pic>
      <p:sp>
        <p:nvSpPr>
          <p:cNvPr id="2" name="TextBox 1">
            <a:extLst>
              <a:ext uri="{FF2B5EF4-FFF2-40B4-BE49-F238E27FC236}">
                <a16:creationId xmlns:a16="http://schemas.microsoft.com/office/drawing/2014/main" id="{670C77B2-7AD0-4541-A19F-454B1D4A828E}"/>
              </a:ext>
              <a:ext uri="{C183D7F6-B498-43B3-948B-1728B52AA6E4}">
                <adec:decorative xmlns:adec="http://schemas.microsoft.com/office/drawing/2017/decorative" val="1"/>
              </a:ext>
            </a:extLst>
          </p:cNvPr>
          <p:cNvSpPr txBox="1"/>
          <p:nvPr/>
        </p:nvSpPr>
        <p:spPr>
          <a:xfrm>
            <a:off x="3767770" y="1849551"/>
            <a:ext cx="2963536" cy="544765"/>
          </a:xfrm>
          <a:prstGeom prst="rect">
            <a:avLst/>
          </a:prstGeom>
          <a:solidFill>
            <a:schemeClr val="bg1"/>
          </a:solidFill>
        </p:spPr>
        <p:txBody>
          <a:bodyPr wrap="square" lIns="182880" tIns="146304" rIns="182880" bIns="146304" rtlCol="0">
            <a:spAutoFit/>
          </a:bodyPr>
          <a:lstStyle/>
          <a:p>
            <a:pPr>
              <a:lnSpc>
                <a:spcPct val="90000"/>
              </a:lnSpc>
              <a:spcAft>
                <a:spcPts val="600"/>
              </a:spcAft>
            </a:pPr>
            <a:r>
              <a:rPr lang="en-US" dirty="0">
                <a:gradFill>
                  <a:gsLst>
                    <a:gs pos="2917">
                      <a:schemeClr val="tx1"/>
                    </a:gs>
                    <a:gs pos="30000">
                      <a:schemeClr val="tx1"/>
                    </a:gs>
                  </a:gsLst>
                  <a:lin ang="5400000" scaled="0"/>
                </a:gradFill>
                <a:latin typeface="+mj-lt"/>
              </a:rPr>
              <a:t>Query:VM2.contoso.lab</a:t>
            </a:r>
          </a:p>
        </p:txBody>
      </p:sp>
      <p:sp>
        <p:nvSpPr>
          <p:cNvPr id="3" name="TextBox 2">
            <a:extLst>
              <a:ext uri="{FF2B5EF4-FFF2-40B4-BE49-F238E27FC236}">
                <a16:creationId xmlns:a16="http://schemas.microsoft.com/office/drawing/2014/main" id="{5B2E5544-067D-4F61-A773-5373CDF13BCA}"/>
              </a:ext>
              <a:ext uri="{C183D7F6-B498-43B3-948B-1728B52AA6E4}">
                <adec:decorative xmlns:adec="http://schemas.microsoft.com/office/drawing/2017/decorative" val="1"/>
              </a:ext>
            </a:extLst>
          </p:cNvPr>
          <p:cNvSpPr txBox="1"/>
          <p:nvPr/>
        </p:nvSpPr>
        <p:spPr>
          <a:xfrm>
            <a:off x="3718194" y="3862224"/>
            <a:ext cx="3062687" cy="544765"/>
          </a:xfrm>
          <a:prstGeom prst="rect">
            <a:avLst/>
          </a:prstGeom>
          <a:solidFill>
            <a:schemeClr val="bg1"/>
          </a:solidFill>
        </p:spPr>
        <p:txBody>
          <a:bodyPr wrap="square" lIns="182880" tIns="146304" rIns="182880" bIns="146304" rtlCol="0">
            <a:spAutoFit/>
          </a:bodyPr>
          <a:lstStyle/>
          <a:p>
            <a:pPr>
              <a:lnSpc>
                <a:spcPct val="90000"/>
              </a:lnSpc>
              <a:spcAft>
                <a:spcPts val="600"/>
              </a:spcAft>
            </a:pPr>
            <a:r>
              <a:rPr lang="en-US" sz="1700" dirty="0">
                <a:gradFill>
                  <a:gsLst>
                    <a:gs pos="2917">
                      <a:schemeClr val="tx1"/>
                    </a:gs>
                    <a:gs pos="30000">
                      <a:schemeClr val="tx1"/>
                    </a:gs>
                  </a:gsLst>
                  <a:lin ang="5400000" scaled="0"/>
                </a:gradFill>
                <a:latin typeface="+mj-lt"/>
              </a:rPr>
              <a:t>Response:VM1.contoso.lab</a:t>
            </a:r>
          </a:p>
        </p:txBody>
      </p:sp>
    </p:spTree>
    <p:extLst>
      <p:ext uri="{BB962C8B-B14F-4D97-AF65-F5344CB8AC3E}">
        <p14:creationId xmlns:p14="http://schemas.microsoft.com/office/powerpoint/2010/main" val="2942185813"/>
      </p:ext>
    </p:extLst>
  </p:cSld>
  <p:clrMapOvr>
    <a:masterClrMapping/>
  </p:clrMapOvr>
  <p:transition>
    <p:fade/>
  </p:transition>
</p:sld>
</file>

<file path=ppt/slides/slide3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B68873A5-5F08-4581-1181-6E0A07E142F1}"/>
            </a:ext>
          </a:extLst>
        </p:cNvPr>
        <p:cNvGrpSpPr/>
        <p:nvPr/>
      </p:nvGrpSpPr>
      <p:grpSpPr>
        <a:xfrm>
          <a:off x="0" y="0"/>
          <a:ext cx="0" cy="0"/>
          <a:chOff x="0" y="0"/>
          <a:chExt cx="0" cy="0"/>
        </a:xfrm>
      </p:grpSpPr>
      <p:sp>
        <p:nvSpPr>
          <p:cNvPr id="17" name="Title 16">
            <a:extLst>
              <a:ext uri="{FF2B5EF4-FFF2-40B4-BE49-F238E27FC236}">
                <a16:creationId xmlns:a16="http://schemas.microsoft.com/office/drawing/2014/main" id="{33A97A05-B109-0914-0F56-E913FFAF0541}"/>
              </a:ext>
            </a:extLst>
          </p:cNvPr>
          <p:cNvSpPr>
            <a:spLocks noGrp="1"/>
          </p:cNvSpPr>
          <p:nvPr>
            <p:ph type="title"/>
          </p:nvPr>
        </p:nvSpPr>
        <p:spPr/>
        <p:txBody>
          <a:bodyPr/>
          <a:lstStyle/>
          <a:p>
            <a:r>
              <a:rPr lang="en-US" dirty="0"/>
              <a:t>Associate Public IP Addresses</a:t>
            </a:r>
          </a:p>
        </p:txBody>
      </p:sp>
      <p:graphicFrame>
        <p:nvGraphicFramePr>
          <p:cNvPr id="6" name="Table 5">
            <a:extLst>
              <a:ext uri="{FF2B5EF4-FFF2-40B4-BE49-F238E27FC236}">
                <a16:creationId xmlns:a16="http://schemas.microsoft.com/office/drawing/2014/main" id="{C8A0FC0A-1558-5B6A-E49A-1EE1D51C5ABE}"/>
              </a:ext>
            </a:extLst>
          </p:cNvPr>
          <p:cNvGraphicFramePr>
            <a:graphicFrameLocks noGrp="1"/>
          </p:cNvGraphicFramePr>
          <p:nvPr/>
        </p:nvGraphicFramePr>
        <p:xfrm>
          <a:off x="427038" y="1306514"/>
          <a:ext cx="11582399" cy="3282420"/>
        </p:xfrm>
        <a:graphic>
          <a:graphicData uri="http://schemas.openxmlformats.org/drawingml/2006/table">
            <a:tbl>
              <a:tblPr firstRow="1" firstCol="1" bandRow="1">
                <a:tableStyleId>{2D5ABB26-0587-4C30-8999-92F81FD0307C}</a:tableStyleId>
              </a:tblPr>
              <a:tblGrid>
                <a:gridCol w="3561433">
                  <a:extLst>
                    <a:ext uri="{9D8B030D-6E8A-4147-A177-3AD203B41FA5}">
                      <a16:colId xmlns:a16="http://schemas.microsoft.com/office/drawing/2014/main" val="3174192451"/>
                    </a:ext>
                  </a:extLst>
                </a:gridCol>
                <a:gridCol w="4236555">
                  <a:extLst>
                    <a:ext uri="{9D8B030D-6E8A-4147-A177-3AD203B41FA5}">
                      <a16:colId xmlns:a16="http://schemas.microsoft.com/office/drawing/2014/main" val="2284610204"/>
                    </a:ext>
                  </a:extLst>
                </a:gridCol>
                <a:gridCol w="2006792">
                  <a:extLst>
                    <a:ext uri="{9D8B030D-6E8A-4147-A177-3AD203B41FA5}">
                      <a16:colId xmlns:a16="http://schemas.microsoft.com/office/drawing/2014/main" val="1182798680"/>
                    </a:ext>
                  </a:extLst>
                </a:gridCol>
                <a:gridCol w="1777619">
                  <a:extLst>
                    <a:ext uri="{9D8B030D-6E8A-4147-A177-3AD203B41FA5}">
                      <a16:colId xmlns:a16="http://schemas.microsoft.com/office/drawing/2014/main" val="3457186022"/>
                    </a:ext>
                  </a:extLst>
                </a:gridCol>
              </a:tblGrid>
              <a:tr h="603244">
                <a:tc>
                  <a:txBody>
                    <a:bodyPr/>
                    <a:lstStyle/>
                    <a:p>
                      <a:pPr marL="0" marR="156845">
                        <a:lnSpc>
                          <a:spcPct val="115000"/>
                        </a:lnSpc>
                      </a:pPr>
                      <a:r>
                        <a:rPr lang="en-US" sz="2200" dirty="0">
                          <a:solidFill>
                            <a:schemeClr val="tx1"/>
                          </a:solidFill>
                          <a:effectLst/>
                          <a:latin typeface="+mj-lt"/>
                        </a:rPr>
                        <a:t>Public IP addresses</a:t>
                      </a:r>
                      <a:endParaRPr lang="en-US" sz="2200" b="0" dirty="0">
                        <a:solidFill>
                          <a:schemeClr val="tx1"/>
                        </a:solidFill>
                        <a:effectLst/>
                        <a:latin typeface="+mj-lt"/>
                        <a:ea typeface="Times New Roman" panose="02020603050405020304" pitchFamily="18" charset="0"/>
                        <a:cs typeface="Segoe UI Semilight"/>
                      </a:endParaRPr>
                    </a:p>
                  </a:txBody>
                  <a:tcPr marL="137160" marR="137160" marT="91440" marB="91440" anchor="ctr">
                    <a:lnL w="6350" cap="flat" cmpd="sng" algn="ctr">
                      <a:solidFill>
                        <a:srgbClr val="243A5E"/>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43A5E"/>
                      </a:solidFill>
                      <a:prstDash val="solid"/>
                      <a:round/>
                      <a:headEnd type="none" w="med" len="med"/>
                      <a:tailEnd type="none" w="med" len="med"/>
                    </a:lnT>
                    <a:lnB w="6350" cap="flat" cmpd="sng" algn="ctr">
                      <a:noFill/>
                      <a:prstDash val="solid"/>
                      <a:round/>
                      <a:headEnd type="none" w="med" len="med"/>
                      <a:tailEnd type="none" w="med" len="med"/>
                    </a:lnB>
                    <a:solidFill>
                      <a:srgbClr val="A6BBE7"/>
                    </a:solidFill>
                  </a:tcPr>
                </a:tc>
                <a:tc>
                  <a:txBody>
                    <a:bodyPr/>
                    <a:lstStyle/>
                    <a:p>
                      <a:pPr marL="0" marR="156845">
                        <a:lnSpc>
                          <a:spcPct val="115000"/>
                        </a:lnSpc>
                      </a:pPr>
                      <a:r>
                        <a:rPr lang="en-US" sz="2200" dirty="0">
                          <a:solidFill>
                            <a:schemeClr val="tx1"/>
                          </a:solidFill>
                          <a:effectLst/>
                          <a:latin typeface="+mj-lt"/>
                        </a:rPr>
                        <a:t>IP address association</a:t>
                      </a:r>
                      <a:endParaRPr lang="en-US" sz="2200" b="0" dirty="0">
                        <a:solidFill>
                          <a:schemeClr val="tx1"/>
                        </a:solidFill>
                        <a:effectLst/>
                        <a:latin typeface="+mj-lt"/>
                        <a:ea typeface="Times New Roman" panose="02020603050405020304" pitchFamily="18" charset="0"/>
                        <a:cs typeface="Segoe UI Semilight"/>
                      </a:endParaRPr>
                    </a:p>
                  </a:txBody>
                  <a:tcPr marL="137160" marR="137160" marT="91440" marB="9144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43A5E"/>
                      </a:solidFill>
                      <a:prstDash val="solid"/>
                      <a:round/>
                      <a:headEnd type="none" w="med" len="med"/>
                      <a:tailEnd type="none" w="med" len="med"/>
                    </a:lnT>
                    <a:lnB w="6350" cap="flat" cmpd="sng" algn="ctr">
                      <a:noFill/>
                      <a:prstDash val="solid"/>
                      <a:round/>
                      <a:headEnd type="none" w="med" len="med"/>
                      <a:tailEnd type="none" w="med" len="med"/>
                    </a:lnB>
                    <a:solidFill>
                      <a:srgbClr val="A6BBE7"/>
                    </a:solidFill>
                  </a:tcPr>
                </a:tc>
                <a:tc>
                  <a:txBody>
                    <a:bodyPr/>
                    <a:lstStyle/>
                    <a:p>
                      <a:pPr marL="0" marR="156845">
                        <a:lnSpc>
                          <a:spcPct val="115000"/>
                        </a:lnSpc>
                      </a:pPr>
                      <a:r>
                        <a:rPr lang="en-US" sz="2200" dirty="0">
                          <a:solidFill>
                            <a:schemeClr val="tx1"/>
                          </a:solidFill>
                          <a:effectLst/>
                          <a:latin typeface="+mj-lt"/>
                        </a:rPr>
                        <a:t>Dynamic</a:t>
                      </a:r>
                      <a:endParaRPr lang="en-US" sz="2200" b="0" dirty="0">
                        <a:solidFill>
                          <a:schemeClr val="tx1"/>
                        </a:solidFill>
                        <a:effectLst/>
                        <a:latin typeface="+mj-lt"/>
                        <a:ea typeface="Times New Roman" panose="02020603050405020304" pitchFamily="18" charset="0"/>
                        <a:cs typeface="Segoe UI Semilight"/>
                      </a:endParaRPr>
                    </a:p>
                  </a:txBody>
                  <a:tcPr marL="137160" marR="137160" marT="91440" marB="9144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43A5E"/>
                      </a:solidFill>
                      <a:prstDash val="solid"/>
                      <a:round/>
                      <a:headEnd type="none" w="med" len="med"/>
                      <a:tailEnd type="none" w="med" len="med"/>
                    </a:lnT>
                    <a:lnB w="6350" cap="flat" cmpd="sng" algn="ctr">
                      <a:noFill/>
                      <a:prstDash val="solid"/>
                      <a:round/>
                      <a:headEnd type="none" w="med" len="med"/>
                      <a:tailEnd type="none" w="med" len="med"/>
                    </a:lnB>
                    <a:solidFill>
                      <a:srgbClr val="A6BBE7"/>
                    </a:solidFill>
                  </a:tcPr>
                </a:tc>
                <a:tc>
                  <a:txBody>
                    <a:bodyPr/>
                    <a:lstStyle/>
                    <a:p>
                      <a:pPr marL="0" marR="156845">
                        <a:lnSpc>
                          <a:spcPct val="115000"/>
                        </a:lnSpc>
                      </a:pPr>
                      <a:r>
                        <a:rPr lang="en-US" sz="2200" dirty="0">
                          <a:solidFill>
                            <a:schemeClr val="tx1"/>
                          </a:solidFill>
                          <a:effectLst/>
                          <a:latin typeface="+mj-lt"/>
                        </a:rPr>
                        <a:t>Static</a:t>
                      </a:r>
                      <a:endParaRPr lang="en-US" sz="2200" b="0" dirty="0">
                        <a:solidFill>
                          <a:schemeClr val="tx1"/>
                        </a:solidFill>
                        <a:effectLst/>
                        <a:latin typeface="+mj-lt"/>
                        <a:ea typeface="Times New Roman" panose="02020603050405020304" pitchFamily="18" charset="0"/>
                        <a:cs typeface="Segoe UI Semilight"/>
                      </a:endParaRPr>
                    </a:p>
                  </a:txBody>
                  <a:tcPr marL="137160" marR="137160" marT="91440" marB="91440" anchor="ctr">
                    <a:lnL w="6350" cap="flat" cmpd="sng" algn="ctr">
                      <a:solidFill>
                        <a:schemeClr val="bg1"/>
                      </a:solidFill>
                      <a:prstDash val="solid"/>
                      <a:round/>
                      <a:headEnd type="none" w="med" len="med"/>
                      <a:tailEnd type="none" w="med" len="med"/>
                    </a:lnL>
                    <a:lnR w="6350" cap="flat" cmpd="sng" algn="ctr">
                      <a:solidFill>
                        <a:srgbClr val="243A5E"/>
                      </a:solidFill>
                      <a:prstDash val="solid"/>
                      <a:round/>
                      <a:headEnd type="none" w="med" len="med"/>
                      <a:tailEnd type="none" w="med" len="med"/>
                    </a:lnR>
                    <a:lnT w="6350" cap="flat" cmpd="sng" algn="ctr">
                      <a:solidFill>
                        <a:srgbClr val="243A5E"/>
                      </a:solidFill>
                      <a:prstDash val="solid"/>
                      <a:round/>
                      <a:headEnd type="none" w="med" len="med"/>
                      <a:tailEnd type="none" w="med" len="med"/>
                    </a:lnT>
                    <a:lnB w="6350" cap="flat" cmpd="sng" algn="ctr">
                      <a:noFill/>
                      <a:prstDash val="solid"/>
                      <a:round/>
                      <a:headEnd type="none" w="med" len="med"/>
                      <a:tailEnd type="none" w="med" len="med"/>
                    </a:lnB>
                    <a:solidFill>
                      <a:srgbClr val="A6BBE7"/>
                    </a:solidFill>
                  </a:tcPr>
                </a:tc>
                <a:extLst>
                  <a:ext uri="{0D108BD9-81ED-4DB2-BD59-A6C34878D82A}">
                    <a16:rowId xmlns:a16="http://schemas.microsoft.com/office/drawing/2014/main" val="3394654805"/>
                  </a:ext>
                </a:extLst>
              </a:tr>
              <a:tr h="669794">
                <a:tc>
                  <a:txBody>
                    <a:bodyPr/>
                    <a:lstStyle/>
                    <a:p>
                      <a:pPr marL="0" marR="156845">
                        <a:lnSpc>
                          <a:spcPct val="115000"/>
                        </a:lnSpc>
                      </a:pPr>
                      <a:r>
                        <a:rPr lang="en-US" sz="2200" dirty="0">
                          <a:effectLst/>
                          <a:latin typeface="+mj-lt"/>
                        </a:rPr>
                        <a:t>Virtual Machine</a:t>
                      </a:r>
                      <a:endParaRPr lang="en-US" sz="2200" b="0" dirty="0">
                        <a:solidFill>
                          <a:schemeClr val="tx1"/>
                        </a:solidFill>
                        <a:effectLst/>
                        <a:latin typeface="+mj-lt"/>
                        <a:ea typeface="Times New Roman" panose="02020603050405020304" pitchFamily="18" charset="0"/>
                        <a:cs typeface="Segoe UI Semilight"/>
                      </a:endParaRPr>
                    </a:p>
                  </a:txBody>
                  <a:tcPr marL="137160" marR="137160" marT="91440" marB="91440" anchor="ctr">
                    <a:lnL w="635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0" marR="156845">
                        <a:lnSpc>
                          <a:spcPct val="115000"/>
                        </a:lnSpc>
                      </a:pPr>
                      <a:r>
                        <a:rPr lang="en-US" sz="2200" dirty="0">
                          <a:effectLst/>
                        </a:rPr>
                        <a:t>NIC</a:t>
                      </a:r>
                      <a:endParaRPr lang="en-US" sz="2200" b="0" dirty="0">
                        <a:solidFill>
                          <a:schemeClr val="tx1"/>
                        </a:solidFill>
                        <a:effectLst/>
                        <a:latin typeface="+mn-lt"/>
                        <a:ea typeface="Times New Roman" panose="02020603050405020304" pitchFamily="18" charset="0"/>
                        <a:cs typeface="Segoe UI Semilight"/>
                      </a:endParaRPr>
                    </a:p>
                  </a:txBody>
                  <a:tcPr marL="137160" marR="137160" marT="91440" marB="91440" anchor="ctr">
                    <a:lnL w="1270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pPr marL="0" marR="156845">
                        <a:lnSpc>
                          <a:spcPct val="115000"/>
                        </a:lnSpc>
                      </a:pPr>
                      <a:r>
                        <a:rPr lang="en-US" sz="2200" dirty="0">
                          <a:effectLst/>
                        </a:rPr>
                        <a:t>Yes</a:t>
                      </a:r>
                      <a:endParaRPr lang="en-US" sz="2200" b="0" dirty="0">
                        <a:solidFill>
                          <a:schemeClr val="tx1"/>
                        </a:solidFill>
                        <a:effectLst/>
                        <a:latin typeface="+mn-lt"/>
                        <a:ea typeface="Times New Roman" panose="02020603050405020304" pitchFamily="18" charset="0"/>
                        <a:cs typeface="Segoe UI Semilight"/>
                      </a:endParaRPr>
                    </a:p>
                  </a:txBody>
                  <a:tcPr marL="137160" marR="137160" marT="91440" marB="9144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pPr marL="0" marR="156845">
                        <a:lnSpc>
                          <a:spcPct val="115000"/>
                        </a:lnSpc>
                      </a:pPr>
                      <a:r>
                        <a:rPr lang="en-US" sz="2200" dirty="0">
                          <a:effectLst/>
                        </a:rPr>
                        <a:t>Yes</a:t>
                      </a:r>
                      <a:endParaRPr lang="en-US" sz="2200" b="0" dirty="0">
                        <a:solidFill>
                          <a:schemeClr val="tx1"/>
                        </a:solidFill>
                        <a:effectLst/>
                        <a:latin typeface="+mn-lt"/>
                        <a:ea typeface="Times New Roman" panose="02020603050405020304" pitchFamily="18" charset="0"/>
                        <a:cs typeface="Segoe UI Semilight"/>
                      </a:endParaRPr>
                    </a:p>
                  </a:txBody>
                  <a:tcPr marL="137160" marR="137160" marT="91440" marB="9144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531043496"/>
                  </a:ext>
                </a:extLst>
              </a:tr>
              <a:tr h="669794">
                <a:tc>
                  <a:txBody>
                    <a:bodyPr/>
                    <a:lstStyle/>
                    <a:p>
                      <a:pPr marL="0" marR="156845">
                        <a:lnSpc>
                          <a:spcPct val="115000"/>
                        </a:lnSpc>
                      </a:pPr>
                      <a:r>
                        <a:rPr lang="en-US" sz="2200" dirty="0">
                          <a:effectLst/>
                          <a:latin typeface="+mj-lt"/>
                        </a:rPr>
                        <a:t>Load Balancer</a:t>
                      </a:r>
                      <a:endParaRPr lang="en-US" sz="2200" b="0" dirty="0">
                        <a:solidFill>
                          <a:schemeClr val="tx1"/>
                        </a:solidFill>
                        <a:effectLst/>
                        <a:latin typeface="+mj-lt"/>
                        <a:ea typeface="Times New Roman" panose="02020603050405020304" pitchFamily="18" charset="0"/>
                        <a:cs typeface="Segoe UI Semilight"/>
                      </a:endParaRPr>
                    </a:p>
                  </a:txBody>
                  <a:tcPr marL="137160" marR="137160" marT="91440" marB="91440" anchor="ctr">
                    <a:lnL w="635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0" marR="156845">
                        <a:lnSpc>
                          <a:spcPct val="115000"/>
                        </a:lnSpc>
                      </a:pPr>
                      <a:r>
                        <a:rPr lang="en-US" sz="2200" dirty="0">
                          <a:effectLst/>
                        </a:rPr>
                        <a:t>Front-end configuration</a:t>
                      </a:r>
                      <a:endParaRPr lang="en-US" sz="2200" b="0" dirty="0">
                        <a:solidFill>
                          <a:schemeClr val="tx1"/>
                        </a:solidFill>
                        <a:effectLst/>
                        <a:latin typeface="+mn-lt"/>
                        <a:ea typeface="Times New Roman" panose="02020603050405020304" pitchFamily="18" charset="0"/>
                        <a:cs typeface="Segoe UI Semilight"/>
                      </a:endParaRPr>
                    </a:p>
                  </a:txBody>
                  <a:tcPr marL="137160" marR="137160" marT="91440" marB="91440" anchor="ctr">
                    <a:lnL w="1270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pPr marL="0" marR="156845">
                        <a:lnSpc>
                          <a:spcPct val="115000"/>
                        </a:lnSpc>
                      </a:pPr>
                      <a:r>
                        <a:rPr lang="en-US" sz="2200" dirty="0">
                          <a:effectLst/>
                        </a:rPr>
                        <a:t>Yes</a:t>
                      </a:r>
                      <a:endParaRPr lang="en-US" sz="2200" b="0" dirty="0">
                        <a:solidFill>
                          <a:schemeClr val="tx1"/>
                        </a:solidFill>
                        <a:effectLst/>
                        <a:latin typeface="+mn-lt"/>
                        <a:ea typeface="Times New Roman" panose="02020603050405020304" pitchFamily="18" charset="0"/>
                        <a:cs typeface="Segoe UI Semilight"/>
                      </a:endParaRPr>
                    </a:p>
                  </a:txBody>
                  <a:tcPr marL="137160" marR="137160" marT="91440" marB="9144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pPr marL="0" marR="156845">
                        <a:lnSpc>
                          <a:spcPct val="115000"/>
                        </a:lnSpc>
                      </a:pPr>
                      <a:r>
                        <a:rPr lang="en-US" sz="2200" dirty="0">
                          <a:effectLst/>
                        </a:rPr>
                        <a:t>Yes</a:t>
                      </a:r>
                      <a:endParaRPr lang="en-US" sz="2200" b="0" dirty="0">
                        <a:solidFill>
                          <a:schemeClr val="tx1"/>
                        </a:solidFill>
                        <a:effectLst/>
                        <a:latin typeface="+mn-lt"/>
                        <a:ea typeface="Times New Roman" panose="02020603050405020304" pitchFamily="18" charset="0"/>
                        <a:cs typeface="Segoe UI Semilight"/>
                      </a:endParaRPr>
                    </a:p>
                  </a:txBody>
                  <a:tcPr marL="137160" marR="137160" marT="91440" marB="9144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549406885"/>
                  </a:ext>
                </a:extLst>
              </a:tr>
              <a:tr h="669794">
                <a:tc>
                  <a:txBody>
                    <a:bodyPr/>
                    <a:lstStyle/>
                    <a:p>
                      <a:pPr marL="0" marR="156845">
                        <a:lnSpc>
                          <a:spcPct val="115000"/>
                        </a:lnSpc>
                      </a:pPr>
                      <a:r>
                        <a:rPr lang="en-US" sz="2200" dirty="0">
                          <a:effectLst/>
                          <a:latin typeface="+mj-lt"/>
                        </a:rPr>
                        <a:t>VPN Gateway</a:t>
                      </a:r>
                      <a:endParaRPr lang="en-US" sz="2200" b="0" dirty="0">
                        <a:solidFill>
                          <a:schemeClr val="tx1"/>
                        </a:solidFill>
                        <a:effectLst/>
                        <a:latin typeface="+mj-lt"/>
                        <a:ea typeface="Times New Roman" panose="02020603050405020304" pitchFamily="18" charset="0"/>
                        <a:cs typeface="Segoe UI Semilight"/>
                      </a:endParaRPr>
                    </a:p>
                  </a:txBody>
                  <a:tcPr marL="137160" marR="137160" marT="91440" marB="91440" anchor="ctr">
                    <a:lnL w="635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0" marR="156845">
                        <a:lnSpc>
                          <a:spcPct val="115000"/>
                        </a:lnSpc>
                      </a:pPr>
                      <a:r>
                        <a:rPr lang="en-US" sz="2200" dirty="0">
                          <a:effectLst/>
                        </a:rPr>
                        <a:t>Gateway IP configuration</a:t>
                      </a:r>
                      <a:endParaRPr lang="en-US" sz="2200" b="0" dirty="0">
                        <a:solidFill>
                          <a:schemeClr val="tx1"/>
                        </a:solidFill>
                        <a:effectLst/>
                        <a:latin typeface="+mn-lt"/>
                        <a:ea typeface="Times New Roman" panose="02020603050405020304" pitchFamily="18" charset="0"/>
                        <a:cs typeface="Segoe UI Semilight"/>
                      </a:endParaRPr>
                    </a:p>
                  </a:txBody>
                  <a:tcPr marL="137160" marR="137160" marT="91440" marB="91440" anchor="ctr">
                    <a:lnL w="1270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pPr marL="0" marR="156845">
                        <a:lnSpc>
                          <a:spcPct val="115000"/>
                        </a:lnSpc>
                      </a:pPr>
                      <a:r>
                        <a:rPr lang="en-US" sz="2200" dirty="0">
                          <a:effectLst/>
                        </a:rPr>
                        <a:t>Yes</a:t>
                      </a:r>
                      <a:endParaRPr lang="en-US" sz="2200" b="0" dirty="0">
                        <a:solidFill>
                          <a:schemeClr val="tx1"/>
                        </a:solidFill>
                        <a:effectLst/>
                        <a:latin typeface="+mn-lt"/>
                        <a:ea typeface="Times New Roman" panose="02020603050405020304" pitchFamily="18" charset="0"/>
                        <a:cs typeface="Segoe UI Semilight"/>
                      </a:endParaRPr>
                    </a:p>
                  </a:txBody>
                  <a:tcPr marL="137160" marR="137160" marT="91440" marB="9144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pPr marL="0" marR="156845">
                        <a:lnSpc>
                          <a:spcPct val="115000"/>
                        </a:lnSpc>
                      </a:pPr>
                      <a:r>
                        <a:rPr lang="en-US" sz="2200" dirty="0">
                          <a:effectLst/>
                        </a:rPr>
                        <a:t>Yes*</a:t>
                      </a:r>
                      <a:endParaRPr lang="en-US" sz="2200" b="0" dirty="0">
                        <a:solidFill>
                          <a:schemeClr val="tx1"/>
                        </a:solidFill>
                        <a:effectLst/>
                        <a:latin typeface="+mn-lt"/>
                        <a:ea typeface="Times New Roman" panose="02020603050405020304" pitchFamily="18" charset="0"/>
                        <a:cs typeface="Segoe UI Semilight"/>
                      </a:endParaRPr>
                    </a:p>
                  </a:txBody>
                  <a:tcPr marL="137160" marR="137160" marT="91440" marB="9144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585675026"/>
                  </a:ext>
                </a:extLst>
              </a:tr>
              <a:tr h="669794">
                <a:tc>
                  <a:txBody>
                    <a:bodyPr/>
                    <a:lstStyle/>
                    <a:p>
                      <a:pPr marL="0" marR="156845">
                        <a:lnSpc>
                          <a:spcPct val="115000"/>
                        </a:lnSpc>
                      </a:pPr>
                      <a:r>
                        <a:rPr lang="en-US" sz="2200" dirty="0">
                          <a:effectLst/>
                          <a:latin typeface="+mj-lt"/>
                        </a:rPr>
                        <a:t>Application Gateway</a:t>
                      </a:r>
                      <a:endParaRPr lang="en-US" sz="2200" b="0" dirty="0">
                        <a:solidFill>
                          <a:schemeClr val="tx1"/>
                        </a:solidFill>
                        <a:effectLst/>
                        <a:latin typeface="+mj-lt"/>
                        <a:ea typeface="Times New Roman" panose="02020603050405020304" pitchFamily="18" charset="0"/>
                        <a:cs typeface="Segoe UI Semilight"/>
                      </a:endParaRPr>
                    </a:p>
                  </a:txBody>
                  <a:tcPr marL="137160" marR="137160" marT="91440" marB="91440" anchor="ctr">
                    <a:lnL w="635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0" marR="156845">
                        <a:lnSpc>
                          <a:spcPct val="115000"/>
                        </a:lnSpc>
                      </a:pPr>
                      <a:r>
                        <a:rPr lang="en-US" sz="2200" dirty="0">
                          <a:effectLst/>
                        </a:rPr>
                        <a:t>Front-end configuration</a:t>
                      </a:r>
                      <a:endParaRPr lang="en-US" sz="2200" b="0" dirty="0">
                        <a:solidFill>
                          <a:schemeClr val="tx1"/>
                        </a:solidFill>
                        <a:effectLst/>
                        <a:latin typeface="+mn-lt"/>
                        <a:ea typeface="Times New Roman" panose="02020603050405020304" pitchFamily="18" charset="0"/>
                        <a:cs typeface="Segoe UI Semilight"/>
                      </a:endParaRPr>
                    </a:p>
                  </a:txBody>
                  <a:tcPr marL="137160" marR="137160" marT="91440" marB="91440" anchor="ctr">
                    <a:lnL w="1270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pPr marL="0" marR="156845">
                        <a:lnSpc>
                          <a:spcPct val="115000"/>
                        </a:lnSpc>
                      </a:pPr>
                      <a:r>
                        <a:rPr lang="en-US" sz="2200" dirty="0">
                          <a:effectLst/>
                        </a:rPr>
                        <a:t>Yes</a:t>
                      </a:r>
                      <a:endParaRPr lang="en-US" sz="2200" b="0" dirty="0">
                        <a:solidFill>
                          <a:schemeClr val="tx1"/>
                        </a:solidFill>
                        <a:effectLst/>
                        <a:latin typeface="+mn-lt"/>
                        <a:ea typeface="Times New Roman" panose="02020603050405020304" pitchFamily="18" charset="0"/>
                        <a:cs typeface="Segoe UI Semilight"/>
                      </a:endParaRPr>
                    </a:p>
                  </a:txBody>
                  <a:tcPr marL="137160" marR="137160" marT="91440" marB="9144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pPr marL="0" marR="156845">
                        <a:lnSpc>
                          <a:spcPct val="115000"/>
                        </a:lnSpc>
                      </a:pPr>
                      <a:r>
                        <a:rPr lang="en-US" sz="2200" dirty="0">
                          <a:effectLst/>
                        </a:rPr>
                        <a:t>Yes*</a:t>
                      </a:r>
                      <a:endParaRPr lang="en-US" sz="2200" b="0" dirty="0">
                        <a:solidFill>
                          <a:schemeClr val="tx1"/>
                        </a:solidFill>
                        <a:effectLst/>
                        <a:latin typeface="+mn-lt"/>
                        <a:ea typeface="Times New Roman" panose="02020603050405020304" pitchFamily="18" charset="0"/>
                        <a:cs typeface="Segoe UI Semilight"/>
                      </a:endParaRPr>
                    </a:p>
                  </a:txBody>
                  <a:tcPr marL="137160" marR="137160" marT="91440" marB="9144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441467203"/>
                  </a:ext>
                </a:extLst>
              </a:tr>
            </a:tbl>
          </a:graphicData>
        </a:graphic>
      </p:graphicFrame>
      <p:sp>
        <p:nvSpPr>
          <p:cNvPr id="5" name="Text Placeholder 2">
            <a:extLst>
              <a:ext uri="{FF2B5EF4-FFF2-40B4-BE49-F238E27FC236}">
                <a16:creationId xmlns:a16="http://schemas.microsoft.com/office/drawing/2014/main" id="{B6127AD9-A61E-7849-02C8-C2FD8E8515D4}"/>
              </a:ext>
            </a:extLst>
          </p:cNvPr>
          <p:cNvSpPr txBox="1">
            <a:spLocks/>
          </p:cNvSpPr>
          <p:nvPr/>
        </p:nvSpPr>
        <p:spPr>
          <a:xfrm>
            <a:off x="427038" y="4815655"/>
            <a:ext cx="11571288" cy="1097280"/>
          </a:xfrm>
          <a:prstGeom prst="rect">
            <a:avLst/>
          </a:prstGeom>
          <a:solidFill>
            <a:schemeClr val="bg1">
              <a:lumMod val="95000"/>
            </a:schemeClr>
          </a:solidFill>
          <a:ln w="6350">
            <a:noFill/>
          </a:ln>
        </p:spPr>
        <p:txBody>
          <a:bodyPr vert="horz" wrap="square" lIns="137160" tIns="91440" rIns="137160" bIns="91440" rtlCol="0" anchor="ctr">
            <a:noAutofit/>
          </a:bodyPr>
          <a:lstStyle>
            <a:lvl1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2400" kern="1200" spc="-50" baseline="0">
                <a:solidFill>
                  <a:srgbClr val="000000"/>
                </a:solidFill>
                <a:latin typeface="+mj-lt"/>
                <a:ea typeface="+mn-ea"/>
                <a:cs typeface="+mn-cs"/>
              </a:defRPr>
            </a:lvl1pPr>
            <a:lvl2pPr marL="0" marR="0" indent="0" algn="l" defTabSz="932742" rtl="0" eaLnBrk="1" fontAlgn="auto" latinLnBrk="0" hangingPunct="1">
              <a:lnSpc>
                <a:spcPct val="100000"/>
              </a:lnSpc>
              <a:spcBef>
                <a:spcPts val="0"/>
              </a:spcBef>
              <a:spcAft>
                <a:spcPts val="0"/>
              </a:spcAft>
              <a:buClrTx/>
              <a:buSzPct val="90000"/>
              <a:buFontTx/>
              <a:buNone/>
              <a:tabLst/>
              <a:defRPr sz="2000" kern="1200" spc="0" baseline="0">
                <a:solidFill>
                  <a:srgbClr val="000000"/>
                </a:solidFill>
                <a:latin typeface="+mn-lt"/>
                <a:ea typeface="+mn-ea"/>
                <a:cs typeface="+mn-cs"/>
              </a:defRPr>
            </a:lvl2pPr>
            <a:lvl3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400" kern="1200" spc="0" baseline="0">
                <a:solidFill>
                  <a:schemeClr val="tx2"/>
                </a:solidFill>
                <a:latin typeface="+mj-lt"/>
                <a:ea typeface="+mn-ea"/>
                <a:cs typeface="+mn-cs"/>
              </a:defRPr>
            </a:lvl3pPr>
            <a:lvl4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400" kern="1200" spc="0" baseline="0">
                <a:solidFill>
                  <a:srgbClr val="000000"/>
                </a:solidFill>
                <a:latin typeface="+mn-lt"/>
                <a:ea typeface="+mn-ea"/>
                <a:cs typeface="+mn-cs"/>
              </a:defRPr>
            </a:lvl4pPr>
            <a:lvl5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000" b="1" kern="1200" spc="0" baseline="0">
                <a:solidFill>
                  <a:srgbClr val="000000"/>
                </a:solidFill>
                <a:latin typeface="+mn-lt"/>
                <a:ea typeface="+mn-ea"/>
                <a:cs typeface="+mn-cs"/>
              </a:defRPr>
            </a:lvl5pPr>
            <a:lvl6pPr marL="2331854" indent="0" algn="l" defTabSz="932742" rtl="0" eaLnBrk="1" latinLnBrk="0" hangingPunct="1">
              <a:spcBef>
                <a:spcPct val="20000"/>
              </a:spcBef>
              <a:buFont typeface="Arial" pitchFamily="34" charset="0"/>
              <a:buNone/>
              <a:defRPr sz="2000" kern="1200">
                <a:solidFill>
                  <a:schemeClr val="tx1"/>
                </a:solidFill>
                <a:latin typeface="+mn-lt"/>
                <a:ea typeface="+mn-ea"/>
                <a:cs typeface="+mn-cs"/>
              </a:defRPr>
            </a:lvl6pPr>
            <a:lvl7pPr marL="0" indent="0" algn="l" defTabSz="932742" rtl="0" eaLnBrk="1" latinLnBrk="0" hangingPunct="1">
              <a:lnSpc>
                <a:spcPct val="100000"/>
              </a:lnSpc>
              <a:spcBef>
                <a:spcPts val="0"/>
              </a:spcBef>
              <a:spcAft>
                <a:spcPts val="0"/>
              </a:spcAft>
              <a:buFont typeface="Arial" pitchFamily="34" charset="0"/>
              <a:buNone/>
              <a:defRPr sz="1000" kern="1200">
                <a:solidFill>
                  <a:srgbClr val="000000"/>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200" spc="0" dirty="0">
                <a:latin typeface="+mn-lt"/>
                <a:cs typeface="Segoe UI Semilight"/>
              </a:rPr>
              <a:t>A public IP address resource can be associated with virtual machine network interfaces, internet-facing load balancers, VPN gateways, and application gateways</a:t>
            </a:r>
          </a:p>
        </p:txBody>
      </p:sp>
      <p:sp>
        <p:nvSpPr>
          <p:cNvPr id="7" name="Text Placeholder 2">
            <a:extLst>
              <a:ext uri="{FF2B5EF4-FFF2-40B4-BE49-F238E27FC236}">
                <a16:creationId xmlns:a16="http://schemas.microsoft.com/office/drawing/2014/main" id="{7BDCE825-2676-29A0-BB95-FD5BC5680B76}"/>
              </a:ext>
            </a:extLst>
          </p:cNvPr>
          <p:cNvSpPr txBox="1">
            <a:spLocks/>
          </p:cNvSpPr>
          <p:nvPr/>
        </p:nvSpPr>
        <p:spPr>
          <a:xfrm>
            <a:off x="438149" y="5912935"/>
            <a:ext cx="4547014" cy="246221"/>
          </a:xfrm>
          <a:prstGeom prst="rect">
            <a:avLst/>
          </a:prstGeom>
        </p:spPr>
        <p:txBody>
          <a:bodyPr vert="horz" wrap="none" lIns="0" tIns="0" rIns="0" bIns="0" rtlCol="0" anchor="t">
            <a:spAutoFit/>
          </a:bodyPr>
          <a:lstStyle>
            <a:lvl1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2400" kern="1200" spc="-50" baseline="0">
                <a:solidFill>
                  <a:srgbClr val="000000"/>
                </a:solidFill>
                <a:latin typeface="+mj-lt"/>
                <a:ea typeface="+mn-ea"/>
                <a:cs typeface="+mn-cs"/>
              </a:defRPr>
            </a:lvl1pPr>
            <a:lvl2pPr marL="0" marR="0" indent="0" algn="l" defTabSz="932742" rtl="0" eaLnBrk="1" fontAlgn="auto" latinLnBrk="0" hangingPunct="1">
              <a:lnSpc>
                <a:spcPct val="100000"/>
              </a:lnSpc>
              <a:spcBef>
                <a:spcPts val="0"/>
              </a:spcBef>
              <a:spcAft>
                <a:spcPts val="0"/>
              </a:spcAft>
              <a:buClrTx/>
              <a:buSzPct val="90000"/>
              <a:buFontTx/>
              <a:buNone/>
              <a:tabLst/>
              <a:defRPr sz="2000" kern="1200" spc="0" baseline="0">
                <a:solidFill>
                  <a:srgbClr val="000000"/>
                </a:solidFill>
                <a:latin typeface="+mn-lt"/>
                <a:ea typeface="+mn-ea"/>
                <a:cs typeface="+mn-cs"/>
              </a:defRPr>
            </a:lvl2pPr>
            <a:lvl3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400" kern="1200" spc="0" baseline="0">
                <a:solidFill>
                  <a:schemeClr val="tx2"/>
                </a:solidFill>
                <a:latin typeface="+mj-lt"/>
                <a:ea typeface="+mn-ea"/>
                <a:cs typeface="+mn-cs"/>
              </a:defRPr>
            </a:lvl3pPr>
            <a:lvl4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400" kern="1200" spc="0" baseline="0">
                <a:solidFill>
                  <a:srgbClr val="000000"/>
                </a:solidFill>
                <a:latin typeface="+mn-lt"/>
                <a:ea typeface="+mn-ea"/>
                <a:cs typeface="+mn-cs"/>
              </a:defRPr>
            </a:lvl4pPr>
            <a:lvl5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000" b="1" kern="1200" spc="0" baseline="0">
                <a:solidFill>
                  <a:srgbClr val="000000"/>
                </a:solidFill>
                <a:latin typeface="+mn-lt"/>
                <a:ea typeface="+mn-ea"/>
                <a:cs typeface="+mn-cs"/>
              </a:defRPr>
            </a:lvl5pPr>
            <a:lvl6pPr marL="2331854" indent="0" algn="l" defTabSz="932742" rtl="0" eaLnBrk="1" latinLnBrk="0" hangingPunct="1">
              <a:spcBef>
                <a:spcPct val="20000"/>
              </a:spcBef>
              <a:buFont typeface="Arial" pitchFamily="34" charset="0"/>
              <a:buNone/>
              <a:defRPr sz="2000" kern="1200">
                <a:solidFill>
                  <a:schemeClr val="tx1"/>
                </a:solidFill>
                <a:latin typeface="+mn-lt"/>
                <a:ea typeface="+mn-ea"/>
                <a:cs typeface="+mn-cs"/>
              </a:defRPr>
            </a:lvl6pPr>
            <a:lvl7pPr marL="0" indent="0" algn="l" defTabSz="932742" rtl="0" eaLnBrk="1" latinLnBrk="0" hangingPunct="1">
              <a:lnSpc>
                <a:spcPct val="100000"/>
              </a:lnSpc>
              <a:spcBef>
                <a:spcPts val="0"/>
              </a:spcBef>
              <a:spcAft>
                <a:spcPts val="0"/>
              </a:spcAft>
              <a:buFont typeface="Arial" pitchFamily="34" charset="0"/>
              <a:buNone/>
              <a:defRPr sz="1000" kern="1200">
                <a:solidFill>
                  <a:srgbClr val="000000"/>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600" spc="0" dirty="0">
                <a:latin typeface="+mn-lt"/>
                <a:cs typeface="Segoe UI Semilight"/>
              </a:rPr>
              <a:t>*Static IP addresses only available on certain SKUs.</a:t>
            </a:r>
            <a:endParaRPr lang="en-US" sz="1600" spc="0" dirty="0">
              <a:latin typeface="+mn-lt"/>
            </a:endParaRPr>
          </a:p>
        </p:txBody>
      </p:sp>
    </p:spTree>
    <p:extLst>
      <p:ext uri="{BB962C8B-B14F-4D97-AF65-F5344CB8AC3E}">
        <p14:creationId xmlns:p14="http://schemas.microsoft.com/office/powerpoint/2010/main" val="2913696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Microsoft Power Platform Template">
  <a:themeElements>
    <a:clrScheme name="Azure">
      <a:dk1>
        <a:srgbClr val="000000"/>
      </a:dk1>
      <a:lt1>
        <a:srgbClr val="FFFFFF"/>
      </a:lt1>
      <a:dk2>
        <a:srgbClr val="0078D4"/>
      </a:dk2>
      <a:lt2>
        <a:srgbClr val="FFFFFF"/>
      </a:lt2>
      <a:accent1>
        <a:srgbClr val="243A5E"/>
      </a:accent1>
      <a:accent2>
        <a:srgbClr val="75757A"/>
      </a:accent2>
      <a:accent3>
        <a:srgbClr val="000041"/>
      </a:accent3>
      <a:accent4>
        <a:srgbClr val="0078D4"/>
      </a:accent4>
      <a:accent5>
        <a:srgbClr val="50E6FF"/>
      </a:accent5>
      <a:accent6>
        <a:srgbClr val="EBEBEB"/>
      </a:accent6>
      <a:hlink>
        <a:srgbClr val="0078D4"/>
      </a:hlink>
      <a:folHlink>
        <a:srgbClr val="0078D4"/>
      </a:folHlink>
    </a:clrScheme>
    <a:fontScheme name="Dynamics 365">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defTabSz="932472" fontAlgn="base">
          <a:lnSpc>
            <a:spcPct val="90000"/>
          </a:lnSpc>
          <a:spcBef>
            <a:spcPct val="0"/>
          </a:spcBef>
          <a:spcAft>
            <a:spcPct val="0"/>
          </a:spcAft>
          <a:defRPr sz="24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182880" tIns="146304" rIns="182880" bIns="146304" rtlCol="0">
        <a:spAutoFit/>
      </a:bodyPr>
      <a:lstStyle>
        <a:defPPr>
          <a:lnSpc>
            <a:spcPct val="90000"/>
          </a:lnSpc>
          <a:spcAft>
            <a:spcPts val="600"/>
          </a:spcAft>
          <a:defRPr sz="24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ATT_Azure_PowerPoint_Template_Dec19" id="{4D812253-AE16-49B7-9E8B-E155C396F1B1}" vid="{CDFF03D5-E879-4992-95FD-25D14F5B9F5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Metadata/LabelInfo.xml><?xml version="1.0" encoding="utf-8"?>
<clbl:labelList xmlns:clbl="http://schemas.microsoft.com/office/2020/mipLabelMetadata">
  <clbl:label id="{1a19d03a-48bc-4359-8038-5b5f6d5847c3}" enabled="1" method="Standard" siteId="{72f988bf-86f1-41af-91ab-2d7cd011db47}" removed="0"/>
</clbl:labelList>
</file>

<file path=docProps/app.xml><?xml version="1.0" encoding="utf-8"?>
<Properties xmlns="http://schemas.openxmlformats.org/officeDocument/2006/extended-properties" xmlns:vt="http://schemas.openxmlformats.org/officeDocument/2006/docPropsVTypes">
  <TotalTime>0</TotalTime>
  <Words>3115</Words>
  <Application>Microsoft Office PowerPoint</Application>
  <PresentationFormat>Custom</PresentationFormat>
  <Paragraphs>413</Paragraphs>
  <Slides>39</Slides>
  <Notes>39</Notes>
  <HiddenSlides>4</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39</vt:i4>
      </vt:variant>
    </vt:vector>
  </HeadingPairs>
  <TitlesOfParts>
    <vt:vector size="49" baseType="lpstr">
      <vt:lpstr>-apple-system</vt:lpstr>
      <vt:lpstr>Arial</vt:lpstr>
      <vt:lpstr>Calibri</vt:lpstr>
      <vt:lpstr>Segoe UI</vt:lpstr>
      <vt:lpstr>Segoe UI Semibold</vt:lpstr>
      <vt:lpstr>Segoe UI Semilight</vt:lpstr>
      <vt:lpstr>Segoe UI VSS (Regular)</vt:lpstr>
      <vt:lpstr>Times New Roman</vt:lpstr>
      <vt:lpstr>Wingdings</vt:lpstr>
      <vt:lpstr>Microsoft Power Platform Template</vt:lpstr>
      <vt:lpstr>AZ-104T00A Administer Virtual Networking</vt:lpstr>
      <vt:lpstr>Learning Objectives - Administer Virtual Networking</vt:lpstr>
      <vt:lpstr>Virtual networking whiteboard</vt:lpstr>
      <vt:lpstr>Configure Virtual Networks</vt:lpstr>
      <vt:lpstr>Learning Objectives - Configure Virtual Networks</vt:lpstr>
      <vt:lpstr>Plan Virtual Networks</vt:lpstr>
      <vt:lpstr>Create Virtual Networks</vt:lpstr>
      <vt:lpstr>Create Subnets</vt:lpstr>
      <vt:lpstr>Plan IP Addressing</vt:lpstr>
      <vt:lpstr>Create Public IP Addresses</vt:lpstr>
      <vt:lpstr>Associate Public IP Addresses</vt:lpstr>
      <vt:lpstr>Allocate or Assign Private IP Addresses</vt:lpstr>
      <vt:lpstr>Demonstration – Virtual Networks</vt:lpstr>
      <vt:lpstr>Learning Recap – Virtual Networks</vt:lpstr>
      <vt:lpstr>Configure Network Security Groups (NSGs)</vt:lpstr>
      <vt:lpstr>Learning Objectives – Network Security Groups </vt:lpstr>
      <vt:lpstr>Implement Network Security Groups </vt:lpstr>
      <vt:lpstr>Determine NSG Rules</vt:lpstr>
      <vt:lpstr>Determine NSG Effective Rules</vt:lpstr>
      <vt:lpstr>Create NSG rules</vt:lpstr>
      <vt:lpstr>Implement Application Security Groups</vt:lpstr>
      <vt:lpstr>Demonstration – Network Security Groups</vt:lpstr>
      <vt:lpstr>Learning Recap – Network Security Groups</vt:lpstr>
      <vt:lpstr>Host your domain on Azure DNS</vt:lpstr>
      <vt:lpstr>Learning Objectives - Host your domain on Azure DNS</vt:lpstr>
      <vt:lpstr>What is Azure DNS?</vt:lpstr>
      <vt:lpstr>Configure Azure DNS to host your domain</vt:lpstr>
      <vt:lpstr>Verify delegation of domain name services</vt:lpstr>
      <vt:lpstr>Dynamically resolve resource name by using alias record</vt:lpstr>
      <vt:lpstr>Configure a private DNS zone</vt:lpstr>
      <vt:lpstr>Demonstration - DNS</vt:lpstr>
      <vt:lpstr>Learning Recap – Host your domain on Azure DNS</vt:lpstr>
      <vt:lpstr>Lab – Implement Virtual Networks</vt:lpstr>
      <vt:lpstr>Lab 04 – Implement Virtual Networking</vt:lpstr>
      <vt:lpstr>Lab 04 – Architecture diagram</vt:lpstr>
      <vt:lpstr>End of presentation</vt:lpstr>
      <vt:lpstr>Verify Custom Domain Names</vt:lpstr>
      <vt:lpstr>Determine Private Zone Scenarios</vt:lpstr>
      <vt:lpstr>Associate Public IP Addresses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2024-05-02T16:58:49Z</dcterms:created>
  <dcterms:modified xsi:type="dcterms:W3CDTF">2025-11-10T19:33:37Z</dcterms:modified>
</cp:coreProperties>
</file>