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551" r:id="rId1"/>
  </p:sldMasterIdLst>
  <p:notesMasterIdLst>
    <p:notesMasterId r:id="rId20"/>
  </p:notesMasterIdLst>
  <p:handoutMasterIdLst>
    <p:handoutMasterId r:id="rId21"/>
  </p:handoutMasterIdLst>
  <p:sldIdLst>
    <p:sldId id="1719" r:id="rId2"/>
    <p:sldId id="2530" r:id="rId3"/>
    <p:sldId id="2076138222" r:id="rId4"/>
    <p:sldId id="1865" r:id="rId5"/>
    <p:sldId id="2531" r:id="rId6"/>
    <p:sldId id="2521" r:id="rId7"/>
    <p:sldId id="2522" r:id="rId8"/>
    <p:sldId id="2523" r:id="rId9"/>
    <p:sldId id="2532" r:id="rId10"/>
    <p:sldId id="2536" r:id="rId11"/>
    <p:sldId id="2076138224" r:id="rId12"/>
    <p:sldId id="2076138225" r:id="rId13"/>
    <p:sldId id="2241" r:id="rId14"/>
    <p:sldId id="2533" r:id="rId15"/>
    <p:sldId id="2558" r:id="rId16"/>
    <p:sldId id="2591" r:id="rId17"/>
    <p:sldId id="2076138226" r:id="rId18"/>
    <p:sldId id="2535" r:id="rId19"/>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ersite Connectivity" id="{3A4C5F0C-F5DA-4F96-B618-636E53B43875}">
          <p14:sldIdLst>
            <p14:sldId id="1719"/>
            <p14:sldId id="2530"/>
            <p14:sldId id="2076138222"/>
          </p14:sldIdLst>
        </p14:section>
        <p14:section name="VNet Peering" id="{F141C578-7BF7-4765-BEE3-1B98A5DF21D4}">
          <p14:sldIdLst>
            <p14:sldId id="1865"/>
            <p14:sldId id="2531"/>
            <p14:sldId id="2521"/>
            <p14:sldId id="2522"/>
            <p14:sldId id="2523"/>
            <p14:sldId id="2532"/>
            <p14:sldId id="2536"/>
          </p14:sldIdLst>
        </p14:section>
        <p14:section name="Routing and Endpoints" id="{9D75EA2C-C99C-4543-992A-A54992471AB1}">
          <p14:sldIdLst>
            <p14:sldId id="2076138224"/>
            <p14:sldId id="2076138225"/>
            <p14:sldId id="2241"/>
          </p14:sldIdLst>
        </p14:section>
        <p14:section name="Labs" id="{803A5A3F-6E53-42FA-8E54-9F934EE0CDE5}">
          <p14:sldIdLst>
            <p14:sldId id="2533"/>
            <p14:sldId id="2558"/>
            <p14:sldId id="2591"/>
            <p14:sldId id="2076138226"/>
            <p14:sldId id="253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EA0A"/>
    <a:srgbClr val="4472C4"/>
    <a:srgbClr val="000000"/>
    <a:srgbClr val="D3D3D3"/>
    <a:srgbClr val="243A5E"/>
    <a:srgbClr val="FFFFFF"/>
    <a:srgbClr val="0078D4"/>
    <a:srgbClr val="50E6FF"/>
    <a:srgbClr val="EBEBEB"/>
    <a:srgbClr val="59B4D9"/>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88432" autoAdjust="0"/>
  </p:normalViewPr>
  <p:slideViewPr>
    <p:cSldViewPr snapToGrid="0">
      <p:cViewPr varScale="1">
        <p:scale>
          <a:sx n="59" d="100"/>
          <a:sy n="59" d="100"/>
        </p:scale>
        <p:origin x="2626" y="274"/>
      </p:cViewPr>
      <p:guideLst/>
    </p:cSldViewPr>
  </p:slideViewPr>
  <p:outlineViewPr>
    <p:cViewPr>
      <p:scale>
        <a:sx n="33" d="100"/>
        <a:sy n="33" d="100"/>
      </p:scale>
      <p:origin x="0" y="-762"/>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91" d="100"/>
          <a:sy n="91" d="100"/>
        </p:scale>
        <p:origin x="3672"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3/3/2026 8:21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mj-lt"/>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Configure and manage virtual networks for Azure administrators (https://learn.microsoft.com/learn/paths/az-104-manage-virtual-networks/) learning path. </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5" name="Slide Image Placeholder 4">
            <a:extLst>
              <a:ext uri="{FF2B5EF4-FFF2-40B4-BE49-F238E27FC236}">
                <a16:creationId xmlns:a16="http://schemas.microsoft.com/office/drawing/2014/main" id="{3B6CD141-E372-DC4B-8715-08944F31B3CF}"/>
              </a:ext>
            </a:extLst>
          </p:cNvPr>
          <p:cNvSpPr>
            <a:spLocks noGrp="1" noRot="1" noChangeAspect="1"/>
          </p:cNvSpPr>
          <p:nvPr>
            <p:ph type="sldImg"/>
          </p:nvPr>
        </p:nvSpPr>
        <p:spPr/>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214968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Focus this discussion on intersite connectivity. </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7" name="Slide Image Placeholder 6">
            <a:extLst>
              <a:ext uri="{FF2B5EF4-FFF2-40B4-BE49-F238E27FC236}">
                <a16:creationId xmlns:a16="http://schemas.microsoft.com/office/drawing/2014/main" id="{035D7B62-C70E-A608-0EE3-05EB0156F871}"/>
              </a:ext>
            </a:extLst>
          </p:cNvPr>
          <p:cNvSpPr>
            <a:spLocks noGrp="1" noRot="1" noChangeAspect="1"/>
          </p:cNvSpPr>
          <p:nvPr>
            <p:ph type="sldImg"/>
          </p:nvPr>
        </p:nvSpPr>
        <p:spPr/>
      </p:sp>
    </p:spTree>
    <p:extLst>
      <p:ext uri="{BB962C8B-B14F-4D97-AF65-F5344CB8AC3E}">
        <p14:creationId xmlns:p14="http://schemas.microsoft.com/office/powerpoint/2010/main" val="1208576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803786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962276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Virtual network peering </a:t>
            </a:r>
          </a:p>
          <a:p>
            <a:r>
              <a:rPr lang="en-US" dirty="0"/>
              <a:t>https://learn.microsoft.com/azure/virtual-network/virtual-network-peering-overview</a:t>
            </a:r>
          </a:p>
          <a:p>
            <a:endParaRPr lang="en-US" dirty="0"/>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6</a:t>
            </a:fld>
            <a:endParaRPr lang="en-US" noProof="0" dirty="0"/>
          </a:p>
        </p:txBody>
      </p:sp>
      <p:sp>
        <p:nvSpPr>
          <p:cNvPr id="10" name="Slide Image Placeholder 9">
            <a:extLst>
              <a:ext uri="{FF2B5EF4-FFF2-40B4-BE49-F238E27FC236}">
                <a16:creationId xmlns:a16="http://schemas.microsoft.com/office/drawing/2014/main" id="{87F4AAA4-AE91-1B16-34DC-23671C81757F}"/>
              </a:ext>
            </a:extLst>
          </p:cNvPr>
          <p:cNvSpPr>
            <a:spLocks noGrp="1" noRot="1" noChangeAspect="1"/>
          </p:cNvSpPr>
          <p:nvPr>
            <p:ph type="sldImg"/>
          </p:nvPr>
        </p:nvSpPr>
        <p:spPr/>
      </p:sp>
    </p:spTree>
    <p:extLst>
      <p:ext uri="{BB962C8B-B14F-4D97-AF65-F5344CB8AC3E}">
        <p14:creationId xmlns:p14="http://schemas.microsoft.com/office/powerpoint/2010/main" val="2575675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Virtual Network frequently asked questions (FAQ) VNet Peering - https://learn.microsoft.com/azure/virtual-network/virtual-networks-faq</a:t>
            </a:r>
          </a:p>
          <a:p>
            <a:endParaRPr lang="en-US" dirty="0"/>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058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Create, change, or delete a virtual network peering</a:t>
            </a:r>
          </a:p>
          <a:p>
            <a:r>
              <a:rPr lang="en-US" dirty="0"/>
              <a:t>https://learn.microsoft.com/azure/virtual-network/virtual-network-manage-peering</a:t>
            </a:r>
          </a:p>
          <a:p>
            <a:endParaRPr lang="en-US" dirty="0"/>
          </a:p>
          <a:p>
            <a:r>
              <a:rPr lang="en-US" dirty="0"/>
              <a:t>Tutorial: Connect virtual networks with virtual network peering using the Azure portal - https://learn.microsoft.com/azure/virtual-network/tutorial-connect-virtual-networks-portal</a:t>
            </a:r>
          </a:p>
          <a:p>
            <a:endParaRPr lang="en-US" dirty="0"/>
          </a:p>
          <a:p>
            <a:r>
              <a:rPr lang="en-US" dirty="0"/>
              <a:t>✔️ When you add a peering on one virtual network, the second virtual network configuration is automatically added.</a:t>
            </a:r>
          </a:p>
          <a:p>
            <a:endParaRPr lang="en-US" dirty="0"/>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8</a:t>
            </a:fld>
            <a:endParaRPr lang="en-US" noProof="0" dirty="0"/>
          </a:p>
        </p:txBody>
      </p:sp>
      <p:sp>
        <p:nvSpPr>
          <p:cNvPr id="10" name="Slide Image Placeholder 9">
            <a:extLst>
              <a:ext uri="{FF2B5EF4-FFF2-40B4-BE49-F238E27FC236}">
                <a16:creationId xmlns:a16="http://schemas.microsoft.com/office/drawing/2014/main" id="{F86D5304-BC06-E75D-F347-5070C85452E7}"/>
              </a:ext>
            </a:extLst>
          </p:cNvPr>
          <p:cNvSpPr>
            <a:spLocks noGrp="1" noRot="1" noChangeAspect="1"/>
          </p:cNvSpPr>
          <p:nvPr>
            <p:ph type="sldImg"/>
          </p:nvPr>
        </p:nvSpPr>
        <p:spPr/>
      </p:sp>
    </p:spTree>
    <p:extLst>
      <p:ext uri="{BB962C8B-B14F-4D97-AF65-F5344CB8AC3E}">
        <p14:creationId xmlns:p14="http://schemas.microsoft.com/office/powerpoint/2010/main" val="1492494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Virtual Network Peering</a:t>
            </a:r>
          </a:p>
          <a:p>
            <a:r>
              <a:rPr lang="en-US" dirty="0"/>
              <a:t>https://microsoftlearning.github.io/AZ-104-MicrosoftAzureAdministrator/Instructions/Demos/05%20-%20Administer%20Intersite%20Connectivity.html#configure-vnet-peering</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8378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available in Office Forms - https://forms.office.com/Pages/ShareFormPage.aspx?id=v4j5cvGGr0GRqy180BHbR5NEFZBpuAZBgxPOGXi_gX5UQVNHMlgwTVlJRUFaTThRMTlBWFI0OEdVSS4u&amp;sharetoken=qJgpgzD82bgxMb7uu7Bf&amp;wdLOR=cA90F021B-4D8D-4F08-B45D-4C2FF7466064</a:t>
            </a:r>
          </a:p>
          <a:p>
            <a:pPr lvl="0"/>
            <a:endParaRPr lang="en-US" dirty="0"/>
          </a:p>
          <a:p>
            <a:pPr lvl="0"/>
            <a:r>
              <a:rPr lang="en-US" dirty="0"/>
              <a:t>What is virtual network (VNet) peering and why would use it?</a:t>
            </a:r>
          </a:p>
          <a:p>
            <a:pPr lvl="0"/>
            <a:r>
              <a:rPr lang="en-US" b="1" dirty="0"/>
              <a:t>Answer</a:t>
            </a:r>
            <a:r>
              <a:rPr lang="en-US" dirty="0"/>
              <a:t>: VNet peering connects two Azure virtual networks. Peering can be regional or global. Peered networks use the Azure backbone which provides for privacy and isolation. VNet peering is easy to configure and offers great performance.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10</a:t>
            </a:fld>
            <a:endParaRPr lang="en-US" dirty="0"/>
          </a:p>
        </p:txBody>
      </p:sp>
      <p:sp>
        <p:nvSpPr>
          <p:cNvPr id="7" name="Slide Image Placeholder 6">
            <a:extLst>
              <a:ext uri="{FF2B5EF4-FFF2-40B4-BE49-F238E27FC236}">
                <a16:creationId xmlns:a16="http://schemas.microsoft.com/office/drawing/2014/main" id="{A9785A5E-55EA-66E2-06E3-48F3CBB6F172}"/>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Virtual network service endpoints</a:t>
            </a:r>
          </a:p>
          <a:p>
            <a:r>
              <a:rPr lang="en-US" dirty="0">
                <a:latin typeface="+mn-lt"/>
              </a:rPr>
              <a:t>https://learn.microsoft.com/azure/virtual-network/virtual-network-service-endpoints-overview</a:t>
            </a:r>
          </a:p>
          <a:p>
            <a:endParaRPr lang="en-US" dirty="0">
              <a:latin typeface="+mn-lt"/>
            </a:endParaRPr>
          </a:p>
          <a:p>
            <a:r>
              <a:rPr lang="en-US" dirty="0">
                <a:latin typeface="+mn-lt"/>
              </a:rPr>
              <a:t>Tutorial: Restrict network access to PaaS resources with virtual network service endpoints using the Azure portal </a:t>
            </a:r>
          </a:p>
          <a:p>
            <a:r>
              <a:rPr lang="en-US" dirty="0">
                <a:latin typeface="+mn-lt"/>
              </a:rPr>
              <a:t>https://learn.microsoft.com/azure/virtual-network/tutorial-restrict-network-access-to-resources</a:t>
            </a:r>
          </a:p>
          <a:p>
            <a:endParaRPr lang="en-US" dirty="0">
              <a:latin typeface="+mn-lt"/>
            </a:endParaRPr>
          </a:p>
          <a:p>
            <a:pPr marL="171450" indent="-171450">
              <a:buFont typeface="Arial" panose="020B0604020202020204" pitchFamily="34" charset="0"/>
              <a:buChar char="•"/>
            </a:pPr>
            <a:r>
              <a:rPr lang="en-US" dirty="0">
                <a:latin typeface="+mn-lt"/>
              </a:rPr>
              <a:t>Improved security for your resources</a:t>
            </a:r>
          </a:p>
          <a:p>
            <a:pPr marL="171450" indent="-171450">
              <a:buFont typeface="Arial" panose="020B0604020202020204" pitchFamily="34" charset="0"/>
              <a:buChar char="•"/>
            </a:pPr>
            <a:r>
              <a:rPr lang="en-US" dirty="0">
                <a:latin typeface="+mn-lt"/>
              </a:rPr>
              <a:t>Optimal routing for your services</a:t>
            </a:r>
          </a:p>
          <a:p>
            <a:pPr marL="171450" indent="-171450">
              <a:buFont typeface="Arial" panose="020B0604020202020204" pitchFamily="34" charset="0"/>
              <a:buChar char="•"/>
            </a:pPr>
            <a:r>
              <a:rPr lang="en-US" dirty="0">
                <a:latin typeface="+mn-lt"/>
              </a:rPr>
              <a:t>Uses the Azure backbone and is simple to configure</a:t>
            </a:r>
          </a:p>
          <a:p>
            <a:endParaRPr lang="en-US" dirty="0">
              <a:latin typeface="+mn-lt"/>
            </a:endParaRPr>
          </a:p>
          <a:p>
            <a:r>
              <a:rPr lang="en-US" dirty="0">
                <a:latin typeface="+mn-lt"/>
              </a:rPr>
              <a:t>✔️ Can you see a use for service endpoints in your organization?</a:t>
            </a:r>
          </a:p>
          <a:p>
            <a:endParaRPr lang="en-US" dirty="0">
              <a:latin typeface="+mn-lt"/>
              <a:cs typeface="Calibri"/>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11</a:t>
            </a:fld>
            <a:endParaRPr lang="en-US" dirty="0"/>
          </a:p>
        </p:txBody>
      </p:sp>
    </p:spTree>
    <p:extLst>
      <p:ext uri="{BB962C8B-B14F-4D97-AF65-F5344CB8AC3E}">
        <p14:creationId xmlns:p14="http://schemas.microsoft.com/office/powerpoint/2010/main" val="3132168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Private Link Documentation</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https://learn.microsoft.com/azure/private-link/</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576537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available in Office Forms - https://forms.office.com/Pages/ShareFormPage.aspx?id=v4j5cvGGr0GRqy180BHbR5NEFZBpuAZBgxPOGXi_gX5UQVNHMlgwTVlJRUFaTThRMTlBWFI0OEdVSS4u&amp;sharetoken=qJgpgzD82bgxMb7uu7Bf&amp;wdLOR=cA90F021B-4D8D-4F08-B45D-4C2FF7466064</a:t>
            </a:r>
          </a:p>
          <a:p>
            <a:pPr lvl="0"/>
            <a:endParaRPr lang="en-US" dirty="0"/>
          </a:p>
          <a:p>
            <a:pPr lvl="0"/>
            <a:r>
              <a:rPr lang="en-US" dirty="0"/>
              <a:t>What is the difference between system-defined routes and user-defined routes? Give an example where each type of route would be used. </a:t>
            </a:r>
          </a:p>
          <a:p>
            <a:pPr lvl="0"/>
            <a:r>
              <a:rPr lang="en-US" b="1" dirty="0"/>
              <a:t>Answer</a:t>
            </a:r>
            <a:r>
              <a:rPr lang="en-US" dirty="0"/>
              <a:t>: System-defined routes direct network traffic between virtual machines, on-premises networks, and the internet. System-defined routes are the default behavior for Azure routing. Examples include traffic between VMs in the same subnet, between VMs in different subnets in the same virtual network, and data flow from VMs to the internet. User-defined (custom) routes override the system routes or add routes to the routing table. Examples include routing through gateways and virtual appliances. </a:t>
            </a:r>
          </a:p>
          <a:p>
            <a:pPr lvl="0"/>
            <a:endParaRPr lang="en-US" dirty="0"/>
          </a:p>
          <a:p>
            <a:pPr lvl="0"/>
            <a:r>
              <a:rPr lang="en-US" dirty="0"/>
              <a:t>What is the difference between a service endpoint and a private endpoint? </a:t>
            </a:r>
          </a:p>
          <a:p>
            <a:r>
              <a:rPr lang="en-US" b="1" dirty="0"/>
              <a:t>Answer</a:t>
            </a:r>
            <a:r>
              <a:rPr lang="en-US" dirty="0"/>
              <a:t>: A service endpoint limits network access to specific subnets and IP addresses. A service endpoint is a web address (URL) at which clients of a specific service can gain access to it. Service endpoints are supported for a variety of services including Storage, Key Vault, and SQL. A private endpoint. A private endpoint is a network interface that uses a private IP address from your virtual network. This network interface connects you privately and securely to a service through a private link. Private link integrates with on-premises and peered networks.</a:t>
            </a:r>
          </a:p>
        </p:txBody>
      </p:sp>
      <p:sp>
        <p:nvSpPr>
          <p:cNvPr id="4" name="Slide Number Placeholder 3"/>
          <p:cNvSpPr>
            <a:spLocks noGrp="1"/>
          </p:cNvSpPr>
          <p:nvPr>
            <p:ph type="sldNum" sz="quarter" idx="5"/>
          </p:nvPr>
        </p:nvSpPr>
        <p:spPr/>
        <p:txBody>
          <a:bodyPr/>
          <a:lstStyle/>
          <a:p>
            <a:fld id="{8507DC7E-BC41-4478-BA30-CBCC3A644F0A}" type="slidenum">
              <a:rPr lang="en-US" smtClean="0"/>
              <a:pPr/>
              <a:t>13</a:t>
            </a:fld>
            <a:endParaRPr lang="en-US" dirty="0"/>
          </a:p>
        </p:txBody>
      </p:sp>
      <p:sp>
        <p:nvSpPr>
          <p:cNvPr id="7" name="Slide Image Placeholder 6">
            <a:extLst>
              <a:ext uri="{FF2B5EF4-FFF2-40B4-BE49-F238E27FC236}">
                <a16:creationId xmlns:a16="http://schemas.microsoft.com/office/drawing/2014/main" id="{BEA5F66B-1DF1-F05A-1184-FDBD6774DFDE}"/>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92769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Use the diagram to engage students and reinforce topics that have just been covered. If you remove the green square (??) the product icon will show. Discuss the options with the students. </a:t>
            </a:r>
          </a:p>
          <a:p>
            <a:endParaRPr lang="en-US" dirty="0"/>
          </a:p>
          <a:p>
            <a:r>
              <a:rPr lang="en-US" dirty="0"/>
              <a:t>Site to site = On-premises networks to Azure virtual networks</a:t>
            </a:r>
          </a:p>
          <a:p>
            <a:r>
              <a:rPr lang="en-US" dirty="0"/>
              <a:t>Point to Site = On-premises machines to Azure virtual networks</a:t>
            </a:r>
          </a:p>
          <a:p>
            <a:r>
              <a:rPr lang="en-US" dirty="0"/>
              <a:t>Gateway subnet name = </a:t>
            </a:r>
            <a:r>
              <a:rPr lang="en-US" dirty="0" err="1"/>
              <a:t>GatewaySubnet</a:t>
            </a:r>
          </a:p>
          <a:p>
            <a:r>
              <a:rPr lang="en-US" dirty="0"/>
              <a:t>Azure firewall subnet name = </a:t>
            </a:r>
            <a:r>
              <a:rPr lang="en-US" dirty="0" err="1"/>
              <a:t>AzureFirewallSubnet</a:t>
            </a:r>
          </a:p>
          <a:p>
            <a:endParaRPr lang="en-US" dirty="0"/>
          </a:p>
        </p:txBody>
      </p:sp>
      <p:sp>
        <p:nvSpPr>
          <p:cNvPr id="4" name="Slide Number Placeholder 3"/>
          <p:cNvSpPr>
            <a:spLocks noGrp="1"/>
          </p:cNvSpPr>
          <p:nvPr>
            <p:ph type="sldNum" sz="quarter" idx="5"/>
          </p:nvPr>
        </p:nvSpPr>
        <p:spPr/>
        <p:txBody>
          <a:bodyPr/>
          <a:lstStyle/>
          <a:p>
            <a:fld id="{B6058D69-2927-42F2-B08F-9DC1B22A4665}" type="slidenum">
              <a:rPr lang="en-US" smtClean="0"/>
              <a:pPr/>
              <a:t>15</a:t>
            </a:fld>
            <a:endParaRPr lang="en-US"/>
          </a:p>
        </p:txBody>
      </p:sp>
      <p:sp>
        <p:nvSpPr>
          <p:cNvPr id="7" name="Slide Image Placeholder 6">
            <a:extLst>
              <a:ext uri="{FF2B5EF4-FFF2-40B4-BE49-F238E27FC236}">
                <a16:creationId xmlns:a16="http://schemas.microsoft.com/office/drawing/2014/main" id="{E7110B6C-4BF1-972F-1DA3-341930537B0A}"/>
              </a:ext>
            </a:extLst>
          </p:cNvPr>
          <p:cNvSpPr>
            <a:spLocks noGrp="1" noRot="1" noChangeAspect="1"/>
          </p:cNvSpPr>
          <p:nvPr>
            <p:ph type="sldImg"/>
          </p:nvPr>
        </p:nvSpPr>
        <p:spPr/>
      </p:sp>
    </p:spTree>
    <p:extLst>
      <p:ext uri="{BB962C8B-B14F-4D97-AF65-F5344CB8AC3E}">
        <p14:creationId xmlns:p14="http://schemas.microsoft.com/office/powerpoint/2010/main" val="3962687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5 you could use RDP rather than Run Command and Test-Connection. This lab uses Network Watcher which isn’t covered until the next module. </a:t>
            </a:r>
          </a:p>
          <a:p>
            <a:endParaRPr lang="en-US" dirty="0"/>
          </a:p>
          <a:p>
            <a:r>
              <a:rPr lang="en-US" dirty="0"/>
              <a:t>Lab 05- https://microsoftlearning.github.io/AZ-104-MicrosoftAzureAdministrator/Instructions/Labs/LAB_05-Implement_Intersite_Connectivity.html</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361065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165489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100432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222875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1231900" y="1587"/>
            <a:ext cx="112045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426340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67496422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395930871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100073186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9398723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
        <p:nvSpPr>
          <p:cNvPr id="8" name="TextBox 7">
            <a:extLst>
              <a:ext uri="{FF2B5EF4-FFF2-40B4-BE49-F238E27FC236}">
                <a16:creationId xmlns:a16="http://schemas.microsoft.com/office/drawing/2014/main" id="{DDA4873A-24C5-D64D-5298-4B071246CA3B}"/>
              </a:ext>
            </a:extLst>
          </p:cNvPr>
          <p:cNvSpPr txBox="1"/>
          <p:nvPr userDrawn="1"/>
        </p:nvSpPr>
        <p:spPr>
          <a:xfrm>
            <a:off x="3864219" y="1890802"/>
            <a:ext cx="6216160" cy="400110"/>
          </a:xfrm>
          <a:prstGeom prst="rect">
            <a:avLst/>
          </a:prstGeom>
          <a:noFill/>
        </p:spPr>
        <p:txBody>
          <a:bodyPr wrap="square">
            <a:spAutoFit/>
          </a:bodyPr>
          <a:lstStyle/>
          <a:p>
            <a:r>
              <a:rPr lang="en-US" sz="2000" b="1" dirty="0"/>
              <a:t>Reference modules</a:t>
            </a:r>
          </a:p>
        </p:txBody>
      </p:sp>
    </p:spTree>
    <p:extLst>
      <p:ext uri="{BB962C8B-B14F-4D97-AF65-F5344CB8AC3E}">
        <p14:creationId xmlns:p14="http://schemas.microsoft.com/office/powerpoint/2010/main" val="406523661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212204050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36180985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3" name="TextBox 2">
            <a:extLst>
              <a:ext uri="{FF2B5EF4-FFF2-40B4-BE49-F238E27FC236}">
                <a16:creationId xmlns:a16="http://schemas.microsoft.com/office/drawing/2014/main" id="{AB791437-9C8F-55CD-6A15-E32F92A55BF0}"/>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89" r:id="rId1"/>
    <p:sldLayoutId id="2147484690" r:id="rId2"/>
    <p:sldLayoutId id="2147484691" r:id="rId3"/>
    <p:sldLayoutId id="2147484692" r:id="rId4"/>
    <p:sldLayoutId id="2147484693" r:id="rId5"/>
    <p:sldLayoutId id="2147484694" r:id="rId6"/>
    <p:sldLayoutId id="2147484695" r:id="rId7"/>
    <p:sldLayoutId id="2147484696" r:id="rId8"/>
    <p:sldLayoutId id="2147484697" r:id="rId9"/>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userDrawn="1">
          <p15:clr>
            <a:srgbClr val="C35EA4"/>
          </p15:clr>
        </p15:guide>
        <p15:guide id="32" pos="1528" userDrawn="1">
          <p15:clr>
            <a:srgbClr val="C35EA4"/>
          </p15:clr>
        </p15:guide>
        <p15:guide id="33" pos="2621" userDrawn="1">
          <p15:clr>
            <a:srgbClr val="C35EA4"/>
          </p15:clr>
        </p15:guide>
        <p15:guide id="34" pos="2765" userDrawn="1">
          <p15:clr>
            <a:srgbClr val="C35EA4"/>
          </p15:clr>
        </p15:guide>
        <p15:guide id="35" pos="3854" userDrawn="1">
          <p15:clr>
            <a:srgbClr val="C35EA4"/>
          </p15:clr>
        </p15:guide>
        <p15:guide id="36" pos="4003" userDrawn="1">
          <p15:clr>
            <a:srgbClr val="C35EA4"/>
          </p15:clr>
        </p15:guide>
        <p15:guide id="37" pos="5083" userDrawn="1">
          <p15:clr>
            <a:srgbClr val="C35EA4"/>
          </p15:clr>
        </p15:guide>
        <p15:guide id="38" pos="5230" userDrawn="1">
          <p15:clr>
            <a:srgbClr val="C35EA4"/>
          </p15:clr>
        </p15:guide>
        <p15:guide id="39" pos="6323" userDrawn="1">
          <p15:clr>
            <a:srgbClr val="C35EA4"/>
          </p15:clr>
        </p15:guide>
        <p15:guide id="40" pos="6469" userDrawn="1">
          <p15:clr>
            <a:srgbClr val="C35EA4"/>
          </p15:clr>
        </p15:guide>
        <p15:guide id="41" pos="269" userDrawn="1">
          <p15:clr>
            <a:srgbClr val="F26B43"/>
          </p15:clr>
        </p15:guide>
        <p15:guide id="42" pos="7565" userDrawn="1">
          <p15:clr>
            <a:srgbClr val="F26B43"/>
          </p15:clr>
        </p15:guide>
        <p15:guide id="43" orient="horz" pos="751" userDrawn="1">
          <p15:clr>
            <a:srgbClr val="5ACBF0"/>
          </p15:clr>
        </p15:guide>
        <p15:guide id="44" orient="horz" pos="1387" userDrawn="1">
          <p15:clr>
            <a:srgbClr val="5ACBF0"/>
          </p15:clr>
        </p15:guide>
        <p15:guide id="45" orient="horz" pos="605" userDrawn="1">
          <p15:clr>
            <a:srgbClr val="5ACBF0"/>
          </p15:clr>
        </p15:guide>
        <p15:guide id="46" orient="horz" pos="1514" userDrawn="1">
          <p15:clr>
            <a:srgbClr val="5ACBF0"/>
          </p15:clr>
        </p15:guide>
        <p15:guide id="47" orient="horz" pos="2130" userDrawn="1">
          <p15:clr>
            <a:srgbClr val="5ACBF0"/>
          </p15:clr>
        </p15:guide>
        <p15:guide id="48" orient="horz" pos="2299" userDrawn="1">
          <p15:clr>
            <a:srgbClr val="5ACBF0"/>
          </p15:clr>
        </p15:guide>
        <p15:guide id="49" orient="horz" pos="283" userDrawn="1">
          <p15:clr>
            <a:srgbClr val="F26B43"/>
          </p15:clr>
        </p15:guide>
        <p15:guide id="50" orient="horz" pos="4123" userDrawn="1">
          <p15:clr>
            <a:srgbClr val="F26B43"/>
          </p15:clr>
        </p15:guide>
        <p15:guide id="51" orient="horz" pos="2891" userDrawn="1">
          <p15:clr>
            <a:srgbClr val="5ACBF0"/>
          </p15:clr>
        </p15:guide>
        <p15:guide id="52" orient="horz" pos="3019" userDrawn="1">
          <p15:clr>
            <a:srgbClr val="5ACBF0"/>
          </p15:clr>
        </p15:guide>
        <p15:guide id="53" orient="horz" pos="3643" userDrawn="1">
          <p15:clr>
            <a:srgbClr val="5ACBF0"/>
          </p15:clr>
        </p15:guide>
        <p15:guide id="54" orient="horz" pos="3763"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training/modules/configure-vnet-peering/"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learn.microsoft.com/training/modules/integrate-vnets-with-vnet-peerin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training/modules/control-network-traffic-flow-with-routes/"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https://learn.microsoft.com/training/modules/introduction-azure-private-link/"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26" Type="http://schemas.openxmlformats.org/officeDocument/2006/relationships/image" Target="../media/image40.png"/><Relationship Id="rId3" Type="http://schemas.openxmlformats.org/officeDocument/2006/relationships/image" Target="../media/image21.png"/><Relationship Id="rId21" Type="http://schemas.openxmlformats.org/officeDocument/2006/relationships/image" Target="../media/image12.sv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5" Type="http://schemas.openxmlformats.org/officeDocument/2006/relationships/image" Target="../media/image14.svg"/><Relationship Id="rId2" Type="http://schemas.openxmlformats.org/officeDocument/2006/relationships/notesSlide" Target="../notesSlides/notesSlide15.xml"/><Relationship Id="rId16" Type="http://schemas.openxmlformats.org/officeDocument/2006/relationships/image" Target="../media/image34.svg"/><Relationship Id="rId20" Type="http://schemas.openxmlformats.org/officeDocument/2006/relationships/image" Target="../media/image11.png"/><Relationship Id="rId29" Type="http://schemas.openxmlformats.org/officeDocument/2006/relationships/image" Target="../media/image43.svg"/><Relationship Id="rId1" Type="http://schemas.openxmlformats.org/officeDocument/2006/relationships/slideLayout" Target="../slideLayouts/slideLayout3.xml"/><Relationship Id="rId6" Type="http://schemas.openxmlformats.org/officeDocument/2006/relationships/image" Target="../media/image24.svg"/><Relationship Id="rId11" Type="http://schemas.openxmlformats.org/officeDocument/2006/relationships/image" Target="../media/image29.png"/><Relationship Id="rId24" Type="http://schemas.openxmlformats.org/officeDocument/2006/relationships/image" Target="../media/image13.png"/><Relationship Id="rId32" Type="http://schemas.openxmlformats.org/officeDocument/2006/relationships/image" Target="../media/image46.png"/><Relationship Id="rId5" Type="http://schemas.openxmlformats.org/officeDocument/2006/relationships/image" Target="../media/image23.png"/><Relationship Id="rId15" Type="http://schemas.openxmlformats.org/officeDocument/2006/relationships/image" Target="../media/image33.png"/><Relationship Id="rId23" Type="http://schemas.openxmlformats.org/officeDocument/2006/relationships/image" Target="../media/image39.svg"/><Relationship Id="rId28" Type="http://schemas.openxmlformats.org/officeDocument/2006/relationships/image" Target="../media/image42.png"/><Relationship Id="rId10" Type="http://schemas.openxmlformats.org/officeDocument/2006/relationships/image" Target="../media/image28.svg"/><Relationship Id="rId19" Type="http://schemas.openxmlformats.org/officeDocument/2006/relationships/image" Target="../media/image37.emf"/><Relationship Id="rId31" Type="http://schemas.openxmlformats.org/officeDocument/2006/relationships/image" Target="../media/image45.sv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 Id="rId22" Type="http://schemas.openxmlformats.org/officeDocument/2006/relationships/image" Target="../media/image38.png"/><Relationship Id="rId27" Type="http://schemas.openxmlformats.org/officeDocument/2006/relationships/image" Target="../media/image41.svg"/><Relationship Id="rId30" Type="http://schemas.openxmlformats.org/officeDocument/2006/relationships/image" Target="../media/image4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52.png"/><Relationship Id="rId18" Type="http://schemas.openxmlformats.org/officeDocument/2006/relationships/image" Target="../media/image57.svg"/><Relationship Id="rId3" Type="http://schemas.openxmlformats.org/officeDocument/2006/relationships/image" Target="../media/image47.png"/><Relationship Id="rId7" Type="http://schemas.openxmlformats.org/officeDocument/2006/relationships/image" Target="../media/image40.png"/><Relationship Id="rId12" Type="http://schemas.openxmlformats.org/officeDocument/2006/relationships/image" Target="../media/image51.svg"/><Relationship Id="rId17" Type="http://schemas.openxmlformats.org/officeDocument/2006/relationships/image" Target="../media/image56.png"/><Relationship Id="rId2" Type="http://schemas.openxmlformats.org/officeDocument/2006/relationships/notesSlide" Target="../notesSlides/notesSlide17.xml"/><Relationship Id="rId16" Type="http://schemas.openxmlformats.org/officeDocument/2006/relationships/image" Target="../media/image55.svg"/><Relationship Id="rId1" Type="http://schemas.openxmlformats.org/officeDocument/2006/relationships/slideLayout" Target="../slideLayouts/slideLayout3.xml"/><Relationship Id="rId6" Type="http://schemas.openxmlformats.org/officeDocument/2006/relationships/image" Target="../media/image49.svg"/><Relationship Id="rId11" Type="http://schemas.openxmlformats.org/officeDocument/2006/relationships/image" Target="../media/image50.png"/><Relationship Id="rId5" Type="http://schemas.openxmlformats.org/officeDocument/2006/relationships/image" Target="../media/image13.png"/><Relationship Id="rId15" Type="http://schemas.openxmlformats.org/officeDocument/2006/relationships/image" Target="../media/image54.png"/><Relationship Id="rId10" Type="http://schemas.openxmlformats.org/officeDocument/2006/relationships/image" Target="../media/image22.svg"/><Relationship Id="rId4" Type="http://schemas.openxmlformats.org/officeDocument/2006/relationships/image" Target="../media/image48.svg"/><Relationship Id="rId9" Type="http://schemas.openxmlformats.org/officeDocument/2006/relationships/image" Target="../media/image21.png"/><Relationship Id="rId14" Type="http://schemas.openxmlformats.org/officeDocument/2006/relationships/image" Target="../media/image53.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9773FD-0A48-4F54-9C78-F7D0828495BF}"/>
              </a:ext>
            </a:extLst>
          </p:cNvPr>
          <p:cNvSpPr>
            <a:spLocks noGrp="1"/>
          </p:cNvSpPr>
          <p:nvPr>
            <p:ph type="title"/>
          </p:nvPr>
        </p:nvSpPr>
        <p:spPr>
          <a:xfrm>
            <a:off x="581341" y="3057605"/>
            <a:ext cx="5800990" cy="1695272"/>
          </a:xfrm>
        </p:spPr>
        <p:txBody>
          <a:bodyPr/>
          <a:lstStyle/>
          <a:p>
            <a:r>
              <a:rPr lang="en-US" dirty="0"/>
              <a:t>AZ-104T00A</a:t>
            </a:r>
            <a:br>
              <a:rPr lang="en-IN" dirty="0"/>
            </a:br>
            <a:r>
              <a:rPr lang="en-IN" dirty="0"/>
              <a:t>Administer Intersite Connectivity</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C30DAA-C070-3228-0A87-BE13794182FF}"/>
              </a:ext>
            </a:extLst>
          </p:cNvPr>
          <p:cNvSpPr>
            <a:spLocks noGrp="1"/>
          </p:cNvSpPr>
          <p:nvPr>
            <p:ph type="title"/>
          </p:nvPr>
        </p:nvSpPr>
        <p:spPr/>
        <p:txBody>
          <a:bodyPr/>
          <a:lstStyle/>
          <a:p>
            <a:r>
              <a:rPr lang="en-US" dirty="0"/>
              <a:t>Learning Objectives – Administer Intersite Connectivity</a:t>
            </a:r>
          </a:p>
        </p:txBody>
      </p:sp>
      <p:sp>
        <p:nvSpPr>
          <p:cNvPr id="68" name="TextBox 67">
            <a:extLst>
              <a:ext uri="{FF2B5EF4-FFF2-40B4-BE49-F238E27FC236}">
                <a16:creationId xmlns:a16="http://schemas.microsoft.com/office/drawing/2014/main" id="{F3E5FDED-8B6E-411A-96FE-D28B14C27959}"/>
              </a:ext>
            </a:extLst>
          </p:cNvPr>
          <p:cNvSpPr txBox="1"/>
          <p:nvPr/>
        </p:nvSpPr>
        <p:spPr>
          <a:xfrm>
            <a:off x="593852" y="1475262"/>
            <a:ext cx="10178923" cy="1865126"/>
          </a:xfrm>
          <a:prstGeom prst="rect">
            <a:avLst/>
          </a:prstGeom>
          <a:noFill/>
        </p:spPr>
        <p:txBody>
          <a:bodyPr wrap="square" lIns="0" tIns="0" rIns="0" bIns="0" rtlCol="0" anchor="ctr">
            <a:spAutoFit/>
          </a:bodyPr>
          <a:lstStyle/>
          <a:p>
            <a:pPr marL="342900" indent="-342900" defTabSz="444500">
              <a:spcBef>
                <a:spcPct val="0"/>
              </a:spcBef>
              <a:spcAft>
                <a:spcPct val="35000"/>
              </a:spcAft>
              <a:buFont typeface="Arial" panose="020B0604020202020204" pitchFamily="34" charset="0"/>
              <a:buChar char="•"/>
            </a:pPr>
            <a:r>
              <a:rPr lang="en-US" sz="2400" dirty="0"/>
              <a:t>Configure VNet Peering</a:t>
            </a:r>
          </a:p>
          <a:p>
            <a:pPr marL="342900" indent="-342900" defTabSz="444500">
              <a:spcBef>
                <a:spcPct val="0"/>
              </a:spcBef>
              <a:spcAft>
                <a:spcPct val="35000"/>
              </a:spcAft>
              <a:buFont typeface="Arial" panose="020B0604020202020204" pitchFamily="34" charset="0"/>
              <a:buChar char="•"/>
            </a:pPr>
            <a:r>
              <a:rPr lang="en-US" sz="2400" dirty="0"/>
              <a:t>Manage and control traffic flow with routes</a:t>
            </a:r>
          </a:p>
          <a:p>
            <a:pPr marL="342900" indent="-342900" defTabSz="444500">
              <a:spcBef>
                <a:spcPct val="0"/>
              </a:spcBef>
              <a:spcAft>
                <a:spcPct val="35000"/>
              </a:spcAft>
              <a:buFont typeface="Arial" panose="020B0604020202020204" pitchFamily="34" charset="0"/>
              <a:buChar char="•"/>
            </a:pPr>
            <a:r>
              <a:rPr lang="en-US" sz="2400" dirty="0"/>
              <a:t>Lab 05 </a:t>
            </a:r>
            <a:r>
              <a:rPr lang="en-US" sz="2400"/>
              <a:t>– Implement </a:t>
            </a:r>
            <a:r>
              <a:rPr lang="en-US" sz="2400" dirty="0"/>
              <a:t>Intersite Connectivity</a:t>
            </a:r>
          </a:p>
          <a:p>
            <a:pPr marL="342900" indent="-342900" defTabSz="444500">
              <a:spcBef>
                <a:spcPct val="0"/>
              </a:spcBef>
              <a:spcAft>
                <a:spcPct val="35000"/>
              </a:spcAft>
              <a:buFont typeface="Arial" panose="020B0604020202020204" pitchFamily="34" charset="0"/>
              <a:buChar char="•"/>
            </a:pPr>
            <a:endParaRPr lang="en-US" sz="2400" dirty="0"/>
          </a:p>
        </p:txBody>
      </p:sp>
    </p:spTree>
    <p:extLst>
      <p:ext uri="{BB962C8B-B14F-4D97-AF65-F5344CB8AC3E}">
        <p14:creationId xmlns:p14="http://schemas.microsoft.com/office/powerpoint/2010/main" val="66960037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B1B5-9304-3597-88C6-1B62EDA1EF23}"/>
              </a:ext>
            </a:extLst>
          </p:cNvPr>
          <p:cNvSpPr>
            <a:spLocks noGrp="1"/>
          </p:cNvSpPr>
          <p:nvPr>
            <p:ph type="title"/>
          </p:nvPr>
        </p:nvSpPr>
        <p:spPr/>
        <p:txBody>
          <a:bodyPr/>
          <a:lstStyle/>
          <a:p>
            <a:r>
              <a:rPr lang="en-US" dirty="0"/>
              <a:t>Administer Intersite Connectivity whiteboard</a:t>
            </a:r>
          </a:p>
        </p:txBody>
      </p:sp>
      <p:sp>
        <p:nvSpPr>
          <p:cNvPr id="27" name="TextBox 26">
            <a:extLst>
              <a:ext uri="{FF2B5EF4-FFF2-40B4-BE49-F238E27FC236}">
                <a16:creationId xmlns:a16="http://schemas.microsoft.com/office/drawing/2014/main" id="{2B4D25DC-4C4E-A174-5E86-BE77D8D4026F}"/>
              </a:ext>
            </a:extLst>
          </p:cNvPr>
          <p:cNvSpPr txBox="1"/>
          <p:nvPr/>
        </p:nvSpPr>
        <p:spPr>
          <a:xfrm>
            <a:off x="278415" y="1615522"/>
            <a:ext cx="5152440" cy="3814618"/>
          </a:xfrm>
          <a:prstGeom prst="rect">
            <a:avLst/>
          </a:prstGeom>
          <a:noFill/>
        </p:spPr>
        <p:txBody>
          <a:bodyPr wrap="square" lIns="186521" tIns="149217" rIns="186521" bIns="149217" rtlCol="0">
            <a:spAutoFit/>
          </a:bodyPr>
          <a:lstStyle/>
          <a:p>
            <a:pPr marL="228292" indent="-228292" defTabSz="932597">
              <a:lnSpc>
                <a:spcPct val="90000"/>
              </a:lnSpc>
              <a:spcAft>
                <a:spcPts val="1224"/>
              </a:spcAft>
              <a:buFont typeface="Arial" panose="020B0604020202020204" pitchFamily="34" charset="0"/>
              <a:buChar char="•"/>
            </a:pPr>
            <a:r>
              <a:rPr lang="en-US" sz="2448" dirty="0">
                <a:solidFill>
                  <a:srgbClr val="000000"/>
                </a:solidFill>
                <a:latin typeface="Calibri" panose="020F0502020204030204" pitchFamily="34" charset="0"/>
                <a:ea typeface="Segoe UI" panose="020B0502040204020203" pitchFamily="34" charset="0"/>
                <a:cs typeface="Segoe UI (Body)"/>
              </a:rPr>
              <a:t>What is virtual network peering? Advantages?</a:t>
            </a:r>
          </a:p>
          <a:p>
            <a:pPr marL="228292" indent="-228292" defTabSz="932597">
              <a:lnSpc>
                <a:spcPct val="90000"/>
              </a:lnSpc>
              <a:spcAft>
                <a:spcPts val="1224"/>
              </a:spcAft>
              <a:buFont typeface="Arial" panose="020B0604020202020204" pitchFamily="34" charset="0"/>
              <a:buChar char="•"/>
            </a:pPr>
            <a:r>
              <a:rPr lang="en-US" sz="2448" dirty="0">
                <a:solidFill>
                  <a:srgbClr val="000000"/>
                </a:solidFill>
                <a:latin typeface="Calibri" panose="020F0502020204030204" pitchFamily="34" charset="0"/>
                <a:ea typeface="Segoe UI" panose="020B0502040204020203" pitchFamily="34" charset="0"/>
                <a:cs typeface="Segoe UI (Body)"/>
              </a:rPr>
              <a:t>What is the difference between system-defined routes and user-defined routes? </a:t>
            </a:r>
          </a:p>
          <a:p>
            <a:pPr marL="228292" indent="-228292" defTabSz="932597">
              <a:lnSpc>
                <a:spcPct val="90000"/>
              </a:lnSpc>
              <a:spcAft>
                <a:spcPts val="1224"/>
              </a:spcAft>
              <a:buFont typeface="Arial" panose="020B0604020202020204" pitchFamily="34" charset="0"/>
              <a:buChar char="•"/>
            </a:pPr>
            <a:r>
              <a:rPr lang="en-US" sz="2448" dirty="0">
                <a:solidFill>
                  <a:srgbClr val="000000"/>
                </a:solidFill>
                <a:latin typeface="Calibri" panose="020F0502020204030204" pitchFamily="34" charset="0"/>
                <a:ea typeface="Segoe UI" panose="020B0502040204020203" pitchFamily="34" charset="0"/>
                <a:cs typeface="Segoe UI (Body)"/>
              </a:rPr>
              <a:t>What is the difference between a service endpoint and a private endpoint? </a:t>
            </a:r>
          </a:p>
          <a:p>
            <a:pPr marL="228292" indent="-228292" defTabSz="932597">
              <a:lnSpc>
                <a:spcPct val="90000"/>
              </a:lnSpc>
              <a:spcAft>
                <a:spcPts val="1224"/>
              </a:spcAft>
              <a:buFont typeface="Arial" panose="020B0604020202020204" pitchFamily="34" charset="0"/>
              <a:buChar char="•"/>
            </a:pPr>
            <a:endParaRPr lang="en-US" sz="2448" dirty="0">
              <a:solidFill>
                <a:srgbClr val="000000"/>
              </a:solidFill>
              <a:latin typeface="Calibri" panose="020F0502020204030204" pitchFamily="34" charset="0"/>
              <a:ea typeface="Segoe UI" panose="020B0502040204020203" pitchFamily="34" charset="0"/>
              <a:cs typeface="Segoe UI (Body)"/>
            </a:endParaRPr>
          </a:p>
        </p:txBody>
      </p:sp>
      <p:grpSp>
        <p:nvGrpSpPr>
          <p:cNvPr id="3" name="Group 2" descr="whiteboard diagram editable version">
            <a:extLst>
              <a:ext uri="{FF2B5EF4-FFF2-40B4-BE49-F238E27FC236}">
                <a16:creationId xmlns:a16="http://schemas.microsoft.com/office/drawing/2014/main" id="{64833AEC-12A2-9644-F78E-48A7E49CA7DE}"/>
              </a:ext>
            </a:extLst>
          </p:cNvPr>
          <p:cNvGrpSpPr/>
          <p:nvPr/>
        </p:nvGrpSpPr>
        <p:grpSpPr>
          <a:xfrm>
            <a:off x="6121759" y="1480672"/>
            <a:ext cx="5638753" cy="4671008"/>
            <a:chOff x="6001404" y="1451770"/>
            <a:chExt cx="5528690" cy="4579833"/>
          </a:xfrm>
        </p:grpSpPr>
        <p:sp>
          <p:nvSpPr>
            <p:cNvPr id="4" name="Rectangle 3">
              <a:extLst>
                <a:ext uri="{FF2B5EF4-FFF2-40B4-BE49-F238E27FC236}">
                  <a16:creationId xmlns:a16="http://schemas.microsoft.com/office/drawing/2014/main" id="{D1491D08-2D4A-AFF2-9DCD-CEC24E40C982}"/>
                </a:ext>
              </a:extLst>
            </p:cNvPr>
            <p:cNvSpPr/>
            <p:nvPr/>
          </p:nvSpPr>
          <p:spPr bwMode="auto">
            <a:xfrm>
              <a:off x="8351426" y="4383247"/>
              <a:ext cx="3111051" cy="142195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2448" dirty="0">
                  <a:solidFill>
                    <a:srgbClr val="000000"/>
                  </a:solidFill>
                  <a:latin typeface="Segoe UI"/>
                  <a:ea typeface="Segoe UI" pitchFamily="34" charset="0"/>
                  <a:cs typeface="Segoe UI" pitchFamily="34" charset="0"/>
                </a:rPr>
                <a:t>Local on-premises networks</a:t>
              </a:r>
            </a:p>
          </p:txBody>
        </p:sp>
        <p:pic>
          <p:nvPicPr>
            <p:cNvPr id="7" name="Graphic 6" descr="City outline">
              <a:extLst>
                <a:ext uri="{FF2B5EF4-FFF2-40B4-BE49-F238E27FC236}">
                  <a16:creationId xmlns:a16="http://schemas.microsoft.com/office/drawing/2014/main" id="{3A904174-C441-A75E-DC8C-D97E5349FC81}"/>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61853" y="4348400"/>
              <a:ext cx="1421956" cy="1421956"/>
            </a:xfrm>
            <a:prstGeom prst="rect">
              <a:avLst/>
            </a:prstGeom>
          </p:spPr>
        </p:pic>
        <p:sp>
          <p:nvSpPr>
            <p:cNvPr id="8" name="Rectangle 7">
              <a:extLst>
                <a:ext uri="{FF2B5EF4-FFF2-40B4-BE49-F238E27FC236}">
                  <a16:creationId xmlns:a16="http://schemas.microsoft.com/office/drawing/2014/main" id="{289A157E-965E-58D8-15A3-A83C5B55A7AA}"/>
                </a:ext>
              </a:extLst>
            </p:cNvPr>
            <p:cNvSpPr/>
            <p:nvPr/>
          </p:nvSpPr>
          <p:spPr bwMode="auto">
            <a:xfrm>
              <a:off x="7086273" y="1451770"/>
              <a:ext cx="3679776" cy="6801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defTabSz="951028" fontAlgn="base">
                <a:lnSpc>
                  <a:spcPct val="90000"/>
                </a:lnSpc>
                <a:spcBef>
                  <a:spcPct val="0"/>
                </a:spcBef>
                <a:spcAft>
                  <a:spcPct val="0"/>
                </a:spcAft>
              </a:pPr>
              <a:r>
                <a:rPr lang="en-US" sz="2448" dirty="0">
                  <a:solidFill>
                    <a:srgbClr val="000000"/>
                  </a:solidFill>
                  <a:latin typeface="Segoe UI"/>
                  <a:ea typeface="Segoe UI" pitchFamily="34" charset="0"/>
                  <a:cs typeface="Segoe UI" pitchFamily="34" charset="0"/>
                </a:rPr>
                <a:t>Azure virtual networks</a:t>
              </a:r>
            </a:p>
          </p:txBody>
        </p:sp>
        <p:pic>
          <p:nvPicPr>
            <p:cNvPr id="10" name="Graphic 9">
              <a:extLst>
                <a:ext uri="{FF2B5EF4-FFF2-40B4-BE49-F238E27FC236}">
                  <a16:creationId xmlns:a16="http://schemas.microsoft.com/office/drawing/2014/main" id="{1DA8E78B-9AA5-2B10-9E1D-B74713F894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51709" y="2043920"/>
              <a:ext cx="913415" cy="913415"/>
            </a:xfrm>
            <a:prstGeom prst="rect">
              <a:avLst/>
            </a:prstGeom>
          </p:spPr>
        </p:pic>
        <p:pic>
          <p:nvPicPr>
            <p:cNvPr id="11" name="Graphic 10">
              <a:extLst>
                <a:ext uri="{FF2B5EF4-FFF2-40B4-BE49-F238E27FC236}">
                  <a16:creationId xmlns:a16="http://schemas.microsoft.com/office/drawing/2014/main" id="{2EB08BCC-5014-89E3-ED2B-D1BF7E3754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5769" y="2043919"/>
              <a:ext cx="913415" cy="913415"/>
            </a:xfrm>
            <a:prstGeom prst="rect">
              <a:avLst/>
            </a:prstGeom>
          </p:spPr>
        </p:pic>
        <p:pic>
          <p:nvPicPr>
            <p:cNvPr id="12" name="Graphic 11">
              <a:extLst>
                <a:ext uri="{FF2B5EF4-FFF2-40B4-BE49-F238E27FC236}">
                  <a16:creationId xmlns:a16="http://schemas.microsoft.com/office/drawing/2014/main" id="{F231E749-AB33-C21C-FFA7-B5984F8442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16361" y="2043919"/>
              <a:ext cx="913415" cy="913415"/>
            </a:xfrm>
            <a:prstGeom prst="rect">
              <a:avLst/>
            </a:prstGeom>
          </p:spPr>
        </p:pic>
        <p:sp>
          <p:nvSpPr>
            <p:cNvPr id="13" name="Rectangle 12">
              <a:extLst>
                <a:ext uri="{FF2B5EF4-FFF2-40B4-BE49-F238E27FC236}">
                  <a16:creationId xmlns:a16="http://schemas.microsoft.com/office/drawing/2014/main" id="{D99B9DB8-7273-1649-F08B-B66DA4936231}"/>
                </a:ext>
              </a:extLst>
            </p:cNvPr>
            <p:cNvSpPr/>
            <p:nvPr/>
          </p:nvSpPr>
          <p:spPr bwMode="auto">
            <a:xfrm>
              <a:off x="6001404" y="1451770"/>
              <a:ext cx="5523186" cy="1874758"/>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 name="Rectangle 13">
              <a:extLst>
                <a:ext uri="{FF2B5EF4-FFF2-40B4-BE49-F238E27FC236}">
                  <a16:creationId xmlns:a16="http://schemas.microsoft.com/office/drawing/2014/main" id="{810F8EC4-6F1E-B41B-A799-F926B1102101}"/>
                </a:ext>
              </a:extLst>
            </p:cNvPr>
            <p:cNvSpPr/>
            <p:nvPr/>
          </p:nvSpPr>
          <p:spPr bwMode="auto">
            <a:xfrm>
              <a:off x="6006908" y="4383246"/>
              <a:ext cx="5523186" cy="1648357"/>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6" name="Straight Arrow Connector 15">
              <a:extLst>
                <a:ext uri="{FF2B5EF4-FFF2-40B4-BE49-F238E27FC236}">
                  <a16:creationId xmlns:a16="http://schemas.microsoft.com/office/drawing/2014/main" id="{AE206E9D-B3D4-5AA8-BF2D-6EF154540319}"/>
                </a:ext>
              </a:extLst>
            </p:cNvPr>
            <p:cNvCxnSpPr>
              <a:cxnSpLocks/>
              <a:stCxn id="11" idx="3"/>
              <a:endCxn id="12" idx="1"/>
            </p:cNvCxnSpPr>
            <p:nvPr/>
          </p:nvCxnSpPr>
          <p:spPr>
            <a:xfrm>
              <a:off x="9109184" y="2500627"/>
              <a:ext cx="907177" cy="0"/>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461192F-9F93-225F-4C85-797455B18AA0}"/>
                </a:ext>
              </a:extLst>
            </p:cNvPr>
            <p:cNvCxnSpPr>
              <a:cxnSpLocks/>
            </p:cNvCxnSpPr>
            <p:nvPr/>
          </p:nvCxnSpPr>
          <p:spPr>
            <a:xfrm>
              <a:off x="7320124" y="2500626"/>
              <a:ext cx="907177" cy="0"/>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8016740-BE36-2CC3-CCBE-87C88980493D}"/>
                </a:ext>
              </a:extLst>
            </p:cNvPr>
            <p:cNvCxnSpPr>
              <a:cxnSpLocks/>
              <a:stCxn id="14" idx="0"/>
              <a:endCxn id="13" idx="2"/>
            </p:cNvCxnSpPr>
            <p:nvPr/>
          </p:nvCxnSpPr>
          <p:spPr>
            <a:xfrm flipH="1" flipV="1">
              <a:off x="8762997" y="3326528"/>
              <a:ext cx="5504" cy="1056718"/>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33D738D-D733-E256-BB72-FAD2974C1540}"/>
                </a:ext>
              </a:extLst>
            </p:cNvPr>
            <p:cNvSpPr/>
            <p:nvPr/>
          </p:nvSpPr>
          <p:spPr>
            <a:xfrm>
              <a:off x="7524607" y="2000980"/>
              <a:ext cx="511679" cy="531812"/>
            </a:xfrm>
            <a:prstGeom prst="rect">
              <a:avLst/>
            </a:prstGeom>
            <a:noFill/>
          </p:spPr>
          <p:txBody>
            <a:bodyPr wrap="none" lIns="93260" tIns="46630" rIns="93260" bIns="46630">
              <a:spAutoFit/>
            </a:bodyPr>
            <a:lstStyle/>
            <a:p>
              <a:pPr algn="ctr" defTabSz="932597"/>
              <a:r>
                <a:rPr lang="en-US" sz="2856" dirty="0">
                  <a:ln w="0"/>
                  <a:solidFill>
                    <a:srgbClr val="000000"/>
                  </a:solidFill>
                  <a:effectLst>
                    <a:outerShdw blurRad="38100" dist="19050" dir="2700000" algn="tl" rotWithShape="0">
                      <a:srgbClr val="000000">
                        <a:alpha val="40000"/>
                      </a:srgbClr>
                    </a:outerShdw>
                  </a:effectLst>
                  <a:latin typeface="Segoe UI"/>
                </a:rPr>
                <a:t>??</a:t>
              </a:r>
            </a:p>
          </p:txBody>
        </p:sp>
        <p:sp>
          <p:nvSpPr>
            <p:cNvPr id="24" name="Rectangle 23">
              <a:extLst>
                <a:ext uri="{FF2B5EF4-FFF2-40B4-BE49-F238E27FC236}">
                  <a16:creationId xmlns:a16="http://schemas.microsoft.com/office/drawing/2014/main" id="{04252336-9C29-78A8-D948-7618DA02BAA6}"/>
                </a:ext>
              </a:extLst>
            </p:cNvPr>
            <p:cNvSpPr/>
            <p:nvPr/>
          </p:nvSpPr>
          <p:spPr>
            <a:xfrm>
              <a:off x="9337118" y="2000980"/>
              <a:ext cx="511679" cy="531812"/>
            </a:xfrm>
            <a:prstGeom prst="rect">
              <a:avLst/>
            </a:prstGeom>
            <a:noFill/>
          </p:spPr>
          <p:txBody>
            <a:bodyPr wrap="none" lIns="93260" tIns="46630" rIns="93260" bIns="46630">
              <a:spAutoFit/>
            </a:bodyPr>
            <a:lstStyle/>
            <a:p>
              <a:pPr algn="ctr" defTabSz="932597"/>
              <a:r>
                <a:rPr lang="en-US" sz="2856" dirty="0">
                  <a:ln w="0"/>
                  <a:solidFill>
                    <a:srgbClr val="000000"/>
                  </a:solidFill>
                  <a:effectLst>
                    <a:outerShdw blurRad="38100" dist="19050" dir="2700000" algn="tl" rotWithShape="0">
                      <a:srgbClr val="000000">
                        <a:alpha val="40000"/>
                      </a:srgbClr>
                    </a:outerShdw>
                  </a:effectLst>
                  <a:latin typeface="Segoe UI"/>
                </a:rPr>
                <a:t>??</a:t>
              </a:r>
            </a:p>
          </p:txBody>
        </p:sp>
        <p:sp>
          <p:nvSpPr>
            <p:cNvPr id="25" name="Rectangle 24">
              <a:extLst>
                <a:ext uri="{FF2B5EF4-FFF2-40B4-BE49-F238E27FC236}">
                  <a16:creationId xmlns:a16="http://schemas.microsoft.com/office/drawing/2014/main" id="{D3279428-4940-DE8D-3620-C0E414D6D29E}"/>
                </a:ext>
              </a:extLst>
            </p:cNvPr>
            <p:cNvSpPr/>
            <p:nvPr/>
          </p:nvSpPr>
          <p:spPr>
            <a:xfrm>
              <a:off x="8922955" y="3547157"/>
              <a:ext cx="511679" cy="531812"/>
            </a:xfrm>
            <a:prstGeom prst="rect">
              <a:avLst/>
            </a:prstGeom>
            <a:noFill/>
          </p:spPr>
          <p:txBody>
            <a:bodyPr wrap="none" lIns="93260" tIns="46630" rIns="93260" bIns="46630">
              <a:spAutoFit/>
            </a:bodyPr>
            <a:lstStyle/>
            <a:p>
              <a:pPr algn="ctr" defTabSz="932597"/>
              <a:r>
                <a:rPr lang="en-US" sz="2856" dirty="0">
                  <a:ln w="0"/>
                  <a:solidFill>
                    <a:srgbClr val="000000"/>
                  </a:solidFill>
                  <a:effectLst>
                    <a:outerShdw blurRad="38100" dist="19050" dir="2700000" algn="tl" rotWithShape="0">
                      <a:srgbClr val="000000">
                        <a:alpha val="40000"/>
                      </a:srgbClr>
                    </a:outerShdw>
                  </a:effectLst>
                  <a:latin typeface="Segoe UI"/>
                </a:rPr>
                <a:t>??</a:t>
              </a:r>
            </a:p>
          </p:txBody>
        </p:sp>
      </p:grpSp>
    </p:spTree>
    <p:extLst>
      <p:ext uri="{BB962C8B-B14F-4D97-AF65-F5344CB8AC3E}">
        <p14:creationId xmlns:p14="http://schemas.microsoft.com/office/powerpoint/2010/main" val="8377010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Configure VNet Peering</a:t>
            </a:r>
          </a:p>
        </p:txBody>
      </p:sp>
    </p:spTree>
    <p:extLst>
      <p:ext uri="{BB962C8B-B14F-4D97-AF65-F5344CB8AC3E}">
        <p14:creationId xmlns:p14="http://schemas.microsoft.com/office/powerpoint/2010/main" val="374676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64664EF-68A4-4677-A23E-C52F0100669A}"/>
              </a:ext>
            </a:extLst>
          </p:cNvPr>
          <p:cNvSpPr>
            <a:spLocks noGrp="1"/>
          </p:cNvSpPr>
          <p:nvPr>
            <p:ph type="title"/>
          </p:nvPr>
        </p:nvSpPr>
        <p:spPr/>
        <p:txBody>
          <a:bodyPr/>
          <a:lstStyle/>
          <a:p>
            <a:r>
              <a:rPr lang="en-US" dirty="0"/>
              <a:t>Learning Objectives – Configure VNet Peering</a:t>
            </a:r>
          </a:p>
        </p:txBody>
      </p:sp>
      <p:sp>
        <p:nvSpPr>
          <p:cNvPr id="70" name="Rectangle 69">
            <a:extLst>
              <a:ext uri="{FF2B5EF4-FFF2-40B4-BE49-F238E27FC236}">
                <a16:creationId xmlns:a16="http://schemas.microsoft.com/office/drawing/2014/main" id="{35ED181A-0DFF-44A9-AD06-E08FA76E7CFE}"/>
              </a:ext>
            </a:extLst>
          </p:cNvPr>
          <p:cNvSpPr/>
          <p:nvPr/>
        </p:nvSpPr>
        <p:spPr>
          <a:xfrm>
            <a:off x="597823" y="1266672"/>
            <a:ext cx="5245695" cy="393954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spAutoFit/>
          </a:bodyPr>
          <a:lstStyle/>
          <a:p>
            <a:pPr marL="342900" indent="-342900" defTabSz="444500">
              <a:spcBef>
                <a:spcPct val="0"/>
              </a:spcBef>
              <a:spcAft>
                <a:spcPct val="35000"/>
              </a:spcAft>
              <a:buFont typeface="Arial" panose="020B0604020202020204" pitchFamily="34" charset="0"/>
              <a:buChar char="•"/>
            </a:pPr>
            <a:r>
              <a:rPr lang="en-US" sz="2000" dirty="0">
                <a:solidFill>
                  <a:schemeClr val="tx1"/>
                </a:solidFill>
              </a:rPr>
              <a:t>Determine VNet Peering Uses</a:t>
            </a:r>
          </a:p>
          <a:p>
            <a:pPr marL="342900" indent="-342900" defTabSz="444500">
              <a:spcBef>
                <a:spcPct val="0"/>
              </a:spcBef>
              <a:spcAft>
                <a:spcPct val="35000"/>
              </a:spcAft>
              <a:buFont typeface="Arial" panose="020B0604020202020204" pitchFamily="34" charset="0"/>
              <a:buChar char="•"/>
            </a:pPr>
            <a:r>
              <a:rPr lang="en-US" sz="2000" dirty="0">
                <a:solidFill>
                  <a:schemeClr val="tx1"/>
                </a:solidFill>
              </a:rPr>
              <a:t>Determine Gateway Transit and Connectivity Needs</a:t>
            </a:r>
          </a:p>
          <a:p>
            <a:pPr marL="342900" indent="-342900" defTabSz="444500">
              <a:spcBef>
                <a:spcPct val="0"/>
              </a:spcBef>
              <a:spcAft>
                <a:spcPct val="35000"/>
              </a:spcAft>
              <a:buFont typeface="Arial" panose="020B0604020202020204" pitchFamily="34" charset="0"/>
              <a:buChar char="•"/>
            </a:pPr>
            <a:r>
              <a:rPr lang="en-US" sz="2000" dirty="0">
                <a:solidFill>
                  <a:schemeClr val="tx1"/>
                </a:solidFill>
              </a:rPr>
              <a:t>Create VNet Peering</a:t>
            </a:r>
          </a:p>
          <a:p>
            <a:pPr marL="342900" indent="-342900" defTabSz="444500">
              <a:spcBef>
                <a:spcPct val="0"/>
              </a:spcBef>
              <a:spcAft>
                <a:spcPct val="35000"/>
              </a:spcAft>
              <a:buFont typeface="Arial" panose="020B0604020202020204" pitchFamily="34" charset="0"/>
              <a:buChar char="•"/>
            </a:pPr>
            <a:r>
              <a:rPr lang="en-US" sz="2000" dirty="0">
                <a:solidFill>
                  <a:schemeClr val="tx1"/>
                </a:solidFill>
              </a:rPr>
              <a:t>Determine Service Chaining Uses</a:t>
            </a:r>
          </a:p>
          <a:p>
            <a:pPr marL="342900" indent="-342900" defTabSz="444500">
              <a:spcBef>
                <a:spcPct val="0"/>
              </a:spcBef>
              <a:spcAft>
                <a:spcPct val="35000"/>
              </a:spcAft>
              <a:buFont typeface="Arial" panose="020B0604020202020204" pitchFamily="34" charset="0"/>
              <a:buChar char="•"/>
            </a:pPr>
            <a:r>
              <a:rPr lang="en-US" sz="2000" dirty="0">
                <a:solidFill>
                  <a:schemeClr val="tx1"/>
                </a:solidFill>
              </a:rPr>
              <a:t>Demonstration – VNet Peering</a:t>
            </a:r>
          </a:p>
          <a:p>
            <a:pPr marL="342900" indent="-342900" defTabSz="444500">
              <a:spcBef>
                <a:spcPct val="0"/>
              </a:spcBef>
              <a:spcAft>
                <a:spcPct val="35000"/>
              </a:spcAft>
              <a:buFont typeface="Arial" panose="020B0604020202020204" pitchFamily="34" charset="0"/>
              <a:buChar char="•"/>
            </a:pPr>
            <a:r>
              <a:rPr lang="en-US" sz="2000" dirty="0">
                <a:solidFill>
                  <a:schemeClr val="tx1"/>
                </a:solidFill>
              </a:rPr>
              <a:t>Learning Recap</a:t>
            </a:r>
          </a:p>
          <a:p>
            <a:pPr marL="342900" indent="-342900" defTabSz="444500">
              <a:spcBef>
                <a:spcPct val="0"/>
              </a:spcBef>
              <a:spcAft>
                <a:spcPct val="35000"/>
              </a:spcAft>
              <a:buFont typeface="Arial" panose="020B0604020202020204" pitchFamily="34" charset="0"/>
              <a:buChar char="•"/>
            </a:pPr>
            <a:endParaRPr lang="en-US" sz="2000" dirty="0">
              <a:solidFill>
                <a:schemeClr val="tx1"/>
              </a:solidFill>
            </a:endParaRPr>
          </a:p>
          <a:p>
            <a:pPr marL="342900" indent="-342900" defTabSz="444500">
              <a:spcBef>
                <a:spcPct val="0"/>
              </a:spcBef>
              <a:spcAft>
                <a:spcPct val="35000"/>
              </a:spcAft>
              <a:buFont typeface="Arial" panose="020B0604020202020204" pitchFamily="34" charset="0"/>
              <a:buChar char="•"/>
            </a:pPr>
            <a:endParaRPr lang="en-US" sz="2000" dirty="0">
              <a:solidFill>
                <a:schemeClr val="tx1"/>
              </a:solidFill>
            </a:endParaRPr>
          </a:p>
          <a:p>
            <a:pPr marL="342900" indent="-342900" defTabSz="444500">
              <a:spcBef>
                <a:spcPct val="0"/>
              </a:spcBef>
              <a:spcAft>
                <a:spcPct val="35000"/>
              </a:spcAft>
              <a:buFont typeface="Arial" panose="020B0604020202020204" pitchFamily="34" charset="0"/>
              <a:buChar char="•"/>
            </a:pPr>
            <a:endParaRPr lang="en-US" sz="2000" dirty="0">
              <a:solidFill>
                <a:schemeClr val="tx1"/>
              </a:solidFill>
            </a:endParaRPr>
          </a:p>
        </p:txBody>
      </p:sp>
      <p:sp>
        <p:nvSpPr>
          <p:cNvPr id="6" name="TextBox 5">
            <a:extLst>
              <a:ext uri="{FF2B5EF4-FFF2-40B4-BE49-F238E27FC236}">
                <a16:creationId xmlns:a16="http://schemas.microsoft.com/office/drawing/2014/main" id="{218A951F-C2D0-15F0-6298-A10B828458D6}"/>
              </a:ext>
            </a:extLst>
          </p:cNvPr>
          <p:cNvSpPr txBox="1"/>
          <p:nvPr/>
        </p:nvSpPr>
        <p:spPr>
          <a:xfrm>
            <a:off x="6592957" y="1760008"/>
            <a:ext cx="4605129" cy="170816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virtual networking (15–20%): Configure and manage virtual networks in Azure</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Create and configure virtual network peering</a:t>
            </a:r>
          </a:p>
        </p:txBody>
      </p:sp>
    </p:spTree>
    <p:extLst>
      <p:ext uri="{BB962C8B-B14F-4D97-AF65-F5344CB8AC3E}">
        <p14:creationId xmlns:p14="http://schemas.microsoft.com/office/powerpoint/2010/main" val="3973316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Determine VNet Peering Uses</a:t>
            </a:r>
          </a:p>
        </p:txBody>
      </p:sp>
      <p:sp>
        <p:nvSpPr>
          <p:cNvPr id="8" name="Rectangle 7">
            <a:extLst>
              <a:ext uri="{FF2B5EF4-FFF2-40B4-BE49-F238E27FC236}">
                <a16:creationId xmlns:a16="http://schemas.microsoft.com/office/drawing/2014/main" id="{8C36C860-EBA3-4CED-80B5-0E25FCB0C3C0}"/>
              </a:ext>
              <a:ext uri="{C183D7F6-B498-43B3-948B-1728B52AA6E4}">
                <adec:decorative xmlns:adec="http://schemas.microsoft.com/office/drawing/2017/decorative" val="0"/>
              </a:ext>
            </a:extLst>
          </p:cNvPr>
          <p:cNvSpPr/>
          <p:nvPr/>
        </p:nvSpPr>
        <p:spPr bwMode="auto">
          <a:xfrm>
            <a:off x="465017" y="3848120"/>
            <a:ext cx="9271835" cy="183924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285750" indent="-285750">
              <a:spcBef>
                <a:spcPts val="1200"/>
              </a:spcBef>
              <a:buFont typeface="Arial" panose="020B0604020202020204" pitchFamily="34" charset="0"/>
              <a:buChar char="•"/>
            </a:pPr>
            <a:r>
              <a:rPr lang="en-US" dirty="0">
                <a:solidFill>
                  <a:schemeClr val="tx1"/>
                </a:solidFill>
              </a:rPr>
              <a:t>Two types of peering: Global and Regional</a:t>
            </a:r>
          </a:p>
          <a:p>
            <a:pPr marL="285750" indent="-285750">
              <a:spcBef>
                <a:spcPts val="1200"/>
              </a:spcBef>
              <a:buFont typeface="Arial" panose="020B0604020202020204" pitchFamily="34" charset="0"/>
              <a:buChar char="•"/>
            </a:pPr>
            <a:r>
              <a:rPr lang="en-US" dirty="0">
                <a:solidFill>
                  <a:schemeClr val="tx1"/>
                </a:solidFill>
              </a:rPr>
              <a:t>Connects two Azure virtual networks – you can peer across subscriptions and tenants</a:t>
            </a:r>
          </a:p>
          <a:p>
            <a:pPr marL="285750" indent="-285750">
              <a:spcBef>
                <a:spcPts val="1200"/>
              </a:spcBef>
              <a:buFont typeface="Arial" panose="020B0604020202020204" pitchFamily="34" charset="0"/>
              <a:buChar char="•"/>
            </a:pPr>
            <a:r>
              <a:rPr lang="en-US" dirty="0">
                <a:solidFill>
                  <a:schemeClr val="tx1"/>
                </a:solidFill>
              </a:rPr>
              <a:t>Peered networks use the Azure backbone for privacy and isolation</a:t>
            </a:r>
          </a:p>
          <a:p>
            <a:pPr marL="285750" indent="-285750">
              <a:spcBef>
                <a:spcPts val="1200"/>
              </a:spcBef>
              <a:buFont typeface="Arial" panose="020B0604020202020204" pitchFamily="34" charset="0"/>
              <a:buChar char="•"/>
            </a:pPr>
            <a:r>
              <a:rPr lang="en-US" dirty="0">
                <a:solidFill>
                  <a:schemeClr val="tx1"/>
                </a:solidFill>
              </a:rPr>
              <a:t>Easy to setup, seamless data transfer, and great performance</a:t>
            </a:r>
          </a:p>
        </p:txBody>
      </p:sp>
      <p:sp>
        <p:nvSpPr>
          <p:cNvPr id="6" name="Rectangle 5">
            <a:extLst>
              <a:ext uri="{FF2B5EF4-FFF2-40B4-BE49-F238E27FC236}">
                <a16:creationId xmlns:a16="http://schemas.microsoft.com/office/drawing/2014/main" id="{1CD046A1-E0F3-49B4-B76B-F112208A1D78}"/>
              </a:ext>
              <a:ext uri="{C183D7F6-B498-43B3-948B-1728B52AA6E4}">
                <adec:decorative xmlns:adec="http://schemas.microsoft.com/office/drawing/2017/decorative" val="1"/>
              </a:ext>
            </a:extLst>
          </p:cNvPr>
          <p:cNvSpPr/>
          <p:nvPr/>
        </p:nvSpPr>
        <p:spPr bwMode="auto">
          <a:xfrm>
            <a:off x="427039" y="1192213"/>
            <a:ext cx="11582400" cy="223427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5" name="Group 24" descr="Two re">
            <a:extLst>
              <a:ext uri="{FF2B5EF4-FFF2-40B4-BE49-F238E27FC236}">
                <a16:creationId xmlns:a16="http://schemas.microsoft.com/office/drawing/2014/main" id="{1CF85CA1-49F8-4B6C-8B20-27074888E4AC}"/>
              </a:ext>
            </a:extLst>
          </p:cNvPr>
          <p:cNvGrpSpPr/>
          <p:nvPr/>
        </p:nvGrpSpPr>
        <p:grpSpPr>
          <a:xfrm>
            <a:off x="2067485" y="1650576"/>
            <a:ext cx="7404989" cy="1438502"/>
            <a:chOff x="3965172" y="1620582"/>
            <a:chExt cx="7404989" cy="1438502"/>
          </a:xfrm>
        </p:grpSpPr>
        <p:sp>
          <p:nvSpPr>
            <p:cNvPr id="26" name="Rectangle 25">
              <a:extLst>
                <a:ext uri="{FF2B5EF4-FFF2-40B4-BE49-F238E27FC236}">
                  <a16:creationId xmlns:a16="http://schemas.microsoft.com/office/drawing/2014/main" id="{F30E8EDF-945C-418C-BF2B-76DFF196D424}"/>
                </a:ext>
              </a:extLst>
            </p:cNvPr>
            <p:cNvSpPr/>
            <p:nvPr/>
          </p:nvSpPr>
          <p:spPr>
            <a:xfrm>
              <a:off x="7209846" y="1802674"/>
              <a:ext cx="4160315" cy="1242555"/>
            </a:xfrm>
            <a:prstGeom prst="rect">
              <a:avLst/>
            </a:prstGeom>
            <a:noFill/>
            <a:ln w="12700" cap="flat" cmpd="sng" algn="ctr">
              <a:solidFill>
                <a:srgbClr val="A5A5A5">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C5715918-1D7F-4E58-9679-DBA060C2F7E8}"/>
                </a:ext>
              </a:extLst>
            </p:cNvPr>
            <p:cNvSpPr/>
            <p:nvPr/>
          </p:nvSpPr>
          <p:spPr>
            <a:xfrm>
              <a:off x="3965172" y="1816529"/>
              <a:ext cx="1762298" cy="1242555"/>
            </a:xfrm>
            <a:prstGeom prst="rect">
              <a:avLst/>
            </a:prstGeom>
            <a:noFill/>
            <a:ln w="12700" cap="flat" cmpd="sng" algn="ctr">
              <a:solidFill>
                <a:srgbClr val="A5A5A5">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6098CBA-1ED3-46C3-8A02-78DD25047CD3}"/>
                </a:ext>
              </a:extLst>
            </p:cNvPr>
            <p:cNvSpPr/>
            <p:nvPr/>
          </p:nvSpPr>
          <p:spPr>
            <a:xfrm>
              <a:off x="4258270" y="1620582"/>
              <a:ext cx="1107996" cy="369332"/>
            </a:xfrm>
            <a:prstGeom prst="rect">
              <a:avLst/>
            </a:prstGeom>
            <a:solidFill>
              <a:sysClr val="window" lastClr="FFFFFF"/>
            </a:solid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rPr>
                <a:t>Region 1</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29" name="Rectangle 28">
              <a:extLst>
                <a:ext uri="{FF2B5EF4-FFF2-40B4-BE49-F238E27FC236}">
                  <a16:creationId xmlns:a16="http://schemas.microsoft.com/office/drawing/2014/main" id="{54AF8826-0031-4882-98DC-DEFA3EE6F3D3}"/>
                </a:ext>
              </a:extLst>
            </p:cNvPr>
            <p:cNvSpPr/>
            <p:nvPr/>
          </p:nvSpPr>
          <p:spPr>
            <a:xfrm>
              <a:off x="8599848" y="1620582"/>
              <a:ext cx="1107996" cy="369332"/>
            </a:xfrm>
            <a:prstGeom prst="rect">
              <a:avLst/>
            </a:prstGeom>
            <a:solidFill>
              <a:sysClr val="window" lastClr="FFFFFF"/>
            </a:solid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rPr>
                <a:t>Region 2</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0" name="Rectangle 29">
              <a:extLst>
                <a:ext uri="{FF2B5EF4-FFF2-40B4-BE49-F238E27FC236}">
                  <a16:creationId xmlns:a16="http://schemas.microsoft.com/office/drawing/2014/main" id="{B16D94AD-7A6A-4F32-8769-0C5D192850C0}"/>
                </a:ext>
              </a:extLst>
            </p:cNvPr>
            <p:cNvSpPr/>
            <p:nvPr/>
          </p:nvSpPr>
          <p:spPr>
            <a:xfrm>
              <a:off x="7425307" y="2230639"/>
              <a:ext cx="956125" cy="578634"/>
            </a:xfrm>
            <a:prstGeom prst="rect">
              <a:avLst/>
            </a:prstGeom>
            <a:solidFill>
              <a:srgbClr val="5AEA0A"/>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VNet2</a:t>
              </a:r>
            </a:p>
          </p:txBody>
        </p:sp>
        <p:sp>
          <p:nvSpPr>
            <p:cNvPr id="31" name="Rectangle 30">
              <a:extLst>
                <a:ext uri="{FF2B5EF4-FFF2-40B4-BE49-F238E27FC236}">
                  <a16:creationId xmlns:a16="http://schemas.microsoft.com/office/drawing/2014/main" id="{C34E9560-CDE1-413B-83F3-3D401A994FC6}"/>
                </a:ext>
              </a:extLst>
            </p:cNvPr>
            <p:cNvSpPr/>
            <p:nvPr/>
          </p:nvSpPr>
          <p:spPr>
            <a:xfrm>
              <a:off x="10238008" y="2229395"/>
              <a:ext cx="956125" cy="578634"/>
            </a:xfrm>
            <a:prstGeom prst="rect">
              <a:avLst/>
            </a:prstGeom>
            <a:solidFill>
              <a:srgbClr val="5AEA0A"/>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VNet3</a:t>
              </a:r>
            </a:p>
          </p:txBody>
        </p:sp>
        <p:sp>
          <p:nvSpPr>
            <p:cNvPr id="32" name="Rectangle 31">
              <a:extLst>
                <a:ext uri="{FF2B5EF4-FFF2-40B4-BE49-F238E27FC236}">
                  <a16:creationId xmlns:a16="http://schemas.microsoft.com/office/drawing/2014/main" id="{F14EC9DD-3C07-4A04-A0B0-FC57EEB473CA}"/>
                </a:ext>
              </a:extLst>
            </p:cNvPr>
            <p:cNvSpPr/>
            <p:nvPr/>
          </p:nvSpPr>
          <p:spPr>
            <a:xfrm>
              <a:off x="4328161" y="2229954"/>
              <a:ext cx="956125" cy="578634"/>
            </a:xfrm>
            <a:prstGeom prst="rect">
              <a:avLst/>
            </a:prstGeom>
            <a:solidFill>
              <a:schemeClr val="tx2">
                <a:lumMod val="20000"/>
                <a:lumOff val="80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VNet1</a:t>
              </a:r>
            </a:p>
          </p:txBody>
        </p:sp>
        <p:cxnSp>
          <p:nvCxnSpPr>
            <p:cNvPr id="33" name="Connector: Elbow 32">
              <a:extLst>
                <a:ext uri="{FF2B5EF4-FFF2-40B4-BE49-F238E27FC236}">
                  <a16:creationId xmlns:a16="http://schemas.microsoft.com/office/drawing/2014/main" id="{B2FF0E91-9DF9-4AE0-9678-EDE3D5119548}"/>
                </a:ext>
              </a:extLst>
            </p:cNvPr>
            <p:cNvCxnSpPr>
              <a:cxnSpLocks/>
            </p:cNvCxnSpPr>
            <p:nvPr/>
          </p:nvCxnSpPr>
          <p:spPr>
            <a:xfrm>
              <a:off x="5284286" y="2519271"/>
              <a:ext cx="2141021" cy="685"/>
            </a:xfrm>
            <a:prstGeom prst="bentConnector3">
              <a:avLst/>
            </a:prstGeom>
            <a:noFill/>
            <a:ln w="28575" cap="flat" cmpd="sng" algn="ctr">
              <a:solidFill>
                <a:sysClr val="windowText" lastClr="000000"/>
              </a:solidFill>
              <a:prstDash val="solid"/>
              <a:miter lim="800000"/>
              <a:headEnd type="triangle"/>
              <a:tailEnd type="triangle"/>
            </a:ln>
            <a:effectLst/>
          </p:spPr>
        </p:cxnSp>
        <p:cxnSp>
          <p:nvCxnSpPr>
            <p:cNvPr id="34" name="Connector: Elbow 33">
              <a:extLst>
                <a:ext uri="{FF2B5EF4-FFF2-40B4-BE49-F238E27FC236}">
                  <a16:creationId xmlns:a16="http://schemas.microsoft.com/office/drawing/2014/main" id="{5662AA5B-8C93-43CF-AC98-6CC08005BF55}"/>
                </a:ext>
              </a:extLst>
            </p:cNvPr>
            <p:cNvCxnSpPr>
              <a:cxnSpLocks/>
            </p:cNvCxnSpPr>
            <p:nvPr/>
          </p:nvCxnSpPr>
          <p:spPr>
            <a:xfrm flipV="1">
              <a:off x="8381432" y="2518712"/>
              <a:ext cx="1856576" cy="1244"/>
            </a:xfrm>
            <a:prstGeom prst="bentConnector3">
              <a:avLst/>
            </a:prstGeom>
            <a:noFill/>
            <a:ln w="28575" cap="flat" cmpd="sng" algn="ctr">
              <a:solidFill>
                <a:sysClr val="windowText" lastClr="000000"/>
              </a:solidFill>
              <a:prstDash val="solid"/>
              <a:miter lim="800000"/>
              <a:headEnd type="triangle"/>
              <a:tailEnd type="triangle"/>
            </a:ln>
            <a:effectLst/>
          </p:spPr>
        </p:cxnSp>
        <p:sp>
          <p:nvSpPr>
            <p:cNvPr id="35" name="Rectangle 34">
              <a:extLst>
                <a:ext uri="{FF2B5EF4-FFF2-40B4-BE49-F238E27FC236}">
                  <a16:creationId xmlns:a16="http://schemas.microsoft.com/office/drawing/2014/main" id="{A683D48D-9D0A-4707-89D2-7582F119072B}"/>
                </a:ext>
              </a:extLst>
            </p:cNvPr>
            <p:cNvSpPr/>
            <p:nvPr/>
          </p:nvSpPr>
          <p:spPr>
            <a:xfrm>
              <a:off x="5768466" y="2170249"/>
              <a:ext cx="1460656" cy="661720"/>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Global</a:t>
              </a: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VNet Peering</a:t>
              </a:r>
              <a:endParaRPr kumimoji="0" lang="en-US" sz="1600" b="1" i="0" u="none" strike="noStrike" kern="0" cap="none" spc="0" normalizeH="0" baseline="0" noProof="0" dirty="0">
                <a:ln>
                  <a:noFill/>
                </a:ln>
                <a:solidFill>
                  <a:prstClr val="black"/>
                </a:solidFill>
                <a:effectLst/>
                <a:uLnTx/>
                <a:uFillTx/>
                <a:latin typeface="Calibri" panose="020F0502020204030204"/>
              </a:endParaRPr>
            </a:p>
          </p:txBody>
        </p:sp>
        <p:sp>
          <p:nvSpPr>
            <p:cNvPr id="36" name="Rectangle 35">
              <a:extLst>
                <a:ext uri="{FF2B5EF4-FFF2-40B4-BE49-F238E27FC236}">
                  <a16:creationId xmlns:a16="http://schemas.microsoft.com/office/drawing/2014/main" id="{773227E5-1BB1-419D-ADFA-7730D9CDE218}"/>
                </a:ext>
              </a:extLst>
            </p:cNvPr>
            <p:cNvSpPr/>
            <p:nvPr/>
          </p:nvSpPr>
          <p:spPr>
            <a:xfrm>
              <a:off x="8577617" y="2187852"/>
              <a:ext cx="1458289" cy="66172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Regional </a:t>
              </a: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VNet Peering</a:t>
              </a:r>
              <a:endParaRPr kumimoji="0" lang="en-US" sz="1600" b="1" i="0" u="none" strike="noStrike" kern="0" cap="none" spc="0" normalizeH="0" baseline="0" noProof="0" dirty="0">
                <a:ln>
                  <a:noFill/>
                </a:ln>
                <a:solidFill>
                  <a:prstClr val="black"/>
                </a:solidFill>
                <a:effectLst/>
                <a:uLnTx/>
                <a:uFillTx/>
                <a:latin typeface="Calibri" panose="020F0502020204030204"/>
              </a:endParaRPr>
            </a:p>
          </p:txBody>
        </p:sp>
      </p:grpSp>
    </p:spTree>
    <p:extLst>
      <p:ext uri="{BB962C8B-B14F-4D97-AF65-F5344CB8AC3E}">
        <p14:creationId xmlns:p14="http://schemas.microsoft.com/office/powerpoint/2010/main" val="292313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Determine Gateway Transit and Connectivity Needs</a:t>
            </a:r>
          </a:p>
        </p:txBody>
      </p:sp>
      <p:sp>
        <p:nvSpPr>
          <p:cNvPr id="6" name="Rectangle 5">
            <a:extLst>
              <a:ext uri="{FF2B5EF4-FFF2-40B4-BE49-F238E27FC236}">
                <a16:creationId xmlns:a16="http://schemas.microsoft.com/office/drawing/2014/main" id="{F7407FBA-8AEB-45D6-BC1E-4BEC995A69C1}"/>
              </a:ext>
            </a:extLst>
          </p:cNvPr>
          <p:cNvSpPr/>
          <p:nvPr/>
        </p:nvSpPr>
        <p:spPr>
          <a:xfrm>
            <a:off x="427038" y="1378211"/>
            <a:ext cx="4376456" cy="114276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Gateway transit allows peered virtual networks to share the gateway and get access to resources</a:t>
            </a:r>
          </a:p>
        </p:txBody>
      </p:sp>
      <p:sp>
        <p:nvSpPr>
          <p:cNvPr id="8" name="Rectangle 7">
            <a:extLst>
              <a:ext uri="{FF2B5EF4-FFF2-40B4-BE49-F238E27FC236}">
                <a16:creationId xmlns:a16="http://schemas.microsoft.com/office/drawing/2014/main" id="{3AFC85CE-A9A3-49E5-9E48-E583B7AE6057}"/>
              </a:ext>
            </a:extLst>
          </p:cNvPr>
          <p:cNvSpPr/>
          <p:nvPr/>
        </p:nvSpPr>
        <p:spPr>
          <a:xfrm>
            <a:off x="427038" y="2759326"/>
            <a:ext cx="4376456" cy="114276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No VPN gateway is required in</a:t>
            </a:r>
            <a:br>
              <a:rPr lang="en-US" sz="2000" dirty="0">
                <a:solidFill>
                  <a:schemeClr val="tx1"/>
                </a:solidFill>
                <a:cs typeface="Segoe UI Semilight"/>
              </a:rPr>
            </a:br>
            <a:r>
              <a:rPr lang="en-US" sz="2000" dirty="0">
                <a:solidFill>
                  <a:schemeClr val="tx1"/>
                </a:solidFill>
                <a:cs typeface="Segoe UI Semilight"/>
              </a:rPr>
              <a:t>the </a:t>
            </a:r>
            <a:r>
              <a:rPr lang="en-US" sz="2000">
                <a:solidFill>
                  <a:schemeClr val="tx1"/>
                </a:solidFill>
                <a:cs typeface="Segoe UI Semilight"/>
              </a:rPr>
              <a:t>peered spoke virtual </a:t>
            </a:r>
            <a:r>
              <a:rPr lang="en-US" sz="2000" dirty="0">
                <a:solidFill>
                  <a:schemeClr val="tx1"/>
                </a:solidFill>
                <a:cs typeface="Segoe UI Semilight"/>
              </a:rPr>
              <a:t>network</a:t>
            </a:r>
          </a:p>
        </p:txBody>
      </p:sp>
      <p:sp>
        <p:nvSpPr>
          <p:cNvPr id="9" name="Rectangle 8">
            <a:extLst>
              <a:ext uri="{FF2B5EF4-FFF2-40B4-BE49-F238E27FC236}">
                <a16:creationId xmlns:a16="http://schemas.microsoft.com/office/drawing/2014/main" id="{2F058A8E-300C-4F83-BBA4-DB16DBB04965}"/>
              </a:ext>
            </a:extLst>
          </p:cNvPr>
          <p:cNvSpPr/>
          <p:nvPr/>
        </p:nvSpPr>
        <p:spPr>
          <a:xfrm>
            <a:off x="427038" y="4140441"/>
            <a:ext cx="4376456" cy="114276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Default VNet peering provides</a:t>
            </a:r>
            <a:br>
              <a:rPr lang="en-US" sz="2000" dirty="0">
                <a:solidFill>
                  <a:schemeClr val="tx1"/>
                </a:solidFill>
                <a:cs typeface="Segoe UI Semilight"/>
              </a:rPr>
            </a:br>
            <a:r>
              <a:rPr lang="en-US" sz="2000" dirty="0">
                <a:solidFill>
                  <a:schemeClr val="tx1"/>
                </a:solidFill>
                <a:cs typeface="Segoe UI Semilight"/>
              </a:rPr>
              <a:t>full connectivity</a:t>
            </a:r>
          </a:p>
        </p:txBody>
      </p:sp>
      <p:pic>
        <p:nvPicPr>
          <p:cNvPr id="2" name="Picture 1" descr="Diagram showing three VNets (VNet A, VNet B, and a Hub VNet). VNet A and the Hub VNet are peered. VNet B and the Hub VNet are peered. The Hub VNet has a NVA for VNet A and a VPN Gateway for VNet B">
            <a:extLst>
              <a:ext uri="{FF2B5EF4-FFF2-40B4-BE49-F238E27FC236}">
                <a16:creationId xmlns:a16="http://schemas.microsoft.com/office/drawing/2014/main" id="{676E3145-4E88-4DBF-83DB-D0D73C62F453}"/>
              </a:ext>
            </a:extLst>
          </p:cNvPr>
          <p:cNvPicPr>
            <a:picLocks noChangeAspect="1"/>
          </p:cNvPicPr>
          <p:nvPr/>
        </p:nvPicPr>
        <p:blipFill>
          <a:blip r:embed="rId3"/>
          <a:stretch>
            <a:fillRect/>
          </a:stretch>
        </p:blipFill>
        <p:spPr>
          <a:xfrm>
            <a:off x="5073014" y="1462691"/>
            <a:ext cx="6822350" cy="3820515"/>
          </a:xfrm>
          <a:prstGeom prst="rect">
            <a:avLst/>
          </a:prstGeom>
        </p:spPr>
      </p:pic>
      <p:pic>
        <p:nvPicPr>
          <p:cNvPr id="10" name="Picture 9" descr="Tick mark">
            <a:extLst>
              <a:ext uri="{FF2B5EF4-FFF2-40B4-BE49-F238E27FC236}">
                <a16:creationId xmlns:a16="http://schemas.microsoft.com/office/drawing/2014/main" id="{ED815E37-5BD4-41C3-B3D0-DA2514AA1390}"/>
              </a:ext>
            </a:extLst>
          </p:cNvPr>
          <p:cNvPicPr>
            <a:picLocks noChangeAspect="1"/>
          </p:cNvPicPr>
          <p:nvPr/>
        </p:nvPicPr>
        <p:blipFill>
          <a:blip r:embed="rId4"/>
          <a:stretch>
            <a:fillRect/>
          </a:stretch>
        </p:blipFill>
        <p:spPr>
          <a:xfrm>
            <a:off x="427038" y="5521556"/>
            <a:ext cx="786452" cy="780356"/>
          </a:xfrm>
          <a:prstGeom prst="rect">
            <a:avLst/>
          </a:prstGeom>
        </p:spPr>
      </p:pic>
      <p:sp>
        <p:nvSpPr>
          <p:cNvPr id="11" name="Freeform: Shape 10">
            <a:extLst>
              <a:ext uri="{FF2B5EF4-FFF2-40B4-BE49-F238E27FC236}">
                <a16:creationId xmlns:a16="http://schemas.microsoft.com/office/drawing/2014/main" id="{7B7EE18E-8603-4381-B4DF-85442428F806}"/>
              </a:ext>
            </a:extLst>
          </p:cNvPr>
          <p:cNvSpPr/>
          <p:nvPr/>
        </p:nvSpPr>
        <p:spPr bwMode="auto">
          <a:xfrm>
            <a:off x="0" y="5521556"/>
            <a:ext cx="12436475" cy="782411"/>
          </a:xfrm>
          <a:custGeom>
            <a:avLst/>
            <a:gdLst>
              <a:gd name="connsiteX0" fmla="*/ 1213422 w 12436475"/>
              <a:gd name="connsiteY0" fmla="*/ 0 h 782411"/>
              <a:gd name="connsiteX1" fmla="*/ 12436475 w 12436475"/>
              <a:gd name="connsiteY1" fmla="*/ 0 h 782411"/>
              <a:gd name="connsiteX2" fmla="*/ 12436475 w 12436475"/>
              <a:gd name="connsiteY2" fmla="*/ 782411 h 782411"/>
              <a:gd name="connsiteX3" fmla="*/ 1213422 w 12436475"/>
              <a:gd name="connsiteY3" fmla="*/ 782411 h 782411"/>
              <a:gd name="connsiteX4" fmla="*/ 0 w 12436475"/>
              <a:gd name="connsiteY4" fmla="*/ 0 h 782411"/>
              <a:gd name="connsiteX5" fmla="*/ 427038 w 12436475"/>
              <a:gd name="connsiteY5" fmla="*/ 0 h 782411"/>
              <a:gd name="connsiteX6" fmla="*/ 427038 w 12436475"/>
              <a:gd name="connsiteY6" fmla="*/ 782411 h 782411"/>
              <a:gd name="connsiteX7" fmla="*/ 0 w 12436475"/>
              <a:gd name="connsiteY7" fmla="*/ 782411 h 7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36475" h="782411">
                <a:moveTo>
                  <a:pt x="1213422" y="0"/>
                </a:moveTo>
                <a:lnTo>
                  <a:pt x="12436475" y="0"/>
                </a:lnTo>
                <a:lnTo>
                  <a:pt x="12436475" y="782411"/>
                </a:lnTo>
                <a:lnTo>
                  <a:pt x="1213422" y="782411"/>
                </a:lnTo>
                <a:close/>
                <a:moveTo>
                  <a:pt x="0" y="0"/>
                </a:moveTo>
                <a:lnTo>
                  <a:pt x="427038" y="0"/>
                </a:lnTo>
                <a:lnTo>
                  <a:pt x="427038" y="782411"/>
                </a:lnTo>
                <a:lnTo>
                  <a:pt x="0" y="782411"/>
                </a:lnTo>
                <a:close/>
              </a:path>
            </a:pathLst>
          </a:custGeom>
          <a:solidFill>
            <a:schemeClr val="bg2">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dirty="0">
                <a:solidFill>
                  <a:schemeClr val="tx1"/>
                </a:solidFill>
                <a:latin typeface="+mj-lt"/>
                <a:cs typeface="Segoe UI Semibold" panose="020B0702040204020203" pitchFamily="34" charset="0"/>
              </a:rPr>
              <a:t>IP address spaces of connected networks can't overlap </a:t>
            </a:r>
          </a:p>
        </p:txBody>
      </p:sp>
    </p:spTree>
    <p:extLst>
      <p:ext uri="{BB962C8B-B14F-4D97-AF65-F5344CB8AC3E}">
        <p14:creationId xmlns:p14="http://schemas.microsoft.com/office/powerpoint/2010/main" val="2417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VNet Peering</a:t>
            </a:r>
          </a:p>
        </p:txBody>
      </p:sp>
      <p:sp>
        <p:nvSpPr>
          <p:cNvPr id="14" name="Rectangle 13">
            <a:extLst>
              <a:ext uri="{FF2B5EF4-FFF2-40B4-BE49-F238E27FC236}">
                <a16:creationId xmlns:a16="http://schemas.microsoft.com/office/drawing/2014/main" id="{D7A5AF0E-CC05-4A9D-8E20-C3F177D298E1}"/>
              </a:ext>
            </a:extLst>
          </p:cNvPr>
          <p:cNvSpPr/>
          <p:nvPr/>
        </p:nvSpPr>
        <p:spPr>
          <a:xfrm>
            <a:off x="458569" y="1796902"/>
            <a:ext cx="4914815" cy="10419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Allow virtual network access settings</a:t>
            </a:r>
          </a:p>
        </p:txBody>
      </p:sp>
      <p:sp>
        <p:nvSpPr>
          <p:cNvPr id="15" name="Rectangle 14">
            <a:extLst>
              <a:ext uri="{FF2B5EF4-FFF2-40B4-BE49-F238E27FC236}">
                <a16:creationId xmlns:a16="http://schemas.microsoft.com/office/drawing/2014/main" id="{EDA40E1E-BF5F-4EEC-9E49-3981FAA450EF}"/>
              </a:ext>
            </a:extLst>
          </p:cNvPr>
          <p:cNvSpPr/>
          <p:nvPr/>
        </p:nvSpPr>
        <p:spPr>
          <a:xfrm>
            <a:off x="458569" y="2976293"/>
            <a:ext cx="4914815" cy="10419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Configure forwarded traffic settings</a:t>
            </a:r>
          </a:p>
        </p:txBody>
      </p:sp>
      <p:sp>
        <p:nvSpPr>
          <p:cNvPr id="2" name="Rectangle 1">
            <a:extLst>
              <a:ext uri="{FF2B5EF4-FFF2-40B4-BE49-F238E27FC236}">
                <a16:creationId xmlns:a16="http://schemas.microsoft.com/office/drawing/2014/main" id="{8880173C-97CA-8FA8-A2C7-F24BFEE5B0FF}"/>
              </a:ext>
            </a:extLst>
          </p:cNvPr>
          <p:cNvSpPr/>
          <p:nvPr/>
        </p:nvSpPr>
        <p:spPr>
          <a:xfrm>
            <a:off x="458569" y="4155684"/>
            <a:ext cx="4914815" cy="10419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ea typeface="+mn-lt"/>
                <a:cs typeface="Segoe UI Semilight"/>
              </a:rPr>
              <a:t>Status should show “connected”</a:t>
            </a:r>
            <a:endParaRPr lang="en-US" sz="2000" dirty="0">
              <a:solidFill>
                <a:schemeClr val="tx1"/>
              </a:solidFill>
              <a:cs typeface="Segoe UI Semilight"/>
            </a:endParaRPr>
          </a:p>
        </p:txBody>
      </p:sp>
      <p:pic>
        <p:nvPicPr>
          <p:cNvPr id="5" name="Picture 4" descr="Screenshot of the peering configuration showing the allow forward traffic, allow gateway transit, and configure remote gateway settings">
            <a:extLst>
              <a:ext uri="{FF2B5EF4-FFF2-40B4-BE49-F238E27FC236}">
                <a16:creationId xmlns:a16="http://schemas.microsoft.com/office/drawing/2014/main" id="{BAE4AF21-E1CA-2843-F1B0-9E5A22C129D4}"/>
              </a:ext>
            </a:extLst>
          </p:cNvPr>
          <p:cNvPicPr>
            <a:picLocks noChangeAspect="1"/>
          </p:cNvPicPr>
          <p:nvPr/>
        </p:nvPicPr>
        <p:blipFill>
          <a:blip r:embed="rId3"/>
          <a:stretch>
            <a:fillRect/>
          </a:stretch>
        </p:blipFill>
        <p:spPr>
          <a:xfrm>
            <a:off x="5756970" y="1397477"/>
            <a:ext cx="6049219" cy="4258269"/>
          </a:xfrm>
          <a:prstGeom prst="rect">
            <a:avLst/>
          </a:prstGeom>
          <a:ln>
            <a:solidFill>
              <a:schemeClr val="bg1">
                <a:lumMod val="50000"/>
              </a:schemeClr>
            </a:solidFill>
          </a:ln>
        </p:spPr>
      </p:pic>
    </p:spTree>
    <p:extLst>
      <p:ext uri="{BB962C8B-B14F-4D97-AF65-F5344CB8AC3E}">
        <p14:creationId xmlns:p14="http://schemas.microsoft.com/office/powerpoint/2010/main" val="14525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D0D7F3-F3F2-439B-85F9-4E3BC0A96582}"/>
              </a:ext>
            </a:extLst>
          </p:cNvPr>
          <p:cNvSpPr>
            <a:spLocks noGrp="1"/>
          </p:cNvSpPr>
          <p:nvPr>
            <p:ph type="title"/>
          </p:nvPr>
        </p:nvSpPr>
        <p:spPr/>
        <p:txBody>
          <a:bodyPr/>
          <a:lstStyle/>
          <a:p>
            <a:r>
              <a:rPr lang="en-IN" dirty="0"/>
              <a:t>Demonstration – Virtual Network Peering</a:t>
            </a:r>
          </a:p>
        </p:txBody>
      </p:sp>
      <p:sp>
        <p:nvSpPr>
          <p:cNvPr id="64" name="Rectangle 63">
            <a:extLst>
              <a:ext uri="{FF2B5EF4-FFF2-40B4-BE49-F238E27FC236}">
                <a16:creationId xmlns:a16="http://schemas.microsoft.com/office/drawing/2014/main" id="{FB2AE682-1244-43A6-B0F0-01DDDDD1E239}"/>
              </a:ext>
            </a:extLst>
          </p:cNvPr>
          <p:cNvSpPr/>
          <p:nvPr/>
        </p:nvSpPr>
        <p:spPr bwMode="auto">
          <a:xfrm>
            <a:off x="982608" y="1712367"/>
            <a:ext cx="10198101" cy="126188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342900" indent="-342900">
              <a:spcBef>
                <a:spcPts val="600"/>
              </a:spcBef>
              <a:buFont typeface="Arial" panose="020B0604020202020204" pitchFamily="34" charset="0"/>
              <a:buChar char="•"/>
            </a:pPr>
            <a:r>
              <a:rPr lang="en-US" sz="2400" dirty="0">
                <a:solidFill>
                  <a:schemeClr val="tx1"/>
                </a:solidFill>
              </a:rPr>
              <a:t>Configure VNet peering on the first virtual network</a:t>
            </a:r>
          </a:p>
          <a:p>
            <a:pPr marL="342900" indent="-342900">
              <a:spcBef>
                <a:spcPts val="600"/>
              </a:spcBef>
              <a:buFont typeface="Arial" panose="020B0604020202020204" pitchFamily="34" charset="0"/>
              <a:buChar char="•"/>
            </a:pPr>
            <a:r>
              <a:rPr lang="en-US" sz="2400" dirty="0">
                <a:solidFill>
                  <a:schemeClr val="tx1"/>
                </a:solidFill>
              </a:rPr>
              <a:t>Confirm VNet peering on the second virtual network</a:t>
            </a:r>
          </a:p>
          <a:p>
            <a:pPr marL="342900" indent="-342900">
              <a:spcBef>
                <a:spcPts val="600"/>
              </a:spcBef>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314314914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Configure VNet Peering</a:t>
            </a:r>
          </a:p>
        </p:txBody>
      </p:sp>
      <p:sp>
        <p:nvSpPr>
          <p:cNvPr id="8" name="Rectangle 7">
            <a:extLst>
              <a:ext uri="{FF2B5EF4-FFF2-40B4-BE49-F238E27FC236}">
                <a16:creationId xmlns:a16="http://schemas.microsoft.com/office/drawing/2014/main" id="{169F3006-8609-4CDD-B431-90D1B3D88F78}"/>
              </a:ext>
            </a:extLst>
          </p:cNvPr>
          <p:cNvSpPr/>
          <p:nvPr/>
        </p:nvSpPr>
        <p:spPr>
          <a:xfrm>
            <a:off x="3967360" y="2209054"/>
            <a:ext cx="7742238" cy="793919"/>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285750" lvl="1" indent="-285750">
              <a:spcBef>
                <a:spcPts val="1200"/>
              </a:spcBef>
              <a:buClr>
                <a:srgbClr val="000000"/>
              </a:buClr>
              <a:buFont typeface="Arial" panose="020B0604020202020204" pitchFamily="34" charset="0"/>
              <a:buChar char="•"/>
            </a:pPr>
            <a:r>
              <a:rPr lang="en-US" dirty="0">
                <a:hlinkClick r:id="rId3"/>
              </a:rPr>
              <a:t>Configure Azure Virtual Network peering</a:t>
            </a:r>
            <a:endParaRPr lang="en-US" dirty="0">
              <a:hlinkClick r:id="rId4"/>
            </a:endParaRPr>
          </a:p>
        </p:txBody>
      </p:sp>
    </p:spTree>
    <p:extLst>
      <p:ext uri="{BB962C8B-B14F-4D97-AF65-F5344CB8AC3E}">
        <p14:creationId xmlns:p14="http://schemas.microsoft.com/office/powerpoint/2010/main" val="137236909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B8E0-B03B-4F79-B486-579B098B3916}"/>
              </a:ext>
            </a:extLst>
          </p:cNvPr>
          <p:cNvSpPr>
            <a:spLocks noGrp="1"/>
          </p:cNvSpPr>
          <p:nvPr>
            <p:ph type="title"/>
          </p:nvPr>
        </p:nvSpPr>
        <p:spPr>
          <a:xfrm>
            <a:off x="427038" y="449263"/>
            <a:ext cx="11568684" cy="655637"/>
          </a:xfrm>
        </p:spPr>
        <p:txBody>
          <a:bodyPr/>
          <a:lstStyle/>
          <a:p>
            <a:r>
              <a:rPr lang="en-US" dirty="0"/>
              <a:t>Determine Service Endpoint Uses</a:t>
            </a:r>
          </a:p>
        </p:txBody>
      </p:sp>
      <p:sp>
        <p:nvSpPr>
          <p:cNvPr id="3" name="Text Placeholder 2">
            <a:extLst>
              <a:ext uri="{FF2B5EF4-FFF2-40B4-BE49-F238E27FC236}">
                <a16:creationId xmlns:a16="http://schemas.microsoft.com/office/drawing/2014/main" id="{8C10DFB3-94FC-1453-D673-A36FF66415CD}"/>
              </a:ext>
            </a:extLst>
          </p:cNvPr>
          <p:cNvSpPr>
            <a:spLocks noGrp="1"/>
          </p:cNvSpPr>
          <p:nvPr>
            <p:ph type="body" sz="quarter" idx="10"/>
          </p:nvPr>
        </p:nvSpPr>
        <p:spPr>
          <a:xfrm>
            <a:off x="440753" y="998040"/>
            <a:ext cx="11568684" cy="439465"/>
          </a:xfrm>
        </p:spPr>
        <p:txBody>
          <a:bodyPr/>
          <a:lstStyle/>
          <a:p>
            <a:r>
              <a:rPr lang="en-US" dirty="0"/>
              <a:t>Endpoints limit network access to specific services </a:t>
            </a:r>
          </a:p>
          <a:p>
            <a:endParaRPr lang="en-US" dirty="0"/>
          </a:p>
        </p:txBody>
      </p:sp>
      <p:sp>
        <p:nvSpPr>
          <p:cNvPr id="10" name="TextBox 9">
            <a:extLst>
              <a:ext uri="{FF2B5EF4-FFF2-40B4-BE49-F238E27FC236}">
                <a16:creationId xmlns:a16="http://schemas.microsoft.com/office/drawing/2014/main" id="{FD63C664-1790-F709-E15F-3A60B78C5FA2}"/>
              </a:ext>
            </a:extLst>
          </p:cNvPr>
          <p:cNvSpPr txBox="1"/>
          <p:nvPr/>
        </p:nvSpPr>
        <p:spPr>
          <a:xfrm>
            <a:off x="1115407" y="1664384"/>
            <a:ext cx="3908656" cy="646331"/>
          </a:xfrm>
          <a:prstGeom prst="rect">
            <a:avLst/>
          </a:prstGeom>
          <a:noFill/>
        </p:spPr>
        <p:txBody>
          <a:bodyPr wrap="square">
            <a:spAutoFit/>
          </a:bodyPr>
          <a:lstStyle/>
          <a:p>
            <a:r>
              <a:rPr lang="en-US" dirty="0"/>
              <a:t>Adding service endpoints can take up to 15 minutes to complete</a:t>
            </a:r>
          </a:p>
        </p:txBody>
      </p:sp>
      <p:pic>
        <p:nvPicPr>
          <p:cNvPr id="9" name="Picture 8" descr="A virtual machine is using an endpoint to access a storage account">
            <a:extLst>
              <a:ext uri="{FF2B5EF4-FFF2-40B4-BE49-F238E27FC236}">
                <a16:creationId xmlns:a16="http://schemas.microsoft.com/office/drawing/2014/main" id="{834DC45D-1478-470F-896E-8B5B933F4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5381" y="1438275"/>
            <a:ext cx="5570102" cy="4854096"/>
          </a:xfrm>
          <a:prstGeom prst="rect">
            <a:avLst/>
          </a:prstGeom>
        </p:spPr>
      </p:pic>
      <p:pic>
        <p:nvPicPr>
          <p:cNvPr id="6" name="Picture 5">
            <a:extLst>
              <a:ext uri="{FF2B5EF4-FFF2-40B4-BE49-F238E27FC236}">
                <a16:creationId xmlns:a16="http://schemas.microsoft.com/office/drawing/2014/main" id="{E6729773-0091-4831-B97E-42E6B3E34E6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44703" y="2408346"/>
            <a:ext cx="3278124" cy="3553968"/>
          </a:xfrm>
          <a:prstGeom prst="rect">
            <a:avLst/>
          </a:prstGeom>
        </p:spPr>
      </p:pic>
    </p:spTree>
    <p:extLst>
      <p:ext uri="{BB962C8B-B14F-4D97-AF65-F5344CB8AC3E}">
        <p14:creationId xmlns:p14="http://schemas.microsoft.com/office/powerpoint/2010/main" val="204361824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8DC09-5266-4087-96CA-B5D189023FEA}"/>
              </a:ext>
            </a:extLst>
          </p:cNvPr>
          <p:cNvSpPr>
            <a:spLocks noGrp="1"/>
          </p:cNvSpPr>
          <p:nvPr>
            <p:ph type="title"/>
          </p:nvPr>
        </p:nvSpPr>
        <p:spPr/>
        <p:txBody>
          <a:bodyPr/>
          <a:lstStyle/>
          <a:p>
            <a:r>
              <a:rPr lang="en-US" dirty="0"/>
              <a:t>Identify Private Link Uses</a:t>
            </a:r>
          </a:p>
        </p:txBody>
      </p:sp>
      <p:pic>
        <p:nvPicPr>
          <p:cNvPr id="9" name="Picture 3" descr="An Azure Private Link connects a NSG Private endpoint with SQL database. A direct connection is cancel out ">
            <a:extLst>
              <a:ext uri="{FF2B5EF4-FFF2-40B4-BE49-F238E27FC236}">
                <a16:creationId xmlns:a16="http://schemas.microsoft.com/office/drawing/2014/main" id="{F6120E21-C10F-4AC2-9548-66DFF782CB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4230" y="1310422"/>
            <a:ext cx="9748016" cy="3476742"/>
          </a:xfrm>
          <a:prstGeom prst="rect">
            <a:avLst/>
          </a:prstGeom>
        </p:spPr>
      </p:pic>
      <p:sp>
        <p:nvSpPr>
          <p:cNvPr id="5" name="Freeform: Shape 4">
            <a:extLst>
              <a:ext uri="{FF2B5EF4-FFF2-40B4-BE49-F238E27FC236}">
                <a16:creationId xmlns:a16="http://schemas.microsoft.com/office/drawing/2014/main" id="{4B1EAF5E-A4C6-414F-8635-53DB5D06089A}"/>
              </a:ext>
            </a:extLst>
          </p:cNvPr>
          <p:cNvSpPr/>
          <p:nvPr/>
        </p:nvSpPr>
        <p:spPr>
          <a:xfrm>
            <a:off x="427038" y="5043544"/>
            <a:ext cx="3749040" cy="131820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cs typeface="Segoe UI Semilight"/>
              </a:rPr>
              <a:t>Private connectivity to services on Azure. Traffic remains on the Microsoft network, with</a:t>
            </a:r>
            <a:br>
              <a:rPr lang="en-US" sz="2000" dirty="0">
                <a:solidFill>
                  <a:schemeClr val="tx1"/>
                </a:solidFill>
                <a:cs typeface="Segoe UI Semilight"/>
              </a:rPr>
            </a:br>
            <a:r>
              <a:rPr lang="en-US" sz="2000" dirty="0">
                <a:solidFill>
                  <a:schemeClr val="tx1"/>
                </a:solidFill>
                <a:cs typeface="Segoe UI Semilight"/>
              </a:rPr>
              <a:t>no public internet access</a:t>
            </a:r>
          </a:p>
        </p:txBody>
      </p:sp>
      <p:sp>
        <p:nvSpPr>
          <p:cNvPr id="6" name="Freeform: Shape 5">
            <a:extLst>
              <a:ext uri="{FF2B5EF4-FFF2-40B4-BE49-F238E27FC236}">
                <a16:creationId xmlns:a16="http://schemas.microsoft.com/office/drawing/2014/main" id="{4215F9F2-831F-4D82-A70C-DBBFCFFDE57F}"/>
              </a:ext>
            </a:extLst>
          </p:cNvPr>
          <p:cNvSpPr/>
          <p:nvPr/>
        </p:nvSpPr>
        <p:spPr>
          <a:xfrm>
            <a:off x="4344510" y="5043544"/>
            <a:ext cx="3749040" cy="131820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cs typeface="Segoe UI Semilight"/>
              </a:rPr>
              <a:t>Integration with on-premises and peered networks</a:t>
            </a:r>
          </a:p>
        </p:txBody>
      </p:sp>
      <p:sp>
        <p:nvSpPr>
          <p:cNvPr id="4" name="Freeform: Shape 3">
            <a:extLst>
              <a:ext uri="{FF2B5EF4-FFF2-40B4-BE49-F238E27FC236}">
                <a16:creationId xmlns:a16="http://schemas.microsoft.com/office/drawing/2014/main" id="{1AB74C13-9E21-4897-8227-D25D4A95FB0E}"/>
              </a:ext>
            </a:extLst>
          </p:cNvPr>
          <p:cNvSpPr/>
          <p:nvPr/>
        </p:nvSpPr>
        <p:spPr>
          <a:xfrm>
            <a:off x="8261983" y="5043544"/>
            <a:ext cx="3749040" cy="131820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cs typeface="Segoe UI Semilight"/>
              </a:rPr>
              <a:t>In the event of a security incident within your network, only the mapped resource would be accessible</a:t>
            </a:r>
          </a:p>
        </p:txBody>
      </p:sp>
    </p:spTree>
    <p:extLst>
      <p:ext uri="{BB962C8B-B14F-4D97-AF65-F5344CB8AC3E}">
        <p14:creationId xmlns:p14="http://schemas.microsoft.com/office/powerpoint/2010/main" val="235667359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Manage and control traffic flow with routes </a:t>
            </a:r>
            <a:br>
              <a:rPr lang="en-US" dirty="0">
                <a:solidFill>
                  <a:schemeClr val="tx1"/>
                </a:solidFill>
              </a:rPr>
            </a:br>
            <a:endParaRPr lang="en-US" dirty="0">
              <a:solidFill>
                <a:schemeClr val="tx1"/>
              </a:solidFill>
            </a:endParaRPr>
          </a:p>
        </p:txBody>
      </p:sp>
      <p:sp>
        <p:nvSpPr>
          <p:cNvPr id="5" name="Rectangle 4">
            <a:extLst>
              <a:ext uri="{FF2B5EF4-FFF2-40B4-BE49-F238E27FC236}">
                <a16:creationId xmlns:a16="http://schemas.microsoft.com/office/drawing/2014/main" id="{8706B694-8AD6-40E0-B2E4-B2B2A1F1415D}"/>
              </a:ext>
            </a:extLst>
          </p:cNvPr>
          <p:cNvSpPr/>
          <p:nvPr/>
        </p:nvSpPr>
        <p:spPr>
          <a:xfrm>
            <a:off x="3789103" y="2258256"/>
            <a:ext cx="7132144" cy="157238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285750" lvl="1" indent="-285750">
              <a:spcAft>
                <a:spcPts val="600"/>
              </a:spcAft>
              <a:buClr>
                <a:srgbClr val="000000"/>
              </a:buClr>
              <a:buFont typeface="Arial" panose="020B0604020202020204" pitchFamily="34" charset="0"/>
              <a:buChar char="•"/>
            </a:pPr>
            <a:r>
              <a:rPr lang="en-US" dirty="0">
                <a:hlinkClick r:id="rId3"/>
              </a:rPr>
              <a:t>Manage and control traffic flow in your Azure deployment with routes </a:t>
            </a:r>
            <a:endParaRPr lang="en-US" dirty="0"/>
          </a:p>
          <a:p>
            <a:pPr marL="285750" lvl="1" indent="-285750">
              <a:buClr>
                <a:srgbClr val="000000"/>
              </a:buClr>
              <a:buFont typeface="Arial" panose="020B0604020202020204" pitchFamily="34" charset="0"/>
              <a:buChar char="•"/>
            </a:pPr>
            <a:r>
              <a:rPr lang="en-US" dirty="0">
                <a:hlinkClick r:id="rId4"/>
              </a:rPr>
              <a:t>Introduction to Azure Private Link </a:t>
            </a:r>
            <a:endParaRPr lang="en-US" dirty="0"/>
          </a:p>
          <a:p>
            <a:pPr marL="285750" lvl="1" indent="-285750">
              <a:buClr>
                <a:srgbClr val="000000"/>
              </a:buClr>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245363075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C2051D4B-829B-4333-9437-A127241A7CD6}"/>
              </a:ext>
            </a:extLst>
          </p:cNvPr>
          <p:cNvSpPr>
            <a:spLocks noGrp="1"/>
          </p:cNvSpPr>
          <p:nvPr>
            <p:ph type="title"/>
          </p:nvPr>
        </p:nvSpPr>
        <p:spPr>
          <a:xfrm>
            <a:off x="581340" y="3082600"/>
            <a:ext cx="6472474" cy="997196"/>
          </a:xfrm>
        </p:spPr>
        <p:txBody>
          <a:bodyPr/>
          <a:lstStyle/>
          <a:p>
            <a:pPr defTabSz="444500">
              <a:spcBef>
                <a:spcPct val="0"/>
              </a:spcBef>
              <a:spcAft>
                <a:spcPct val="35000"/>
              </a:spcAft>
            </a:pPr>
            <a:r>
              <a:rPr lang="en-US" sz="3600" dirty="0"/>
              <a:t>Lab - Implement Intersite Connectivity</a:t>
            </a:r>
          </a:p>
        </p:txBody>
      </p:sp>
    </p:spTree>
    <p:extLst>
      <p:ext uri="{BB962C8B-B14F-4D97-AF65-F5344CB8AC3E}">
        <p14:creationId xmlns:p14="http://schemas.microsoft.com/office/powerpoint/2010/main" val="184558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9523D1-4BAE-3639-E710-8A43B9FD33AB}"/>
              </a:ext>
            </a:extLst>
          </p:cNvPr>
          <p:cNvSpPr>
            <a:spLocks noGrp="1"/>
          </p:cNvSpPr>
          <p:nvPr>
            <p:ph type="title"/>
          </p:nvPr>
        </p:nvSpPr>
        <p:spPr/>
        <p:txBody>
          <a:bodyPr/>
          <a:lstStyle/>
          <a:p>
            <a:r>
              <a:rPr lang="en-US" sz="2754" dirty="0">
                <a:cs typeface="Segoe UI"/>
              </a:rPr>
              <a:t>Module Review Activity </a:t>
            </a:r>
            <a:endParaRPr lang="en-US" dirty="0"/>
          </a:p>
        </p:txBody>
      </p:sp>
      <p:grpSp>
        <p:nvGrpSpPr>
          <p:cNvPr id="92" name="Group 91">
            <a:extLst>
              <a:ext uri="{FF2B5EF4-FFF2-40B4-BE49-F238E27FC236}">
                <a16:creationId xmlns:a16="http://schemas.microsoft.com/office/drawing/2014/main" id="{2CB5B87D-484D-9A7D-FFC4-931A53A2108A}"/>
              </a:ext>
              <a:ext uri="{C183D7F6-B498-43B3-948B-1728B52AA6E4}">
                <adec:decorative xmlns:adec="http://schemas.microsoft.com/office/drawing/2017/decorative" val="1"/>
              </a:ext>
            </a:extLst>
          </p:cNvPr>
          <p:cNvGrpSpPr/>
          <p:nvPr/>
        </p:nvGrpSpPr>
        <p:grpSpPr>
          <a:xfrm>
            <a:off x="8658051" y="4889463"/>
            <a:ext cx="1360747" cy="1133847"/>
            <a:chOff x="8856122" y="4961614"/>
            <a:chExt cx="1334186" cy="1111715"/>
          </a:xfrm>
        </p:grpSpPr>
        <p:pic>
          <p:nvPicPr>
            <p:cNvPr id="89" name="Graphic 88">
              <a:extLst>
                <a:ext uri="{FF2B5EF4-FFF2-40B4-BE49-F238E27FC236}">
                  <a16:creationId xmlns:a16="http://schemas.microsoft.com/office/drawing/2014/main" id="{2D5F3F30-4FB6-4F50-679A-64047CCA96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41806" y="4961614"/>
              <a:ext cx="533806" cy="534408"/>
            </a:xfrm>
            <a:prstGeom prst="rect">
              <a:avLst/>
            </a:prstGeom>
          </p:spPr>
        </p:pic>
        <p:sp>
          <p:nvSpPr>
            <p:cNvPr id="91" name="TextBox 90">
              <a:extLst>
                <a:ext uri="{FF2B5EF4-FFF2-40B4-BE49-F238E27FC236}">
                  <a16:creationId xmlns:a16="http://schemas.microsoft.com/office/drawing/2014/main" id="{EC2A4F0A-3668-DD2F-B1E9-6704470D77A4}"/>
                </a:ext>
              </a:extLst>
            </p:cNvPr>
            <p:cNvSpPr txBox="1"/>
            <p:nvPr/>
          </p:nvSpPr>
          <p:spPr>
            <a:xfrm>
              <a:off x="8856122" y="5528949"/>
              <a:ext cx="1334186"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VNet Peering</a:t>
              </a:r>
            </a:p>
          </p:txBody>
        </p:sp>
      </p:grpSp>
      <p:grpSp>
        <p:nvGrpSpPr>
          <p:cNvPr id="109" name="Group 108">
            <a:extLst>
              <a:ext uri="{FF2B5EF4-FFF2-40B4-BE49-F238E27FC236}">
                <a16:creationId xmlns:a16="http://schemas.microsoft.com/office/drawing/2014/main" id="{D1708596-E080-38DB-A68B-0524F4A58F66}"/>
              </a:ext>
              <a:ext uri="{C183D7F6-B498-43B3-948B-1728B52AA6E4}">
                <adec:decorative xmlns:adec="http://schemas.microsoft.com/office/drawing/2017/decorative" val="1"/>
              </a:ext>
            </a:extLst>
          </p:cNvPr>
          <p:cNvGrpSpPr/>
          <p:nvPr/>
        </p:nvGrpSpPr>
        <p:grpSpPr>
          <a:xfrm>
            <a:off x="6392564" y="4915294"/>
            <a:ext cx="1084975" cy="1082174"/>
            <a:chOff x="4344112" y="4836929"/>
            <a:chExt cx="1063798" cy="1061051"/>
          </a:xfrm>
        </p:grpSpPr>
        <p:pic>
          <p:nvPicPr>
            <p:cNvPr id="93" name="Graphic 92">
              <a:extLst>
                <a:ext uri="{FF2B5EF4-FFF2-40B4-BE49-F238E27FC236}">
                  <a16:creationId xmlns:a16="http://schemas.microsoft.com/office/drawing/2014/main" id="{F9C1F221-68E5-BEA0-BEE6-481147489A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4722" y="4836929"/>
              <a:ext cx="423678" cy="424156"/>
            </a:xfrm>
            <a:prstGeom prst="rect">
              <a:avLst/>
            </a:prstGeom>
          </p:spPr>
        </p:pic>
        <p:sp>
          <p:nvSpPr>
            <p:cNvPr id="94" name="TextBox 93">
              <a:extLst>
                <a:ext uri="{FF2B5EF4-FFF2-40B4-BE49-F238E27FC236}">
                  <a16:creationId xmlns:a16="http://schemas.microsoft.com/office/drawing/2014/main" id="{E002D297-714F-3348-6920-5CD04CEE28D1}"/>
                </a:ext>
              </a:extLst>
            </p:cNvPr>
            <p:cNvSpPr txBox="1"/>
            <p:nvPr/>
          </p:nvSpPr>
          <p:spPr>
            <a:xfrm>
              <a:off x="4344112" y="5353600"/>
              <a:ext cx="1063798"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Private</a:t>
              </a:r>
            </a:p>
            <a:p>
              <a:pPr algn="ctr" defTabSz="951028" fontAlgn="base">
                <a:lnSpc>
                  <a:spcPct val="90000"/>
                </a:lnSpc>
                <a:spcBef>
                  <a:spcPct val="0"/>
                </a:spcBef>
                <a:spcAft>
                  <a:spcPct val="0"/>
                </a:spcAft>
              </a:pPr>
              <a:r>
                <a:rPr lang="en-US" sz="1632" dirty="0">
                  <a:ea typeface="Segoe UI" pitchFamily="34" charset="0"/>
                  <a:cs typeface="Segoe UI" pitchFamily="34" charset="0"/>
                </a:rPr>
                <a:t>endpoint</a:t>
              </a:r>
            </a:p>
          </p:txBody>
        </p:sp>
      </p:grpSp>
      <p:grpSp>
        <p:nvGrpSpPr>
          <p:cNvPr id="97" name="Group 96">
            <a:extLst>
              <a:ext uri="{FF2B5EF4-FFF2-40B4-BE49-F238E27FC236}">
                <a16:creationId xmlns:a16="http://schemas.microsoft.com/office/drawing/2014/main" id="{41436F3E-307D-429B-C9C5-32C22814B59B}"/>
              </a:ext>
              <a:ext uri="{C183D7F6-B498-43B3-948B-1728B52AA6E4}">
                <adec:decorative xmlns:adec="http://schemas.microsoft.com/office/drawing/2017/decorative" val="1"/>
              </a:ext>
            </a:extLst>
          </p:cNvPr>
          <p:cNvGrpSpPr/>
          <p:nvPr/>
        </p:nvGrpSpPr>
        <p:grpSpPr>
          <a:xfrm>
            <a:off x="7525305" y="4923916"/>
            <a:ext cx="1084975" cy="1064940"/>
            <a:chOff x="3499574" y="6025494"/>
            <a:chExt cx="1063798" cy="1044153"/>
          </a:xfrm>
        </p:grpSpPr>
        <p:pic>
          <p:nvPicPr>
            <p:cNvPr id="95" name="Graphic 94">
              <a:extLst>
                <a:ext uri="{FF2B5EF4-FFF2-40B4-BE49-F238E27FC236}">
                  <a16:creationId xmlns:a16="http://schemas.microsoft.com/office/drawing/2014/main" id="{D57BAA0F-F334-BBE3-F5F9-1FBF511747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72864" y="6025494"/>
              <a:ext cx="423678" cy="424156"/>
            </a:xfrm>
            <a:prstGeom prst="rect">
              <a:avLst/>
            </a:prstGeom>
          </p:spPr>
        </p:pic>
        <p:sp>
          <p:nvSpPr>
            <p:cNvPr id="96" name="TextBox 95">
              <a:extLst>
                <a:ext uri="{FF2B5EF4-FFF2-40B4-BE49-F238E27FC236}">
                  <a16:creationId xmlns:a16="http://schemas.microsoft.com/office/drawing/2014/main" id="{67DE7D16-4E00-4257-400A-2D202501FDCB}"/>
                </a:ext>
              </a:extLst>
            </p:cNvPr>
            <p:cNvSpPr txBox="1"/>
            <p:nvPr/>
          </p:nvSpPr>
          <p:spPr>
            <a:xfrm>
              <a:off x="3499574" y="6525267"/>
              <a:ext cx="1063798"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Service</a:t>
              </a:r>
            </a:p>
            <a:p>
              <a:pPr algn="ctr" defTabSz="951028" fontAlgn="base">
                <a:lnSpc>
                  <a:spcPct val="90000"/>
                </a:lnSpc>
                <a:spcBef>
                  <a:spcPct val="0"/>
                </a:spcBef>
                <a:spcAft>
                  <a:spcPct val="0"/>
                </a:spcAft>
              </a:pPr>
              <a:r>
                <a:rPr lang="en-US" sz="1632" dirty="0">
                  <a:ea typeface="Segoe UI" pitchFamily="34" charset="0"/>
                  <a:cs typeface="Segoe UI" pitchFamily="34" charset="0"/>
                </a:rPr>
                <a:t>endpoint</a:t>
              </a:r>
            </a:p>
          </p:txBody>
        </p:sp>
      </p:grpSp>
      <p:grpSp>
        <p:nvGrpSpPr>
          <p:cNvPr id="127" name="Group 126">
            <a:extLst>
              <a:ext uri="{FF2B5EF4-FFF2-40B4-BE49-F238E27FC236}">
                <a16:creationId xmlns:a16="http://schemas.microsoft.com/office/drawing/2014/main" id="{E0DECA54-8BEC-4A86-E22D-22AC7DBDBC68}"/>
              </a:ext>
              <a:ext uri="{C183D7F6-B498-43B3-948B-1728B52AA6E4}">
                <adec:decorative xmlns:adec="http://schemas.microsoft.com/office/drawing/2017/decorative" val="1"/>
              </a:ext>
            </a:extLst>
          </p:cNvPr>
          <p:cNvGrpSpPr/>
          <p:nvPr/>
        </p:nvGrpSpPr>
        <p:grpSpPr>
          <a:xfrm>
            <a:off x="4226324" y="4900665"/>
            <a:ext cx="1035359" cy="1111423"/>
            <a:chOff x="5922751" y="4899084"/>
            <a:chExt cx="1015149" cy="1089730"/>
          </a:xfrm>
        </p:grpSpPr>
        <p:pic>
          <p:nvPicPr>
            <p:cNvPr id="99" name="Graphic 98">
              <a:extLst>
                <a:ext uri="{FF2B5EF4-FFF2-40B4-BE49-F238E27FC236}">
                  <a16:creationId xmlns:a16="http://schemas.microsoft.com/office/drawing/2014/main" id="{75A4BE39-AE8A-3D50-3666-932BAD77528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170608" y="4899084"/>
              <a:ext cx="519436" cy="520023"/>
            </a:xfrm>
            <a:prstGeom prst="rect">
              <a:avLst/>
            </a:prstGeom>
          </p:spPr>
        </p:pic>
        <p:sp>
          <p:nvSpPr>
            <p:cNvPr id="101" name="TextBox 100">
              <a:extLst>
                <a:ext uri="{FF2B5EF4-FFF2-40B4-BE49-F238E27FC236}">
                  <a16:creationId xmlns:a16="http://schemas.microsoft.com/office/drawing/2014/main" id="{381FF416-F0B3-5905-6016-853382739974}"/>
                </a:ext>
              </a:extLst>
            </p:cNvPr>
            <p:cNvSpPr txBox="1"/>
            <p:nvPr/>
          </p:nvSpPr>
          <p:spPr>
            <a:xfrm>
              <a:off x="5922751" y="5444434"/>
              <a:ext cx="1015149"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Load</a:t>
              </a:r>
            </a:p>
            <a:p>
              <a:pPr algn="ctr" defTabSz="951028" fontAlgn="base">
                <a:lnSpc>
                  <a:spcPct val="90000"/>
                </a:lnSpc>
                <a:spcBef>
                  <a:spcPct val="0"/>
                </a:spcBef>
                <a:spcAft>
                  <a:spcPct val="0"/>
                </a:spcAft>
              </a:pPr>
              <a:r>
                <a:rPr lang="en-US" sz="1632" dirty="0">
                  <a:ea typeface="Segoe UI" pitchFamily="34" charset="0"/>
                  <a:cs typeface="Segoe UI" pitchFamily="34" charset="0"/>
                </a:rPr>
                <a:t>balancer</a:t>
              </a:r>
            </a:p>
          </p:txBody>
        </p:sp>
      </p:grpSp>
      <p:grpSp>
        <p:nvGrpSpPr>
          <p:cNvPr id="128" name="Group 127">
            <a:extLst>
              <a:ext uri="{FF2B5EF4-FFF2-40B4-BE49-F238E27FC236}">
                <a16:creationId xmlns:a16="http://schemas.microsoft.com/office/drawing/2014/main" id="{848878D4-382C-1E34-EFE0-5959DDBEFF17}"/>
              </a:ext>
              <a:ext uri="{C183D7F6-B498-43B3-948B-1728B52AA6E4}">
                <adec:decorative xmlns:adec="http://schemas.microsoft.com/office/drawing/2017/decorative" val="1"/>
              </a:ext>
            </a:extLst>
          </p:cNvPr>
          <p:cNvGrpSpPr/>
          <p:nvPr/>
        </p:nvGrpSpPr>
        <p:grpSpPr>
          <a:xfrm>
            <a:off x="5309434" y="5033431"/>
            <a:ext cx="1035357" cy="841388"/>
            <a:chOff x="7060011" y="4952619"/>
            <a:chExt cx="1015149" cy="824965"/>
          </a:xfrm>
        </p:grpSpPr>
        <p:pic>
          <p:nvPicPr>
            <p:cNvPr id="107" name="Graphic 106">
              <a:extLst>
                <a:ext uri="{FF2B5EF4-FFF2-40B4-BE49-F238E27FC236}">
                  <a16:creationId xmlns:a16="http://schemas.microsoft.com/office/drawing/2014/main" id="{FF357376-86FA-61F1-C0CC-F495701E629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36410" y="4952619"/>
              <a:ext cx="462352" cy="462352"/>
            </a:xfrm>
            <a:prstGeom prst="rect">
              <a:avLst/>
            </a:prstGeom>
          </p:spPr>
        </p:pic>
        <p:sp>
          <p:nvSpPr>
            <p:cNvPr id="108" name="TextBox 107">
              <a:extLst>
                <a:ext uri="{FF2B5EF4-FFF2-40B4-BE49-F238E27FC236}">
                  <a16:creationId xmlns:a16="http://schemas.microsoft.com/office/drawing/2014/main" id="{3E32CCCA-D79D-5568-CF9E-3FC4CF2A51C5}"/>
                </a:ext>
              </a:extLst>
            </p:cNvPr>
            <p:cNvSpPr txBox="1"/>
            <p:nvPr/>
          </p:nvSpPr>
          <p:spPr>
            <a:xfrm>
              <a:off x="7060011" y="5459227"/>
              <a:ext cx="1015149" cy="318357"/>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NAT</a:t>
              </a:r>
            </a:p>
          </p:txBody>
        </p:sp>
      </p:grpSp>
      <p:grpSp>
        <p:nvGrpSpPr>
          <p:cNvPr id="123" name="Group 122">
            <a:extLst>
              <a:ext uri="{FF2B5EF4-FFF2-40B4-BE49-F238E27FC236}">
                <a16:creationId xmlns:a16="http://schemas.microsoft.com/office/drawing/2014/main" id="{C5A5F219-6E2C-FED1-432E-CA84E1FF7DB3}"/>
              </a:ext>
              <a:ext uri="{C183D7F6-B498-43B3-948B-1728B52AA6E4}">
                <adec:decorative xmlns:adec="http://schemas.microsoft.com/office/drawing/2017/decorative" val="1"/>
              </a:ext>
            </a:extLst>
          </p:cNvPr>
          <p:cNvGrpSpPr/>
          <p:nvPr/>
        </p:nvGrpSpPr>
        <p:grpSpPr>
          <a:xfrm>
            <a:off x="1533366" y="4890626"/>
            <a:ext cx="1298710" cy="1131510"/>
            <a:chOff x="1732673" y="4811880"/>
            <a:chExt cx="1273361" cy="1109424"/>
          </a:xfrm>
        </p:grpSpPr>
        <p:pic>
          <p:nvPicPr>
            <p:cNvPr id="121" name="Graphic 120">
              <a:extLst>
                <a:ext uri="{FF2B5EF4-FFF2-40B4-BE49-F238E27FC236}">
                  <a16:creationId xmlns:a16="http://schemas.microsoft.com/office/drawing/2014/main" id="{08A1EF36-A94B-D7DE-094A-24C68A922DD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101589" y="4811880"/>
              <a:ext cx="535531" cy="535531"/>
            </a:xfrm>
            <a:prstGeom prst="rect">
              <a:avLst/>
            </a:prstGeom>
          </p:spPr>
        </p:pic>
        <p:sp>
          <p:nvSpPr>
            <p:cNvPr id="122" name="TextBox 121">
              <a:extLst>
                <a:ext uri="{FF2B5EF4-FFF2-40B4-BE49-F238E27FC236}">
                  <a16:creationId xmlns:a16="http://schemas.microsoft.com/office/drawing/2014/main" id="{461B2846-DDAC-8FBC-7F59-DD522D636B6F}"/>
                </a:ext>
              </a:extLst>
            </p:cNvPr>
            <p:cNvSpPr txBox="1"/>
            <p:nvPr/>
          </p:nvSpPr>
          <p:spPr>
            <a:xfrm>
              <a:off x="1732673" y="5376924"/>
              <a:ext cx="1273361"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Application</a:t>
              </a:r>
            </a:p>
            <a:p>
              <a:pPr algn="ctr" defTabSz="951028" fontAlgn="base">
                <a:lnSpc>
                  <a:spcPct val="90000"/>
                </a:lnSpc>
                <a:spcBef>
                  <a:spcPct val="0"/>
                </a:spcBef>
                <a:spcAft>
                  <a:spcPct val="0"/>
                </a:spcAft>
              </a:pPr>
              <a:r>
                <a:rPr lang="en-US" sz="1632" dirty="0">
                  <a:ea typeface="Segoe UI" pitchFamily="34" charset="0"/>
                  <a:cs typeface="Segoe UI" pitchFamily="34" charset="0"/>
                </a:rPr>
                <a:t>gateway</a:t>
              </a:r>
            </a:p>
          </p:txBody>
        </p:sp>
      </p:grpSp>
      <p:grpSp>
        <p:nvGrpSpPr>
          <p:cNvPr id="131" name="Group 130">
            <a:extLst>
              <a:ext uri="{FF2B5EF4-FFF2-40B4-BE49-F238E27FC236}">
                <a16:creationId xmlns:a16="http://schemas.microsoft.com/office/drawing/2014/main" id="{24A5DCF9-9489-9757-C3B9-0FABB241E219}"/>
              </a:ext>
              <a:ext uri="{C183D7F6-B498-43B3-948B-1728B52AA6E4}">
                <adec:decorative xmlns:adec="http://schemas.microsoft.com/office/drawing/2017/decorative" val="1"/>
              </a:ext>
            </a:extLst>
          </p:cNvPr>
          <p:cNvGrpSpPr/>
          <p:nvPr/>
        </p:nvGrpSpPr>
        <p:grpSpPr>
          <a:xfrm>
            <a:off x="10066557" y="4917665"/>
            <a:ext cx="1084975" cy="1077443"/>
            <a:chOff x="9319081" y="4884115"/>
            <a:chExt cx="1063798" cy="1056412"/>
          </a:xfrm>
        </p:grpSpPr>
        <p:pic>
          <p:nvPicPr>
            <p:cNvPr id="129" name="Graphic 128">
              <a:extLst>
                <a:ext uri="{FF2B5EF4-FFF2-40B4-BE49-F238E27FC236}">
                  <a16:creationId xmlns:a16="http://schemas.microsoft.com/office/drawing/2014/main" id="{7DD968C2-6EE7-CEE9-75AE-D1F36998C41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649590" y="4884115"/>
              <a:ext cx="435924" cy="436416"/>
            </a:xfrm>
            <a:prstGeom prst="rect">
              <a:avLst/>
            </a:prstGeom>
          </p:spPr>
        </p:pic>
        <p:sp>
          <p:nvSpPr>
            <p:cNvPr id="130" name="TextBox 129">
              <a:extLst>
                <a:ext uri="{FF2B5EF4-FFF2-40B4-BE49-F238E27FC236}">
                  <a16:creationId xmlns:a16="http://schemas.microsoft.com/office/drawing/2014/main" id="{AFD8FF47-BADD-08A7-A499-BF05A8ECDDB0}"/>
                </a:ext>
              </a:extLst>
            </p:cNvPr>
            <p:cNvSpPr txBox="1"/>
            <p:nvPr/>
          </p:nvSpPr>
          <p:spPr>
            <a:xfrm>
              <a:off x="9319081" y="5396147"/>
              <a:ext cx="1063798"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VPN</a:t>
              </a:r>
            </a:p>
            <a:p>
              <a:pPr algn="ctr" defTabSz="951028" fontAlgn="base">
                <a:lnSpc>
                  <a:spcPct val="90000"/>
                </a:lnSpc>
                <a:spcBef>
                  <a:spcPct val="0"/>
                </a:spcBef>
                <a:spcAft>
                  <a:spcPct val="0"/>
                </a:spcAft>
              </a:pPr>
              <a:r>
                <a:rPr lang="en-US" sz="1632" dirty="0">
                  <a:ea typeface="Segoe UI" pitchFamily="34" charset="0"/>
                  <a:cs typeface="Segoe UI" pitchFamily="34" charset="0"/>
                </a:rPr>
                <a:t>Gateway</a:t>
              </a:r>
            </a:p>
          </p:txBody>
        </p:sp>
      </p:grpSp>
      <p:grpSp>
        <p:nvGrpSpPr>
          <p:cNvPr id="134" name="Group 133">
            <a:extLst>
              <a:ext uri="{FF2B5EF4-FFF2-40B4-BE49-F238E27FC236}">
                <a16:creationId xmlns:a16="http://schemas.microsoft.com/office/drawing/2014/main" id="{A49B86F1-97E2-F8CD-1910-BB030C11E319}"/>
              </a:ext>
              <a:ext uri="{C183D7F6-B498-43B3-948B-1728B52AA6E4}">
                <adec:decorative xmlns:adec="http://schemas.microsoft.com/office/drawing/2017/decorative" val="1"/>
              </a:ext>
            </a:extLst>
          </p:cNvPr>
          <p:cNvGrpSpPr/>
          <p:nvPr/>
        </p:nvGrpSpPr>
        <p:grpSpPr>
          <a:xfrm>
            <a:off x="2879842" y="4900444"/>
            <a:ext cx="1298710" cy="1111873"/>
            <a:chOff x="565346" y="4790233"/>
            <a:chExt cx="1273361" cy="1090171"/>
          </a:xfrm>
        </p:grpSpPr>
        <p:pic>
          <p:nvPicPr>
            <p:cNvPr id="132" name="Graphic 131">
              <a:extLst>
                <a:ext uri="{FF2B5EF4-FFF2-40B4-BE49-F238E27FC236}">
                  <a16:creationId xmlns:a16="http://schemas.microsoft.com/office/drawing/2014/main" id="{EF5186D1-CEF0-848D-AA6C-D29BD145E77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78213" y="4790233"/>
              <a:ext cx="481694" cy="482238"/>
            </a:xfrm>
            <a:prstGeom prst="rect">
              <a:avLst/>
            </a:prstGeom>
          </p:spPr>
        </p:pic>
        <p:sp>
          <p:nvSpPr>
            <p:cNvPr id="133" name="TextBox 132">
              <a:extLst>
                <a:ext uri="{FF2B5EF4-FFF2-40B4-BE49-F238E27FC236}">
                  <a16:creationId xmlns:a16="http://schemas.microsoft.com/office/drawing/2014/main" id="{8845AB37-5BE8-2867-6058-BA5EEC7C85FF}"/>
                </a:ext>
              </a:extLst>
            </p:cNvPr>
            <p:cNvSpPr txBox="1"/>
            <p:nvPr/>
          </p:nvSpPr>
          <p:spPr>
            <a:xfrm>
              <a:off x="565346" y="5336024"/>
              <a:ext cx="1273361"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Azure</a:t>
              </a:r>
            </a:p>
            <a:p>
              <a:pPr algn="ctr" defTabSz="951028" fontAlgn="base">
                <a:lnSpc>
                  <a:spcPct val="90000"/>
                </a:lnSpc>
                <a:spcBef>
                  <a:spcPct val="0"/>
                </a:spcBef>
                <a:spcAft>
                  <a:spcPct val="0"/>
                </a:spcAft>
              </a:pPr>
              <a:r>
                <a:rPr lang="en-US" sz="1632" dirty="0">
                  <a:ea typeface="Segoe UI" pitchFamily="34" charset="0"/>
                  <a:cs typeface="Segoe UI" pitchFamily="34" charset="0"/>
                </a:rPr>
                <a:t>firewall</a:t>
              </a:r>
            </a:p>
          </p:txBody>
        </p:sp>
      </p:grpSp>
      <p:grpSp>
        <p:nvGrpSpPr>
          <p:cNvPr id="11" name="Group 10" descr="Network diagram for student activity">
            <a:extLst>
              <a:ext uri="{FF2B5EF4-FFF2-40B4-BE49-F238E27FC236}">
                <a16:creationId xmlns:a16="http://schemas.microsoft.com/office/drawing/2014/main" id="{675C62B8-8E8E-1393-6F9A-0A7D38FCE0B1}"/>
              </a:ext>
            </a:extLst>
          </p:cNvPr>
          <p:cNvGrpSpPr/>
          <p:nvPr/>
        </p:nvGrpSpPr>
        <p:grpSpPr>
          <a:xfrm>
            <a:off x="463282" y="1294385"/>
            <a:ext cx="11858564" cy="3142923"/>
            <a:chOff x="383901" y="1240999"/>
            <a:chExt cx="11858564" cy="3142923"/>
          </a:xfrm>
        </p:grpSpPr>
        <p:sp>
          <p:nvSpPr>
            <p:cNvPr id="44" name="Rectangle 43">
              <a:extLst>
                <a:ext uri="{FF2B5EF4-FFF2-40B4-BE49-F238E27FC236}">
                  <a16:creationId xmlns:a16="http://schemas.microsoft.com/office/drawing/2014/main" id="{33A6A23D-54FB-E85E-7735-D0CE21A13AE5}"/>
                </a:ext>
              </a:extLst>
            </p:cNvPr>
            <p:cNvSpPr/>
            <p:nvPr/>
          </p:nvSpPr>
          <p:spPr bwMode="auto">
            <a:xfrm>
              <a:off x="7931069" y="2017662"/>
              <a:ext cx="3158697" cy="1960259"/>
            </a:xfrm>
            <a:prstGeom prst="rect">
              <a:avLst/>
            </a:prstGeom>
            <a:solidFill>
              <a:schemeClr val="bg1"/>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1" name="Rectangle 50">
              <a:extLst>
                <a:ext uri="{FF2B5EF4-FFF2-40B4-BE49-F238E27FC236}">
                  <a16:creationId xmlns:a16="http://schemas.microsoft.com/office/drawing/2014/main" id="{BBE102F1-DC56-F018-2021-9238DB70E09C}"/>
                </a:ext>
              </a:extLst>
            </p:cNvPr>
            <p:cNvSpPr/>
            <p:nvPr/>
          </p:nvSpPr>
          <p:spPr bwMode="auto">
            <a:xfrm>
              <a:off x="8109935" y="2205539"/>
              <a:ext cx="1034780" cy="73864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6" name="Rectangle 35">
              <a:extLst>
                <a:ext uri="{FF2B5EF4-FFF2-40B4-BE49-F238E27FC236}">
                  <a16:creationId xmlns:a16="http://schemas.microsoft.com/office/drawing/2014/main" id="{941B3C18-BD23-D5E8-4719-6D934C81D70C}"/>
                </a:ext>
              </a:extLst>
            </p:cNvPr>
            <p:cNvSpPr/>
            <p:nvPr/>
          </p:nvSpPr>
          <p:spPr bwMode="auto">
            <a:xfrm>
              <a:off x="2951944" y="2042457"/>
              <a:ext cx="3158697" cy="1935464"/>
            </a:xfrm>
            <a:prstGeom prst="rect">
              <a:avLst/>
            </a:prstGeom>
            <a:solidFill>
              <a:schemeClr val="bg1"/>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7" name="Rectangle 36">
              <a:extLst>
                <a:ext uri="{FF2B5EF4-FFF2-40B4-BE49-F238E27FC236}">
                  <a16:creationId xmlns:a16="http://schemas.microsoft.com/office/drawing/2014/main" id="{770CEC35-0480-D835-16CE-0956772D411E}"/>
                </a:ext>
              </a:extLst>
            </p:cNvPr>
            <p:cNvSpPr/>
            <p:nvPr/>
          </p:nvSpPr>
          <p:spPr bwMode="auto">
            <a:xfrm>
              <a:off x="3144866" y="2260011"/>
              <a:ext cx="1399546" cy="71531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r" defTabSz="932293" fontAlgn="base">
                <a:lnSpc>
                  <a:spcPct val="90000"/>
                </a:lnSpc>
                <a:spcBef>
                  <a:spcPct val="0"/>
                </a:spcBef>
                <a:spcAft>
                  <a:spcPct val="0"/>
                </a:spcAft>
              </a:pPr>
              <a:r>
                <a:rPr lang="en-US" sz="1836" dirty="0">
                  <a:solidFill>
                    <a:schemeClr val="tx1"/>
                  </a:solidFill>
                  <a:highlight>
                    <a:srgbClr val="00FF00"/>
                  </a:highlight>
                  <a:latin typeface="Segoe UI"/>
                  <a:ea typeface="Segoe UI" pitchFamily="34" charset="0"/>
                  <a:cs typeface="Segoe UI" pitchFamily="34" charset="0"/>
                </a:rPr>
                <a:t>Name</a:t>
              </a:r>
              <a:r>
                <a:rPr lang="en-US" sz="1836" dirty="0">
                  <a:solidFill>
                    <a:schemeClr val="tx1"/>
                  </a:solidFill>
                  <a:latin typeface="Segoe UI"/>
                  <a:ea typeface="Segoe UI" pitchFamily="34" charset="0"/>
                  <a:cs typeface="Segoe UI" pitchFamily="34" charset="0"/>
                </a:rPr>
                <a:t>?</a:t>
              </a:r>
            </a:p>
          </p:txBody>
        </p:sp>
        <p:sp>
          <p:nvSpPr>
            <p:cNvPr id="12" name="Rectangle 11">
              <a:extLst>
                <a:ext uri="{FF2B5EF4-FFF2-40B4-BE49-F238E27FC236}">
                  <a16:creationId xmlns:a16="http://schemas.microsoft.com/office/drawing/2014/main" id="{1B261D56-EEA5-ED42-7F8E-27D32D792C37}"/>
                </a:ext>
              </a:extLst>
            </p:cNvPr>
            <p:cNvSpPr/>
            <p:nvPr/>
          </p:nvSpPr>
          <p:spPr bwMode="auto">
            <a:xfrm>
              <a:off x="383901" y="3537409"/>
              <a:ext cx="1785274" cy="8465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r>
                <a:rPr lang="en-US" sz="1632" dirty="0">
                  <a:solidFill>
                    <a:srgbClr val="000000"/>
                  </a:solidFill>
                  <a:latin typeface="Segoe UI"/>
                  <a:ea typeface="Segoe UI" pitchFamily="34" charset="0"/>
                  <a:cs typeface="Segoe UI" pitchFamily="34" charset="0"/>
                </a:rPr>
                <a:t>On-premises network</a:t>
              </a:r>
            </a:p>
          </p:txBody>
        </p:sp>
        <p:pic>
          <p:nvPicPr>
            <p:cNvPr id="15" name="Picture 14">
              <a:extLst>
                <a:ext uri="{FF2B5EF4-FFF2-40B4-BE49-F238E27FC236}">
                  <a16:creationId xmlns:a16="http://schemas.microsoft.com/office/drawing/2014/main" id="{65DD5F61-B0EF-3FA3-F5C1-34C4B9269B39}"/>
                </a:ext>
              </a:extLst>
            </p:cNvPr>
            <p:cNvPicPr>
              <a:picLocks noChangeAspect="1"/>
            </p:cNvPicPr>
            <p:nvPr/>
          </p:nvPicPr>
          <p:blipFill>
            <a:blip r:embed="rId19"/>
            <a:stretch>
              <a:fillRect/>
            </a:stretch>
          </p:blipFill>
          <p:spPr>
            <a:xfrm>
              <a:off x="864271" y="2300126"/>
              <a:ext cx="788964" cy="539102"/>
            </a:xfrm>
            <a:prstGeom prst="rect">
              <a:avLst/>
            </a:prstGeom>
          </p:spPr>
        </p:pic>
        <p:pic>
          <p:nvPicPr>
            <p:cNvPr id="18" name="Graphic 17" descr="City outline">
              <a:extLst>
                <a:ext uri="{FF2B5EF4-FFF2-40B4-BE49-F238E27FC236}">
                  <a16:creationId xmlns:a16="http://schemas.microsoft.com/office/drawing/2014/main" id="{39519432-6232-82F0-426A-5E115D70F85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77604" y="2986235"/>
              <a:ext cx="875629" cy="875704"/>
            </a:xfrm>
            <a:prstGeom prst="rect">
              <a:avLst/>
            </a:prstGeom>
          </p:spPr>
        </p:pic>
        <p:sp>
          <p:nvSpPr>
            <p:cNvPr id="19" name="Rectangle 18">
              <a:extLst>
                <a:ext uri="{FF2B5EF4-FFF2-40B4-BE49-F238E27FC236}">
                  <a16:creationId xmlns:a16="http://schemas.microsoft.com/office/drawing/2014/main" id="{B9B190A6-4C55-4640-3CA3-48DD9A056DD7}"/>
                </a:ext>
              </a:extLst>
            </p:cNvPr>
            <p:cNvSpPr/>
            <p:nvPr/>
          </p:nvSpPr>
          <p:spPr bwMode="auto">
            <a:xfrm>
              <a:off x="470114" y="1589017"/>
              <a:ext cx="1781062" cy="8465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r>
                <a:rPr lang="en-US" sz="1632" dirty="0">
                  <a:solidFill>
                    <a:srgbClr val="000000"/>
                  </a:solidFill>
                  <a:latin typeface="Segoe UI"/>
                  <a:ea typeface="Segoe UI" pitchFamily="34" charset="0"/>
                  <a:cs typeface="Segoe UI" pitchFamily="34" charset="0"/>
                </a:rPr>
                <a:t>On-premises machine</a:t>
              </a:r>
            </a:p>
          </p:txBody>
        </p:sp>
        <p:pic>
          <p:nvPicPr>
            <p:cNvPr id="21" name="Graphic 20">
              <a:extLst>
                <a:ext uri="{FF2B5EF4-FFF2-40B4-BE49-F238E27FC236}">
                  <a16:creationId xmlns:a16="http://schemas.microsoft.com/office/drawing/2014/main" id="{93F68414-BC35-6536-CA11-830F46B9C62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flipH="1">
              <a:off x="8294301" y="2367971"/>
              <a:ext cx="355129" cy="355670"/>
            </a:xfrm>
            <a:prstGeom prst="rect">
              <a:avLst/>
            </a:prstGeom>
          </p:spPr>
        </p:pic>
        <p:pic>
          <p:nvPicPr>
            <p:cNvPr id="27" name="Graphic 26">
              <a:extLst>
                <a:ext uri="{FF2B5EF4-FFF2-40B4-BE49-F238E27FC236}">
                  <a16:creationId xmlns:a16="http://schemas.microsoft.com/office/drawing/2014/main" id="{E52686DF-24D4-CBFE-F485-F74684FA05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74725" y="2094743"/>
              <a:ext cx="432112" cy="432600"/>
            </a:xfrm>
            <a:prstGeom prst="rect">
              <a:avLst/>
            </a:prstGeom>
          </p:spPr>
        </p:pic>
        <p:pic>
          <p:nvPicPr>
            <p:cNvPr id="29" name="Graphic 28">
              <a:extLst>
                <a:ext uri="{FF2B5EF4-FFF2-40B4-BE49-F238E27FC236}">
                  <a16:creationId xmlns:a16="http://schemas.microsoft.com/office/drawing/2014/main" id="{370ED875-8CF5-EBCF-4C3F-EDF2D9A1CEC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161545" y="2377224"/>
              <a:ext cx="444602" cy="445104"/>
            </a:xfrm>
            <a:prstGeom prst="rect">
              <a:avLst/>
            </a:prstGeom>
          </p:spPr>
        </p:pic>
        <p:pic>
          <p:nvPicPr>
            <p:cNvPr id="33" name="Graphic 32">
              <a:extLst>
                <a:ext uri="{FF2B5EF4-FFF2-40B4-BE49-F238E27FC236}">
                  <a16:creationId xmlns:a16="http://schemas.microsoft.com/office/drawing/2014/main" id="{DA8DE890-53AF-FC48-E6ED-EEC3789DF413}"/>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516449" y="1812743"/>
              <a:ext cx="409375" cy="409837"/>
            </a:xfrm>
            <a:prstGeom prst="rect">
              <a:avLst/>
            </a:prstGeom>
          </p:spPr>
        </p:pic>
        <p:pic>
          <p:nvPicPr>
            <p:cNvPr id="35" name="Graphic 34">
              <a:extLst>
                <a:ext uri="{FF2B5EF4-FFF2-40B4-BE49-F238E27FC236}">
                  <a16:creationId xmlns:a16="http://schemas.microsoft.com/office/drawing/2014/main" id="{2E14BDAA-F441-0347-19A0-6B5392DDCA3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67235" y="3390046"/>
              <a:ext cx="432112" cy="432600"/>
            </a:xfrm>
            <a:prstGeom prst="rect">
              <a:avLst/>
            </a:prstGeom>
          </p:spPr>
        </p:pic>
        <p:grpSp>
          <p:nvGrpSpPr>
            <p:cNvPr id="16" name="Group 15">
              <a:extLst>
                <a:ext uri="{FF2B5EF4-FFF2-40B4-BE49-F238E27FC236}">
                  <a16:creationId xmlns:a16="http://schemas.microsoft.com/office/drawing/2014/main" id="{1E0F6929-A139-DAB5-B738-937E7B25C51C}"/>
                </a:ext>
              </a:extLst>
            </p:cNvPr>
            <p:cNvGrpSpPr/>
            <p:nvPr/>
          </p:nvGrpSpPr>
          <p:grpSpPr>
            <a:xfrm>
              <a:off x="4704950" y="2225563"/>
              <a:ext cx="1220872" cy="1570567"/>
              <a:chOff x="4287843" y="2365805"/>
              <a:chExt cx="1251172" cy="1607729"/>
            </a:xfrm>
          </p:grpSpPr>
          <p:sp>
            <p:nvSpPr>
              <p:cNvPr id="39" name="Rectangle 38">
                <a:extLst>
                  <a:ext uri="{FF2B5EF4-FFF2-40B4-BE49-F238E27FC236}">
                    <a16:creationId xmlns:a16="http://schemas.microsoft.com/office/drawing/2014/main" id="{A31D2158-191E-2043-9B21-236D9BD888F0}"/>
                  </a:ext>
                </a:extLst>
              </p:cNvPr>
              <p:cNvSpPr/>
              <p:nvPr/>
            </p:nvSpPr>
            <p:spPr bwMode="auto">
              <a:xfrm>
                <a:off x="4287843" y="2365805"/>
                <a:ext cx="1251172" cy="16077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1" name="Graphic 40">
                <a:extLst>
                  <a:ext uri="{FF2B5EF4-FFF2-40B4-BE49-F238E27FC236}">
                    <a16:creationId xmlns:a16="http://schemas.microsoft.com/office/drawing/2014/main" id="{E9CA0F6C-66DF-5C41-99FB-1B4011F7901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594515" y="2536573"/>
                <a:ext cx="611202" cy="611202"/>
              </a:xfrm>
              <a:prstGeom prst="rect">
                <a:avLst/>
              </a:prstGeom>
            </p:spPr>
          </p:pic>
          <p:pic>
            <p:nvPicPr>
              <p:cNvPr id="43" name="Graphic 42">
                <a:extLst>
                  <a:ext uri="{FF2B5EF4-FFF2-40B4-BE49-F238E27FC236}">
                    <a16:creationId xmlns:a16="http://schemas.microsoft.com/office/drawing/2014/main" id="{A384611F-FCF6-DF8A-C453-B75D9CC3184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598497" y="3258135"/>
                <a:ext cx="611202" cy="611202"/>
              </a:xfrm>
              <a:prstGeom prst="rect">
                <a:avLst/>
              </a:prstGeom>
            </p:spPr>
          </p:pic>
        </p:grpSp>
        <p:pic>
          <p:nvPicPr>
            <p:cNvPr id="50" name="Graphic 49">
              <a:extLst>
                <a:ext uri="{FF2B5EF4-FFF2-40B4-BE49-F238E27FC236}">
                  <a16:creationId xmlns:a16="http://schemas.microsoft.com/office/drawing/2014/main" id="{00E43D3A-1A18-774D-9D53-EB1F91B9D7A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181593" y="1807356"/>
              <a:ext cx="409375" cy="409837"/>
            </a:xfrm>
            <a:prstGeom prst="rect">
              <a:avLst/>
            </a:prstGeom>
          </p:spPr>
        </p:pic>
        <p:pic>
          <p:nvPicPr>
            <p:cNvPr id="6" name="Graphic 5">
              <a:extLst>
                <a:ext uri="{FF2B5EF4-FFF2-40B4-BE49-F238E27FC236}">
                  <a16:creationId xmlns:a16="http://schemas.microsoft.com/office/drawing/2014/main" id="{401CFD59-35AA-2F2D-DE8E-793AF5EF37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46348" y="1256571"/>
              <a:ext cx="544433" cy="545047"/>
            </a:xfrm>
            <a:prstGeom prst="rect">
              <a:avLst/>
            </a:prstGeom>
          </p:spPr>
        </p:pic>
        <p:cxnSp>
          <p:nvCxnSpPr>
            <p:cNvPr id="8" name="Connector: Elbow 7">
              <a:extLst>
                <a:ext uri="{FF2B5EF4-FFF2-40B4-BE49-F238E27FC236}">
                  <a16:creationId xmlns:a16="http://schemas.microsoft.com/office/drawing/2014/main" id="{5911CE44-0E05-1630-C9BE-48F1A406580E}"/>
                </a:ext>
              </a:extLst>
            </p:cNvPr>
            <p:cNvCxnSpPr>
              <a:cxnSpLocks/>
              <a:stCxn id="33" idx="0"/>
              <a:endCxn id="50" idx="0"/>
            </p:cNvCxnSpPr>
            <p:nvPr/>
          </p:nvCxnSpPr>
          <p:spPr>
            <a:xfrm rot="5400000" flipH="1" flipV="1">
              <a:off x="7051015" y="477478"/>
              <a:ext cx="5387" cy="2665146"/>
            </a:xfrm>
            <a:prstGeom prst="bentConnector3">
              <a:avLst>
                <a:gd name="adj1" fmla="val 4245059"/>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137AFF4B-5B14-DD73-8CFB-CE3CC01B41CE}"/>
                </a:ext>
              </a:extLst>
            </p:cNvPr>
            <p:cNvSpPr/>
            <p:nvPr/>
          </p:nvSpPr>
          <p:spPr bwMode="auto">
            <a:xfrm>
              <a:off x="3144866" y="3080820"/>
              <a:ext cx="1399546" cy="71531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r" defTabSz="932293" fontAlgn="base">
                <a:lnSpc>
                  <a:spcPct val="90000"/>
                </a:lnSpc>
                <a:spcBef>
                  <a:spcPct val="0"/>
                </a:spcBef>
                <a:spcAft>
                  <a:spcPct val="0"/>
                </a:spcAft>
              </a:pPr>
              <a:r>
                <a:rPr lang="en-US" sz="1836" dirty="0">
                  <a:solidFill>
                    <a:schemeClr val="tx1"/>
                  </a:solidFill>
                  <a:highlight>
                    <a:srgbClr val="00FF00"/>
                  </a:highlight>
                  <a:latin typeface="Segoe UI"/>
                  <a:ea typeface="Segoe UI" pitchFamily="34" charset="0"/>
                  <a:cs typeface="Segoe UI" pitchFamily="34" charset="0"/>
                </a:rPr>
                <a:t>Name</a:t>
              </a:r>
              <a:r>
                <a:rPr lang="en-US" sz="1836" dirty="0">
                  <a:solidFill>
                    <a:schemeClr val="tx1"/>
                  </a:solidFill>
                  <a:latin typeface="Segoe UI"/>
                  <a:ea typeface="Segoe UI" pitchFamily="34" charset="0"/>
                  <a:cs typeface="Segoe UI" pitchFamily="34" charset="0"/>
                </a:rPr>
                <a:t>?</a:t>
              </a:r>
            </a:p>
          </p:txBody>
        </p:sp>
        <p:pic>
          <p:nvPicPr>
            <p:cNvPr id="31" name="Graphic 30">
              <a:extLst>
                <a:ext uri="{FF2B5EF4-FFF2-40B4-BE49-F238E27FC236}">
                  <a16:creationId xmlns:a16="http://schemas.microsoft.com/office/drawing/2014/main" id="{C42A2009-3B7B-F734-BAB4-1E7C867F44C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211913" y="3222721"/>
              <a:ext cx="444602" cy="445104"/>
            </a:xfrm>
            <a:prstGeom prst="rect">
              <a:avLst/>
            </a:prstGeom>
          </p:spPr>
        </p:pic>
        <p:grpSp>
          <p:nvGrpSpPr>
            <p:cNvPr id="17" name="Group 16">
              <a:extLst>
                <a:ext uri="{FF2B5EF4-FFF2-40B4-BE49-F238E27FC236}">
                  <a16:creationId xmlns:a16="http://schemas.microsoft.com/office/drawing/2014/main" id="{163B0638-FB5E-2D34-EB66-BB5897CDD27D}"/>
                </a:ext>
              </a:extLst>
            </p:cNvPr>
            <p:cNvGrpSpPr/>
            <p:nvPr/>
          </p:nvGrpSpPr>
          <p:grpSpPr>
            <a:xfrm>
              <a:off x="9271428" y="2200125"/>
              <a:ext cx="1220872" cy="1570567"/>
              <a:chOff x="4287843" y="2365805"/>
              <a:chExt cx="1251172" cy="1607729"/>
            </a:xfrm>
          </p:grpSpPr>
          <p:sp>
            <p:nvSpPr>
              <p:cNvPr id="20" name="Rectangle 19">
                <a:extLst>
                  <a:ext uri="{FF2B5EF4-FFF2-40B4-BE49-F238E27FC236}">
                    <a16:creationId xmlns:a16="http://schemas.microsoft.com/office/drawing/2014/main" id="{9CBA5CE0-314B-0701-DEE2-E8A88D229FD2}"/>
                  </a:ext>
                </a:extLst>
              </p:cNvPr>
              <p:cNvSpPr/>
              <p:nvPr/>
            </p:nvSpPr>
            <p:spPr bwMode="auto">
              <a:xfrm>
                <a:off x="4287843" y="2365805"/>
                <a:ext cx="1251172" cy="16077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2" name="Graphic 21">
                <a:extLst>
                  <a:ext uri="{FF2B5EF4-FFF2-40B4-BE49-F238E27FC236}">
                    <a16:creationId xmlns:a16="http://schemas.microsoft.com/office/drawing/2014/main" id="{D13D2272-7608-BBF4-6EEB-2BC6FD6F133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467419" y="2536573"/>
                <a:ext cx="588961" cy="588962"/>
              </a:xfrm>
              <a:prstGeom prst="rect">
                <a:avLst/>
              </a:prstGeom>
            </p:spPr>
          </p:pic>
          <p:pic>
            <p:nvPicPr>
              <p:cNvPr id="23" name="Graphic 22">
                <a:extLst>
                  <a:ext uri="{FF2B5EF4-FFF2-40B4-BE49-F238E27FC236}">
                    <a16:creationId xmlns:a16="http://schemas.microsoft.com/office/drawing/2014/main" id="{52A22A15-1880-C910-FBA4-96575C2C13A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479029" y="3258135"/>
                <a:ext cx="574726" cy="574726"/>
              </a:xfrm>
              <a:prstGeom prst="rect">
                <a:avLst/>
              </a:prstGeom>
            </p:spPr>
          </p:pic>
        </p:grpSp>
        <p:pic>
          <p:nvPicPr>
            <p:cNvPr id="40" name="Graphic 39">
              <a:extLst>
                <a:ext uri="{FF2B5EF4-FFF2-40B4-BE49-F238E27FC236}">
                  <a16:creationId xmlns:a16="http://schemas.microsoft.com/office/drawing/2014/main" id="{303C3ABD-5B50-FC39-9C37-CF7A52F8D44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73129" y="2679909"/>
              <a:ext cx="529777" cy="530375"/>
            </a:xfrm>
            <a:prstGeom prst="rect">
              <a:avLst/>
            </a:prstGeom>
          </p:spPr>
        </p:pic>
        <p:cxnSp>
          <p:nvCxnSpPr>
            <p:cNvPr id="45" name="Connector: Elbow 44">
              <a:extLst>
                <a:ext uri="{FF2B5EF4-FFF2-40B4-BE49-F238E27FC236}">
                  <a16:creationId xmlns:a16="http://schemas.microsoft.com/office/drawing/2014/main" id="{410725A2-F3B2-88EA-6DC8-D361DCD22FDD}"/>
                </a:ext>
              </a:extLst>
            </p:cNvPr>
            <p:cNvCxnSpPr>
              <a:cxnSpLocks/>
              <a:stCxn id="15" idx="3"/>
              <a:endCxn id="36" idx="1"/>
            </p:cNvCxnSpPr>
            <p:nvPr/>
          </p:nvCxnSpPr>
          <p:spPr>
            <a:xfrm>
              <a:off x="1653235" y="2569677"/>
              <a:ext cx="1298709" cy="440512"/>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56" name="Connector: Elbow 55">
              <a:extLst>
                <a:ext uri="{FF2B5EF4-FFF2-40B4-BE49-F238E27FC236}">
                  <a16:creationId xmlns:a16="http://schemas.microsoft.com/office/drawing/2014/main" id="{BEFC68E5-01CD-0788-293D-5E9809C3770D}"/>
                </a:ext>
              </a:extLst>
            </p:cNvPr>
            <p:cNvCxnSpPr>
              <a:cxnSpLocks/>
              <a:stCxn id="18" idx="3"/>
              <a:endCxn id="36" idx="1"/>
            </p:cNvCxnSpPr>
            <p:nvPr/>
          </p:nvCxnSpPr>
          <p:spPr>
            <a:xfrm flipV="1">
              <a:off x="1653234" y="3010189"/>
              <a:ext cx="1298710" cy="413898"/>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pic>
          <p:nvPicPr>
            <p:cNvPr id="62" name="Graphic 61" descr="User with solid fill">
              <a:extLst>
                <a:ext uri="{FF2B5EF4-FFF2-40B4-BE49-F238E27FC236}">
                  <a16:creationId xmlns:a16="http://schemas.microsoft.com/office/drawing/2014/main" id="{045586C6-1C61-A757-6E8B-F1ED883DB8D9}"/>
                </a:ext>
              </a:extLst>
            </p:cNvPr>
            <p:cNvPicPr>
              <a:picLocks noChangeAspect="1"/>
            </p:cNvPicPr>
            <p:nvPr/>
          </p:nvPicPr>
          <p:blipFill>
            <a:blip r:embed="rId28">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473756" y="2571990"/>
              <a:ext cx="768709" cy="769577"/>
            </a:xfrm>
            <a:prstGeom prst="rect">
              <a:avLst/>
            </a:prstGeom>
          </p:spPr>
        </p:pic>
        <p:cxnSp>
          <p:nvCxnSpPr>
            <p:cNvPr id="66" name="Connector: Elbow 65">
              <a:extLst>
                <a:ext uri="{FF2B5EF4-FFF2-40B4-BE49-F238E27FC236}">
                  <a16:creationId xmlns:a16="http://schemas.microsoft.com/office/drawing/2014/main" id="{F4E0D4A3-12A5-D117-9C55-3B1F8A858F9A}"/>
                </a:ext>
              </a:extLst>
            </p:cNvPr>
            <p:cNvCxnSpPr>
              <a:cxnSpLocks/>
              <a:stCxn id="62" idx="1"/>
              <a:endCxn id="82" idx="3"/>
            </p:cNvCxnSpPr>
            <p:nvPr/>
          </p:nvCxnSpPr>
          <p:spPr>
            <a:xfrm rot="10800000">
              <a:off x="10945823" y="2952797"/>
              <a:ext cx="527934" cy="3983"/>
            </a:xfrm>
            <a:prstGeom prst="bentConnector3">
              <a:avLst>
                <a:gd name="adj1" fmla="val 50000"/>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69" name="Connector: Elbow 68">
              <a:extLst>
                <a:ext uri="{FF2B5EF4-FFF2-40B4-BE49-F238E27FC236}">
                  <a16:creationId xmlns:a16="http://schemas.microsoft.com/office/drawing/2014/main" id="{7FECBB52-C68F-1BAD-C39E-542600AC4E5A}"/>
                </a:ext>
              </a:extLst>
            </p:cNvPr>
            <p:cNvCxnSpPr>
              <a:cxnSpLocks/>
              <a:stCxn id="39" idx="3"/>
              <a:endCxn id="21" idx="3"/>
            </p:cNvCxnSpPr>
            <p:nvPr/>
          </p:nvCxnSpPr>
          <p:spPr>
            <a:xfrm flipV="1">
              <a:off x="5925822" y="2558141"/>
              <a:ext cx="2183438" cy="440370"/>
            </a:xfrm>
            <a:prstGeom prst="bentConnector3">
              <a:avLst>
                <a:gd name="adj1" fmla="val 50000"/>
              </a:avLst>
            </a:prstGeom>
            <a:ln w="9525">
              <a:headEnd type="none"/>
              <a:tailEnd type="triangle"/>
            </a:ln>
          </p:spPr>
          <p:style>
            <a:lnRef idx="1">
              <a:schemeClr val="dk1"/>
            </a:lnRef>
            <a:fillRef idx="0">
              <a:schemeClr val="dk1"/>
            </a:fillRef>
            <a:effectRef idx="0">
              <a:schemeClr val="dk1"/>
            </a:effectRef>
            <a:fontRef idx="minor">
              <a:schemeClr val="tx1"/>
            </a:fontRef>
          </p:style>
        </p:cxnSp>
        <p:sp>
          <p:nvSpPr>
            <p:cNvPr id="79" name="Rectangle 78">
              <a:extLst>
                <a:ext uri="{FF2B5EF4-FFF2-40B4-BE49-F238E27FC236}">
                  <a16:creationId xmlns:a16="http://schemas.microsoft.com/office/drawing/2014/main" id="{5041CF5E-2826-008E-C5AF-3EA8D6F1C048}"/>
                </a:ext>
              </a:extLst>
            </p:cNvPr>
            <p:cNvSpPr/>
            <p:nvPr/>
          </p:nvSpPr>
          <p:spPr bwMode="auto">
            <a:xfrm>
              <a:off x="6713950" y="1240999"/>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sp>
          <p:nvSpPr>
            <p:cNvPr id="80" name="Rectangle 79">
              <a:extLst>
                <a:ext uri="{FF2B5EF4-FFF2-40B4-BE49-F238E27FC236}">
                  <a16:creationId xmlns:a16="http://schemas.microsoft.com/office/drawing/2014/main" id="{66C81766-5977-E2A5-BD1C-E278B7E88E2E}"/>
                </a:ext>
              </a:extLst>
            </p:cNvPr>
            <p:cNvSpPr/>
            <p:nvPr/>
          </p:nvSpPr>
          <p:spPr bwMode="auto">
            <a:xfrm>
              <a:off x="7021019" y="1983094"/>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sp>
          <p:nvSpPr>
            <p:cNvPr id="81" name="Rectangle 80">
              <a:extLst>
                <a:ext uri="{FF2B5EF4-FFF2-40B4-BE49-F238E27FC236}">
                  <a16:creationId xmlns:a16="http://schemas.microsoft.com/office/drawing/2014/main" id="{968AEE36-0586-534A-F5CF-CD3F40B918E4}"/>
                </a:ext>
              </a:extLst>
            </p:cNvPr>
            <p:cNvSpPr/>
            <p:nvPr/>
          </p:nvSpPr>
          <p:spPr bwMode="auto">
            <a:xfrm>
              <a:off x="6983327" y="3373582"/>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sp>
          <p:nvSpPr>
            <p:cNvPr id="82" name="Rectangle 81">
              <a:extLst>
                <a:ext uri="{FF2B5EF4-FFF2-40B4-BE49-F238E27FC236}">
                  <a16:creationId xmlns:a16="http://schemas.microsoft.com/office/drawing/2014/main" id="{82A9C280-6CA0-5B31-958F-90E1628FB8DA}"/>
                </a:ext>
              </a:extLst>
            </p:cNvPr>
            <p:cNvSpPr/>
            <p:nvPr/>
          </p:nvSpPr>
          <p:spPr bwMode="auto">
            <a:xfrm>
              <a:off x="10336594" y="2675879"/>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cxnSp>
          <p:nvCxnSpPr>
            <p:cNvPr id="111" name="Connector: Elbow 110">
              <a:extLst>
                <a:ext uri="{FF2B5EF4-FFF2-40B4-BE49-F238E27FC236}">
                  <a16:creationId xmlns:a16="http://schemas.microsoft.com/office/drawing/2014/main" id="{AC866761-3A37-EA85-219F-9AB1747E6772}"/>
                </a:ext>
              </a:extLst>
            </p:cNvPr>
            <p:cNvCxnSpPr>
              <a:cxnSpLocks/>
              <a:stCxn id="82" idx="1"/>
              <a:endCxn id="22" idx="3"/>
            </p:cNvCxnSpPr>
            <p:nvPr/>
          </p:nvCxnSpPr>
          <p:spPr>
            <a:xfrm rot="10800000">
              <a:off x="10021355" y="2654620"/>
              <a:ext cx="315240" cy="298176"/>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114" name="Connector: Elbow 113">
              <a:extLst>
                <a:ext uri="{FF2B5EF4-FFF2-40B4-BE49-F238E27FC236}">
                  <a16:creationId xmlns:a16="http://schemas.microsoft.com/office/drawing/2014/main" id="{B9337D25-2493-8FCC-03D2-37BF6F4B2BD5}"/>
                </a:ext>
              </a:extLst>
            </p:cNvPr>
            <p:cNvCxnSpPr>
              <a:cxnSpLocks/>
              <a:stCxn id="82" idx="1"/>
              <a:endCxn id="23" idx="3"/>
            </p:cNvCxnSpPr>
            <p:nvPr/>
          </p:nvCxnSpPr>
          <p:spPr>
            <a:xfrm rot="10800000" flipV="1">
              <a:off x="10018793" y="2952795"/>
              <a:ext cx="317802" cy="399754"/>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sp>
          <p:nvSpPr>
            <p:cNvPr id="125" name="TextBox 124">
              <a:extLst>
                <a:ext uri="{FF2B5EF4-FFF2-40B4-BE49-F238E27FC236}">
                  <a16:creationId xmlns:a16="http://schemas.microsoft.com/office/drawing/2014/main" id="{FC173993-7A70-48F1-82E9-84757FC56C3F}"/>
                </a:ext>
              </a:extLst>
            </p:cNvPr>
            <p:cNvSpPr txBox="1"/>
            <p:nvPr/>
          </p:nvSpPr>
          <p:spPr>
            <a:xfrm>
              <a:off x="1740335" y="2193202"/>
              <a:ext cx="969859" cy="353469"/>
            </a:xfrm>
            <a:prstGeom prst="rect">
              <a:avLst/>
            </a:prstGeom>
            <a:noFill/>
          </p:spPr>
          <p:txBody>
            <a:bodyPr wrap="square">
              <a:spAutoFit/>
            </a:bodyPr>
            <a:lstStyle/>
            <a:p>
              <a:pPr algn="r" defTabSz="932293" fontAlgn="base">
                <a:lnSpc>
                  <a:spcPct val="90000"/>
                </a:lnSpc>
                <a:spcBef>
                  <a:spcPct val="0"/>
                </a:spcBef>
                <a:spcAft>
                  <a:spcPct val="0"/>
                </a:spcAft>
              </a:pPr>
              <a:r>
                <a:rPr lang="en-US" sz="1836" dirty="0">
                  <a:highlight>
                    <a:srgbClr val="00FF00"/>
                  </a:highlight>
                  <a:latin typeface="Segoe UI"/>
                  <a:ea typeface="Segoe UI" pitchFamily="34" charset="0"/>
                  <a:cs typeface="Segoe UI" pitchFamily="34" charset="0"/>
                </a:rPr>
                <a:t>Name</a:t>
              </a:r>
              <a:r>
                <a:rPr lang="en-US" sz="1836" dirty="0">
                  <a:latin typeface="Segoe UI"/>
                  <a:ea typeface="Segoe UI" pitchFamily="34" charset="0"/>
                  <a:cs typeface="Segoe UI" pitchFamily="34" charset="0"/>
                </a:rPr>
                <a:t>?</a:t>
              </a:r>
            </a:p>
          </p:txBody>
        </p:sp>
        <p:sp>
          <p:nvSpPr>
            <p:cNvPr id="126" name="TextBox 125">
              <a:extLst>
                <a:ext uri="{FF2B5EF4-FFF2-40B4-BE49-F238E27FC236}">
                  <a16:creationId xmlns:a16="http://schemas.microsoft.com/office/drawing/2014/main" id="{9B85B2B3-0E43-8CE9-C120-E92216104650}"/>
                </a:ext>
              </a:extLst>
            </p:cNvPr>
            <p:cNvSpPr txBox="1"/>
            <p:nvPr/>
          </p:nvSpPr>
          <p:spPr>
            <a:xfrm>
              <a:off x="1720379" y="3504834"/>
              <a:ext cx="969859" cy="353469"/>
            </a:xfrm>
            <a:prstGeom prst="rect">
              <a:avLst/>
            </a:prstGeom>
            <a:noFill/>
          </p:spPr>
          <p:txBody>
            <a:bodyPr wrap="square">
              <a:spAutoFit/>
            </a:bodyPr>
            <a:lstStyle/>
            <a:p>
              <a:pPr algn="r" defTabSz="932293" fontAlgn="base">
                <a:lnSpc>
                  <a:spcPct val="90000"/>
                </a:lnSpc>
                <a:spcBef>
                  <a:spcPct val="0"/>
                </a:spcBef>
                <a:spcAft>
                  <a:spcPct val="0"/>
                </a:spcAft>
              </a:pPr>
              <a:r>
                <a:rPr lang="en-US" sz="1836" dirty="0">
                  <a:highlight>
                    <a:srgbClr val="00FF00"/>
                  </a:highlight>
                  <a:latin typeface="Segoe UI"/>
                  <a:ea typeface="Segoe UI" pitchFamily="34" charset="0"/>
                  <a:cs typeface="Segoe UI" pitchFamily="34" charset="0"/>
                </a:rPr>
                <a:t>Name</a:t>
              </a:r>
              <a:r>
                <a:rPr lang="en-US" sz="1836" dirty="0">
                  <a:latin typeface="Segoe UI"/>
                  <a:ea typeface="Segoe UI" pitchFamily="34" charset="0"/>
                  <a:cs typeface="Segoe UI" pitchFamily="34" charset="0"/>
                </a:rPr>
                <a:t>?</a:t>
              </a:r>
            </a:p>
          </p:txBody>
        </p:sp>
        <p:sp>
          <p:nvSpPr>
            <p:cNvPr id="2" name="Rectangle 1">
              <a:extLst>
                <a:ext uri="{FF2B5EF4-FFF2-40B4-BE49-F238E27FC236}">
                  <a16:creationId xmlns:a16="http://schemas.microsoft.com/office/drawing/2014/main" id="{DFBC1609-345C-F8AD-AA24-F0DD73A43CFF}"/>
                </a:ext>
              </a:extLst>
            </p:cNvPr>
            <p:cNvSpPr/>
            <p:nvPr/>
          </p:nvSpPr>
          <p:spPr bwMode="auto">
            <a:xfrm>
              <a:off x="8097597" y="3081394"/>
              <a:ext cx="1034780" cy="73864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72" name="Connector: Elbow 71">
              <a:extLst>
                <a:ext uri="{FF2B5EF4-FFF2-40B4-BE49-F238E27FC236}">
                  <a16:creationId xmlns:a16="http://schemas.microsoft.com/office/drawing/2014/main" id="{1425DA70-A8B4-10C0-57D9-0A10E6921F55}"/>
                </a:ext>
              </a:extLst>
            </p:cNvPr>
            <p:cNvCxnSpPr>
              <a:cxnSpLocks/>
              <a:stCxn id="39" idx="3"/>
            </p:cNvCxnSpPr>
            <p:nvPr/>
          </p:nvCxnSpPr>
          <p:spPr>
            <a:xfrm>
              <a:off x="5925823" y="3010847"/>
              <a:ext cx="2454829" cy="279607"/>
            </a:xfrm>
            <a:prstGeom prst="bentConnector3">
              <a:avLst>
                <a:gd name="adj1" fmla="val 25800"/>
              </a:avLst>
            </a:prstGeom>
            <a:ln w="9525">
              <a:headEnd type="none"/>
              <a:tailEnd type="triangle"/>
            </a:ln>
          </p:spPr>
          <p:style>
            <a:lnRef idx="1">
              <a:schemeClr val="dk1"/>
            </a:lnRef>
            <a:fillRef idx="0">
              <a:schemeClr val="dk1"/>
            </a:fillRef>
            <a:effectRef idx="0">
              <a:schemeClr val="dk1"/>
            </a:effectRef>
            <a:fontRef idx="minor">
              <a:schemeClr val="tx1"/>
            </a:fontRef>
          </p:style>
        </p:cxnSp>
        <p:pic>
          <p:nvPicPr>
            <p:cNvPr id="5" name="Graphic 1">
              <a:extLst>
                <a:ext uri="{FF2B5EF4-FFF2-40B4-BE49-F238E27FC236}">
                  <a16:creationId xmlns:a16="http://schemas.microsoft.com/office/drawing/2014/main" id="{D7E3BCFC-9472-8D31-166A-DC9F27C527B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380653" y="3079804"/>
              <a:ext cx="593334" cy="594004"/>
            </a:xfrm>
            <a:prstGeom prst="rect">
              <a:avLst/>
            </a:prstGeom>
          </p:spPr>
        </p:pic>
        <p:pic>
          <p:nvPicPr>
            <p:cNvPr id="7" name="Graphic 6">
              <a:extLst>
                <a:ext uri="{FF2B5EF4-FFF2-40B4-BE49-F238E27FC236}">
                  <a16:creationId xmlns:a16="http://schemas.microsoft.com/office/drawing/2014/main" id="{593605A8-E26F-D062-FE9F-508FCD79C7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flipH="1">
              <a:off x="8713724" y="2380305"/>
              <a:ext cx="355129" cy="355670"/>
            </a:xfrm>
            <a:prstGeom prst="rect">
              <a:avLst/>
            </a:prstGeom>
          </p:spPr>
        </p:pic>
      </p:grpSp>
      <p:pic>
        <p:nvPicPr>
          <p:cNvPr id="10" name="Picture 9">
            <a:extLst>
              <a:ext uri="{FF2B5EF4-FFF2-40B4-BE49-F238E27FC236}">
                <a16:creationId xmlns:a16="http://schemas.microsoft.com/office/drawing/2014/main" id="{6B35C04C-F74F-217C-A3A3-49ADC926755F}"/>
              </a:ext>
              <a:ext uri="{C183D7F6-B498-43B3-948B-1728B52AA6E4}">
                <adec:decorative xmlns:adec="http://schemas.microsoft.com/office/drawing/2017/decorative" val="1"/>
              </a:ext>
            </a:extLst>
          </p:cNvPr>
          <p:cNvPicPr>
            <a:picLocks noChangeAspect="1"/>
          </p:cNvPicPr>
          <p:nvPr/>
        </p:nvPicPr>
        <p:blipFill>
          <a:blip r:embed="rId32"/>
          <a:stretch>
            <a:fillRect/>
          </a:stretch>
        </p:blipFill>
        <p:spPr>
          <a:xfrm>
            <a:off x="11001115" y="308230"/>
            <a:ext cx="932769" cy="932769"/>
          </a:xfrm>
          <a:prstGeom prst="rect">
            <a:avLst/>
          </a:prstGeom>
        </p:spPr>
      </p:pic>
    </p:spTree>
    <p:extLst>
      <p:ext uri="{BB962C8B-B14F-4D97-AF65-F5344CB8AC3E}">
        <p14:creationId xmlns:p14="http://schemas.microsoft.com/office/powerpoint/2010/main" val="305148479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p:txBody>
          <a:bodyPr>
            <a:noAutofit/>
          </a:bodyPr>
          <a:lstStyle/>
          <a:p>
            <a:r>
              <a:rPr lang="en-US" dirty="0"/>
              <a:t>Lab 05 – Implement intersite connectivity</a:t>
            </a:r>
          </a:p>
        </p:txBody>
      </p:sp>
      <p:sp>
        <p:nvSpPr>
          <p:cNvPr id="8" name="Text Placeholder 2">
            <a:extLst>
              <a:ext uri="{FF2B5EF4-FFF2-40B4-BE49-F238E27FC236}">
                <a16:creationId xmlns:a16="http://schemas.microsoft.com/office/drawing/2014/main" id="{8D51C534-B1D1-49DD-8E4D-941512CD54D5}"/>
              </a:ext>
            </a:extLst>
          </p:cNvPr>
          <p:cNvSpPr txBox="1">
            <a:spLocks/>
          </p:cNvSpPr>
          <p:nvPr/>
        </p:nvSpPr>
        <p:spPr>
          <a:xfrm>
            <a:off x="416138" y="2353208"/>
            <a:ext cx="3464533" cy="241705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buSzPct val="100000"/>
            </a:pPr>
            <a:r>
              <a:rPr lang="en-US" sz="1800" spc="0" dirty="0">
                <a:solidFill>
                  <a:schemeClr val="tx1"/>
                </a:solidFill>
                <a:latin typeface="+mn-lt"/>
              </a:rPr>
              <a:t>In this lab, you will explore communication between virtual networks. </a:t>
            </a:r>
          </a:p>
          <a:p>
            <a:pPr>
              <a:spcAft>
                <a:spcPts val="612"/>
              </a:spcAft>
              <a:buSzPct val="100000"/>
            </a:pPr>
            <a:r>
              <a:rPr lang="en-US" sz="1800" spc="0" dirty="0">
                <a:solidFill>
                  <a:schemeClr val="tx1"/>
                </a:solidFill>
                <a:latin typeface="+mn-lt"/>
              </a:rPr>
              <a:t>You will implement virtual network peering and test connections.</a:t>
            </a:r>
          </a:p>
          <a:p>
            <a:pPr>
              <a:spcAft>
                <a:spcPts val="612"/>
              </a:spcAft>
              <a:buSzPct val="100000"/>
            </a:pPr>
            <a:r>
              <a:rPr lang="en-US" sz="1800" spc="0" dirty="0">
                <a:solidFill>
                  <a:schemeClr val="tx1"/>
                </a:solidFill>
                <a:latin typeface="+mn-lt"/>
              </a:rPr>
              <a:t>You will also learn about the Network Watcher tool. </a:t>
            </a:r>
          </a:p>
        </p:txBody>
      </p:sp>
      <p:sp>
        <p:nvSpPr>
          <p:cNvPr id="10" name="Rectangle 9">
            <a:extLst>
              <a:ext uri="{FF2B5EF4-FFF2-40B4-BE49-F238E27FC236}">
                <a16:creationId xmlns:a16="http://schemas.microsoft.com/office/drawing/2014/main" id="{E837A414-E8D5-4CBA-93AD-06BEA10E37C6}"/>
              </a:ext>
            </a:extLst>
          </p:cNvPr>
          <p:cNvSpPr/>
          <p:nvPr/>
        </p:nvSpPr>
        <p:spPr bwMode="auto">
          <a:xfrm>
            <a:off x="5089363" y="2074091"/>
            <a:ext cx="6930973" cy="3712289"/>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1:	</a:t>
            </a:r>
            <a:r>
              <a:rPr lang="en-US" sz="2040" dirty="0">
                <a:solidFill>
                  <a:srgbClr val="1F2328"/>
                </a:solidFill>
                <a:latin typeface="Segoe UI" panose="020B0502040204020203" pitchFamily="34" charset="0"/>
                <a:cs typeface="Segoe UI" panose="020B0502040204020203" pitchFamily="34" charset="0"/>
              </a:rPr>
              <a:t>Create a virtual machine and virtual network.</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2:	</a:t>
            </a:r>
            <a:r>
              <a:rPr lang="en-US" sz="2040" dirty="0">
                <a:solidFill>
                  <a:srgbClr val="1F2328"/>
                </a:solidFill>
                <a:latin typeface="Segoe UI" panose="020B0502040204020203" pitchFamily="34" charset="0"/>
                <a:cs typeface="Segoe UI" panose="020B0502040204020203" pitchFamily="34" charset="0"/>
              </a:rPr>
              <a:t>Create a virtual machine in a different virtual network.</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3</a:t>
            </a:r>
            <a:r>
              <a:rPr lang="en-US" sz="2040" dirty="0">
                <a:solidFill>
                  <a:srgbClr val="1F2328"/>
                </a:solidFill>
                <a:latin typeface="Segoe UI" panose="020B0502040204020203" pitchFamily="34" charset="0"/>
                <a:cs typeface="Segoe UI" panose="020B0502040204020203" pitchFamily="34" charset="0"/>
              </a:rPr>
              <a:t>:	Use Network Watcher to test the connection between virtual machines.</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4</a:t>
            </a:r>
            <a:r>
              <a:rPr lang="en-US" sz="2040" dirty="0">
                <a:solidFill>
                  <a:srgbClr val="1F2328"/>
                </a:solidFill>
                <a:latin typeface="Segoe UI" panose="020B0502040204020203" pitchFamily="34" charset="0"/>
                <a:cs typeface="Segoe UI" panose="020B0502040204020203" pitchFamily="34" charset="0"/>
              </a:rPr>
              <a:t>:	Configure virtual network peering between virtual networks.</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5</a:t>
            </a:r>
            <a:r>
              <a:rPr lang="en-US" sz="2040" dirty="0">
                <a:solidFill>
                  <a:srgbClr val="1F2328"/>
                </a:solidFill>
                <a:latin typeface="Segoe UI" panose="020B0502040204020203" pitchFamily="34" charset="0"/>
                <a:cs typeface="Segoe UI" panose="020B0502040204020203" pitchFamily="34" charset="0"/>
              </a:rPr>
              <a:t>:	Use Azure PowerShell to test the connection between virtual machines.  RDP optional. </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6:</a:t>
            </a:r>
            <a:r>
              <a:rPr lang="en-US" sz="2040" dirty="0">
                <a:solidFill>
                  <a:srgbClr val="1F2328"/>
                </a:solidFill>
                <a:latin typeface="Segoe UI" panose="020B0502040204020203" pitchFamily="34" charset="0"/>
                <a:cs typeface="Segoe UI" panose="020B0502040204020203" pitchFamily="34" charset="0"/>
              </a:rPr>
              <a:t> Create a custom route.</a:t>
            </a:r>
            <a:endParaRPr lang="en-US" sz="2000" dirty="0">
              <a:solidFill>
                <a:schemeClr val="tx1"/>
              </a:solidFill>
              <a:latin typeface="Segoe UI" panose="020B0502040204020203" pitchFamily="34" charset="0"/>
              <a:cs typeface="Segoe UI" panose="020B0502040204020203" pitchFamily="34" charset="0"/>
            </a:endParaRPr>
          </a:p>
        </p:txBody>
      </p:sp>
      <p:sp>
        <p:nvSpPr>
          <p:cNvPr id="13" name="Text Placeholder 2">
            <a:extLst>
              <a:ext uri="{FF2B5EF4-FFF2-40B4-BE49-F238E27FC236}">
                <a16:creationId xmlns:a16="http://schemas.microsoft.com/office/drawing/2014/main" id="{3761291C-8F53-444F-9964-88865EBF0AC0}"/>
              </a:ext>
              <a:ext uri="{C183D7F6-B498-43B3-948B-1728B52AA6E4}">
                <adec:decorative xmlns:adec="http://schemas.microsoft.com/office/drawing/2017/decorative" val="1"/>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14" name="arrow_15">
            <a:extLst>
              <a:ext uri="{FF2B5EF4-FFF2-40B4-BE49-F238E27FC236}">
                <a16:creationId xmlns:a16="http://schemas.microsoft.com/office/drawing/2014/main" id="{48F0CFD8-5812-4038-9AAC-C8AD086660F8}"/>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3" name="TextBox 2">
            <a:extLst>
              <a:ext uri="{FF2B5EF4-FFF2-40B4-BE49-F238E27FC236}">
                <a16:creationId xmlns:a16="http://schemas.microsoft.com/office/drawing/2014/main" id="{87C1FB4D-8464-BEE8-B5B4-F49E7D598733}"/>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297201303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6D009-E706-47D0-8B48-0DC85787336D}"/>
              </a:ext>
            </a:extLst>
          </p:cNvPr>
          <p:cNvSpPr>
            <a:spLocks noGrp="1"/>
          </p:cNvSpPr>
          <p:nvPr>
            <p:ph type="title"/>
          </p:nvPr>
        </p:nvSpPr>
        <p:spPr/>
        <p:txBody>
          <a:bodyPr>
            <a:noAutofit/>
          </a:bodyPr>
          <a:lstStyle/>
          <a:p>
            <a:r>
              <a:rPr lang="en-US" sz="3264" dirty="0"/>
              <a:t>Lab 05 – Architecture diagram</a:t>
            </a:r>
          </a:p>
        </p:txBody>
      </p:sp>
      <p:grpSp>
        <p:nvGrpSpPr>
          <p:cNvPr id="45" name="Group 44" descr="Architecture diagram for virtual network peering and routing. ">
            <a:extLst>
              <a:ext uri="{FF2B5EF4-FFF2-40B4-BE49-F238E27FC236}">
                <a16:creationId xmlns:a16="http://schemas.microsoft.com/office/drawing/2014/main" id="{277E824F-DE0C-D0AD-256D-31F499F1F17C}"/>
              </a:ext>
            </a:extLst>
          </p:cNvPr>
          <p:cNvGrpSpPr/>
          <p:nvPr/>
        </p:nvGrpSpPr>
        <p:grpSpPr>
          <a:xfrm>
            <a:off x="860894" y="1430834"/>
            <a:ext cx="10956495" cy="4493317"/>
            <a:chOff x="843226" y="1402906"/>
            <a:chExt cx="10742637" cy="4405613"/>
          </a:xfrm>
        </p:grpSpPr>
        <p:sp>
          <p:nvSpPr>
            <p:cNvPr id="10" name="矩形 9">
              <a:extLst>
                <a:ext uri="{FF2B5EF4-FFF2-40B4-BE49-F238E27FC236}">
                  <a16:creationId xmlns:a16="http://schemas.microsoft.com/office/drawing/2014/main" id="{FCC05420-06EF-A08C-E838-B4804FD866D9}"/>
                </a:ext>
              </a:extLst>
            </p:cNvPr>
            <p:cNvSpPr/>
            <p:nvPr/>
          </p:nvSpPr>
          <p:spPr>
            <a:xfrm>
              <a:off x="955845" y="1939510"/>
              <a:ext cx="5356409" cy="366771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2" dirty="0">
                <a:solidFill>
                  <a:schemeClr val="tx1"/>
                </a:solidFill>
                <a:cs typeface="Segoe UI" panose="020B0502040204020203" pitchFamily="34" charset="0"/>
              </a:endParaRPr>
            </a:p>
          </p:txBody>
        </p:sp>
        <p:sp>
          <p:nvSpPr>
            <p:cNvPr id="11" name="矩形: 圆角 10">
              <a:extLst>
                <a:ext uri="{FF2B5EF4-FFF2-40B4-BE49-F238E27FC236}">
                  <a16:creationId xmlns:a16="http://schemas.microsoft.com/office/drawing/2014/main" id="{A7A06777-D202-71AA-0F86-A6FA45105D85}"/>
                </a:ext>
              </a:extLst>
            </p:cNvPr>
            <p:cNvSpPr/>
            <p:nvPr/>
          </p:nvSpPr>
          <p:spPr>
            <a:xfrm>
              <a:off x="1079076" y="2487020"/>
              <a:ext cx="4997327" cy="2818265"/>
            </a:xfrm>
            <a:prstGeom prst="roundRect">
              <a:avLst>
                <a:gd name="adj" fmla="val 3049"/>
              </a:avLst>
            </a:prstGeom>
            <a:solidFill>
              <a:schemeClr val="bg1"/>
            </a:solidFill>
            <a:ln w="158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bIns="73433" rtlCol="0" anchor="b" anchorCtr="0"/>
            <a:lstStyle/>
            <a:p>
              <a:pPr algn="ctr"/>
              <a:r>
                <a:rPr lang="en-US" sz="1632" dirty="0" err="1">
                  <a:solidFill>
                    <a:schemeClr val="tx1"/>
                  </a:solidFill>
                  <a:cs typeface="Segoe UI" panose="020B0502040204020203" pitchFamily="34" charset="0"/>
                </a:rPr>
                <a:t>CoreServicesVnet</a:t>
              </a:r>
              <a:endParaRPr lang="en-US" sz="1632" dirty="0">
                <a:solidFill>
                  <a:schemeClr val="tx1"/>
                </a:solidFill>
                <a:cs typeface="Segoe UI" panose="020B0502040204020203" pitchFamily="34" charset="0"/>
              </a:endParaRPr>
            </a:p>
            <a:p>
              <a:pPr algn="ctr"/>
              <a:r>
                <a:rPr lang="en-US" sz="1632" dirty="0">
                  <a:solidFill>
                    <a:schemeClr val="tx1"/>
                  </a:solidFill>
                  <a:cs typeface="Segoe UI" panose="020B0502040204020203" pitchFamily="34" charset="0"/>
                </a:rPr>
                <a:t>(10.0.0.0/16)</a:t>
              </a:r>
            </a:p>
          </p:txBody>
        </p:sp>
        <p:sp>
          <p:nvSpPr>
            <p:cNvPr id="24" name="矩形: 圆角 18">
              <a:extLst>
                <a:ext uri="{FF2B5EF4-FFF2-40B4-BE49-F238E27FC236}">
                  <a16:creationId xmlns:a16="http://schemas.microsoft.com/office/drawing/2014/main" id="{8359E963-CA58-7F57-0D78-EC5091EBE716}"/>
                </a:ext>
              </a:extLst>
            </p:cNvPr>
            <p:cNvSpPr/>
            <p:nvPr/>
          </p:nvSpPr>
          <p:spPr>
            <a:xfrm>
              <a:off x="1175608" y="3073246"/>
              <a:ext cx="1748514" cy="1064933"/>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b" anchorCtr="0"/>
            <a:lstStyle/>
            <a:p>
              <a:pPr algn="ctr"/>
              <a:r>
                <a:rPr lang="en-US" sz="1632" dirty="0">
                  <a:solidFill>
                    <a:schemeClr val="tx1"/>
                  </a:solidFill>
                  <a:cs typeface="Segoe UI" panose="020B0502040204020203" pitchFamily="34" charset="0"/>
                </a:rPr>
                <a:t>Perimeter </a:t>
              </a:r>
            </a:p>
            <a:p>
              <a:pPr algn="ctr"/>
              <a:r>
                <a:rPr lang="en-US" sz="1632" dirty="0">
                  <a:solidFill>
                    <a:schemeClr val="tx1"/>
                  </a:solidFill>
                  <a:cs typeface="Segoe UI" panose="020B0502040204020203" pitchFamily="34" charset="0"/>
                </a:rPr>
                <a:t>(10.0.1.0/24)</a:t>
              </a:r>
              <a:endParaRPr lang="en-US" sz="1632" dirty="0">
                <a:cs typeface="Segoe UI" panose="020B0502040204020203" pitchFamily="34" charset="0"/>
              </a:endParaRPr>
            </a:p>
          </p:txBody>
        </p:sp>
        <p:sp>
          <p:nvSpPr>
            <p:cNvPr id="9" name="Rectangle 8">
              <a:extLst>
                <a:ext uri="{FF2B5EF4-FFF2-40B4-BE49-F238E27FC236}">
                  <a16:creationId xmlns:a16="http://schemas.microsoft.com/office/drawing/2014/main" id="{6E5E58D9-7BF1-55B6-F6FE-0F4BE5DBA44D}"/>
                </a:ext>
              </a:extLst>
            </p:cNvPr>
            <p:cNvSpPr/>
            <p:nvPr/>
          </p:nvSpPr>
          <p:spPr>
            <a:xfrm>
              <a:off x="843226" y="1553535"/>
              <a:ext cx="10742637" cy="42549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32">
                <a:cs typeface="Segoe UI" panose="020B0502040204020203" pitchFamily="34" charset="0"/>
              </a:endParaRPr>
            </a:p>
          </p:txBody>
        </p:sp>
        <p:sp>
          <p:nvSpPr>
            <p:cNvPr id="12" name="文本框 11">
              <a:extLst>
                <a:ext uri="{FF2B5EF4-FFF2-40B4-BE49-F238E27FC236}">
                  <a16:creationId xmlns:a16="http://schemas.microsoft.com/office/drawing/2014/main" id="{92171BD8-B9DE-D8A2-7B32-A073D67F6C9B}"/>
                </a:ext>
              </a:extLst>
            </p:cNvPr>
            <p:cNvSpPr txBox="1"/>
            <p:nvPr/>
          </p:nvSpPr>
          <p:spPr>
            <a:xfrm>
              <a:off x="2819752" y="1971180"/>
              <a:ext cx="867546" cy="343492"/>
            </a:xfrm>
            <a:prstGeom prst="rect">
              <a:avLst/>
            </a:prstGeom>
            <a:noFill/>
          </p:spPr>
          <p:txBody>
            <a:bodyPr wrap="none" rtlCol="0">
              <a:spAutoFit/>
            </a:bodyPr>
            <a:lstStyle/>
            <a:p>
              <a:pPr marL="0" lvl="1" algn="ctr"/>
              <a:r>
                <a:rPr lang="en-US" sz="1632" dirty="0">
                  <a:cs typeface="Segoe UI" panose="020B0502040204020203" pitchFamily="34" charset="0"/>
                </a:rPr>
                <a:t>E</a:t>
              </a:r>
              <a:r>
                <a:rPr lang="en-US" altLang="zh-CN" sz="1632" dirty="0">
                  <a:cs typeface="Segoe UI" panose="020B0502040204020203" pitchFamily="34" charset="0"/>
                </a:rPr>
                <a:t>ast US</a:t>
              </a:r>
              <a:endParaRPr lang="en-US" sz="1632" dirty="0">
                <a:cs typeface="Segoe UI" panose="020B0502040204020203" pitchFamily="34" charset="0"/>
              </a:endParaRPr>
            </a:p>
          </p:txBody>
        </p:sp>
        <p:sp>
          <p:nvSpPr>
            <p:cNvPr id="13" name="矩形 13">
              <a:extLst>
                <a:ext uri="{FF2B5EF4-FFF2-40B4-BE49-F238E27FC236}">
                  <a16:creationId xmlns:a16="http://schemas.microsoft.com/office/drawing/2014/main" id="{9BBC4E4B-E9ED-F39D-8455-94AD57F68F0D}"/>
                </a:ext>
              </a:extLst>
            </p:cNvPr>
            <p:cNvSpPr/>
            <p:nvPr/>
          </p:nvSpPr>
          <p:spPr>
            <a:xfrm>
              <a:off x="8046396" y="1963039"/>
              <a:ext cx="3302378" cy="366771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2" dirty="0">
                <a:solidFill>
                  <a:schemeClr val="tx1"/>
                </a:solidFill>
                <a:cs typeface="Segoe UI" panose="020B0502040204020203" pitchFamily="34" charset="0"/>
              </a:endParaRPr>
            </a:p>
          </p:txBody>
        </p:sp>
        <p:sp>
          <p:nvSpPr>
            <p:cNvPr id="14" name="矩形: 圆角 14">
              <a:extLst>
                <a:ext uri="{FF2B5EF4-FFF2-40B4-BE49-F238E27FC236}">
                  <a16:creationId xmlns:a16="http://schemas.microsoft.com/office/drawing/2014/main" id="{D0768F33-BCC4-E6E3-F8D2-0DE25876D846}"/>
                </a:ext>
              </a:extLst>
            </p:cNvPr>
            <p:cNvSpPr/>
            <p:nvPr/>
          </p:nvSpPr>
          <p:spPr>
            <a:xfrm>
              <a:off x="8282246" y="2510548"/>
              <a:ext cx="2830678" cy="2818265"/>
            </a:xfrm>
            <a:prstGeom prst="roundRect">
              <a:avLst>
                <a:gd name="adj" fmla="val 3049"/>
              </a:avLst>
            </a:prstGeom>
            <a:solidFill>
              <a:schemeClr val="bg1"/>
            </a:solidFill>
            <a:ln w="158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bIns="73433" rtlCol="0" anchor="b" anchorCtr="0"/>
            <a:lstStyle/>
            <a:p>
              <a:pPr algn="ctr"/>
              <a:r>
                <a:rPr lang="en-US" sz="1632" dirty="0">
                  <a:solidFill>
                    <a:schemeClr val="tx1"/>
                  </a:solidFill>
                  <a:cs typeface="Segoe UI" panose="020B0502040204020203" pitchFamily="34" charset="0"/>
                </a:rPr>
                <a:t>ManufacturingVnet</a:t>
              </a:r>
            </a:p>
            <a:p>
              <a:pPr algn="ctr"/>
              <a:r>
                <a:rPr lang="en-US" sz="1632" dirty="0">
                  <a:solidFill>
                    <a:schemeClr val="tx1"/>
                  </a:solidFill>
                  <a:cs typeface="Segoe UI" panose="020B0502040204020203" pitchFamily="34" charset="0"/>
                </a:rPr>
                <a:t>(172.16.0.0/16)</a:t>
              </a:r>
            </a:p>
          </p:txBody>
        </p:sp>
        <p:sp>
          <p:nvSpPr>
            <p:cNvPr id="15" name="文本框 15">
              <a:extLst>
                <a:ext uri="{FF2B5EF4-FFF2-40B4-BE49-F238E27FC236}">
                  <a16:creationId xmlns:a16="http://schemas.microsoft.com/office/drawing/2014/main" id="{DF0D497B-138E-7C6A-0CA3-294142075950}"/>
                </a:ext>
              </a:extLst>
            </p:cNvPr>
            <p:cNvSpPr txBox="1"/>
            <p:nvPr/>
          </p:nvSpPr>
          <p:spPr>
            <a:xfrm>
              <a:off x="9263813" y="2001272"/>
              <a:ext cx="867546" cy="343492"/>
            </a:xfrm>
            <a:prstGeom prst="rect">
              <a:avLst/>
            </a:prstGeom>
            <a:noFill/>
          </p:spPr>
          <p:txBody>
            <a:bodyPr wrap="none" rtlCol="0">
              <a:spAutoFit/>
            </a:bodyPr>
            <a:lstStyle/>
            <a:p>
              <a:pPr marL="0" lvl="1" algn="ctr"/>
              <a:r>
                <a:rPr lang="en-US" sz="1632" dirty="0">
                  <a:cs typeface="Segoe UI" panose="020B0502040204020203" pitchFamily="34" charset="0"/>
                </a:rPr>
                <a:t>East US</a:t>
              </a:r>
            </a:p>
          </p:txBody>
        </p:sp>
        <p:sp>
          <p:nvSpPr>
            <p:cNvPr id="16" name="矩形: 圆角 20">
              <a:extLst>
                <a:ext uri="{FF2B5EF4-FFF2-40B4-BE49-F238E27FC236}">
                  <a16:creationId xmlns:a16="http://schemas.microsoft.com/office/drawing/2014/main" id="{A9B9F55C-7BC2-5ED5-49B7-2ED7D5CE3A02}"/>
                </a:ext>
              </a:extLst>
            </p:cNvPr>
            <p:cNvSpPr/>
            <p:nvPr/>
          </p:nvSpPr>
          <p:spPr>
            <a:xfrm>
              <a:off x="8528748" y="2793681"/>
              <a:ext cx="2378594" cy="1658102"/>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b" anchorCtr="0"/>
            <a:lstStyle/>
            <a:p>
              <a:pPr algn="ctr"/>
              <a:r>
                <a:rPr lang="en-US" sz="1632" dirty="0">
                  <a:solidFill>
                    <a:schemeClr val="tx1"/>
                  </a:solidFill>
                  <a:cs typeface="Segoe UI" panose="020B0502040204020203" pitchFamily="34" charset="0"/>
                </a:rPr>
                <a:t>Manufacturing</a:t>
              </a:r>
            </a:p>
            <a:p>
              <a:pPr algn="ctr"/>
              <a:r>
                <a:rPr lang="en-US" sz="1632" dirty="0">
                  <a:solidFill>
                    <a:schemeClr val="tx1"/>
                  </a:solidFill>
                  <a:cs typeface="Segoe UI" panose="020B0502040204020203" pitchFamily="34" charset="0"/>
                </a:rPr>
                <a:t>(172.16.0.0/24)</a:t>
              </a:r>
              <a:endParaRPr lang="en-US" sz="1632" dirty="0">
                <a:cs typeface="Segoe UI" panose="020B0502040204020203" pitchFamily="34" charset="0"/>
              </a:endParaRPr>
            </a:p>
          </p:txBody>
        </p:sp>
        <p:grpSp>
          <p:nvGrpSpPr>
            <p:cNvPr id="18" name="Group 17">
              <a:extLst>
                <a:ext uri="{FF2B5EF4-FFF2-40B4-BE49-F238E27FC236}">
                  <a16:creationId xmlns:a16="http://schemas.microsoft.com/office/drawing/2014/main" id="{BF6E6431-DDE4-AFBF-6055-376299F1B249}"/>
                </a:ext>
              </a:extLst>
            </p:cNvPr>
            <p:cNvGrpSpPr/>
            <p:nvPr/>
          </p:nvGrpSpPr>
          <p:grpSpPr>
            <a:xfrm>
              <a:off x="1032167" y="1402906"/>
              <a:ext cx="1429301" cy="404173"/>
              <a:chOff x="4721801" y="1305438"/>
              <a:chExt cx="1177084" cy="288000"/>
            </a:xfrm>
          </p:grpSpPr>
          <p:sp>
            <p:nvSpPr>
              <p:cNvPr id="26" name="文本框 24">
                <a:extLst>
                  <a:ext uri="{FF2B5EF4-FFF2-40B4-BE49-F238E27FC236}">
                    <a16:creationId xmlns:a16="http://schemas.microsoft.com/office/drawing/2014/main" id="{33028A1E-8E28-2844-113C-4B351DB2D4EB}"/>
                  </a:ext>
                </a:extLst>
              </p:cNvPr>
              <p:cNvSpPr txBox="1"/>
              <p:nvPr/>
            </p:nvSpPr>
            <p:spPr>
              <a:xfrm>
                <a:off x="4837520" y="1321729"/>
                <a:ext cx="1061365" cy="244761"/>
              </a:xfrm>
              <a:prstGeom prst="rect">
                <a:avLst/>
              </a:prstGeom>
              <a:solidFill>
                <a:schemeClr val="bg1"/>
              </a:solidFill>
            </p:spPr>
            <p:txBody>
              <a:bodyPr wrap="square" rtlCol="0">
                <a:spAutoFit/>
              </a:bodyPr>
              <a:lstStyle/>
              <a:p>
                <a:pPr algn="r"/>
                <a:r>
                  <a:rPr lang="en-US" sz="1632" dirty="0">
                    <a:cs typeface="Segoe UI" panose="020B0502040204020203" pitchFamily="34" charset="0"/>
                  </a:rPr>
                  <a:t>az104-rg5</a:t>
                </a:r>
              </a:p>
            </p:txBody>
          </p:sp>
          <p:pic>
            <p:nvPicPr>
              <p:cNvPr id="27" name="图形 25">
                <a:extLst>
                  <a:ext uri="{FF2B5EF4-FFF2-40B4-BE49-F238E27FC236}">
                    <a16:creationId xmlns:a16="http://schemas.microsoft.com/office/drawing/2014/main" id="{6B7DA726-0999-35EA-1FA4-850712623F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21801" y="1305438"/>
                <a:ext cx="288000" cy="288000"/>
              </a:xfrm>
              <a:prstGeom prst="rect">
                <a:avLst/>
              </a:prstGeom>
            </p:spPr>
          </p:pic>
        </p:grpSp>
        <p:pic>
          <p:nvPicPr>
            <p:cNvPr id="19" name="图形 75">
              <a:extLst>
                <a:ext uri="{FF2B5EF4-FFF2-40B4-BE49-F238E27FC236}">
                  <a16:creationId xmlns:a16="http://schemas.microsoft.com/office/drawing/2014/main" id="{AD98C7FE-90A8-3AF1-B12B-087E3BE7BB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94713" y="5107274"/>
              <a:ext cx="349711" cy="404173"/>
            </a:xfrm>
            <a:prstGeom prst="rect">
              <a:avLst/>
            </a:prstGeom>
          </p:spPr>
        </p:pic>
        <p:sp>
          <p:nvSpPr>
            <p:cNvPr id="21" name="矩形: 圆角 18">
              <a:extLst>
                <a:ext uri="{FF2B5EF4-FFF2-40B4-BE49-F238E27FC236}">
                  <a16:creationId xmlns:a16="http://schemas.microsoft.com/office/drawing/2014/main" id="{82E90057-6512-A7F6-159F-8F05B58DDC3A}"/>
                </a:ext>
              </a:extLst>
            </p:cNvPr>
            <p:cNvSpPr/>
            <p:nvPr/>
          </p:nvSpPr>
          <p:spPr>
            <a:xfrm>
              <a:off x="3439828" y="2721721"/>
              <a:ext cx="2378594" cy="1713169"/>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b" anchorCtr="0"/>
            <a:lstStyle/>
            <a:p>
              <a:pPr algn="ctr"/>
              <a:r>
                <a:rPr lang="en-US" sz="1632" dirty="0">
                  <a:solidFill>
                    <a:schemeClr val="tx1"/>
                  </a:solidFill>
                  <a:cs typeface="Segoe UI" panose="020B0502040204020203" pitchFamily="34" charset="0"/>
                </a:rPr>
                <a:t>Core </a:t>
              </a:r>
            </a:p>
            <a:p>
              <a:pPr algn="ctr"/>
              <a:r>
                <a:rPr lang="en-US" sz="1632" dirty="0">
                  <a:solidFill>
                    <a:schemeClr val="tx1"/>
                  </a:solidFill>
                  <a:cs typeface="Segoe UI" panose="020B0502040204020203" pitchFamily="34" charset="0"/>
                </a:rPr>
                <a:t>(10.0.0.0/24)</a:t>
              </a:r>
              <a:endParaRPr lang="en-US" sz="1632" dirty="0">
                <a:cs typeface="Segoe UI" panose="020B0502040204020203" pitchFamily="34" charset="0"/>
              </a:endParaRPr>
            </a:p>
          </p:txBody>
        </p:sp>
        <p:pic>
          <p:nvPicPr>
            <p:cNvPr id="22" name="图形 50">
              <a:extLst>
                <a:ext uri="{FF2B5EF4-FFF2-40B4-BE49-F238E27FC236}">
                  <a16:creationId xmlns:a16="http://schemas.microsoft.com/office/drawing/2014/main" id="{2BB10AF2-F5D2-0961-C6A9-318960BF621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30759" y="5070907"/>
              <a:ext cx="349711" cy="404173"/>
            </a:xfrm>
            <a:prstGeom prst="rect">
              <a:avLst/>
            </a:prstGeom>
          </p:spPr>
        </p:pic>
        <p:sp>
          <p:nvSpPr>
            <p:cNvPr id="6" name="TextBox 5">
              <a:extLst>
                <a:ext uri="{FF2B5EF4-FFF2-40B4-BE49-F238E27FC236}">
                  <a16:creationId xmlns:a16="http://schemas.microsoft.com/office/drawing/2014/main" id="{5D3710A1-3A30-D41C-1154-341C7B73E1C3}"/>
                </a:ext>
              </a:extLst>
            </p:cNvPr>
            <p:cNvSpPr txBox="1"/>
            <p:nvPr/>
          </p:nvSpPr>
          <p:spPr>
            <a:xfrm>
              <a:off x="3419574" y="2701337"/>
              <a:ext cx="1160060" cy="343492"/>
            </a:xfrm>
            <a:prstGeom prst="rect">
              <a:avLst/>
            </a:prstGeom>
            <a:noFill/>
          </p:spPr>
          <p:txBody>
            <a:bodyPr wrap="square">
              <a:spAutoFit/>
            </a:bodyPr>
            <a:lstStyle/>
            <a:p>
              <a:pPr defTabSz="914191"/>
              <a:r>
                <a:rPr lang="en-US" sz="1632" b="1" dirty="0">
                  <a:solidFill>
                    <a:schemeClr val="tx2">
                      <a:lumMod val="50000"/>
                    </a:schemeClr>
                  </a:solidFill>
                </a:rPr>
                <a:t>Task 1</a:t>
              </a:r>
            </a:p>
          </p:txBody>
        </p:sp>
        <p:sp>
          <p:nvSpPr>
            <p:cNvPr id="7" name="TextBox 6">
              <a:extLst>
                <a:ext uri="{FF2B5EF4-FFF2-40B4-BE49-F238E27FC236}">
                  <a16:creationId xmlns:a16="http://schemas.microsoft.com/office/drawing/2014/main" id="{D9A613D8-70FC-57F0-8F30-5A5D5CAC6218}"/>
                </a:ext>
              </a:extLst>
            </p:cNvPr>
            <p:cNvSpPr txBox="1"/>
            <p:nvPr/>
          </p:nvSpPr>
          <p:spPr>
            <a:xfrm>
              <a:off x="10150822" y="2764394"/>
              <a:ext cx="850846" cy="336787"/>
            </a:xfrm>
            <a:prstGeom prst="rect">
              <a:avLst/>
            </a:prstGeom>
            <a:noFill/>
          </p:spPr>
          <p:txBody>
            <a:bodyPr wrap="square">
              <a:spAutoFit/>
            </a:bodyPr>
            <a:lstStyle/>
            <a:p>
              <a:pPr defTabSz="914191"/>
              <a:r>
                <a:rPr lang="en-US" sz="1632" b="1" dirty="0">
                  <a:solidFill>
                    <a:schemeClr val="tx2">
                      <a:lumMod val="50000"/>
                    </a:schemeClr>
                  </a:solidFill>
                </a:rPr>
                <a:t>Task 2</a:t>
              </a:r>
            </a:p>
          </p:txBody>
        </p:sp>
        <p:pic>
          <p:nvPicPr>
            <p:cNvPr id="33" name="Graphic 32">
              <a:extLst>
                <a:ext uri="{FF2B5EF4-FFF2-40B4-BE49-F238E27FC236}">
                  <a16:creationId xmlns:a16="http://schemas.microsoft.com/office/drawing/2014/main" id="{5BD436EF-AD06-1D97-6FF1-D8854373D9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72698" y="3125774"/>
              <a:ext cx="476473" cy="605633"/>
            </a:xfrm>
            <a:prstGeom prst="rect">
              <a:avLst/>
            </a:prstGeom>
          </p:spPr>
        </p:pic>
        <p:sp>
          <p:nvSpPr>
            <p:cNvPr id="35" name="TextBox 34">
              <a:extLst>
                <a:ext uri="{FF2B5EF4-FFF2-40B4-BE49-F238E27FC236}">
                  <a16:creationId xmlns:a16="http://schemas.microsoft.com/office/drawing/2014/main" id="{8B901C8E-D27E-6885-6294-F922E24C4221}"/>
                </a:ext>
              </a:extLst>
            </p:cNvPr>
            <p:cNvSpPr txBox="1"/>
            <p:nvPr/>
          </p:nvSpPr>
          <p:spPr>
            <a:xfrm>
              <a:off x="4176886" y="3191956"/>
              <a:ext cx="1703174" cy="343492"/>
            </a:xfrm>
            <a:prstGeom prst="rect">
              <a:avLst/>
            </a:prstGeom>
            <a:noFill/>
          </p:spPr>
          <p:txBody>
            <a:bodyPr wrap="square">
              <a:spAutoFit/>
            </a:bodyPr>
            <a:lstStyle/>
            <a:p>
              <a:r>
                <a:rPr lang="en-US" sz="1632" dirty="0" err="1">
                  <a:cs typeface="Segoe UI" panose="020B0502040204020203" pitchFamily="34" charset="0"/>
                </a:rPr>
                <a:t>CoreServicesVM</a:t>
              </a:r>
              <a:endParaRPr lang="en-US" sz="1632" dirty="0"/>
            </a:p>
          </p:txBody>
        </p:sp>
        <p:pic>
          <p:nvPicPr>
            <p:cNvPr id="38" name="Graphic 37">
              <a:extLst>
                <a:ext uri="{FF2B5EF4-FFF2-40B4-BE49-F238E27FC236}">
                  <a16:creationId xmlns:a16="http://schemas.microsoft.com/office/drawing/2014/main" id="{E015F2F8-3B87-09DE-3EB1-13B4526CAB6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66815" y="3087819"/>
              <a:ext cx="476473" cy="605633"/>
            </a:xfrm>
            <a:prstGeom prst="rect">
              <a:avLst/>
            </a:prstGeom>
          </p:spPr>
        </p:pic>
        <p:sp>
          <p:nvSpPr>
            <p:cNvPr id="39" name="TextBox 38">
              <a:extLst>
                <a:ext uri="{FF2B5EF4-FFF2-40B4-BE49-F238E27FC236}">
                  <a16:creationId xmlns:a16="http://schemas.microsoft.com/office/drawing/2014/main" id="{D4DDCAE6-F2E5-E8B9-EBCC-EF160A0E8241}"/>
                </a:ext>
              </a:extLst>
            </p:cNvPr>
            <p:cNvSpPr txBox="1"/>
            <p:nvPr/>
          </p:nvSpPr>
          <p:spPr>
            <a:xfrm>
              <a:off x="9143796" y="3151863"/>
              <a:ext cx="1849012" cy="343492"/>
            </a:xfrm>
            <a:prstGeom prst="rect">
              <a:avLst/>
            </a:prstGeom>
            <a:noFill/>
          </p:spPr>
          <p:txBody>
            <a:bodyPr wrap="square">
              <a:spAutoFit/>
            </a:bodyPr>
            <a:lstStyle/>
            <a:p>
              <a:r>
                <a:rPr lang="en-US" sz="1632" dirty="0" err="1">
                  <a:cs typeface="Segoe UI" panose="020B0502040204020203" pitchFamily="34" charset="0"/>
                </a:rPr>
                <a:t>ManufacturingVM</a:t>
              </a:r>
              <a:endParaRPr lang="en-US" sz="1632" dirty="0"/>
            </a:p>
          </p:txBody>
        </p:sp>
        <p:cxnSp>
          <p:nvCxnSpPr>
            <p:cNvPr id="25" name="Straight Arrow Connector 24">
              <a:extLst>
                <a:ext uri="{FF2B5EF4-FFF2-40B4-BE49-F238E27FC236}">
                  <a16:creationId xmlns:a16="http://schemas.microsoft.com/office/drawing/2014/main" id="{2A543E42-3852-1222-50AA-1A10A4A5B1D5}"/>
                </a:ext>
              </a:extLst>
            </p:cNvPr>
            <p:cNvCxnSpPr>
              <a:cxnSpLocks/>
            </p:cNvCxnSpPr>
            <p:nvPr/>
          </p:nvCxnSpPr>
          <p:spPr>
            <a:xfrm flipH="1">
              <a:off x="6298037" y="3550138"/>
              <a:ext cx="173414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1" name="Graphic 40">
              <a:extLst>
                <a:ext uri="{FF2B5EF4-FFF2-40B4-BE49-F238E27FC236}">
                  <a16:creationId xmlns:a16="http://schemas.microsoft.com/office/drawing/2014/main" id="{D7E7E3E6-9C8F-DD4E-BBF0-EA121B54E99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43143" y="3312486"/>
              <a:ext cx="400139" cy="508607"/>
            </a:xfrm>
            <a:prstGeom prst="rect">
              <a:avLst/>
            </a:prstGeom>
          </p:spPr>
        </p:pic>
        <p:pic>
          <p:nvPicPr>
            <p:cNvPr id="42" name="Graphic 41">
              <a:extLst>
                <a:ext uri="{FF2B5EF4-FFF2-40B4-BE49-F238E27FC236}">
                  <a16:creationId xmlns:a16="http://schemas.microsoft.com/office/drawing/2014/main" id="{68FA84BD-AFEB-7A1A-A652-8F546DB84D9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73303" y="3283448"/>
              <a:ext cx="400139" cy="508607"/>
            </a:xfrm>
            <a:prstGeom prst="rect">
              <a:avLst/>
            </a:prstGeom>
          </p:spPr>
        </p:pic>
        <p:sp>
          <p:nvSpPr>
            <p:cNvPr id="8" name="TextBox 7">
              <a:extLst>
                <a:ext uri="{FF2B5EF4-FFF2-40B4-BE49-F238E27FC236}">
                  <a16:creationId xmlns:a16="http://schemas.microsoft.com/office/drawing/2014/main" id="{2CC6ABA0-2C5E-AB3E-31A2-A34812F082C4}"/>
                </a:ext>
              </a:extLst>
            </p:cNvPr>
            <p:cNvSpPr txBox="1"/>
            <p:nvPr/>
          </p:nvSpPr>
          <p:spPr>
            <a:xfrm>
              <a:off x="6775572" y="3179570"/>
              <a:ext cx="797396" cy="343492"/>
            </a:xfrm>
            <a:prstGeom prst="rect">
              <a:avLst/>
            </a:prstGeom>
            <a:noFill/>
          </p:spPr>
          <p:txBody>
            <a:bodyPr wrap="square">
              <a:spAutoFit/>
            </a:bodyPr>
            <a:lstStyle/>
            <a:p>
              <a:pPr defTabSz="914191"/>
              <a:r>
                <a:rPr lang="en-US" sz="1632" b="1" dirty="0">
                  <a:solidFill>
                    <a:schemeClr val="tx2">
                      <a:lumMod val="50000"/>
                    </a:schemeClr>
                  </a:solidFill>
                </a:rPr>
                <a:t>Task 4</a:t>
              </a:r>
            </a:p>
          </p:txBody>
        </p:sp>
        <p:cxnSp>
          <p:nvCxnSpPr>
            <p:cNvPr id="46" name="Straight Arrow Connector 45">
              <a:extLst>
                <a:ext uri="{FF2B5EF4-FFF2-40B4-BE49-F238E27FC236}">
                  <a16:creationId xmlns:a16="http://schemas.microsoft.com/office/drawing/2014/main" id="{87470331-7FDC-89B8-F115-3019C3ADC972}"/>
                </a:ext>
              </a:extLst>
            </p:cNvPr>
            <p:cNvCxnSpPr>
              <a:cxnSpLocks/>
            </p:cNvCxnSpPr>
            <p:nvPr/>
          </p:nvCxnSpPr>
          <p:spPr>
            <a:xfrm flipH="1">
              <a:off x="6168653" y="2604786"/>
              <a:ext cx="1988965"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6BF552A-D819-B6B0-1FAA-7B0D7FD1A7A8}"/>
                </a:ext>
              </a:extLst>
            </p:cNvPr>
            <p:cNvCxnSpPr>
              <a:cxnSpLocks/>
            </p:cNvCxnSpPr>
            <p:nvPr/>
          </p:nvCxnSpPr>
          <p:spPr>
            <a:xfrm flipH="1">
              <a:off x="6165416" y="4411503"/>
              <a:ext cx="199220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E8D49C7C-9A7C-930F-90F4-C4C01572C0C9}"/>
                </a:ext>
              </a:extLst>
            </p:cNvPr>
            <p:cNvSpPr txBox="1"/>
            <p:nvPr/>
          </p:nvSpPr>
          <p:spPr>
            <a:xfrm>
              <a:off x="6774213" y="3967723"/>
              <a:ext cx="797395" cy="343492"/>
            </a:xfrm>
            <a:prstGeom prst="rect">
              <a:avLst/>
            </a:prstGeom>
            <a:noFill/>
          </p:spPr>
          <p:txBody>
            <a:bodyPr wrap="square">
              <a:spAutoFit/>
            </a:bodyPr>
            <a:lstStyle/>
            <a:p>
              <a:pPr defTabSz="914191"/>
              <a:r>
                <a:rPr lang="en-US" sz="1632" b="1" dirty="0">
                  <a:solidFill>
                    <a:schemeClr val="tx2">
                      <a:lumMod val="50000"/>
                    </a:schemeClr>
                  </a:solidFill>
                </a:rPr>
                <a:t>Task 5</a:t>
              </a:r>
            </a:p>
          </p:txBody>
        </p:sp>
        <p:sp>
          <p:nvSpPr>
            <p:cNvPr id="47" name="TextBox 46">
              <a:extLst>
                <a:ext uri="{FF2B5EF4-FFF2-40B4-BE49-F238E27FC236}">
                  <a16:creationId xmlns:a16="http://schemas.microsoft.com/office/drawing/2014/main" id="{AB3C9C3B-75B6-F72B-8D59-C2AADC655126}"/>
                </a:ext>
              </a:extLst>
            </p:cNvPr>
            <p:cNvSpPr txBox="1"/>
            <p:nvPr/>
          </p:nvSpPr>
          <p:spPr>
            <a:xfrm>
              <a:off x="6769519" y="2162776"/>
              <a:ext cx="797395" cy="343492"/>
            </a:xfrm>
            <a:prstGeom prst="rect">
              <a:avLst/>
            </a:prstGeom>
            <a:noFill/>
          </p:spPr>
          <p:txBody>
            <a:bodyPr wrap="square">
              <a:spAutoFit/>
            </a:bodyPr>
            <a:lstStyle/>
            <a:p>
              <a:pPr defTabSz="914191"/>
              <a:r>
                <a:rPr lang="en-US" sz="1632" b="1" dirty="0">
                  <a:solidFill>
                    <a:schemeClr val="tx2">
                      <a:lumMod val="50000"/>
                    </a:schemeClr>
                  </a:solidFill>
                </a:rPr>
                <a:t>Task 3</a:t>
              </a:r>
            </a:p>
          </p:txBody>
        </p:sp>
        <p:pic>
          <p:nvPicPr>
            <p:cNvPr id="3" name="Graphic 2">
              <a:extLst>
                <a:ext uri="{FF2B5EF4-FFF2-40B4-BE49-F238E27FC236}">
                  <a16:creationId xmlns:a16="http://schemas.microsoft.com/office/drawing/2014/main" id="{CE47AE50-D2B4-D00A-22CC-216BDBB0518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51978" y="2464602"/>
              <a:ext cx="579087" cy="612861"/>
            </a:xfrm>
            <a:prstGeom prst="rect">
              <a:avLst/>
            </a:prstGeom>
          </p:spPr>
        </p:pic>
        <p:pic>
          <p:nvPicPr>
            <p:cNvPr id="5" name="Graphic 4">
              <a:extLst>
                <a:ext uri="{FF2B5EF4-FFF2-40B4-BE49-F238E27FC236}">
                  <a16:creationId xmlns:a16="http://schemas.microsoft.com/office/drawing/2014/main" id="{CA7C71E5-A9DE-3FE6-5BC0-6807B41846C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863525" y="4253140"/>
              <a:ext cx="481842" cy="578186"/>
            </a:xfrm>
            <a:prstGeom prst="rect">
              <a:avLst/>
            </a:prstGeom>
          </p:spPr>
        </p:pic>
        <p:pic>
          <p:nvPicPr>
            <p:cNvPr id="20" name="Graphic 19">
              <a:extLst>
                <a:ext uri="{FF2B5EF4-FFF2-40B4-BE49-F238E27FC236}">
                  <a16:creationId xmlns:a16="http://schemas.microsoft.com/office/drawing/2014/main" id="{0E159165-62D1-CD76-9629-E4A5BB9B17A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58861" y="3097694"/>
              <a:ext cx="505501" cy="505501"/>
            </a:xfrm>
            <a:prstGeom prst="rect">
              <a:avLst/>
            </a:prstGeom>
          </p:spPr>
        </p:pic>
        <p:sp>
          <p:nvSpPr>
            <p:cNvPr id="23" name="TextBox 22">
              <a:extLst>
                <a:ext uri="{FF2B5EF4-FFF2-40B4-BE49-F238E27FC236}">
                  <a16:creationId xmlns:a16="http://schemas.microsoft.com/office/drawing/2014/main" id="{57E1210C-AAD5-CC79-58C6-F276D14996B8}"/>
                </a:ext>
              </a:extLst>
            </p:cNvPr>
            <p:cNvSpPr txBox="1"/>
            <p:nvPr/>
          </p:nvSpPr>
          <p:spPr>
            <a:xfrm>
              <a:off x="1708647" y="2701337"/>
              <a:ext cx="796894" cy="343492"/>
            </a:xfrm>
            <a:prstGeom prst="rect">
              <a:avLst/>
            </a:prstGeom>
            <a:noFill/>
          </p:spPr>
          <p:txBody>
            <a:bodyPr wrap="square">
              <a:spAutoFit/>
            </a:bodyPr>
            <a:lstStyle/>
            <a:p>
              <a:pPr defTabSz="914191"/>
              <a:r>
                <a:rPr lang="en-US" sz="1632" b="1" dirty="0">
                  <a:solidFill>
                    <a:schemeClr val="tx2">
                      <a:lumMod val="50000"/>
                    </a:schemeClr>
                  </a:solidFill>
                </a:rPr>
                <a:t>Task 6</a:t>
              </a:r>
            </a:p>
          </p:txBody>
        </p:sp>
        <p:cxnSp>
          <p:nvCxnSpPr>
            <p:cNvPr id="29" name="Straight Arrow Connector 28">
              <a:extLst>
                <a:ext uri="{FF2B5EF4-FFF2-40B4-BE49-F238E27FC236}">
                  <a16:creationId xmlns:a16="http://schemas.microsoft.com/office/drawing/2014/main" id="{F6ADB07E-3EEF-3575-68E8-AAEFFA3A4ED0}"/>
                </a:ext>
              </a:extLst>
            </p:cNvPr>
            <p:cNvCxnSpPr>
              <a:cxnSpLocks/>
            </p:cNvCxnSpPr>
            <p:nvPr/>
          </p:nvCxnSpPr>
          <p:spPr>
            <a:xfrm>
              <a:off x="2360483" y="3346867"/>
              <a:ext cx="1067813"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7" name="Graphic 36" descr="World with solid fill">
              <a:extLst>
                <a:ext uri="{FF2B5EF4-FFF2-40B4-BE49-F238E27FC236}">
                  <a16:creationId xmlns:a16="http://schemas.microsoft.com/office/drawing/2014/main" id="{E7073457-D07C-5463-8E85-7566896E850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272263" y="1965905"/>
              <a:ext cx="456503" cy="456503"/>
            </a:xfrm>
            <a:prstGeom prst="rect">
              <a:avLst/>
            </a:prstGeom>
          </p:spPr>
        </p:pic>
        <p:cxnSp>
          <p:nvCxnSpPr>
            <p:cNvPr id="40" name="Straight Arrow Connector 39">
              <a:extLst>
                <a:ext uri="{FF2B5EF4-FFF2-40B4-BE49-F238E27FC236}">
                  <a16:creationId xmlns:a16="http://schemas.microsoft.com/office/drawing/2014/main" id="{44E0F717-D10C-D324-3083-93828B13121E}"/>
                </a:ext>
              </a:extLst>
            </p:cNvPr>
            <p:cNvCxnSpPr>
              <a:cxnSpLocks/>
              <a:stCxn id="37" idx="2"/>
            </p:cNvCxnSpPr>
            <p:nvPr/>
          </p:nvCxnSpPr>
          <p:spPr>
            <a:xfrm flipH="1">
              <a:off x="1500514" y="2422408"/>
              <a:ext cx="1" cy="106698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7467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DFF002-48A8-45D8-960C-1B38CFF51544}"/>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2361592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1375</Words>
  <Application>Microsoft Office PowerPoint</Application>
  <PresentationFormat>Custom</PresentationFormat>
  <Paragraphs>188</Paragraphs>
  <Slides>18</Slides>
  <Notes>18</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Segoe UI</vt:lpstr>
      <vt:lpstr>Segoe UI Semibold</vt:lpstr>
      <vt:lpstr>Segoe UI Semilight</vt:lpstr>
      <vt:lpstr>Wingdings</vt:lpstr>
      <vt:lpstr>Azure 1</vt:lpstr>
      <vt:lpstr>AZ-104T00A Administer Intersite Connectivity</vt:lpstr>
      <vt:lpstr>Learning Objectives – Administer Intersite Connectivity</vt:lpstr>
      <vt:lpstr>Administer Intersite Connectivity whiteboard</vt:lpstr>
      <vt:lpstr>Configure VNet Peering</vt:lpstr>
      <vt:lpstr>Learning Objectives – Configure VNet Peering</vt:lpstr>
      <vt:lpstr>Determine VNet Peering Uses</vt:lpstr>
      <vt:lpstr>Determine Gateway Transit and Connectivity Needs</vt:lpstr>
      <vt:lpstr>Create VNet Peering</vt:lpstr>
      <vt:lpstr>Demonstration – Virtual Network Peering</vt:lpstr>
      <vt:lpstr>Learning Recap – Configure VNet Peering</vt:lpstr>
      <vt:lpstr>Determine Service Endpoint Uses</vt:lpstr>
      <vt:lpstr>Identify Private Link Uses</vt:lpstr>
      <vt:lpstr>Learning Recap – Manage and control traffic flow with routes  </vt:lpstr>
      <vt:lpstr>Lab - Implement Intersite Connectivity</vt:lpstr>
      <vt:lpstr>Module Review Activity </vt:lpstr>
      <vt:lpstr>Lab 05 – Implement intersite connectivity</vt:lpstr>
      <vt:lpstr>Lab 05 – Architecture diagram</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2023-11-13T15:43:37Z</dcterms:created>
  <dcterms:modified xsi:type="dcterms:W3CDTF">2026-03-03T08:21:51Z</dcterms:modified>
</cp:coreProperties>
</file>